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49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50.xml" ContentType="application/vnd.openxmlformats-officedocument.presentationml.notesSlide+xml"/>
  <Override PartName="/ppt/notesSlides/notesSlide151.xml" ContentType="application/vnd.openxmlformats-officedocument.presentationml.notesSlide+xml"/>
  <Override PartName="/ppt/notesSlides/notesSlide152.xml" ContentType="application/vnd.openxmlformats-officedocument.presentationml.notesSlide+xml"/>
  <Override PartName="/ppt/notesSlides/notesSlide153.xml" ContentType="application/vnd.openxmlformats-officedocument.presentationml.notesSlide+xml"/>
  <Override PartName="/ppt/notesSlides/notesSlide154.xml" ContentType="application/vnd.openxmlformats-officedocument.presentationml.notesSlide+xml"/>
  <Override PartName="/ppt/notesSlides/notesSlide155.xml" ContentType="application/vnd.openxmlformats-officedocument.presentationml.notesSlide+xml"/>
  <Override PartName="/ppt/notesSlides/notesSlide156.xml" ContentType="application/vnd.openxmlformats-officedocument.presentationml.notesSlide+xml"/>
  <Override PartName="/ppt/notesSlides/notesSlide157.xml" ContentType="application/vnd.openxmlformats-officedocument.presentationml.notesSlide+xml"/>
  <Override PartName="/ppt/notesSlides/notesSlide158.xml" ContentType="application/vnd.openxmlformats-officedocument.presentationml.notesSlide+xml"/>
  <Override PartName="/ppt/notesSlides/notesSlide159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60.xml" ContentType="application/vnd.openxmlformats-officedocument.presentationml.notesSlide+xml"/>
  <Override PartName="/ppt/notesSlides/notesSlide161.xml" ContentType="application/vnd.openxmlformats-officedocument.presentationml.notesSlide+xml"/>
  <Override PartName="/ppt/notesSlides/notesSlide162.xml" ContentType="application/vnd.openxmlformats-officedocument.presentationml.notesSlide+xml"/>
  <Override PartName="/ppt/notesSlides/notesSlide163.xml" ContentType="application/vnd.openxmlformats-officedocument.presentationml.notesSlide+xml"/>
  <Override PartName="/ppt/notesSlides/notesSlide164.xml" ContentType="application/vnd.openxmlformats-officedocument.presentationml.notesSlide+xml"/>
  <Override PartName="/ppt/notesSlides/notesSlide165.xml" ContentType="application/vnd.openxmlformats-officedocument.presentationml.notesSlide+xml"/>
  <Override PartName="/ppt/notesSlides/notesSlide166.xml" ContentType="application/vnd.openxmlformats-officedocument.presentationml.notesSlide+xml"/>
  <Override PartName="/ppt/notesSlides/notesSlide167.xml" ContentType="application/vnd.openxmlformats-officedocument.presentationml.notesSlide+xml"/>
  <Override PartName="/ppt/notesSlides/notesSlide168.xml" ContentType="application/vnd.openxmlformats-officedocument.presentationml.notesSlide+xml"/>
  <Override PartName="/ppt/notesSlides/notesSlide169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70.xml" ContentType="application/vnd.openxmlformats-officedocument.presentationml.notesSlide+xml"/>
  <Override PartName="/ppt/notesSlides/notesSlide171.xml" ContentType="application/vnd.openxmlformats-officedocument.presentationml.notesSlide+xml"/>
  <Override PartName="/ppt/notesSlides/notesSlide172.xml" ContentType="application/vnd.openxmlformats-officedocument.presentationml.notesSlide+xml"/>
  <Override PartName="/ppt/notesSlides/notesSlide173.xml" ContentType="application/vnd.openxmlformats-officedocument.presentationml.notesSlide+xml"/>
  <Override PartName="/ppt/notesSlides/notesSlide174.xml" ContentType="application/vnd.openxmlformats-officedocument.presentationml.notesSlide+xml"/>
  <Override PartName="/ppt/notesSlides/notesSlide175.xml" ContentType="application/vnd.openxmlformats-officedocument.presentationml.notesSlide+xml"/>
  <Override PartName="/ppt/notesSlides/notesSlide176.xml" ContentType="application/vnd.openxmlformats-officedocument.presentationml.notesSlide+xml"/>
  <Override PartName="/ppt/notesSlides/notesSlide177.xml" ContentType="application/vnd.openxmlformats-officedocument.presentationml.notesSlide+xml"/>
  <Override PartName="/ppt/notesSlides/notesSlide178.xml" ContentType="application/vnd.openxmlformats-officedocument.presentationml.notesSlide+xml"/>
  <Override PartName="/ppt/notesSlides/notesSlide179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80.xml" ContentType="application/vnd.openxmlformats-officedocument.presentationml.notesSlide+xml"/>
  <Override PartName="/ppt/notesSlides/notesSlide181.xml" ContentType="application/vnd.openxmlformats-officedocument.presentationml.notesSlide+xml"/>
  <Override PartName="/ppt/notesSlides/notesSlide182.xml" ContentType="application/vnd.openxmlformats-officedocument.presentationml.notesSlide+xml"/>
  <Override PartName="/ppt/notesSlides/notesSlide183.xml" ContentType="application/vnd.openxmlformats-officedocument.presentationml.notesSlide+xml"/>
  <Override PartName="/ppt/notesSlides/notesSlide184.xml" ContentType="application/vnd.openxmlformats-officedocument.presentationml.notesSlide+xml"/>
  <Override PartName="/ppt/notesSlides/notesSlide185.xml" ContentType="application/vnd.openxmlformats-officedocument.presentationml.notesSlide+xml"/>
  <Override PartName="/ppt/notesSlides/notesSlide186.xml" ContentType="application/vnd.openxmlformats-officedocument.presentationml.notesSlide+xml"/>
  <Override PartName="/ppt/notesSlides/notesSlide187.xml" ContentType="application/vnd.openxmlformats-officedocument.presentationml.notesSlide+xml"/>
  <Override PartName="/ppt/notesSlides/notesSlide188.xml" ContentType="application/vnd.openxmlformats-officedocument.presentationml.notesSlide+xml"/>
  <Override PartName="/ppt/notesSlides/notesSlide189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190.xml" ContentType="application/vnd.openxmlformats-officedocument.presentationml.notesSlide+xml"/>
  <Override PartName="/ppt/notesSlides/notesSlide191.xml" ContentType="application/vnd.openxmlformats-officedocument.presentationml.notesSlide+xml"/>
  <Override PartName="/ppt/notesSlides/notesSlide192.xml" ContentType="application/vnd.openxmlformats-officedocument.presentationml.notesSlide+xml"/>
  <Override PartName="/ppt/notesSlides/notesSlide193.xml" ContentType="application/vnd.openxmlformats-officedocument.presentationml.notesSlide+xml"/>
  <Override PartName="/ppt/notesSlides/notesSlide194.xml" ContentType="application/vnd.openxmlformats-officedocument.presentationml.notesSlide+xml"/>
  <Override PartName="/ppt/notesSlides/notesSlide195.xml" ContentType="application/vnd.openxmlformats-officedocument.presentationml.notesSlide+xml"/>
  <Override PartName="/ppt/notesSlides/notesSlide196.xml" ContentType="application/vnd.openxmlformats-officedocument.presentationml.notesSlide+xml"/>
  <Override PartName="/ppt/notesSlides/notesSlide197.xml" ContentType="application/vnd.openxmlformats-officedocument.presentationml.notesSlide+xml"/>
  <Override PartName="/ppt/notesSlides/notesSlide198.xml" ContentType="application/vnd.openxmlformats-officedocument.presentationml.notesSlide+xml"/>
  <Override PartName="/ppt/notesSlides/notesSlide19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00.xml" ContentType="application/vnd.openxmlformats-officedocument.presentationml.notesSlide+xml"/>
  <Override PartName="/ppt/notesSlides/notesSlide201.xml" ContentType="application/vnd.openxmlformats-officedocument.presentationml.notesSlide+xml"/>
  <Override PartName="/ppt/notesSlides/notesSlide202.xml" ContentType="application/vnd.openxmlformats-officedocument.presentationml.notesSlide+xml"/>
  <Override PartName="/ppt/notesSlides/notesSlide203.xml" ContentType="application/vnd.openxmlformats-officedocument.presentationml.notesSlide+xml"/>
  <Override PartName="/ppt/notesSlides/notesSlide204.xml" ContentType="application/vnd.openxmlformats-officedocument.presentationml.notesSlide+xml"/>
  <Override PartName="/ppt/notesSlides/notesSlide205.xml" ContentType="application/vnd.openxmlformats-officedocument.presentationml.notesSlide+xml"/>
  <Override PartName="/ppt/notesSlides/notesSlide206.xml" ContentType="application/vnd.openxmlformats-officedocument.presentationml.notesSlide+xml"/>
  <Override PartName="/ppt/notesSlides/notesSlide207.xml" ContentType="application/vnd.openxmlformats-officedocument.presentationml.notesSlide+xml"/>
  <Override PartName="/ppt/notesSlides/notesSlide208.xml" ContentType="application/vnd.openxmlformats-officedocument.presentationml.notesSlide+xml"/>
  <Override PartName="/ppt/notesSlides/notesSlide209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10.xml" ContentType="application/vnd.openxmlformats-officedocument.presentationml.notesSlide+xml"/>
  <Override PartName="/ppt/notesSlides/notesSlide211.xml" ContentType="application/vnd.openxmlformats-officedocument.presentationml.notesSlide+xml"/>
  <Override PartName="/ppt/notesSlides/notesSlide212.xml" ContentType="application/vnd.openxmlformats-officedocument.presentationml.notesSlide+xml"/>
  <Override PartName="/ppt/notesSlides/notesSlide213.xml" ContentType="application/vnd.openxmlformats-officedocument.presentationml.notesSlide+xml"/>
  <Override PartName="/ppt/notesSlides/notesSlide214.xml" ContentType="application/vnd.openxmlformats-officedocument.presentationml.notesSlide+xml"/>
  <Override PartName="/ppt/notesSlides/notesSlide215.xml" ContentType="application/vnd.openxmlformats-officedocument.presentationml.notesSlide+xml"/>
  <Override PartName="/ppt/notesSlides/notesSlide216.xml" ContentType="application/vnd.openxmlformats-officedocument.presentationml.notesSlide+xml"/>
  <Override PartName="/ppt/notesSlides/notesSlide217.xml" ContentType="application/vnd.openxmlformats-officedocument.presentationml.notesSlide+xml"/>
  <Override PartName="/ppt/notesSlides/notesSlide218.xml" ContentType="application/vnd.openxmlformats-officedocument.presentationml.notesSlide+xml"/>
  <Override PartName="/ppt/notesSlides/notesSlide219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20.xml" ContentType="application/vnd.openxmlformats-officedocument.presentationml.notesSlide+xml"/>
  <Override PartName="/ppt/notesSlides/notesSlide221.xml" ContentType="application/vnd.openxmlformats-officedocument.presentationml.notesSlide+xml"/>
  <Override PartName="/ppt/notesSlides/notesSlide222.xml" ContentType="application/vnd.openxmlformats-officedocument.presentationml.notesSlide+xml"/>
  <Override PartName="/ppt/notesSlides/notesSlide223.xml" ContentType="application/vnd.openxmlformats-officedocument.presentationml.notesSlide+xml"/>
  <Override PartName="/ppt/notesSlides/notesSlide224.xml" ContentType="application/vnd.openxmlformats-officedocument.presentationml.notesSlide+xml"/>
  <Override PartName="/ppt/notesSlides/notesSlide225.xml" ContentType="application/vnd.openxmlformats-officedocument.presentationml.notesSlide+xml"/>
  <Override PartName="/ppt/notesSlides/notesSlide226.xml" ContentType="application/vnd.openxmlformats-officedocument.presentationml.notesSlide+xml"/>
  <Override PartName="/ppt/notesSlides/notesSlide227.xml" ContentType="application/vnd.openxmlformats-officedocument.presentationml.notesSlide+xml"/>
  <Override PartName="/ppt/notesSlides/notesSlide228.xml" ContentType="application/vnd.openxmlformats-officedocument.presentationml.notesSlide+xml"/>
  <Override PartName="/ppt/notesSlides/notesSlide229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30.xml" ContentType="application/vnd.openxmlformats-officedocument.presentationml.notesSlide+xml"/>
  <Override PartName="/ppt/notesSlides/notesSlide231.xml" ContentType="application/vnd.openxmlformats-officedocument.presentationml.notesSlide+xml"/>
  <Override PartName="/ppt/notesSlides/notesSlide232.xml" ContentType="application/vnd.openxmlformats-officedocument.presentationml.notesSlide+xml"/>
  <Override PartName="/ppt/notesSlides/notesSlide233.xml" ContentType="application/vnd.openxmlformats-officedocument.presentationml.notesSlide+xml"/>
  <Override PartName="/ppt/notesSlides/notesSlide234.xml" ContentType="application/vnd.openxmlformats-officedocument.presentationml.notesSlide+xml"/>
  <Override PartName="/ppt/notesSlides/notesSlide235.xml" ContentType="application/vnd.openxmlformats-officedocument.presentationml.notesSlide+xml"/>
  <Override PartName="/ppt/notesSlides/notesSlide236.xml" ContentType="application/vnd.openxmlformats-officedocument.presentationml.notesSlide+xml"/>
  <Override PartName="/ppt/notesSlides/notesSlide237.xml" ContentType="application/vnd.openxmlformats-officedocument.presentationml.notesSlide+xml"/>
  <Override PartName="/ppt/notesSlides/notesSlide238.xml" ContentType="application/vnd.openxmlformats-officedocument.presentationml.notesSlide+xml"/>
  <Override PartName="/ppt/notesSlides/notesSlide239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40.xml" ContentType="application/vnd.openxmlformats-officedocument.presentationml.notesSlide+xml"/>
  <Override PartName="/ppt/notesSlides/notesSlide241.xml" ContentType="application/vnd.openxmlformats-officedocument.presentationml.notesSlide+xml"/>
  <Override PartName="/ppt/notesSlides/notesSlide242.xml" ContentType="application/vnd.openxmlformats-officedocument.presentationml.notesSlide+xml"/>
  <Override PartName="/ppt/notesSlides/notesSlide243.xml" ContentType="application/vnd.openxmlformats-officedocument.presentationml.notesSlide+xml"/>
  <Override PartName="/ppt/notesSlides/notesSlide244.xml" ContentType="application/vnd.openxmlformats-officedocument.presentationml.notesSlide+xml"/>
  <Override PartName="/ppt/notesSlides/notesSlide245.xml" ContentType="application/vnd.openxmlformats-officedocument.presentationml.notesSlide+xml"/>
  <Override PartName="/ppt/notesSlides/notesSlide246.xml" ContentType="application/vnd.openxmlformats-officedocument.presentationml.notesSlide+xml"/>
  <Override PartName="/ppt/notesSlides/notesSlide247.xml" ContentType="application/vnd.openxmlformats-officedocument.presentationml.notesSlide+xml"/>
  <Override PartName="/ppt/notesSlides/notesSlide248.xml" ContentType="application/vnd.openxmlformats-officedocument.presentationml.notesSlide+xml"/>
  <Override PartName="/ppt/notesSlides/notesSlide249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50.xml" ContentType="application/vnd.openxmlformats-officedocument.presentationml.notesSlide+xml"/>
  <Override PartName="/ppt/notesSlides/notesSlide251.xml" ContentType="application/vnd.openxmlformats-officedocument.presentationml.notesSlide+xml"/>
  <Override PartName="/ppt/notesSlides/notesSlide252.xml" ContentType="application/vnd.openxmlformats-officedocument.presentationml.notesSlide+xml"/>
  <Override PartName="/ppt/notesSlides/notesSlide253.xml" ContentType="application/vnd.openxmlformats-officedocument.presentationml.notesSlide+xml"/>
  <Override PartName="/ppt/notesSlides/notesSlide254.xml" ContentType="application/vnd.openxmlformats-officedocument.presentationml.notesSlide+xml"/>
  <Override PartName="/ppt/notesSlides/notesSlide255.xml" ContentType="application/vnd.openxmlformats-officedocument.presentationml.notesSlide+xml"/>
  <Override PartName="/ppt/notesSlides/notesSlide256.xml" ContentType="application/vnd.openxmlformats-officedocument.presentationml.notesSlide+xml"/>
  <Override PartName="/ppt/notesSlides/notesSlide257.xml" ContentType="application/vnd.openxmlformats-officedocument.presentationml.notesSlide+xml"/>
  <Override PartName="/ppt/notesSlides/notesSlide258.xml" ContentType="application/vnd.openxmlformats-officedocument.presentationml.notesSlide+xml"/>
  <Override PartName="/ppt/notesSlides/notesSlide259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60.xml" ContentType="application/vnd.openxmlformats-officedocument.presentationml.notesSlide+xml"/>
  <Override PartName="/ppt/notesSlides/notesSlide261.xml" ContentType="application/vnd.openxmlformats-officedocument.presentationml.notesSlide+xml"/>
  <Override PartName="/ppt/notesSlides/notesSlide262.xml" ContentType="application/vnd.openxmlformats-officedocument.presentationml.notesSlide+xml"/>
  <Override PartName="/ppt/notesSlides/notesSlide263.xml" ContentType="application/vnd.openxmlformats-officedocument.presentationml.notesSlide+xml"/>
  <Override PartName="/ppt/notesSlides/notesSlide264.xml" ContentType="application/vnd.openxmlformats-officedocument.presentationml.notesSlide+xml"/>
  <Override PartName="/ppt/notesSlides/notesSlide265.xml" ContentType="application/vnd.openxmlformats-officedocument.presentationml.notesSlide+xml"/>
  <Override PartName="/ppt/notesSlides/notesSlide266.xml" ContentType="application/vnd.openxmlformats-officedocument.presentationml.notesSlide+xml"/>
  <Override PartName="/ppt/notesSlides/notesSlide267.xml" ContentType="application/vnd.openxmlformats-officedocument.presentationml.notesSlide+xml"/>
  <Override PartName="/ppt/notesSlides/notesSlide268.xml" ContentType="application/vnd.openxmlformats-officedocument.presentationml.notesSlide+xml"/>
  <Override PartName="/ppt/notesSlides/notesSlide269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70.xml" ContentType="application/vnd.openxmlformats-officedocument.presentationml.notesSlide+xml"/>
  <Override PartName="/ppt/notesSlides/notesSlide271.xml" ContentType="application/vnd.openxmlformats-officedocument.presentationml.notesSlide+xml"/>
  <Override PartName="/ppt/notesSlides/notesSlide272.xml" ContentType="application/vnd.openxmlformats-officedocument.presentationml.notesSlide+xml"/>
  <Override PartName="/ppt/notesSlides/notesSlide273.xml" ContentType="application/vnd.openxmlformats-officedocument.presentationml.notesSlide+xml"/>
  <Override PartName="/ppt/notesSlides/notesSlide274.xml" ContentType="application/vnd.openxmlformats-officedocument.presentationml.notesSlide+xml"/>
  <Override PartName="/ppt/notesSlides/notesSlide275.xml" ContentType="application/vnd.openxmlformats-officedocument.presentationml.notesSlide+xml"/>
  <Override PartName="/ppt/notesSlides/notesSlide276.xml" ContentType="application/vnd.openxmlformats-officedocument.presentationml.notesSlide+xml"/>
  <Override PartName="/ppt/notesSlides/notesSlide277.xml" ContentType="application/vnd.openxmlformats-officedocument.presentationml.notesSlide+xml"/>
  <Override PartName="/ppt/notesSlides/notesSlide278.xml" ContentType="application/vnd.openxmlformats-officedocument.presentationml.notesSlide+xml"/>
  <Override PartName="/ppt/notesSlides/notesSlide279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80.xml" ContentType="application/vnd.openxmlformats-officedocument.presentationml.notesSlide+xml"/>
  <Override PartName="/ppt/notesSlides/notesSlide281.xml" ContentType="application/vnd.openxmlformats-officedocument.presentationml.notesSlide+xml"/>
  <Override PartName="/ppt/notesSlides/notesSlide282.xml" ContentType="application/vnd.openxmlformats-officedocument.presentationml.notesSlide+xml"/>
  <Override PartName="/ppt/notesSlides/notesSlide283.xml" ContentType="application/vnd.openxmlformats-officedocument.presentationml.notesSlide+xml"/>
  <Override PartName="/ppt/notesSlides/notesSlide284.xml" ContentType="application/vnd.openxmlformats-officedocument.presentationml.notesSlide+xml"/>
  <Override PartName="/ppt/notesSlides/notesSlide285.xml" ContentType="application/vnd.openxmlformats-officedocument.presentationml.notesSlide+xml"/>
  <Override PartName="/ppt/notesSlides/notesSlide286.xml" ContentType="application/vnd.openxmlformats-officedocument.presentationml.notesSlide+xml"/>
  <Override PartName="/ppt/notesSlides/notesSlide287.xml" ContentType="application/vnd.openxmlformats-officedocument.presentationml.notesSlide+xml"/>
  <Override PartName="/ppt/notesSlides/notesSlide288.xml" ContentType="application/vnd.openxmlformats-officedocument.presentationml.notesSlide+xml"/>
  <Override PartName="/ppt/notesSlides/notesSlide289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290.xml" ContentType="application/vnd.openxmlformats-officedocument.presentationml.notesSlide+xml"/>
  <Override PartName="/ppt/notesSlides/notesSlide291.xml" ContentType="application/vnd.openxmlformats-officedocument.presentationml.notesSlide+xml"/>
  <Override PartName="/ppt/notesSlides/notesSlide292.xml" ContentType="application/vnd.openxmlformats-officedocument.presentationml.notesSlide+xml"/>
  <Override PartName="/ppt/notesSlides/notesSlide293.xml" ContentType="application/vnd.openxmlformats-officedocument.presentationml.notesSlide+xml"/>
  <Override PartName="/ppt/notesSlides/notesSlide294.xml" ContentType="application/vnd.openxmlformats-officedocument.presentationml.notesSlide+xml"/>
  <Override PartName="/ppt/notesSlides/notesSlide295.xml" ContentType="application/vnd.openxmlformats-officedocument.presentationml.notesSlide+xml"/>
  <Override PartName="/ppt/notesSlides/notesSlide296.xml" ContentType="application/vnd.openxmlformats-officedocument.presentationml.notesSlide+xml"/>
  <Override PartName="/ppt/notesSlides/notesSlide297.xml" ContentType="application/vnd.openxmlformats-officedocument.presentationml.notesSlide+xml"/>
  <Override PartName="/ppt/notesSlides/notesSlide298.xml" ContentType="application/vnd.openxmlformats-officedocument.presentationml.notesSlide+xml"/>
  <Override PartName="/ppt/notesSlides/notesSlide29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00.xml" ContentType="application/vnd.openxmlformats-officedocument.presentationml.notesSlide+xml"/>
  <Override PartName="/ppt/notesSlides/notesSlide301.xml" ContentType="application/vnd.openxmlformats-officedocument.presentationml.notesSlide+xml"/>
  <Override PartName="/ppt/notesSlides/notesSlide302.xml" ContentType="application/vnd.openxmlformats-officedocument.presentationml.notesSlide+xml"/>
  <Override PartName="/ppt/notesSlides/notesSlide303.xml" ContentType="application/vnd.openxmlformats-officedocument.presentationml.notesSlide+xml"/>
  <Override PartName="/ppt/notesSlides/notesSlide304.xml" ContentType="application/vnd.openxmlformats-officedocument.presentationml.notesSlide+xml"/>
  <Override PartName="/ppt/notesSlides/notesSlide305.xml" ContentType="application/vnd.openxmlformats-officedocument.presentationml.notesSlide+xml"/>
  <Override PartName="/ppt/notesSlides/notesSlide306.xml" ContentType="application/vnd.openxmlformats-officedocument.presentationml.notesSlide+xml"/>
  <Override PartName="/ppt/notesSlides/notesSlide307.xml" ContentType="application/vnd.openxmlformats-officedocument.presentationml.notesSlide+xml"/>
  <Override PartName="/ppt/notesSlides/notesSlide308.xml" ContentType="application/vnd.openxmlformats-officedocument.presentationml.notesSlide+xml"/>
  <Override PartName="/ppt/notesSlides/notesSlide309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10.xml" ContentType="application/vnd.openxmlformats-officedocument.presentationml.notesSlide+xml"/>
  <Override PartName="/ppt/notesSlides/notesSlide311.xml" ContentType="application/vnd.openxmlformats-officedocument.presentationml.notesSlide+xml"/>
  <Override PartName="/ppt/notesSlides/notesSlide312.xml" ContentType="application/vnd.openxmlformats-officedocument.presentationml.notesSlide+xml"/>
  <Override PartName="/ppt/notesSlides/notesSlide313.xml" ContentType="application/vnd.openxmlformats-officedocument.presentationml.notesSlide+xml"/>
  <Override PartName="/ppt/notesSlides/notesSlide314.xml" ContentType="application/vnd.openxmlformats-officedocument.presentationml.notesSlide+xml"/>
  <Override PartName="/ppt/notesSlides/notesSlide315.xml" ContentType="application/vnd.openxmlformats-officedocument.presentationml.notesSlide+xml"/>
  <Override PartName="/ppt/notesSlides/notesSlide316.xml" ContentType="application/vnd.openxmlformats-officedocument.presentationml.notesSlide+xml"/>
  <Override PartName="/ppt/notesSlides/notesSlide317.xml" ContentType="application/vnd.openxmlformats-officedocument.presentationml.notesSlide+xml"/>
  <Override PartName="/ppt/notesSlides/notesSlide318.xml" ContentType="application/vnd.openxmlformats-officedocument.presentationml.notesSlide+xml"/>
  <Override PartName="/ppt/notesSlides/notesSlide319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20.xml" ContentType="application/vnd.openxmlformats-officedocument.presentationml.notesSlide+xml"/>
  <Override PartName="/ppt/notesSlides/notesSlide321.xml" ContentType="application/vnd.openxmlformats-officedocument.presentationml.notesSlide+xml"/>
  <Override PartName="/ppt/notesSlides/notesSlide322.xml" ContentType="application/vnd.openxmlformats-officedocument.presentationml.notesSlide+xml"/>
  <Override PartName="/ppt/notesSlides/notesSlide323.xml" ContentType="application/vnd.openxmlformats-officedocument.presentationml.notesSlide+xml"/>
  <Override PartName="/ppt/notesSlides/notesSlide324.xml" ContentType="application/vnd.openxmlformats-officedocument.presentationml.notesSlide+xml"/>
  <Override PartName="/ppt/notesSlides/notesSlide325.xml" ContentType="application/vnd.openxmlformats-officedocument.presentationml.notesSlide+xml"/>
  <Override PartName="/ppt/notesSlides/notesSlide326.xml" ContentType="application/vnd.openxmlformats-officedocument.presentationml.notesSlide+xml"/>
  <Override PartName="/ppt/notesSlides/notesSlide327.xml" ContentType="application/vnd.openxmlformats-officedocument.presentationml.notesSlide+xml"/>
  <Override PartName="/ppt/notesSlides/notesSlide328.xml" ContentType="application/vnd.openxmlformats-officedocument.presentationml.notesSlide+xml"/>
  <Override PartName="/ppt/notesSlides/notesSlide329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30.xml" ContentType="application/vnd.openxmlformats-officedocument.presentationml.notesSlide+xml"/>
  <Override PartName="/ppt/notesSlides/notesSlide331.xml" ContentType="application/vnd.openxmlformats-officedocument.presentationml.notesSlide+xml"/>
  <Override PartName="/ppt/notesSlides/notesSlide332.xml" ContentType="application/vnd.openxmlformats-officedocument.presentationml.notesSlide+xml"/>
  <Override PartName="/ppt/notesSlides/notesSlide333.xml" ContentType="application/vnd.openxmlformats-officedocument.presentationml.notesSlide+xml"/>
  <Override PartName="/ppt/notesSlides/notesSlide334.xml" ContentType="application/vnd.openxmlformats-officedocument.presentationml.notesSlide+xml"/>
  <Override PartName="/ppt/notesSlides/notesSlide335.xml" ContentType="application/vnd.openxmlformats-officedocument.presentationml.notesSlide+xml"/>
  <Override PartName="/ppt/notesSlides/notesSlide336.xml" ContentType="application/vnd.openxmlformats-officedocument.presentationml.notesSlide+xml"/>
  <Override PartName="/ppt/notesSlides/notesSlide337.xml" ContentType="application/vnd.openxmlformats-officedocument.presentationml.notesSlide+xml"/>
  <Override PartName="/ppt/notesSlides/notesSlide338.xml" ContentType="application/vnd.openxmlformats-officedocument.presentationml.notesSlide+xml"/>
  <Override PartName="/ppt/notesSlides/notesSlide339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40.xml" ContentType="application/vnd.openxmlformats-officedocument.presentationml.notesSlide+xml"/>
  <Override PartName="/ppt/notesSlides/notesSlide341.xml" ContentType="application/vnd.openxmlformats-officedocument.presentationml.notesSlide+xml"/>
  <Override PartName="/ppt/notesSlides/notesSlide342.xml" ContentType="application/vnd.openxmlformats-officedocument.presentationml.notesSlide+xml"/>
  <Override PartName="/ppt/notesSlides/notesSlide343.xml" ContentType="application/vnd.openxmlformats-officedocument.presentationml.notesSlide+xml"/>
  <Override PartName="/ppt/notesSlides/notesSlide344.xml" ContentType="application/vnd.openxmlformats-officedocument.presentationml.notesSlide+xml"/>
  <Override PartName="/ppt/notesSlides/notesSlide345.xml" ContentType="application/vnd.openxmlformats-officedocument.presentationml.notesSlide+xml"/>
  <Override PartName="/ppt/notesSlides/notesSlide346.xml" ContentType="application/vnd.openxmlformats-officedocument.presentationml.notesSlide+xml"/>
  <Override PartName="/ppt/notesSlides/notesSlide347.xml" ContentType="application/vnd.openxmlformats-officedocument.presentationml.notesSlide+xml"/>
  <Override PartName="/ppt/notesSlides/notesSlide348.xml" ContentType="application/vnd.openxmlformats-officedocument.presentationml.notesSlide+xml"/>
  <Override PartName="/ppt/notesSlides/notesSlide349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50.xml" ContentType="application/vnd.openxmlformats-officedocument.presentationml.notesSlide+xml"/>
  <Override PartName="/ppt/notesSlides/notesSlide351.xml" ContentType="application/vnd.openxmlformats-officedocument.presentationml.notesSlide+xml"/>
  <Override PartName="/ppt/notesSlides/notesSlide352.xml" ContentType="application/vnd.openxmlformats-officedocument.presentationml.notesSlide+xml"/>
  <Override PartName="/ppt/notesSlides/notesSlide353.xml" ContentType="application/vnd.openxmlformats-officedocument.presentationml.notesSlide+xml"/>
  <Override PartName="/ppt/notesSlides/notesSlide354.xml" ContentType="application/vnd.openxmlformats-officedocument.presentationml.notesSlide+xml"/>
  <Override PartName="/ppt/notesSlides/notesSlide355.xml" ContentType="application/vnd.openxmlformats-officedocument.presentationml.notesSlide+xml"/>
  <Override PartName="/ppt/notesSlides/notesSlide356.xml" ContentType="application/vnd.openxmlformats-officedocument.presentationml.notesSlide+xml"/>
  <Override PartName="/ppt/notesSlides/notesSlide357.xml" ContentType="application/vnd.openxmlformats-officedocument.presentationml.notesSlide+xml"/>
  <Override PartName="/ppt/notesSlides/notesSlide358.xml" ContentType="application/vnd.openxmlformats-officedocument.presentationml.notesSlide+xml"/>
  <Override PartName="/ppt/notesSlides/notesSlide359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60.xml" ContentType="application/vnd.openxmlformats-officedocument.presentationml.notesSlide+xml"/>
  <Override PartName="/ppt/notesSlides/notesSlide361.xml" ContentType="application/vnd.openxmlformats-officedocument.presentationml.notesSlide+xml"/>
  <Override PartName="/ppt/notesSlides/notesSlide362.xml" ContentType="application/vnd.openxmlformats-officedocument.presentationml.notesSlide+xml"/>
  <Override PartName="/ppt/notesSlides/notesSlide363.xml" ContentType="application/vnd.openxmlformats-officedocument.presentationml.notesSlide+xml"/>
  <Override PartName="/ppt/notesSlides/notesSlide364.xml" ContentType="application/vnd.openxmlformats-officedocument.presentationml.notesSlide+xml"/>
  <Override PartName="/ppt/notesSlides/notesSlide365.xml" ContentType="application/vnd.openxmlformats-officedocument.presentationml.notesSlide+xml"/>
  <Override PartName="/ppt/notesSlides/notesSlide366.xml" ContentType="application/vnd.openxmlformats-officedocument.presentationml.notesSlide+xml"/>
  <Override PartName="/ppt/notesSlides/notesSlide367.xml" ContentType="application/vnd.openxmlformats-officedocument.presentationml.notesSlide+xml"/>
  <Override PartName="/ppt/notesSlides/notesSlide368.xml" ContentType="application/vnd.openxmlformats-officedocument.presentationml.notesSlide+xml"/>
  <Override PartName="/ppt/notesSlides/notesSlide369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70.xml" ContentType="application/vnd.openxmlformats-officedocument.presentationml.notesSlide+xml"/>
  <Override PartName="/ppt/notesSlides/notesSlide371.xml" ContentType="application/vnd.openxmlformats-officedocument.presentationml.notesSlide+xml"/>
  <Override PartName="/ppt/notesSlides/notesSlide372.xml" ContentType="application/vnd.openxmlformats-officedocument.presentationml.notesSlide+xml"/>
  <Override PartName="/ppt/notesSlides/notesSlide373.xml" ContentType="application/vnd.openxmlformats-officedocument.presentationml.notesSlide+xml"/>
  <Override PartName="/ppt/notesSlides/notesSlide374.xml" ContentType="application/vnd.openxmlformats-officedocument.presentationml.notesSlide+xml"/>
  <Override PartName="/ppt/notesSlides/notesSlide375.xml" ContentType="application/vnd.openxmlformats-officedocument.presentationml.notesSlide+xml"/>
  <Override PartName="/ppt/notesSlides/notesSlide376.xml" ContentType="application/vnd.openxmlformats-officedocument.presentationml.notesSlide+xml"/>
  <Override PartName="/ppt/notesSlides/notesSlide377.xml" ContentType="application/vnd.openxmlformats-officedocument.presentationml.notesSlide+xml"/>
  <Override PartName="/ppt/notesSlides/notesSlide378.xml" ContentType="application/vnd.openxmlformats-officedocument.presentationml.notesSlide+xml"/>
  <Override PartName="/ppt/notesSlides/notesSlide379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80.xml" ContentType="application/vnd.openxmlformats-officedocument.presentationml.notesSlide+xml"/>
  <Override PartName="/ppt/notesSlides/notesSlide381.xml" ContentType="application/vnd.openxmlformats-officedocument.presentationml.notesSlide+xml"/>
  <Override PartName="/ppt/notesSlides/notesSlide382.xml" ContentType="application/vnd.openxmlformats-officedocument.presentationml.notesSlide+xml"/>
  <Override PartName="/ppt/notesSlides/notesSlide383.xml" ContentType="application/vnd.openxmlformats-officedocument.presentationml.notesSlide+xml"/>
  <Override PartName="/ppt/notesSlides/notesSlide384.xml" ContentType="application/vnd.openxmlformats-officedocument.presentationml.notesSlide+xml"/>
  <Override PartName="/ppt/notesSlides/notesSlide385.xml" ContentType="application/vnd.openxmlformats-officedocument.presentationml.notesSlide+xml"/>
  <Override PartName="/ppt/notesSlides/notesSlide386.xml" ContentType="application/vnd.openxmlformats-officedocument.presentationml.notesSlide+xml"/>
  <Override PartName="/ppt/notesSlides/notesSlide387.xml" ContentType="application/vnd.openxmlformats-officedocument.presentationml.notesSlide+xml"/>
  <Override PartName="/ppt/notesSlides/notesSlide388.xml" ContentType="application/vnd.openxmlformats-officedocument.presentationml.notesSlide+xml"/>
  <Override PartName="/ppt/notesSlides/notesSlide389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390.xml" ContentType="application/vnd.openxmlformats-officedocument.presentationml.notesSlide+xml"/>
  <Override PartName="/ppt/notesSlides/notesSlide391.xml" ContentType="application/vnd.openxmlformats-officedocument.presentationml.notesSlide+xml"/>
  <Override PartName="/ppt/notesSlides/notesSlide392.xml" ContentType="application/vnd.openxmlformats-officedocument.presentationml.notesSlide+xml"/>
  <Override PartName="/ppt/notesSlides/notesSlide393.xml" ContentType="application/vnd.openxmlformats-officedocument.presentationml.notesSlide+xml"/>
  <Override PartName="/ppt/notesSlides/notesSlide394.xml" ContentType="application/vnd.openxmlformats-officedocument.presentationml.notesSlide+xml"/>
  <Override PartName="/ppt/notesSlides/notesSlide395.xml" ContentType="application/vnd.openxmlformats-officedocument.presentationml.notesSlide+xml"/>
  <Override PartName="/ppt/notesSlides/notesSlide396.xml" ContentType="application/vnd.openxmlformats-officedocument.presentationml.notesSlide+xml"/>
  <Override PartName="/ppt/notesSlides/notesSlide397.xml" ContentType="application/vnd.openxmlformats-officedocument.presentationml.notesSlide+xml"/>
  <Override PartName="/ppt/notesSlides/notesSlide398.xml" ContentType="application/vnd.openxmlformats-officedocument.presentationml.notesSlide+xml"/>
  <Override PartName="/ppt/notesSlides/notesSlide39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00.xml" ContentType="application/vnd.openxmlformats-officedocument.presentationml.notesSlide+xml"/>
  <Override PartName="/ppt/notesSlides/notesSlide401.xml" ContentType="application/vnd.openxmlformats-officedocument.presentationml.notesSlide+xml"/>
  <Override PartName="/ppt/notesSlides/notesSlide402.xml" ContentType="application/vnd.openxmlformats-officedocument.presentationml.notesSlide+xml"/>
  <Override PartName="/ppt/notesSlides/notesSlide403.xml" ContentType="application/vnd.openxmlformats-officedocument.presentationml.notesSlide+xml"/>
  <Override PartName="/ppt/notesSlides/notesSlide404.xml" ContentType="application/vnd.openxmlformats-officedocument.presentationml.notesSlide+xml"/>
  <Override PartName="/ppt/notesSlides/notesSlide405.xml" ContentType="application/vnd.openxmlformats-officedocument.presentationml.notesSlide+xml"/>
  <Override PartName="/ppt/notesSlides/notesSlide406.xml" ContentType="application/vnd.openxmlformats-officedocument.presentationml.notesSlide+xml"/>
  <Override PartName="/ppt/notesSlides/notesSlide407.xml" ContentType="application/vnd.openxmlformats-officedocument.presentationml.notesSlide+xml"/>
  <Override PartName="/ppt/notesSlides/notesSlide408.xml" ContentType="application/vnd.openxmlformats-officedocument.presentationml.notesSlide+xml"/>
  <Override PartName="/ppt/notesSlides/notesSlide409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10.xml" ContentType="application/vnd.openxmlformats-officedocument.presentationml.notesSlide+xml"/>
  <Override PartName="/ppt/notesSlides/notesSlide411.xml" ContentType="application/vnd.openxmlformats-officedocument.presentationml.notesSlide+xml"/>
  <Override PartName="/ppt/notesSlides/notesSlide412.xml" ContentType="application/vnd.openxmlformats-officedocument.presentationml.notesSlide+xml"/>
  <Override PartName="/ppt/notesSlides/notesSlide413.xml" ContentType="application/vnd.openxmlformats-officedocument.presentationml.notesSlide+xml"/>
  <Override PartName="/ppt/notesSlides/notesSlide414.xml" ContentType="application/vnd.openxmlformats-officedocument.presentationml.notesSlide+xml"/>
  <Override PartName="/ppt/notesSlides/notesSlide415.xml" ContentType="application/vnd.openxmlformats-officedocument.presentationml.notesSlide+xml"/>
  <Override PartName="/ppt/notesSlides/notesSlide416.xml" ContentType="application/vnd.openxmlformats-officedocument.presentationml.notesSlide+xml"/>
  <Override PartName="/ppt/notesSlides/notesSlide417.xml" ContentType="application/vnd.openxmlformats-officedocument.presentationml.notesSlide+xml"/>
  <Override PartName="/ppt/notesSlides/notesSlide418.xml" ContentType="application/vnd.openxmlformats-officedocument.presentationml.notesSlide+xml"/>
  <Override PartName="/ppt/notesSlides/notesSlide419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20.xml" ContentType="application/vnd.openxmlformats-officedocument.presentationml.notesSlide+xml"/>
  <Override PartName="/ppt/notesSlides/notesSlide421.xml" ContentType="application/vnd.openxmlformats-officedocument.presentationml.notesSlide+xml"/>
  <Override PartName="/ppt/notesSlides/notesSlide422.xml" ContentType="application/vnd.openxmlformats-officedocument.presentationml.notesSlide+xml"/>
  <Override PartName="/ppt/notesSlides/notesSlide423.xml" ContentType="application/vnd.openxmlformats-officedocument.presentationml.notesSlide+xml"/>
  <Override PartName="/ppt/notesSlides/notesSlide424.xml" ContentType="application/vnd.openxmlformats-officedocument.presentationml.notesSlide+xml"/>
  <Override PartName="/ppt/notesSlides/notesSlide425.xml" ContentType="application/vnd.openxmlformats-officedocument.presentationml.notesSlide+xml"/>
  <Override PartName="/ppt/notesSlides/notesSlide426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.xml" ContentType="application/vnd.openxmlformats-officedocument.presentationml.slide+xml"/>
  <Override PartName="/ppt/slides/slide240.xml" ContentType="application/vnd.openxmlformats-officedocument.presentationml.slide+xml"/>
  <Override PartName="/ppt/slides/slide241.xml" ContentType="application/vnd.openxmlformats-officedocument.presentationml.slide+xml"/>
  <Override PartName="/ppt/slides/slide242.xml" ContentType="application/vnd.openxmlformats-officedocument.presentationml.slide+xml"/>
  <Override PartName="/ppt/slides/slide243.xml" ContentType="application/vnd.openxmlformats-officedocument.presentationml.slide+xml"/>
  <Override PartName="/ppt/slides/slide244.xml" ContentType="application/vnd.openxmlformats-officedocument.presentationml.slide+xml"/>
  <Override PartName="/ppt/slides/slide245.xml" ContentType="application/vnd.openxmlformats-officedocument.presentationml.slide+xml"/>
  <Override PartName="/ppt/slides/slide246.xml" ContentType="application/vnd.openxmlformats-officedocument.presentationml.slide+xml"/>
  <Override PartName="/ppt/slides/slide247.xml" ContentType="application/vnd.openxmlformats-officedocument.presentationml.slide+xml"/>
  <Override PartName="/ppt/slides/slide248.xml" ContentType="application/vnd.openxmlformats-officedocument.presentationml.slide+xml"/>
  <Override PartName="/ppt/slides/slide249.xml" ContentType="application/vnd.openxmlformats-officedocument.presentationml.slide+xml"/>
  <Override PartName="/ppt/slides/slide25.xml" ContentType="application/vnd.openxmlformats-officedocument.presentationml.slide+xml"/>
  <Override PartName="/ppt/slides/slide250.xml" ContentType="application/vnd.openxmlformats-officedocument.presentationml.slide+xml"/>
  <Override PartName="/ppt/slides/slide251.xml" ContentType="application/vnd.openxmlformats-officedocument.presentationml.slide+xml"/>
  <Override PartName="/ppt/slides/slide252.xml" ContentType="application/vnd.openxmlformats-officedocument.presentationml.slide+xml"/>
  <Override PartName="/ppt/slides/slide253.xml" ContentType="application/vnd.openxmlformats-officedocument.presentationml.slide+xml"/>
  <Override PartName="/ppt/slides/slide254.xml" ContentType="application/vnd.openxmlformats-officedocument.presentationml.slide+xml"/>
  <Override PartName="/ppt/slides/slide255.xml" ContentType="application/vnd.openxmlformats-officedocument.presentationml.slide+xml"/>
  <Override PartName="/ppt/slides/slide256.xml" ContentType="application/vnd.openxmlformats-officedocument.presentationml.slide+xml"/>
  <Override PartName="/ppt/slides/slide257.xml" ContentType="application/vnd.openxmlformats-officedocument.presentationml.slide+xml"/>
  <Override PartName="/ppt/slides/slide258.xml" ContentType="application/vnd.openxmlformats-officedocument.presentationml.slide+xml"/>
  <Override PartName="/ppt/slides/slide259.xml" ContentType="application/vnd.openxmlformats-officedocument.presentationml.slide+xml"/>
  <Override PartName="/ppt/slides/slide26.xml" ContentType="application/vnd.openxmlformats-officedocument.presentationml.slide+xml"/>
  <Override PartName="/ppt/slides/slide260.xml" ContentType="application/vnd.openxmlformats-officedocument.presentationml.slide+xml"/>
  <Override PartName="/ppt/slides/slide261.xml" ContentType="application/vnd.openxmlformats-officedocument.presentationml.slide+xml"/>
  <Override PartName="/ppt/slides/slide262.xml" ContentType="application/vnd.openxmlformats-officedocument.presentationml.slide+xml"/>
  <Override PartName="/ppt/slides/slide263.xml" ContentType="application/vnd.openxmlformats-officedocument.presentationml.slide+xml"/>
  <Override PartName="/ppt/slides/slide264.xml" ContentType="application/vnd.openxmlformats-officedocument.presentationml.slide+xml"/>
  <Override PartName="/ppt/slides/slide265.xml" ContentType="application/vnd.openxmlformats-officedocument.presentationml.slide+xml"/>
  <Override PartName="/ppt/slides/slide266.xml" ContentType="application/vnd.openxmlformats-officedocument.presentationml.slide+xml"/>
  <Override PartName="/ppt/slides/slide267.xml" ContentType="application/vnd.openxmlformats-officedocument.presentationml.slide+xml"/>
  <Override PartName="/ppt/slides/slide268.xml" ContentType="application/vnd.openxmlformats-officedocument.presentationml.slide+xml"/>
  <Override PartName="/ppt/slides/slide269.xml" ContentType="application/vnd.openxmlformats-officedocument.presentationml.slide+xml"/>
  <Override PartName="/ppt/slides/slide27.xml" ContentType="application/vnd.openxmlformats-officedocument.presentationml.slide+xml"/>
  <Override PartName="/ppt/slides/slide270.xml" ContentType="application/vnd.openxmlformats-officedocument.presentationml.slide+xml"/>
  <Override PartName="/ppt/slides/slide271.xml" ContentType="application/vnd.openxmlformats-officedocument.presentationml.slide+xml"/>
  <Override PartName="/ppt/slides/slide272.xml" ContentType="application/vnd.openxmlformats-officedocument.presentationml.slide+xml"/>
  <Override PartName="/ppt/slides/slide273.xml" ContentType="application/vnd.openxmlformats-officedocument.presentationml.slide+xml"/>
  <Override PartName="/ppt/slides/slide274.xml" ContentType="application/vnd.openxmlformats-officedocument.presentationml.slide+xml"/>
  <Override PartName="/ppt/slides/slide275.xml" ContentType="application/vnd.openxmlformats-officedocument.presentationml.slide+xml"/>
  <Override PartName="/ppt/slides/slide276.xml" ContentType="application/vnd.openxmlformats-officedocument.presentationml.slide+xml"/>
  <Override PartName="/ppt/slides/slide277.xml" ContentType="application/vnd.openxmlformats-officedocument.presentationml.slide+xml"/>
  <Override PartName="/ppt/slides/slide278.xml" ContentType="application/vnd.openxmlformats-officedocument.presentationml.slide+xml"/>
  <Override PartName="/ppt/slides/slide279.xml" ContentType="application/vnd.openxmlformats-officedocument.presentationml.slide+xml"/>
  <Override PartName="/ppt/slides/slide28.xml" ContentType="application/vnd.openxmlformats-officedocument.presentationml.slide+xml"/>
  <Override PartName="/ppt/slides/slide280.xml" ContentType="application/vnd.openxmlformats-officedocument.presentationml.slide+xml"/>
  <Override PartName="/ppt/slides/slide281.xml" ContentType="application/vnd.openxmlformats-officedocument.presentationml.slide+xml"/>
  <Override PartName="/ppt/slides/slide282.xml" ContentType="application/vnd.openxmlformats-officedocument.presentationml.slide+xml"/>
  <Override PartName="/ppt/slides/slide283.xml" ContentType="application/vnd.openxmlformats-officedocument.presentationml.slide+xml"/>
  <Override PartName="/ppt/slides/slide284.xml" ContentType="application/vnd.openxmlformats-officedocument.presentationml.slide+xml"/>
  <Override PartName="/ppt/slides/slide285.xml" ContentType="application/vnd.openxmlformats-officedocument.presentationml.slide+xml"/>
  <Override PartName="/ppt/slides/slide286.xml" ContentType="application/vnd.openxmlformats-officedocument.presentationml.slide+xml"/>
  <Override PartName="/ppt/slides/slide287.xml" ContentType="application/vnd.openxmlformats-officedocument.presentationml.slide+xml"/>
  <Override PartName="/ppt/slides/slide288.xml" ContentType="application/vnd.openxmlformats-officedocument.presentationml.slide+xml"/>
  <Override PartName="/ppt/slides/slide289.xml" ContentType="application/vnd.openxmlformats-officedocument.presentationml.slide+xml"/>
  <Override PartName="/ppt/slides/slide29.xml" ContentType="application/vnd.openxmlformats-officedocument.presentationml.slide+xml"/>
  <Override PartName="/ppt/slides/slide290.xml" ContentType="application/vnd.openxmlformats-officedocument.presentationml.slide+xml"/>
  <Override PartName="/ppt/slides/slide291.xml" ContentType="application/vnd.openxmlformats-officedocument.presentationml.slide+xml"/>
  <Override PartName="/ppt/slides/slide292.xml" ContentType="application/vnd.openxmlformats-officedocument.presentationml.slide+xml"/>
  <Override PartName="/ppt/slides/slide293.xml" ContentType="application/vnd.openxmlformats-officedocument.presentationml.slide+xml"/>
  <Override PartName="/ppt/slides/slide294.xml" ContentType="application/vnd.openxmlformats-officedocument.presentationml.slide+xml"/>
  <Override PartName="/ppt/slides/slide295.xml" ContentType="application/vnd.openxmlformats-officedocument.presentationml.slide+xml"/>
  <Override PartName="/ppt/slides/slide296.xml" ContentType="application/vnd.openxmlformats-officedocument.presentationml.slide+xml"/>
  <Override PartName="/ppt/slides/slide297.xml" ContentType="application/vnd.openxmlformats-officedocument.presentationml.slide+xml"/>
  <Override PartName="/ppt/slides/slide298.xml" ContentType="application/vnd.openxmlformats-officedocument.presentationml.slide+xml"/>
  <Override PartName="/ppt/slides/slide29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00.xml" ContentType="application/vnd.openxmlformats-officedocument.presentationml.slide+xml"/>
  <Override PartName="/ppt/slides/slide301.xml" ContentType="application/vnd.openxmlformats-officedocument.presentationml.slide+xml"/>
  <Override PartName="/ppt/slides/slide302.xml" ContentType="application/vnd.openxmlformats-officedocument.presentationml.slide+xml"/>
  <Override PartName="/ppt/slides/slide303.xml" ContentType="application/vnd.openxmlformats-officedocument.presentationml.slide+xml"/>
  <Override PartName="/ppt/slides/slide304.xml" ContentType="application/vnd.openxmlformats-officedocument.presentationml.slide+xml"/>
  <Override PartName="/ppt/slides/slide305.xml" ContentType="application/vnd.openxmlformats-officedocument.presentationml.slide+xml"/>
  <Override PartName="/ppt/slides/slide306.xml" ContentType="application/vnd.openxmlformats-officedocument.presentationml.slide+xml"/>
  <Override PartName="/ppt/slides/slide307.xml" ContentType="application/vnd.openxmlformats-officedocument.presentationml.slide+xml"/>
  <Override PartName="/ppt/slides/slide308.xml" ContentType="application/vnd.openxmlformats-officedocument.presentationml.slide+xml"/>
  <Override PartName="/ppt/slides/slide309.xml" ContentType="application/vnd.openxmlformats-officedocument.presentationml.slide+xml"/>
  <Override PartName="/ppt/slides/slide31.xml" ContentType="application/vnd.openxmlformats-officedocument.presentationml.slide+xml"/>
  <Override PartName="/ppt/slides/slide310.xml" ContentType="application/vnd.openxmlformats-officedocument.presentationml.slide+xml"/>
  <Override PartName="/ppt/slides/slide311.xml" ContentType="application/vnd.openxmlformats-officedocument.presentationml.slide+xml"/>
  <Override PartName="/ppt/slides/slide312.xml" ContentType="application/vnd.openxmlformats-officedocument.presentationml.slide+xml"/>
  <Override PartName="/ppt/slides/slide313.xml" ContentType="application/vnd.openxmlformats-officedocument.presentationml.slide+xml"/>
  <Override PartName="/ppt/slides/slide314.xml" ContentType="application/vnd.openxmlformats-officedocument.presentationml.slide+xml"/>
  <Override PartName="/ppt/slides/slide315.xml" ContentType="application/vnd.openxmlformats-officedocument.presentationml.slide+xml"/>
  <Override PartName="/ppt/slides/slide316.xml" ContentType="application/vnd.openxmlformats-officedocument.presentationml.slide+xml"/>
  <Override PartName="/ppt/slides/slide317.xml" ContentType="application/vnd.openxmlformats-officedocument.presentationml.slide+xml"/>
  <Override PartName="/ppt/slides/slide318.xml" ContentType="application/vnd.openxmlformats-officedocument.presentationml.slide+xml"/>
  <Override PartName="/ppt/slides/slide319.xml" ContentType="application/vnd.openxmlformats-officedocument.presentationml.slide+xml"/>
  <Override PartName="/ppt/slides/slide32.xml" ContentType="application/vnd.openxmlformats-officedocument.presentationml.slide+xml"/>
  <Override PartName="/ppt/slides/slide320.xml" ContentType="application/vnd.openxmlformats-officedocument.presentationml.slide+xml"/>
  <Override PartName="/ppt/slides/slide321.xml" ContentType="application/vnd.openxmlformats-officedocument.presentationml.slide+xml"/>
  <Override PartName="/ppt/slides/slide322.xml" ContentType="application/vnd.openxmlformats-officedocument.presentationml.slide+xml"/>
  <Override PartName="/ppt/slides/slide323.xml" ContentType="application/vnd.openxmlformats-officedocument.presentationml.slide+xml"/>
  <Override PartName="/ppt/slides/slide324.xml" ContentType="application/vnd.openxmlformats-officedocument.presentationml.slide+xml"/>
  <Override PartName="/ppt/slides/slide325.xml" ContentType="application/vnd.openxmlformats-officedocument.presentationml.slide+xml"/>
  <Override PartName="/ppt/slides/slide326.xml" ContentType="application/vnd.openxmlformats-officedocument.presentationml.slide+xml"/>
  <Override PartName="/ppt/slides/slide327.xml" ContentType="application/vnd.openxmlformats-officedocument.presentationml.slide+xml"/>
  <Override PartName="/ppt/slides/slide328.xml" ContentType="application/vnd.openxmlformats-officedocument.presentationml.slide+xml"/>
  <Override PartName="/ppt/slides/slide329.xml" ContentType="application/vnd.openxmlformats-officedocument.presentationml.slide+xml"/>
  <Override PartName="/ppt/slides/slide33.xml" ContentType="application/vnd.openxmlformats-officedocument.presentationml.slide+xml"/>
  <Override PartName="/ppt/slides/slide330.xml" ContentType="application/vnd.openxmlformats-officedocument.presentationml.slide+xml"/>
  <Override PartName="/ppt/slides/slide331.xml" ContentType="application/vnd.openxmlformats-officedocument.presentationml.slide+xml"/>
  <Override PartName="/ppt/slides/slide332.xml" ContentType="application/vnd.openxmlformats-officedocument.presentationml.slide+xml"/>
  <Override PartName="/ppt/slides/slide333.xml" ContentType="application/vnd.openxmlformats-officedocument.presentationml.slide+xml"/>
  <Override PartName="/ppt/slides/slide334.xml" ContentType="application/vnd.openxmlformats-officedocument.presentationml.slide+xml"/>
  <Override PartName="/ppt/slides/slide335.xml" ContentType="application/vnd.openxmlformats-officedocument.presentationml.slide+xml"/>
  <Override PartName="/ppt/slides/slide336.xml" ContentType="application/vnd.openxmlformats-officedocument.presentationml.slide+xml"/>
  <Override PartName="/ppt/slides/slide337.xml" ContentType="application/vnd.openxmlformats-officedocument.presentationml.slide+xml"/>
  <Override PartName="/ppt/slides/slide338.xml" ContentType="application/vnd.openxmlformats-officedocument.presentationml.slide+xml"/>
  <Override PartName="/ppt/slides/slide339.xml" ContentType="application/vnd.openxmlformats-officedocument.presentationml.slide+xml"/>
  <Override PartName="/ppt/slides/slide34.xml" ContentType="application/vnd.openxmlformats-officedocument.presentationml.slide+xml"/>
  <Override PartName="/ppt/slides/slide340.xml" ContentType="application/vnd.openxmlformats-officedocument.presentationml.slide+xml"/>
  <Override PartName="/ppt/slides/slide341.xml" ContentType="application/vnd.openxmlformats-officedocument.presentationml.slide+xml"/>
  <Override PartName="/ppt/slides/slide342.xml" ContentType="application/vnd.openxmlformats-officedocument.presentationml.slide+xml"/>
  <Override PartName="/ppt/slides/slide343.xml" ContentType="application/vnd.openxmlformats-officedocument.presentationml.slide+xml"/>
  <Override PartName="/ppt/slides/slide344.xml" ContentType="application/vnd.openxmlformats-officedocument.presentationml.slide+xml"/>
  <Override PartName="/ppt/slides/slide345.xml" ContentType="application/vnd.openxmlformats-officedocument.presentationml.slide+xml"/>
  <Override PartName="/ppt/slides/slide346.xml" ContentType="application/vnd.openxmlformats-officedocument.presentationml.slide+xml"/>
  <Override PartName="/ppt/slides/slide347.xml" ContentType="application/vnd.openxmlformats-officedocument.presentationml.slide+xml"/>
  <Override PartName="/ppt/slides/slide348.xml" ContentType="application/vnd.openxmlformats-officedocument.presentationml.slide+xml"/>
  <Override PartName="/ppt/slides/slide349.xml" ContentType="application/vnd.openxmlformats-officedocument.presentationml.slide+xml"/>
  <Override PartName="/ppt/slides/slide35.xml" ContentType="application/vnd.openxmlformats-officedocument.presentationml.slide+xml"/>
  <Override PartName="/ppt/slides/slide350.xml" ContentType="application/vnd.openxmlformats-officedocument.presentationml.slide+xml"/>
  <Override PartName="/ppt/slides/slide351.xml" ContentType="application/vnd.openxmlformats-officedocument.presentationml.slide+xml"/>
  <Override PartName="/ppt/slides/slide352.xml" ContentType="application/vnd.openxmlformats-officedocument.presentationml.slide+xml"/>
  <Override PartName="/ppt/slides/slide353.xml" ContentType="application/vnd.openxmlformats-officedocument.presentationml.slide+xml"/>
  <Override PartName="/ppt/slides/slide354.xml" ContentType="application/vnd.openxmlformats-officedocument.presentationml.slide+xml"/>
  <Override PartName="/ppt/slides/slide355.xml" ContentType="application/vnd.openxmlformats-officedocument.presentationml.slide+xml"/>
  <Override PartName="/ppt/slides/slide356.xml" ContentType="application/vnd.openxmlformats-officedocument.presentationml.slide+xml"/>
  <Override PartName="/ppt/slides/slide357.xml" ContentType="application/vnd.openxmlformats-officedocument.presentationml.slide+xml"/>
  <Override PartName="/ppt/slides/slide358.xml" ContentType="application/vnd.openxmlformats-officedocument.presentationml.slide+xml"/>
  <Override PartName="/ppt/slides/slide359.xml" ContentType="application/vnd.openxmlformats-officedocument.presentationml.slide+xml"/>
  <Override PartName="/ppt/slides/slide36.xml" ContentType="application/vnd.openxmlformats-officedocument.presentationml.slide+xml"/>
  <Override PartName="/ppt/slides/slide360.xml" ContentType="application/vnd.openxmlformats-officedocument.presentationml.slide+xml"/>
  <Override PartName="/ppt/slides/slide361.xml" ContentType="application/vnd.openxmlformats-officedocument.presentationml.slide+xml"/>
  <Override PartName="/ppt/slides/slide362.xml" ContentType="application/vnd.openxmlformats-officedocument.presentationml.slide+xml"/>
  <Override PartName="/ppt/slides/slide363.xml" ContentType="application/vnd.openxmlformats-officedocument.presentationml.slide+xml"/>
  <Override PartName="/ppt/slides/slide364.xml" ContentType="application/vnd.openxmlformats-officedocument.presentationml.slide+xml"/>
  <Override PartName="/ppt/slides/slide365.xml" ContentType="application/vnd.openxmlformats-officedocument.presentationml.slide+xml"/>
  <Override PartName="/ppt/slides/slide366.xml" ContentType="application/vnd.openxmlformats-officedocument.presentationml.slide+xml"/>
  <Override PartName="/ppt/slides/slide367.xml" ContentType="application/vnd.openxmlformats-officedocument.presentationml.slide+xml"/>
  <Override PartName="/ppt/slides/slide368.xml" ContentType="application/vnd.openxmlformats-officedocument.presentationml.slide+xml"/>
  <Override PartName="/ppt/slides/slide369.xml" ContentType="application/vnd.openxmlformats-officedocument.presentationml.slide+xml"/>
  <Override PartName="/ppt/slides/slide37.xml" ContentType="application/vnd.openxmlformats-officedocument.presentationml.slide+xml"/>
  <Override PartName="/ppt/slides/slide370.xml" ContentType="application/vnd.openxmlformats-officedocument.presentationml.slide+xml"/>
  <Override PartName="/ppt/slides/slide371.xml" ContentType="application/vnd.openxmlformats-officedocument.presentationml.slide+xml"/>
  <Override PartName="/ppt/slides/slide372.xml" ContentType="application/vnd.openxmlformats-officedocument.presentationml.slide+xml"/>
  <Override PartName="/ppt/slides/slide373.xml" ContentType="application/vnd.openxmlformats-officedocument.presentationml.slide+xml"/>
  <Override PartName="/ppt/slides/slide374.xml" ContentType="application/vnd.openxmlformats-officedocument.presentationml.slide+xml"/>
  <Override PartName="/ppt/slides/slide375.xml" ContentType="application/vnd.openxmlformats-officedocument.presentationml.slide+xml"/>
  <Override PartName="/ppt/slides/slide376.xml" ContentType="application/vnd.openxmlformats-officedocument.presentationml.slide+xml"/>
  <Override PartName="/ppt/slides/slide377.xml" ContentType="application/vnd.openxmlformats-officedocument.presentationml.slide+xml"/>
  <Override PartName="/ppt/slides/slide378.xml" ContentType="application/vnd.openxmlformats-officedocument.presentationml.slide+xml"/>
  <Override PartName="/ppt/slides/slide379.xml" ContentType="application/vnd.openxmlformats-officedocument.presentationml.slide+xml"/>
  <Override PartName="/ppt/slides/slide38.xml" ContentType="application/vnd.openxmlformats-officedocument.presentationml.slide+xml"/>
  <Override PartName="/ppt/slides/slide380.xml" ContentType="application/vnd.openxmlformats-officedocument.presentationml.slide+xml"/>
  <Override PartName="/ppt/slides/slide381.xml" ContentType="application/vnd.openxmlformats-officedocument.presentationml.slide+xml"/>
  <Override PartName="/ppt/slides/slide382.xml" ContentType="application/vnd.openxmlformats-officedocument.presentationml.slide+xml"/>
  <Override PartName="/ppt/slides/slide383.xml" ContentType="application/vnd.openxmlformats-officedocument.presentationml.slide+xml"/>
  <Override PartName="/ppt/slides/slide384.xml" ContentType="application/vnd.openxmlformats-officedocument.presentationml.slide+xml"/>
  <Override PartName="/ppt/slides/slide385.xml" ContentType="application/vnd.openxmlformats-officedocument.presentationml.slide+xml"/>
  <Override PartName="/ppt/slides/slide386.xml" ContentType="application/vnd.openxmlformats-officedocument.presentationml.slide+xml"/>
  <Override PartName="/ppt/slides/slide387.xml" ContentType="application/vnd.openxmlformats-officedocument.presentationml.slide+xml"/>
  <Override PartName="/ppt/slides/slide388.xml" ContentType="application/vnd.openxmlformats-officedocument.presentationml.slide+xml"/>
  <Override PartName="/ppt/slides/slide389.xml" ContentType="application/vnd.openxmlformats-officedocument.presentationml.slide+xml"/>
  <Override PartName="/ppt/slides/slide39.xml" ContentType="application/vnd.openxmlformats-officedocument.presentationml.slide+xml"/>
  <Override PartName="/ppt/slides/slide390.xml" ContentType="application/vnd.openxmlformats-officedocument.presentationml.slide+xml"/>
  <Override PartName="/ppt/slides/slide391.xml" ContentType="application/vnd.openxmlformats-officedocument.presentationml.slide+xml"/>
  <Override PartName="/ppt/slides/slide392.xml" ContentType="application/vnd.openxmlformats-officedocument.presentationml.slide+xml"/>
  <Override PartName="/ppt/slides/slide393.xml" ContentType="application/vnd.openxmlformats-officedocument.presentationml.slide+xml"/>
  <Override PartName="/ppt/slides/slide394.xml" ContentType="application/vnd.openxmlformats-officedocument.presentationml.slide+xml"/>
  <Override PartName="/ppt/slides/slide395.xml" ContentType="application/vnd.openxmlformats-officedocument.presentationml.slide+xml"/>
  <Override PartName="/ppt/slides/slide396.xml" ContentType="application/vnd.openxmlformats-officedocument.presentationml.slide+xml"/>
  <Override PartName="/ppt/slides/slide397.xml" ContentType="application/vnd.openxmlformats-officedocument.presentationml.slide+xml"/>
  <Override PartName="/ppt/slides/slide398.xml" ContentType="application/vnd.openxmlformats-officedocument.presentationml.slide+xml"/>
  <Override PartName="/ppt/slides/slide39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00.xml" ContentType="application/vnd.openxmlformats-officedocument.presentationml.slide+xml"/>
  <Override PartName="/ppt/slides/slide401.xml" ContentType="application/vnd.openxmlformats-officedocument.presentationml.slide+xml"/>
  <Override PartName="/ppt/slides/slide402.xml" ContentType="application/vnd.openxmlformats-officedocument.presentationml.slide+xml"/>
  <Override PartName="/ppt/slides/slide403.xml" ContentType="application/vnd.openxmlformats-officedocument.presentationml.slide+xml"/>
  <Override PartName="/ppt/slides/slide404.xml" ContentType="application/vnd.openxmlformats-officedocument.presentationml.slide+xml"/>
  <Override PartName="/ppt/slides/slide405.xml" ContentType="application/vnd.openxmlformats-officedocument.presentationml.slide+xml"/>
  <Override PartName="/ppt/slides/slide406.xml" ContentType="application/vnd.openxmlformats-officedocument.presentationml.slide+xml"/>
  <Override PartName="/ppt/slides/slide407.xml" ContentType="application/vnd.openxmlformats-officedocument.presentationml.slide+xml"/>
  <Override PartName="/ppt/slides/slide408.xml" ContentType="application/vnd.openxmlformats-officedocument.presentationml.slide+xml"/>
  <Override PartName="/ppt/slides/slide409.xml" ContentType="application/vnd.openxmlformats-officedocument.presentationml.slide+xml"/>
  <Override PartName="/ppt/slides/slide41.xml" ContentType="application/vnd.openxmlformats-officedocument.presentationml.slide+xml"/>
  <Override PartName="/ppt/slides/slide410.xml" ContentType="application/vnd.openxmlformats-officedocument.presentationml.slide+xml"/>
  <Override PartName="/ppt/slides/slide411.xml" ContentType="application/vnd.openxmlformats-officedocument.presentationml.slide+xml"/>
  <Override PartName="/ppt/slides/slide412.xml" ContentType="application/vnd.openxmlformats-officedocument.presentationml.slide+xml"/>
  <Override PartName="/ppt/slides/slide413.xml" ContentType="application/vnd.openxmlformats-officedocument.presentationml.slide+xml"/>
  <Override PartName="/ppt/slides/slide414.xml" ContentType="application/vnd.openxmlformats-officedocument.presentationml.slide+xml"/>
  <Override PartName="/ppt/slides/slide415.xml" ContentType="application/vnd.openxmlformats-officedocument.presentationml.slide+xml"/>
  <Override PartName="/ppt/slides/slide416.xml" ContentType="application/vnd.openxmlformats-officedocument.presentationml.slide+xml"/>
  <Override PartName="/ppt/slides/slide417.xml" ContentType="application/vnd.openxmlformats-officedocument.presentationml.slide+xml"/>
  <Override PartName="/ppt/slides/slide418.xml" ContentType="application/vnd.openxmlformats-officedocument.presentationml.slide+xml"/>
  <Override PartName="/ppt/slides/slide419.xml" ContentType="application/vnd.openxmlformats-officedocument.presentationml.slide+xml"/>
  <Override PartName="/ppt/slides/slide42.xml" ContentType="application/vnd.openxmlformats-officedocument.presentationml.slide+xml"/>
  <Override PartName="/ppt/slides/slide420.xml" ContentType="application/vnd.openxmlformats-officedocument.presentationml.slide+xml"/>
  <Override PartName="/ppt/slides/slide421.xml" ContentType="application/vnd.openxmlformats-officedocument.presentationml.slide+xml"/>
  <Override PartName="/ppt/slides/slide422.xml" ContentType="application/vnd.openxmlformats-officedocument.presentationml.slide+xml"/>
  <Override PartName="/ppt/slides/slide423.xml" ContentType="application/vnd.openxmlformats-officedocument.presentationml.slide+xml"/>
  <Override PartName="/ppt/slides/slide424.xml" ContentType="application/vnd.openxmlformats-officedocument.presentationml.slide+xml"/>
  <Override PartName="/ppt/slides/slide425.xml" ContentType="application/vnd.openxmlformats-officedocument.presentationml.slide+xml"/>
  <Override PartName="/ppt/slides/slide426.xml" ContentType="application/vnd.openxmlformats-officedocument.presentationml.slide+xml"/>
  <Override PartName="/ppt/slides/slide427.xml" ContentType="application/vnd.openxmlformats-officedocument.presentationml.slide+xml"/>
  <Override PartName="/ppt/slides/slide428.xml" ContentType="application/vnd.openxmlformats-officedocument.presentationml.slide+xml"/>
  <Override PartName="/ppt/slides/slide429.xml" ContentType="application/vnd.openxmlformats-officedocument.presentationml.slide+xml"/>
  <Override PartName="/ppt/slides/slide43.xml" ContentType="application/vnd.openxmlformats-officedocument.presentationml.slide+xml"/>
  <Override PartName="/ppt/slides/slide430.xml" ContentType="application/vnd.openxmlformats-officedocument.presentationml.slide+xml"/>
  <Override PartName="/ppt/slides/slide431.xml" ContentType="application/vnd.openxmlformats-officedocument.presentationml.slide+xml"/>
  <Override PartName="/ppt/slides/slide432.xml" ContentType="application/vnd.openxmlformats-officedocument.presentationml.slide+xml"/>
  <Override PartName="/ppt/slides/slide433.xml" ContentType="application/vnd.openxmlformats-officedocument.presentationml.slide+xml"/>
  <Override PartName="/ppt/slides/slide434.xml" ContentType="application/vnd.openxmlformats-officedocument.presentationml.slide+xml"/>
  <Override PartName="/ppt/slides/slide435.xml" ContentType="application/vnd.openxmlformats-officedocument.presentationml.slide+xml"/>
  <Override PartName="/ppt/slides/slide436.xml" ContentType="application/vnd.openxmlformats-officedocument.presentationml.slide+xml"/>
  <Override PartName="/ppt/slides/slide437.xml" ContentType="application/vnd.openxmlformats-officedocument.presentationml.slide+xml"/>
  <Override PartName="/ppt/slides/slide438.xml" ContentType="application/vnd.openxmlformats-officedocument.presentationml.slide+xml"/>
  <Override PartName="/ppt/slides/slide439.xml" ContentType="application/vnd.openxmlformats-officedocument.presentationml.slide+xml"/>
  <Override PartName="/ppt/slides/slide44.xml" ContentType="application/vnd.openxmlformats-officedocument.presentationml.slide+xml"/>
  <Override PartName="/ppt/slides/slide440.xml" ContentType="application/vnd.openxmlformats-officedocument.presentationml.slide+xml"/>
  <Override PartName="/ppt/slides/slide441.xml" ContentType="application/vnd.openxmlformats-officedocument.presentationml.slide+xml"/>
  <Override PartName="/ppt/slides/slide442.xml" ContentType="application/vnd.openxmlformats-officedocument.presentationml.slide+xml"/>
  <Override PartName="/ppt/slides/slide443.xml" ContentType="application/vnd.openxmlformats-officedocument.presentationml.slide+xml"/>
  <Override PartName="/ppt/slides/slide444.xml" ContentType="application/vnd.openxmlformats-officedocument.presentationml.slide+xml"/>
  <Override PartName="/ppt/slides/slide445.xml" ContentType="application/vnd.openxmlformats-officedocument.presentationml.slide+xml"/>
  <Override PartName="/ppt/slides/slide446.xml" ContentType="application/vnd.openxmlformats-officedocument.presentationml.slide+xml"/>
  <Override PartName="/ppt/slides/slide447.xml" ContentType="application/vnd.openxmlformats-officedocument.presentationml.slide+xml"/>
  <Override PartName="/ppt/slides/slide448.xml" ContentType="application/vnd.openxmlformats-officedocument.presentationml.slide+xml"/>
  <Override PartName="/ppt/slides/slide449.xml" ContentType="application/vnd.openxmlformats-officedocument.presentationml.slide+xml"/>
  <Override PartName="/ppt/slides/slide45.xml" ContentType="application/vnd.openxmlformats-officedocument.presentationml.slide+xml"/>
  <Override PartName="/ppt/slides/slide450.xml" ContentType="application/vnd.openxmlformats-officedocument.presentationml.slide+xml"/>
  <Override PartName="/ppt/slides/slide451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</p:sldMasterIdLst>
  <p:notesMasterIdLst>
    <p:notesMasterId r:id="rId456"/>
  </p:notesMasterIdLst>
  <p:sldIdLst>
    <p:sldId id="258" r:id="rId5"/>
    <p:sldId id="1242" r:id="rId6"/>
    <p:sldId id="401" r:id="rId7"/>
    <p:sldId id="426" r:id="rId8"/>
    <p:sldId id="403" r:id="rId9"/>
    <p:sldId id="759" r:id="rId10"/>
    <p:sldId id="760" r:id="rId11"/>
    <p:sldId id="761" r:id="rId12"/>
    <p:sldId id="762" r:id="rId13"/>
    <p:sldId id="763" r:id="rId14"/>
    <p:sldId id="764" r:id="rId15"/>
    <p:sldId id="765" r:id="rId16"/>
    <p:sldId id="766" r:id="rId17"/>
    <p:sldId id="767" r:id="rId18"/>
    <p:sldId id="768" r:id="rId19"/>
    <p:sldId id="769" r:id="rId20"/>
    <p:sldId id="770" r:id="rId21"/>
    <p:sldId id="771" r:id="rId22"/>
    <p:sldId id="772" r:id="rId23"/>
    <p:sldId id="773" r:id="rId24"/>
    <p:sldId id="431" r:id="rId25"/>
    <p:sldId id="774" r:id="rId26"/>
    <p:sldId id="775" r:id="rId27"/>
    <p:sldId id="776" r:id="rId28"/>
    <p:sldId id="777" r:id="rId29"/>
    <p:sldId id="778" r:id="rId30"/>
    <p:sldId id="780" r:id="rId31"/>
    <p:sldId id="779" r:id="rId32"/>
    <p:sldId id="781" r:id="rId33"/>
    <p:sldId id="782" r:id="rId34"/>
    <p:sldId id="783" r:id="rId35"/>
    <p:sldId id="784" r:id="rId36"/>
    <p:sldId id="785" r:id="rId37"/>
    <p:sldId id="786" r:id="rId38"/>
    <p:sldId id="787" r:id="rId39"/>
    <p:sldId id="438" r:id="rId40"/>
    <p:sldId id="788" r:id="rId41"/>
    <p:sldId id="789" r:id="rId42"/>
    <p:sldId id="790" r:id="rId43"/>
    <p:sldId id="791" r:id="rId44"/>
    <p:sldId id="792" r:id="rId45"/>
    <p:sldId id="793" r:id="rId46"/>
    <p:sldId id="794" r:id="rId47"/>
    <p:sldId id="795" r:id="rId48"/>
    <p:sldId id="844" r:id="rId49"/>
    <p:sldId id="845" r:id="rId50"/>
    <p:sldId id="846" r:id="rId51"/>
    <p:sldId id="847" r:id="rId52"/>
    <p:sldId id="848" r:id="rId53"/>
    <p:sldId id="849" r:id="rId54"/>
    <p:sldId id="851" r:id="rId55"/>
    <p:sldId id="441" r:id="rId56"/>
    <p:sldId id="855" r:id="rId57"/>
    <p:sldId id="856" r:id="rId58"/>
    <p:sldId id="857" r:id="rId59"/>
    <p:sldId id="858" r:id="rId60"/>
    <p:sldId id="859" r:id="rId61"/>
    <p:sldId id="860" r:id="rId62"/>
    <p:sldId id="861" r:id="rId63"/>
    <p:sldId id="862" r:id="rId64"/>
    <p:sldId id="863" r:id="rId65"/>
    <p:sldId id="864" r:id="rId66"/>
    <p:sldId id="865" r:id="rId67"/>
    <p:sldId id="402" r:id="rId68"/>
    <p:sldId id="453" r:id="rId69"/>
    <p:sldId id="866" r:id="rId70"/>
    <p:sldId id="867" r:id="rId71"/>
    <p:sldId id="868" r:id="rId72"/>
    <p:sldId id="1226" r:id="rId73"/>
    <p:sldId id="869" r:id="rId74"/>
    <p:sldId id="870" r:id="rId75"/>
    <p:sldId id="1227" r:id="rId76"/>
    <p:sldId id="871" r:id="rId77"/>
    <p:sldId id="872" r:id="rId78"/>
    <p:sldId id="873" r:id="rId79"/>
    <p:sldId id="875" r:id="rId80"/>
    <p:sldId id="876" r:id="rId81"/>
    <p:sldId id="757" r:id="rId82"/>
    <p:sldId id="878" r:id="rId83"/>
    <p:sldId id="1238" r:id="rId84"/>
    <p:sldId id="879" r:id="rId85"/>
    <p:sldId id="880" r:id="rId86"/>
    <p:sldId id="881" r:id="rId87"/>
    <p:sldId id="882" r:id="rId88"/>
    <p:sldId id="842" r:id="rId89"/>
    <p:sldId id="843" r:id="rId90"/>
    <p:sldId id="452" r:id="rId91"/>
    <p:sldId id="288" r:id="rId92"/>
    <p:sldId id="1241" r:id="rId93"/>
    <p:sldId id="412" r:id="rId94"/>
    <p:sldId id="399" r:id="rId95"/>
    <p:sldId id="854" r:id="rId96"/>
    <p:sldId id="884" r:id="rId97"/>
    <p:sldId id="885" r:id="rId98"/>
    <p:sldId id="886" r:id="rId99"/>
    <p:sldId id="887" r:id="rId100"/>
    <p:sldId id="888" r:id="rId101"/>
    <p:sldId id="889" r:id="rId102"/>
    <p:sldId id="890" r:id="rId103"/>
    <p:sldId id="891" r:id="rId104"/>
    <p:sldId id="892" r:id="rId105"/>
    <p:sldId id="893" r:id="rId106"/>
    <p:sldId id="895" r:id="rId107"/>
    <p:sldId id="896" r:id="rId108"/>
    <p:sldId id="1239" r:id="rId109"/>
    <p:sldId id="897" r:id="rId110"/>
    <p:sldId id="1240" r:id="rId111"/>
    <p:sldId id="898" r:id="rId112"/>
    <p:sldId id="899" r:id="rId113"/>
    <p:sldId id="900" r:id="rId114"/>
    <p:sldId id="901" r:id="rId115"/>
    <p:sldId id="902" r:id="rId116"/>
    <p:sldId id="1243" r:id="rId117"/>
    <p:sldId id="903" r:id="rId118"/>
    <p:sldId id="904" r:id="rId119"/>
    <p:sldId id="905" r:id="rId120"/>
    <p:sldId id="1210" r:id="rId121"/>
    <p:sldId id="1211" r:id="rId122"/>
    <p:sldId id="906" r:id="rId123"/>
    <p:sldId id="907" r:id="rId124"/>
    <p:sldId id="909" r:id="rId125"/>
    <p:sldId id="1244" r:id="rId126"/>
    <p:sldId id="910" r:id="rId127"/>
    <p:sldId id="911" r:id="rId128"/>
    <p:sldId id="1212" r:id="rId129"/>
    <p:sldId id="912" r:id="rId130"/>
    <p:sldId id="913" r:id="rId131"/>
    <p:sldId id="914" r:id="rId132"/>
    <p:sldId id="915" r:id="rId133"/>
    <p:sldId id="916" r:id="rId134"/>
    <p:sldId id="917" r:id="rId135"/>
    <p:sldId id="918" r:id="rId136"/>
    <p:sldId id="919" r:id="rId137"/>
    <p:sldId id="920" r:id="rId138"/>
    <p:sldId id="921" r:id="rId139"/>
    <p:sldId id="922" r:id="rId140"/>
    <p:sldId id="923" r:id="rId141"/>
    <p:sldId id="924" r:id="rId142"/>
    <p:sldId id="925" r:id="rId143"/>
    <p:sldId id="926" r:id="rId144"/>
    <p:sldId id="927" r:id="rId145"/>
    <p:sldId id="928" r:id="rId146"/>
    <p:sldId id="929" r:id="rId147"/>
    <p:sldId id="930" r:id="rId148"/>
    <p:sldId id="931" r:id="rId149"/>
    <p:sldId id="932" r:id="rId150"/>
    <p:sldId id="933" r:id="rId151"/>
    <p:sldId id="934" r:id="rId152"/>
    <p:sldId id="935" r:id="rId153"/>
    <p:sldId id="936" r:id="rId154"/>
    <p:sldId id="937" r:id="rId155"/>
    <p:sldId id="938" r:id="rId156"/>
    <p:sldId id="939" r:id="rId157"/>
    <p:sldId id="940" r:id="rId158"/>
    <p:sldId id="941" r:id="rId159"/>
    <p:sldId id="942" r:id="rId160"/>
    <p:sldId id="943" r:id="rId161"/>
    <p:sldId id="944" r:id="rId162"/>
    <p:sldId id="945" r:id="rId163"/>
    <p:sldId id="1245" r:id="rId164"/>
    <p:sldId id="946" r:id="rId165"/>
    <p:sldId id="947" r:id="rId166"/>
    <p:sldId id="948" r:id="rId167"/>
    <p:sldId id="949" r:id="rId168"/>
    <p:sldId id="950" r:id="rId169"/>
    <p:sldId id="951" r:id="rId170"/>
    <p:sldId id="952" r:id="rId171"/>
    <p:sldId id="1217" r:id="rId172"/>
    <p:sldId id="419" r:id="rId173"/>
    <p:sldId id="1223" r:id="rId174"/>
    <p:sldId id="413" r:id="rId175"/>
    <p:sldId id="1218" r:id="rId176"/>
    <p:sldId id="953" r:id="rId177"/>
    <p:sldId id="954" r:id="rId178"/>
    <p:sldId id="1213" r:id="rId179"/>
    <p:sldId id="955" r:id="rId180"/>
    <p:sldId id="956" r:id="rId181"/>
    <p:sldId id="957" r:id="rId182"/>
    <p:sldId id="958" r:id="rId183"/>
    <p:sldId id="959" r:id="rId184"/>
    <p:sldId id="960" r:id="rId185"/>
    <p:sldId id="961" r:id="rId186"/>
    <p:sldId id="962" r:id="rId187"/>
    <p:sldId id="963" r:id="rId188"/>
    <p:sldId id="964" r:id="rId189"/>
    <p:sldId id="965" r:id="rId190"/>
    <p:sldId id="966" r:id="rId191"/>
    <p:sldId id="967" r:id="rId192"/>
    <p:sldId id="968" r:id="rId193"/>
    <p:sldId id="969" r:id="rId194"/>
    <p:sldId id="970" r:id="rId195"/>
    <p:sldId id="1214" r:id="rId196"/>
    <p:sldId id="971" r:id="rId197"/>
    <p:sldId id="972" r:id="rId198"/>
    <p:sldId id="1246" r:id="rId199"/>
    <p:sldId id="973" r:id="rId200"/>
    <p:sldId id="974" r:id="rId201"/>
    <p:sldId id="975" r:id="rId202"/>
    <p:sldId id="1215" r:id="rId203"/>
    <p:sldId id="1250" r:id="rId204"/>
    <p:sldId id="976" r:id="rId205"/>
    <p:sldId id="977" r:id="rId206"/>
    <p:sldId id="978" r:id="rId207"/>
    <p:sldId id="979" r:id="rId208"/>
    <p:sldId id="980" r:id="rId209"/>
    <p:sldId id="981" r:id="rId210"/>
    <p:sldId id="1251" r:id="rId211"/>
    <p:sldId id="982" r:id="rId212"/>
    <p:sldId id="983" r:id="rId213"/>
    <p:sldId id="984" r:id="rId214"/>
    <p:sldId id="985" r:id="rId215"/>
    <p:sldId id="986" r:id="rId216"/>
    <p:sldId id="987" r:id="rId217"/>
    <p:sldId id="988" r:id="rId218"/>
    <p:sldId id="989" r:id="rId219"/>
    <p:sldId id="990" r:id="rId220"/>
    <p:sldId id="991" r:id="rId221"/>
    <p:sldId id="1247" r:id="rId222"/>
    <p:sldId id="992" r:id="rId223"/>
    <p:sldId id="993" r:id="rId224"/>
    <p:sldId id="994" r:id="rId225"/>
    <p:sldId id="995" r:id="rId226"/>
    <p:sldId id="996" r:id="rId227"/>
    <p:sldId id="997" r:id="rId228"/>
    <p:sldId id="1248" r:id="rId229"/>
    <p:sldId id="998" r:id="rId230"/>
    <p:sldId id="999" r:id="rId231"/>
    <p:sldId id="1000" r:id="rId232"/>
    <p:sldId id="1001" r:id="rId233"/>
    <p:sldId id="1002" r:id="rId234"/>
    <p:sldId id="1003" r:id="rId235"/>
    <p:sldId id="1004" r:id="rId236"/>
    <p:sldId id="1005" r:id="rId237"/>
    <p:sldId id="1006" r:id="rId238"/>
    <p:sldId id="1007" r:id="rId239"/>
    <p:sldId id="1008" r:id="rId240"/>
    <p:sldId id="1009" r:id="rId241"/>
    <p:sldId id="1010" r:id="rId242"/>
    <p:sldId id="1216" r:id="rId243"/>
    <p:sldId id="1249" r:id="rId244"/>
    <p:sldId id="1011" r:id="rId245"/>
    <p:sldId id="1012" r:id="rId246"/>
    <p:sldId id="1219" r:id="rId247"/>
    <p:sldId id="420" r:id="rId248"/>
    <p:sldId id="1224" r:id="rId249"/>
    <p:sldId id="414" r:id="rId250"/>
    <p:sldId id="417" r:id="rId251"/>
    <p:sldId id="1013" r:id="rId252"/>
    <p:sldId id="1014" r:id="rId253"/>
    <p:sldId id="1015" r:id="rId254"/>
    <p:sldId id="1016" r:id="rId255"/>
    <p:sldId id="1017" r:id="rId256"/>
    <p:sldId id="1018" r:id="rId257"/>
    <p:sldId id="1019" r:id="rId258"/>
    <p:sldId id="1020" r:id="rId259"/>
    <p:sldId id="1021" r:id="rId260"/>
    <p:sldId id="1022" r:id="rId261"/>
    <p:sldId id="1023" r:id="rId262"/>
    <p:sldId id="1024" r:id="rId263"/>
    <p:sldId id="1025" r:id="rId264"/>
    <p:sldId id="1026" r:id="rId265"/>
    <p:sldId id="1027" r:id="rId266"/>
    <p:sldId id="1028" r:id="rId267"/>
    <p:sldId id="1029" r:id="rId268"/>
    <p:sldId id="1030" r:id="rId269"/>
    <p:sldId id="1031" r:id="rId270"/>
    <p:sldId id="1032" r:id="rId271"/>
    <p:sldId id="1033" r:id="rId272"/>
    <p:sldId id="1034" r:id="rId273"/>
    <p:sldId id="1035" r:id="rId274"/>
    <p:sldId id="1036" r:id="rId275"/>
    <p:sldId id="1037" r:id="rId276"/>
    <p:sldId id="1038" r:id="rId277"/>
    <p:sldId id="1039" r:id="rId278"/>
    <p:sldId id="1040" r:id="rId279"/>
    <p:sldId id="1041" r:id="rId280"/>
    <p:sldId id="1042" r:id="rId281"/>
    <p:sldId id="1043" r:id="rId282"/>
    <p:sldId id="1044" r:id="rId283"/>
    <p:sldId id="1045" r:id="rId284"/>
    <p:sldId id="1046" r:id="rId285"/>
    <p:sldId id="1047" r:id="rId286"/>
    <p:sldId id="1048" r:id="rId287"/>
    <p:sldId id="1049" r:id="rId288"/>
    <p:sldId id="1050" r:id="rId289"/>
    <p:sldId id="1051" r:id="rId290"/>
    <p:sldId id="1052" r:id="rId291"/>
    <p:sldId id="1053" r:id="rId292"/>
    <p:sldId id="1054" r:id="rId293"/>
    <p:sldId id="1055" r:id="rId294"/>
    <p:sldId id="1056" r:id="rId295"/>
    <p:sldId id="1057" r:id="rId296"/>
    <p:sldId id="1095" r:id="rId297"/>
    <p:sldId id="1096" r:id="rId298"/>
    <p:sldId id="1097" r:id="rId299"/>
    <p:sldId id="1098" r:id="rId300"/>
    <p:sldId id="1099" r:id="rId301"/>
    <p:sldId id="1100" r:id="rId302"/>
    <p:sldId id="1101" r:id="rId303"/>
    <p:sldId id="1102" r:id="rId304"/>
    <p:sldId id="1103" r:id="rId305"/>
    <p:sldId id="1104" r:id="rId306"/>
    <p:sldId id="1105" r:id="rId307"/>
    <p:sldId id="1107" r:id="rId308"/>
    <p:sldId id="1106" r:id="rId309"/>
    <p:sldId id="1108" r:id="rId310"/>
    <p:sldId id="1109" r:id="rId311"/>
    <p:sldId id="1110" r:id="rId312"/>
    <p:sldId id="1111" r:id="rId313"/>
    <p:sldId id="1112" r:id="rId314"/>
    <p:sldId id="1113" r:id="rId315"/>
    <p:sldId id="1114" r:id="rId316"/>
    <p:sldId id="1115" r:id="rId317"/>
    <p:sldId id="1116" r:id="rId318"/>
    <p:sldId id="1117" r:id="rId319"/>
    <p:sldId id="1118" r:id="rId320"/>
    <p:sldId id="1119" r:id="rId321"/>
    <p:sldId id="1120" r:id="rId322"/>
    <p:sldId id="1121" r:id="rId323"/>
    <p:sldId id="1122" r:id="rId324"/>
    <p:sldId id="1123" r:id="rId325"/>
    <p:sldId id="1124" r:id="rId326"/>
    <p:sldId id="1125" r:id="rId327"/>
    <p:sldId id="1126" r:id="rId328"/>
    <p:sldId id="1127" r:id="rId329"/>
    <p:sldId id="1220" r:id="rId330"/>
    <p:sldId id="411" r:id="rId331"/>
    <p:sldId id="1225" r:id="rId332"/>
    <p:sldId id="415" r:id="rId333"/>
    <p:sldId id="416" r:id="rId334"/>
    <p:sldId id="1128" r:id="rId335"/>
    <p:sldId id="1129" r:id="rId336"/>
    <p:sldId id="1130" r:id="rId337"/>
    <p:sldId id="1131" r:id="rId338"/>
    <p:sldId id="1132" r:id="rId339"/>
    <p:sldId id="1133" r:id="rId340"/>
    <p:sldId id="1134" r:id="rId341"/>
    <p:sldId id="1135" r:id="rId342"/>
    <p:sldId id="1136" r:id="rId343"/>
    <p:sldId id="1137" r:id="rId344"/>
    <p:sldId id="1138" r:id="rId345"/>
    <p:sldId id="1139" r:id="rId346"/>
    <p:sldId id="1140" r:id="rId347"/>
    <p:sldId id="1141" r:id="rId348"/>
    <p:sldId id="1142" r:id="rId349"/>
    <p:sldId id="1143" r:id="rId350"/>
    <p:sldId id="1144" r:id="rId351"/>
    <p:sldId id="1145" r:id="rId352"/>
    <p:sldId id="1146" r:id="rId353"/>
    <p:sldId id="1147" r:id="rId354"/>
    <p:sldId id="1148" r:id="rId355"/>
    <p:sldId id="1149" r:id="rId356"/>
    <p:sldId id="1150" r:id="rId357"/>
    <p:sldId id="1151" r:id="rId358"/>
    <p:sldId id="1152" r:id="rId359"/>
    <p:sldId id="1153" r:id="rId360"/>
    <p:sldId id="1154" r:id="rId361"/>
    <p:sldId id="1155" r:id="rId362"/>
    <p:sldId id="1156" r:id="rId363"/>
    <p:sldId id="1157" r:id="rId364"/>
    <p:sldId id="1158" r:id="rId365"/>
    <p:sldId id="1159" r:id="rId366"/>
    <p:sldId id="1160" r:id="rId367"/>
    <p:sldId id="1161" r:id="rId368"/>
    <p:sldId id="1162" r:id="rId369"/>
    <p:sldId id="1163" r:id="rId370"/>
    <p:sldId id="1164" r:id="rId371"/>
    <p:sldId id="1165" r:id="rId372"/>
    <p:sldId id="1166" r:id="rId373"/>
    <p:sldId id="1167" r:id="rId374"/>
    <p:sldId id="1168" r:id="rId375"/>
    <p:sldId id="1169" r:id="rId376"/>
    <p:sldId id="1170" r:id="rId377"/>
    <p:sldId id="1171" r:id="rId378"/>
    <p:sldId id="1172" r:id="rId379"/>
    <p:sldId id="1173" r:id="rId380"/>
    <p:sldId id="1174" r:id="rId381"/>
    <p:sldId id="1175" r:id="rId382"/>
    <p:sldId id="1176" r:id="rId383"/>
    <p:sldId id="1177" r:id="rId384"/>
    <p:sldId id="1178" r:id="rId385"/>
    <p:sldId id="1179" r:id="rId386"/>
    <p:sldId id="1180" r:id="rId387"/>
    <p:sldId id="1181" r:id="rId388"/>
    <p:sldId id="1182" r:id="rId389"/>
    <p:sldId id="1183" r:id="rId390"/>
    <p:sldId id="1184" r:id="rId391"/>
    <p:sldId id="1185" r:id="rId392"/>
    <p:sldId id="1186" r:id="rId393"/>
    <p:sldId id="1187" r:id="rId394"/>
    <p:sldId id="1188" r:id="rId395"/>
    <p:sldId id="1189" r:id="rId396"/>
    <p:sldId id="1190" r:id="rId397"/>
    <p:sldId id="1191" r:id="rId398"/>
    <p:sldId id="1192" r:id="rId399"/>
    <p:sldId id="1193" r:id="rId400"/>
    <p:sldId id="1194" r:id="rId401"/>
    <p:sldId id="1195" r:id="rId402"/>
    <p:sldId id="1196" r:id="rId403"/>
    <p:sldId id="1197" r:id="rId404"/>
    <p:sldId id="1198" r:id="rId405"/>
    <p:sldId id="1199" r:id="rId406"/>
    <p:sldId id="1200" r:id="rId407"/>
    <p:sldId id="1201" r:id="rId408"/>
    <p:sldId id="1202" r:id="rId409"/>
    <p:sldId id="1203" r:id="rId410"/>
    <p:sldId id="1204" r:id="rId411"/>
    <p:sldId id="1205" r:id="rId412"/>
    <p:sldId id="1206" r:id="rId413"/>
    <p:sldId id="1207" r:id="rId414"/>
    <p:sldId id="1208" r:id="rId415"/>
    <p:sldId id="1209" r:id="rId416"/>
    <p:sldId id="1221" r:id="rId417"/>
    <p:sldId id="421" r:id="rId418"/>
    <p:sldId id="410" r:id="rId419"/>
    <p:sldId id="1075" r:id="rId420"/>
    <p:sldId id="1094" r:id="rId421"/>
    <p:sldId id="1093" r:id="rId422"/>
    <p:sldId id="1092" r:id="rId423"/>
    <p:sldId id="1091" r:id="rId424"/>
    <p:sldId id="1090" r:id="rId425"/>
    <p:sldId id="1089" r:id="rId426"/>
    <p:sldId id="1088" r:id="rId427"/>
    <p:sldId id="1087" r:id="rId428"/>
    <p:sldId id="1086" r:id="rId429"/>
    <p:sldId id="1085" r:id="rId430"/>
    <p:sldId id="1084" r:id="rId431"/>
    <p:sldId id="1083" r:id="rId432"/>
    <p:sldId id="1082" r:id="rId433"/>
    <p:sldId id="1081" r:id="rId434"/>
    <p:sldId id="1080" r:id="rId435"/>
    <p:sldId id="1079" r:id="rId436"/>
    <p:sldId id="1078" r:id="rId437"/>
    <p:sldId id="1077" r:id="rId438"/>
    <p:sldId id="1073" r:id="rId439"/>
    <p:sldId id="1076" r:id="rId440"/>
    <p:sldId id="1059" r:id="rId441"/>
    <p:sldId id="1074" r:id="rId442"/>
    <p:sldId id="1072" r:id="rId443"/>
    <p:sldId id="1071" r:id="rId444"/>
    <p:sldId id="1070" r:id="rId445"/>
    <p:sldId id="1069" r:id="rId446"/>
    <p:sldId id="1068" r:id="rId447"/>
    <p:sldId id="1067" r:id="rId448"/>
    <p:sldId id="1066" r:id="rId449"/>
    <p:sldId id="1065" r:id="rId450"/>
    <p:sldId id="1064" r:id="rId451"/>
    <p:sldId id="1063" r:id="rId452"/>
    <p:sldId id="1061" r:id="rId453"/>
    <p:sldId id="1062" r:id="rId454"/>
    <p:sldId id="1060" r:id="rId455"/>
  </p:sldIdLst>
  <p:sldSz cx="18288000" cy="10287000"/>
  <p:notesSz cx="6858000" cy="9144000"/>
  <p:embeddedFontLst>
    <p:embeddedFont>
      <p:font typeface="Arial Bold" panose="020B0704020202020204" pitchFamily="34" charset="0"/>
      <p:regular r:id="rId457"/>
      <p:bold r:id="rId45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Bootcamp" id="{9C46E015-E816-473C-AF63-4F55159C23F2}">
          <p14:sldIdLst>
            <p14:sldId id="258"/>
          </p14:sldIdLst>
        </p14:section>
        <p14:section name="Day1" id="{FB6CA4F4-843F-4998-AAB3-FAF5F8AA3840}">
          <p14:sldIdLst>
            <p14:sldId id="1242"/>
            <p14:sldId id="401"/>
            <p14:sldId id="426"/>
            <p14:sldId id="403"/>
            <p14:sldId id="759"/>
            <p14:sldId id="760"/>
            <p14:sldId id="761"/>
            <p14:sldId id="762"/>
            <p14:sldId id="763"/>
            <p14:sldId id="764"/>
            <p14:sldId id="765"/>
            <p14:sldId id="766"/>
            <p14:sldId id="767"/>
            <p14:sldId id="768"/>
            <p14:sldId id="769"/>
            <p14:sldId id="770"/>
            <p14:sldId id="771"/>
            <p14:sldId id="772"/>
            <p14:sldId id="773"/>
            <p14:sldId id="431"/>
            <p14:sldId id="774"/>
            <p14:sldId id="775"/>
            <p14:sldId id="776"/>
            <p14:sldId id="777"/>
            <p14:sldId id="778"/>
            <p14:sldId id="780"/>
            <p14:sldId id="779"/>
            <p14:sldId id="781"/>
            <p14:sldId id="782"/>
            <p14:sldId id="783"/>
            <p14:sldId id="784"/>
            <p14:sldId id="785"/>
            <p14:sldId id="786"/>
            <p14:sldId id="787"/>
            <p14:sldId id="438"/>
            <p14:sldId id="788"/>
            <p14:sldId id="789"/>
            <p14:sldId id="790"/>
            <p14:sldId id="791"/>
            <p14:sldId id="792"/>
            <p14:sldId id="793"/>
            <p14:sldId id="794"/>
            <p14:sldId id="795"/>
            <p14:sldId id="844"/>
            <p14:sldId id="845"/>
            <p14:sldId id="846"/>
            <p14:sldId id="847"/>
            <p14:sldId id="848"/>
            <p14:sldId id="849"/>
            <p14:sldId id="851"/>
            <p14:sldId id="441"/>
            <p14:sldId id="855"/>
            <p14:sldId id="856"/>
            <p14:sldId id="857"/>
            <p14:sldId id="858"/>
            <p14:sldId id="859"/>
            <p14:sldId id="860"/>
            <p14:sldId id="861"/>
            <p14:sldId id="862"/>
            <p14:sldId id="863"/>
            <p14:sldId id="864"/>
            <p14:sldId id="865"/>
            <p14:sldId id="402"/>
            <p14:sldId id="453"/>
            <p14:sldId id="866"/>
            <p14:sldId id="867"/>
            <p14:sldId id="868"/>
            <p14:sldId id="1226"/>
            <p14:sldId id="869"/>
            <p14:sldId id="870"/>
            <p14:sldId id="1227"/>
            <p14:sldId id="871"/>
            <p14:sldId id="872"/>
            <p14:sldId id="873"/>
            <p14:sldId id="875"/>
            <p14:sldId id="876"/>
            <p14:sldId id="757"/>
            <p14:sldId id="878"/>
            <p14:sldId id="1238"/>
            <p14:sldId id="879"/>
            <p14:sldId id="880"/>
            <p14:sldId id="881"/>
            <p14:sldId id="882"/>
            <p14:sldId id="842"/>
            <p14:sldId id="843"/>
            <p14:sldId id="452"/>
            <p14:sldId id="288"/>
          </p14:sldIdLst>
        </p14:section>
        <p14:section name="Day 2" id="{80277BF1-C8CB-4094-91F5-1A9C28B3FDB7}">
          <p14:sldIdLst>
            <p14:sldId id="1241"/>
            <p14:sldId id="412"/>
            <p14:sldId id="399"/>
            <p14:sldId id="854"/>
            <p14:sldId id="884"/>
            <p14:sldId id="885"/>
            <p14:sldId id="886"/>
            <p14:sldId id="887"/>
            <p14:sldId id="888"/>
            <p14:sldId id="889"/>
            <p14:sldId id="890"/>
            <p14:sldId id="891"/>
            <p14:sldId id="892"/>
            <p14:sldId id="893"/>
            <p14:sldId id="895"/>
            <p14:sldId id="896"/>
            <p14:sldId id="1239"/>
            <p14:sldId id="897"/>
            <p14:sldId id="1240"/>
            <p14:sldId id="898"/>
            <p14:sldId id="899"/>
            <p14:sldId id="900"/>
            <p14:sldId id="901"/>
            <p14:sldId id="902"/>
            <p14:sldId id="1243"/>
            <p14:sldId id="903"/>
            <p14:sldId id="904"/>
            <p14:sldId id="905"/>
            <p14:sldId id="1210"/>
            <p14:sldId id="1211"/>
            <p14:sldId id="906"/>
            <p14:sldId id="907"/>
            <p14:sldId id="909"/>
            <p14:sldId id="1244"/>
            <p14:sldId id="910"/>
            <p14:sldId id="911"/>
            <p14:sldId id="1212"/>
            <p14:sldId id="912"/>
            <p14:sldId id="913"/>
            <p14:sldId id="914"/>
            <p14:sldId id="915"/>
            <p14:sldId id="916"/>
            <p14:sldId id="917"/>
            <p14:sldId id="918"/>
            <p14:sldId id="919"/>
            <p14:sldId id="920"/>
            <p14:sldId id="921"/>
            <p14:sldId id="922"/>
            <p14:sldId id="923"/>
            <p14:sldId id="924"/>
            <p14:sldId id="925"/>
            <p14:sldId id="926"/>
            <p14:sldId id="927"/>
            <p14:sldId id="928"/>
            <p14:sldId id="929"/>
            <p14:sldId id="930"/>
            <p14:sldId id="931"/>
            <p14:sldId id="932"/>
            <p14:sldId id="933"/>
            <p14:sldId id="934"/>
            <p14:sldId id="935"/>
            <p14:sldId id="936"/>
            <p14:sldId id="937"/>
            <p14:sldId id="938"/>
            <p14:sldId id="939"/>
            <p14:sldId id="940"/>
            <p14:sldId id="941"/>
            <p14:sldId id="942"/>
            <p14:sldId id="943"/>
            <p14:sldId id="944"/>
            <p14:sldId id="945"/>
            <p14:sldId id="1245"/>
            <p14:sldId id="946"/>
            <p14:sldId id="947"/>
            <p14:sldId id="948"/>
            <p14:sldId id="949"/>
            <p14:sldId id="950"/>
            <p14:sldId id="951"/>
            <p14:sldId id="952"/>
            <p14:sldId id="1217"/>
            <p14:sldId id="419"/>
          </p14:sldIdLst>
        </p14:section>
        <p14:section name="Day 3" id="{3C2A5812-AF6B-4C4B-88FA-67B073A3CBC1}">
          <p14:sldIdLst>
            <p14:sldId id="1223"/>
            <p14:sldId id="413"/>
            <p14:sldId id="1218"/>
            <p14:sldId id="953"/>
            <p14:sldId id="954"/>
            <p14:sldId id="1213"/>
            <p14:sldId id="955"/>
            <p14:sldId id="956"/>
            <p14:sldId id="957"/>
            <p14:sldId id="958"/>
            <p14:sldId id="959"/>
            <p14:sldId id="960"/>
            <p14:sldId id="961"/>
            <p14:sldId id="962"/>
            <p14:sldId id="963"/>
            <p14:sldId id="964"/>
            <p14:sldId id="965"/>
            <p14:sldId id="966"/>
            <p14:sldId id="967"/>
            <p14:sldId id="968"/>
            <p14:sldId id="969"/>
            <p14:sldId id="970"/>
            <p14:sldId id="1214"/>
            <p14:sldId id="971"/>
            <p14:sldId id="972"/>
            <p14:sldId id="1246"/>
            <p14:sldId id="973"/>
            <p14:sldId id="974"/>
            <p14:sldId id="975"/>
            <p14:sldId id="1215"/>
            <p14:sldId id="1250"/>
            <p14:sldId id="976"/>
            <p14:sldId id="977"/>
            <p14:sldId id="978"/>
            <p14:sldId id="979"/>
            <p14:sldId id="980"/>
            <p14:sldId id="981"/>
            <p14:sldId id="1251"/>
            <p14:sldId id="982"/>
            <p14:sldId id="983"/>
            <p14:sldId id="984"/>
            <p14:sldId id="985"/>
            <p14:sldId id="986"/>
            <p14:sldId id="987"/>
            <p14:sldId id="988"/>
            <p14:sldId id="989"/>
            <p14:sldId id="990"/>
            <p14:sldId id="991"/>
            <p14:sldId id="1247"/>
            <p14:sldId id="992"/>
            <p14:sldId id="993"/>
            <p14:sldId id="994"/>
            <p14:sldId id="995"/>
            <p14:sldId id="996"/>
            <p14:sldId id="997"/>
            <p14:sldId id="1248"/>
            <p14:sldId id="998"/>
            <p14:sldId id="999"/>
            <p14:sldId id="1000"/>
            <p14:sldId id="1001"/>
            <p14:sldId id="1002"/>
            <p14:sldId id="1003"/>
            <p14:sldId id="1004"/>
            <p14:sldId id="1005"/>
            <p14:sldId id="1006"/>
            <p14:sldId id="1007"/>
            <p14:sldId id="1008"/>
            <p14:sldId id="1009"/>
            <p14:sldId id="1010"/>
            <p14:sldId id="1216"/>
            <p14:sldId id="1249"/>
            <p14:sldId id="1011"/>
            <p14:sldId id="1012"/>
            <p14:sldId id="1219"/>
            <p14:sldId id="420"/>
          </p14:sldIdLst>
        </p14:section>
        <p14:section name="Day 4" id="{2C2B4C8C-83C6-4393-9F1C-FA1D853B4062}">
          <p14:sldIdLst>
            <p14:sldId id="1224"/>
            <p14:sldId id="414"/>
            <p14:sldId id="417"/>
            <p14:sldId id="1013"/>
            <p14:sldId id="1014"/>
            <p14:sldId id="1015"/>
            <p14:sldId id="1016"/>
            <p14:sldId id="1017"/>
            <p14:sldId id="1018"/>
            <p14:sldId id="1019"/>
            <p14:sldId id="1020"/>
            <p14:sldId id="1021"/>
            <p14:sldId id="1022"/>
            <p14:sldId id="1023"/>
            <p14:sldId id="1024"/>
            <p14:sldId id="1025"/>
            <p14:sldId id="1026"/>
            <p14:sldId id="1027"/>
            <p14:sldId id="1028"/>
            <p14:sldId id="1029"/>
            <p14:sldId id="1030"/>
            <p14:sldId id="1031"/>
            <p14:sldId id="1032"/>
            <p14:sldId id="1033"/>
            <p14:sldId id="1034"/>
            <p14:sldId id="1035"/>
            <p14:sldId id="1036"/>
            <p14:sldId id="1037"/>
            <p14:sldId id="1038"/>
            <p14:sldId id="1039"/>
            <p14:sldId id="1040"/>
            <p14:sldId id="1041"/>
            <p14:sldId id="1042"/>
            <p14:sldId id="1043"/>
            <p14:sldId id="1044"/>
            <p14:sldId id="1045"/>
            <p14:sldId id="1046"/>
            <p14:sldId id="1047"/>
            <p14:sldId id="1048"/>
            <p14:sldId id="1049"/>
            <p14:sldId id="1050"/>
            <p14:sldId id="1051"/>
            <p14:sldId id="1052"/>
            <p14:sldId id="1053"/>
            <p14:sldId id="1054"/>
            <p14:sldId id="1055"/>
            <p14:sldId id="1056"/>
            <p14:sldId id="1057"/>
            <p14:sldId id="1095"/>
            <p14:sldId id="1096"/>
            <p14:sldId id="1097"/>
            <p14:sldId id="1098"/>
            <p14:sldId id="1099"/>
            <p14:sldId id="1100"/>
            <p14:sldId id="1101"/>
            <p14:sldId id="1102"/>
            <p14:sldId id="1103"/>
            <p14:sldId id="1104"/>
            <p14:sldId id="1105"/>
            <p14:sldId id="1107"/>
            <p14:sldId id="1106"/>
            <p14:sldId id="1108"/>
            <p14:sldId id="1109"/>
            <p14:sldId id="1110"/>
            <p14:sldId id="1111"/>
            <p14:sldId id="1112"/>
            <p14:sldId id="1113"/>
            <p14:sldId id="1114"/>
            <p14:sldId id="1115"/>
            <p14:sldId id="1116"/>
            <p14:sldId id="1117"/>
            <p14:sldId id="1118"/>
            <p14:sldId id="1119"/>
            <p14:sldId id="1120"/>
            <p14:sldId id="1121"/>
            <p14:sldId id="1122"/>
            <p14:sldId id="1123"/>
            <p14:sldId id="1124"/>
            <p14:sldId id="1125"/>
            <p14:sldId id="1126"/>
            <p14:sldId id="1127"/>
            <p14:sldId id="1220"/>
            <p14:sldId id="411"/>
          </p14:sldIdLst>
        </p14:section>
        <p14:section name="Day 5" id="{048E8B2F-608D-4568-9AB5-E02C2A309465}">
          <p14:sldIdLst>
            <p14:sldId id="1225"/>
            <p14:sldId id="415"/>
            <p14:sldId id="416"/>
            <p14:sldId id="1128"/>
            <p14:sldId id="1129"/>
            <p14:sldId id="1130"/>
            <p14:sldId id="1131"/>
            <p14:sldId id="1132"/>
            <p14:sldId id="1133"/>
            <p14:sldId id="1134"/>
            <p14:sldId id="1135"/>
            <p14:sldId id="1136"/>
            <p14:sldId id="1137"/>
            <p14:sldId id="1138"/>
            <p14:sldId id="1139"/>
            <p14:sldId id="1140"/>
            <p14:sldId id="1141"/>
            <p14:sldId id="1142"/>
            <p14:sldId id="1143"/>
            <p14:sldId id="1144"/>
            <p14:sldId id="1145"/>
            <p14:sldId id="1146"/>
            <p14:sldId id="1147"/>
            <p14:sldId id="1148"/>
            <p14:sldId id="1149"/>
            <p14:sldId id="1150"/>
            <p14:sldId id="1151"/>
            <p14:sldId id="1152"/>
            <p14:sldId id="1153"/>
            <p14:sldId id="1154"/>
            <p14:sldId id="1155"/>
            <p14:sldId id="1156"/>
            <p14:sldId id="1157"/>
            <p14:sldId id="1158"/>
            <p14:sldId id="1159"/>
            <p14:sldId id="1160"/>
            <p14:sldId id="1161"/>
            <p14:sldId id="1162"/>
            <p14:sldId id="1163"/>
            <p14:sldId id="1164"/>
            <p14:sldId id="1165"/>
            <p14:sldId id="1166"/>
            <p14:sldId id="1167"/>
            <p14:sldId id="1168"/>
            <p14:sldId id="1169"/>
            <p14:sldId id="1170"/>
            <p14:sldId id="1171"/>
            <p14:sldId id="1172"/>
            <p14:sldId id="1173"/>
            <p14:sldId id="1174"/>
            <p14:sldId id="1175"/>
            <p14:sldId id="1176"/>
            <p14:sldId id="1177"/>
            <p14:sldId id="1178"/>
            <p14:sldId id="1179"/>
            <p14:sldId id="1180"/>
            <p14:sldId id="1181"/>
            <p14:sldId id="1182"/>
            <p14:sldId id="1183"/>
            <p14:sldId id="1184"/>
            <p14:sldId id="1185"/>
            <p14:sldId id="1186"/>
            <p14:sldId id="1187"/>
            <p14:sldId id="1188"/>
            <p14:sldId id="1189"/>
            <p14:sldId id="1190"/>
            <p14:sldId id="1191"/>
            <p14:sldId id="1192"/>
            <p14:sldId id="1193"/>
            <p14:sldId id="1194"/>
            <p14:sldId id="1195"/>
            <p14:sldId id="1196"/>
            <p14:sldId id="1197"/>
            <p14:sldId id="1198"/>
            <p14:sldId id="1199"/>
            <p14:sldId id="1200"/>
            <p14:sldId id="1201"/>
            <p14:sldId id="1202"/>
            <p14:sldId id="1203"/>
            <p14:sldId id="1204"/>
            <p14:sldId id="1205"/>
            <p14:sldId id="1206"/>
            <p14:sldId id="1207"/>
            <p14:sldId id="1208"/>
            <p14:sldId id="1209"/>
            <p14:sldId id="1221"/>
            <p14:sldId id="421"/>
          </p14:sldIdLst>
        </p14:section>
        <p14:section name="Appendix - Key Terms" id="{5EE09548-0BF8-46C0-85A9-D09EA5337A50}">
          <p14:sldIdLst>
            <p14:sldId id="410"/>
            <p14:sldId id="1075"/>
            <p14:sldId id="1094"/>
            <p14:sldId id="1093"/>
            <p14:sldId id="1092"/>
            <p14:sldId id="1091"/>
            <p14:sldId id="1090"/>
            <p14:sldId id="1089"/>
            <p14:sldId id="1088"/>
            <p14:sldId id="1087"/>
            <p14:sldId id="1086"/>
            <p14:sldId id="1085"/>
            <p14:sldId id="1084"/>
            <p14:sldId id="1083"/>
            <p14:sldId id="1082"/>
            <p14:sldId id="1081"/>
            <p14:sldId id="1080"/>
            <p14:sldId id="1079"/>
            <p14:sldId id="1078"/>
            <p14:sldId id="1077"/>
            <p14:sldId id="1073"/>
            <p14:sldId id="1076"/>
            <p14:sldId id="1059"/>
            <p14:sldId id="1074"/>
            <p14:sldId id="1072"/>
            <p14:sldId id="1071"/>
            <p14:sldId id="1070"/>
            <p14:sldId id="1069"/>
            <p14:sldId id="1068"/>
            <p14:sldId id="1067"/>
            <p14:sldId id="1066"/>
            <p14:sldId id="1065"/>
            <p14:sldId id="1064"/>
            <p14:sldId id="1063"/>
            <p14:sldId id="1061"/>
            <p14:sldId id="1062"/>
            <p14:sldId id="106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1D3557A-FE99-952A-1E39-C5D7DEF05E35}" name="William &quot;BO&quot; Rothwell" initials="WR" userId="S::wrothwell@ciat.edu::3d51821c-b4ea-445c-bf09-ed4914331cd2" providerId="AD"/>
  <p188:author id="{E6B69BB4-ACA7-03A4-47A1-905CC8972BE2}" name="Eva Pellegrini" initials="EP" userId="S::epellegrini@ciat.edu::64c90e06-dfb9-44d2-b316-fa577fd2d329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A377E"/>
    <a:srgbClr val="15194B"/>
    <a:srgbClr val="FFC35D"/>
    <a:srgbClr val="71E2F8"/>
    <a:srgbClr val="0283FD"/>
    <a:srgbClr val="2559B1"/>
    <a:srgbClr val="03070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21DF420-9DC2-E676-9EA7-D7FD3CEDD0E6}" v="72" dt="2026-02-23T04:01:44.36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5761" autoAdjust="0"/>
    <p:restoredTop sz="62260" autoAdjust="0"/>
  </p:normalViewPr>
  <p:slideViewPr>
    <p:cSldViewPr>
      <p:cViewPr varScale="1">
        <p:scale>
          <a:sx n="32" d="100"/>
          <a:sy n="32" d="100"/>
        </p:scale>
        <p:origin x="96" y="41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23.xml"/><Relationship Id="rId28" Type="http://schemas.openxmlformats.org/officeDocument/2006/relationships/slide" Target="slides/slide24.xml"/><Relationship Id="rId29" Type="http://schemas.openxmlformats.org/officeDocument/2006/relationships/slide" Target="slides/slide25.xml"/><Relationship Id="rId30" Type="http://schemas.openxmlformats.org/officeDocument/2006/relationships/slide" Target="slides/slide26.xml"/><Relationship Id="rId31" Type="http://schemas.openxmlformats.org/officeDocument/2006/relationships/slide" Target="slides/slide27.xml"/><Relationship Id="rId32" Type="http://schemas.openxmlformats.org/officeDocument/2006/relationships/slide" Target="slides/slide28.xml"/><Relationship Id="rId33" Type="http://schemas.openxmlformats.org/officeDocument/2006/relationships/slide" Target="slides/slide29.xml"/><Relationship Id="rId34" Type="http://schemas.openxmlformats.org/officeDocument/2006/relationships/slide" Target="slides/slide30.xml"/><Relationship Id="rId35" Type="http://schemas.openxmlformats.org/officeDocument/2006/relationships/slide" Target="slides/slide31.xml"/><Relationship Id="rId36" Type="http://schemas.openxmlformats.org/officeDocument/2006/relationships/slide" Target="slides/slide32.xml"/><Relationship Id="rId37" Type="http://schemas.openxmlformats.org/officeDocument/2006/relationships/slide" Target="slides/slide33.xml"/><Relationship Id="rId38" Type="http://schemas.openxmlformats.org/officeDocument/2006/relationships/slide" Target="slides/slide34.xml"/><Relationship Id="rId39" Type="http://schemas.openxmlformats.org/officeDocument/2006/relationships/slide" Target="slides/slide35.xml"/><Relationship Id="rId40" Type="http://schemas.openxmlformats.org/officeDocument/2006/relationships/slide" Target="slides/slide36.xml"/><Relationship Id="rId41" Type="http://schemas.openxmlformats.org/officeDocument/2006/relationships/slide" Target="slides/slide37.xml"/><Relationship Id="rId42" Type="http://schemas.openxmlformats.org/officeDocument/2006/relationships/slide" Target="slides/slide38.xml"/><Relationship Id="rId43" Type="http://schemas.openxmlformats.org/officeDocument/2006/relationships/slide" Target="slides/slide39.xml"/><Relationship Id="rId44" Type="http://schemas.openxmlformats.org/officeDocument/2006/relationships/slide" Target="slides/slide40.xml"/><Relationship Id="rId45" Type="http://schemas.openxmlformats.org/officeDocument/2006/relationships/slide" Target="slides/slide41.xml"/><Relationship Id="rId46" Type="http://schemas.openxmlformats.org/officeDocument/2006/relationships/slide" Target="slides/slide42.xml"/><Relationship Id="rId47" Type="http://schemas.openxmlformats.org/officeDocument/2006/relationships/slide" Target="slides/slide43.xml"/><Relationship Id="rId48" Type="http://schemas.openxmlformats.org/officeDocument/2006/relationships/slide" Target="slides/slide44.xml"/><Relationship Id="rId49" Type="http://schemas.openxmlformats.org/officeDocument/2006/relationships/slide" Target="slides/slide45.xml"/><Relationship Id="rId50" Type="http://schemas.openxmlformats.org/officeDocument/2006/relationships/slide" Target="slides/slide46.xml"/><Relationship Id="rId51" Type="http://schemas.openxmlformats.org/officeDocument/2006/relationships/slide" Target="slides/slide47.xml"/><Relationship Id="rId52" Type="http://schemas.openxmlformats.org/officeDocument/2006/relationships/slide" Target="slides/slide48.xml"/><Relationship Id="rId53" Type="http://schemas.openxmlformats.org/officeDocument/2006/relationships/slide" Target="slides/slide49.xml"/><Relationship Id="rId54" Type="http://schemas.openxmlformats.org/officeDocument/2006/relationships/slide" Target="slides/slide50.xml"/><Relationship Id="rId55" Type="http://schemas.openxmlformats.org/officeDocument/2006/relationships/slide" Target="slides/slide51.xml"/><Relationship Id="rId56" Type="http://schemas.openxmlformats.org/officeDocument/2006/relationships/slide" Target="slides/slide52.xml"/><Relationship Id="rId57" Type="http://schemas.openxmlformats.org/officeDocument/2006/relationships/slide" Target="slides/slide53.xml"/><Relationship Id="rId58" Type="http://schemas.openxmlformats.org/officeDocument/2006/relationships/slide" Target="slides/slide54.xml"/><Relationship Id="rId59" Type="http://schemas.openxmlformats.org/officeDocument/2006/relationships/slide" Target="slides/slide55.xml"/><Relationship Id="rId60" Type="http://schemas.openxmlformats.org/officeDocument/2006/relationships/slide" Target="slides/slide56.xml"/><Relationship Id="rId61" Type="http://schemas.openxmlformats.org/officeDocument/2006/relationships/slide" Target="slides/slide57.xml"/><Relationship Id="rId62" Type="http://schemas.openxmlformats.org/officeDocument/2006/relationships/slide" Target="slides/slide58.xml"/><Relationship Id="rId63" Type="http://schemas.openxmlformats.org/officeDocument/2006/relationships/slide" Target="slides/slide59.xml"/><Relationship Id="rId64" Type="http://schemas.openxmlformats.org/officeDocument/2006/relationships/slide" Target="slides/slide60.xml"/><Relationship Id="rId65" Type="http://schemas.openxmlformats.org/officeDocument/2006/relationships/slide" Target="slides/slide61.xml"/><Relationship Id="rId66" Type="http://schemas.openxmlformats.org/officeDocument/2006/relationships/slide" Target="slides/slide62.xml"/><Relationship Id="rId67" Type="http://schemas.openxmlformats.org/officeDocument/2006/relationships/slide" Target="slides/slide63.xml"/><Relationship Id="rId68" Type="http://schemas.openxmlformats.org/officeDocument/2006/relationships/slide" Target="slides/slide64.xml"/><Relationship Id="rId69" Type="http://schemas.openxmlformats.org/officeDocument/2006/relationships/slide" Target="slides/slide65.xml"/><Relationship Id="rId70" Type="http://schemas.openxmlformats.org/officeDocument/2006/relationships/slide" Target="slides/slide66.xml"/><Relationship Id="rId71" Type="http://schemas.openxmlformats.org/officeDocument/2006/relationships/slide" Target="slides/slide67.xml"/><Relationship Id="rId72" Type="http://schemas.openxmlformats.org/officeDocument/2006/relationships/slide" Target="slides/slide68.xml"/><Relationship Id="rId73" Type="http://schemas.openxmlformats.org/officeDocument/2006/relationships/slide" Target="slides/slide69.xml"/><Relationship Id="rId74" Type="http://schemas.openxmlformats.org/officeDocument/2006/relationships/slide" Target="slides/slide70.xml"/><Relationship Id="rId75" Type="http://schemas.openxmlformats.org/officeDocument/2006/relationships/slide" Target="slides/slide71.xml"/><Relationship Id="rId76" Type="http://schemas.openxmlformats.org/officeDocument/2006/relationships/slide" Target="slides/slide72.xml"/><Relationship Id="rId77" Type="http://schemas.openxmlformats.org/officeDocument/2006/relationships/slide" Target="slides/slide73.xml"/><Relationship Id="rId78" Type="http://schemas.openxmlformats.org/officeDocument/2006/relationships/slide" Target="slides/slide74.xml"/><Relationship Id="rId79" Type="http://schemas.openxmlformats.org/officeDocument/2006/relationships/slide" Target="slides/slide75.xml"/><Relationship Id="rId80" Type="http://schemas.openxmlformats.org/officeDocument/2006/relationships/slide" Target="slides/slide76.xml"/><Relationship Id="rId81" Type="http://schemas.openxmlformats.org/officeDocument/2006/relationships/slide" Target="slides/slide77.xml"/><Relationship Id="rId82" Type="http://schemas.openxmlformats.org/officeDocument/2006/relationships/slide" Target="slides/slide78.xml"/><Relationship Id="rId83" Type="http://schemas.openxmlformats.org/officeDocument/2006/relationships/slide" Target="slides/slide79.xml"/><Relationship Id="rId84" Type="http://schemas.openxmlformats.org/officeDocument/2006/relationships/slide" Target="slides/slide80.xml"/><Relationship Id="rId85" Type="http://schemas.openxmlformats.org/officeDocument/2006/relationships/slide" Target="slides/slide81.xml"/><Relationship Id="rId86" Type="http://schemas.openxmlformats.org/officeDocument/2006/relationships/slide" Target="slides/slide82.xml"/><Relationship Id="rId87" Type="http://schemas.openxmlformats.org/officeDocument/2006/relationships/slide" Target="slides/slide83.xml"/><Relationship Id="rId88" Type="http://schemas.openxmlformats.org/officeDocument/2006/relationships/slide" Target="slides/slide84.xml"/><Relationship Id="rId89" Type="http://schemas.openxmlformats.org/officeDocument/2006/relationships/slide" Target="slides/slide85.xml"/><Relationship Id="rId90" Type="http://schemas.openxmlformats.org/officeDocument/2006/relationships/slide" Target="slides/slide86.xml"/><Relationship Id="rId91" Type="http://schemas.openxmlformats.org/officeDocument/2006/relationships/slide" Target="slides/slide87.xml"/><Relationship Id="rId92" Type="http://schemas.openxmlformats.org/officeDocument/2006/relationships/slide" Target="slides/slide88.xml"/><Relationship Id="rId93" Type="http://schemas.openxmlformats.org/officeDocument/2006/relationships/slide" Target="slides/slide89.xml"/><Relationship Id="rId94" Type="http://schemas.openxmlformats.org/officeDocument/2006/relationships/slide" Target="slides/slide90.xml"/><Relationship Id="rId95" Type="http://schemas.openxmlformats.org/officeDocument/2006/relationships/slide" Target="slides/slide91.xml"/><Relationship Id="rId96" Type="http://schemas.openxmlformats.org/officeDocument/2006/relationships/slide" Target="slides/slide92.xml"/><Relationship Id="rId97" Type="http://schemas.openxmlformats.org/officeDocument/2006/relationships/slide" Target="slides/slide93.xml"/><Relationship Id="rId98" Type="http://schemas.openxmlformats.org/officeDocument/2006/relationships/slide" Target="slides/slide94.xml"/><Relationship Id="rId99" Type="http://schemas.openxmlformats.org/officeDocument/2006/relationships/slide" Target="slides/slide95.xml"/><Relationship Id="rId100" Type="http://schemas.openxmlformats.org/officeDocument/2006/relationships/slide" Target="slides/slide96.xml"/><Relationship Id="rId101" Type="http://schemas.openxmlformats.org/officeDocument/2006/relationships/slide" Target="slides/slide97.xml"/><Relationship Id="rId102" Type="http://schemas.openxmlformats.org/officeDocument/2006/relationships/slide" Target="slides/slide98.xml"/><Relationship Id="rId103" Type="http://schemas.openxmlformats.org/officeDocument/2006/relationships/slide" Target="slides/slide99.xml"/><Relationship Id="rId104" Type="http://schemas.openxmlformats.org/officeDocument/2006/relationships/slide" Target="slides/slide100.xml"/><Relationship Id="rId105" Type="http://schemas.openxmlformats.org/officeDocument/2006/relationships/slide" Target="slides/slide101.xml"/><Relationship Id="rId106" Type="http://schemas.openxmlformats.org/officeDocument/2006/relationships/slide" Target="slides/slide102.xml"/><Relationship Id="rId107" Type="http://schemas.openxmlformats.org/officeDocument/2006/relationships/slide" Target="slides/slide103.xml"/><Relationship Id="rId108" Type="http://schemas.openxmlformats.org/officeDocument/2006/relationships/slide" Target="slides/slide104.xml"/><Relationship Id="rId109" Type="http://schemas.openxmlformats.org/officeDocument/2006/relationships/slide" Target="slides/slide105.xml"/><Relationship Id="rId110" Type="http://schemas.openxmlformats.org/officeDocument/2006/relationships/slide" Target="slides/slide106.xml"/><Relationship Id="rId111" Type="http://schemas.openxmlformats.org/officeDocument/2006/relationships/slide" Target="slides/slide107.xml"/><Relationship Id="rId112" Type="http://schemas.openxmlformats.org/officeDocument/2006/relationships/slide" Target="slides/slide108.xml"/><Relationship Id="rId113" Type="http://schemas.openxmlformats.org/officeDocument/2006/relationships/slide" Target="slides/slide109.xml"/><Relationship Id="rId114" Type="http://schemas.openxmlformats.org/officeDocument/2006/relationships/slide" Target="slides/slide110.xml"/><Relationship Id="rId115" Type="http://schemas.openxmlformats.org/officeDocument/2006/relationships/slide" Target="slides/slide111.xml"/><Relationship Id="rId116" Type="http://schemas.openxmlformats.org/officeDocument/2006/relationships/slide" Target="slides/slide112.xml"/><Relationship Id="rId117" Type="http://schemas.openxmlformats.org/officeDocument/2006/relationships/slide" Target="slides/slide113.xml"/><Relationship Id="rId118" Type="http://schemas.openxmlformats.org/officeDocument/2006/relationships/slide" Target="slides/slide114.xml"/><Relationship Id="rId119" Type="http://schemas.openxmlformats.org/officeDocument/2006/relationships/slide" Target="slides/slide115.xml"/><Relationship Id="rId120" Type="http://schemas.openxmlformats.org/officeDocument/2006/relationships/slide" Target="slides/slide116.xml"/><Relationship Id="rId121" Type="http://schemas.openxmlformats.org/officeDocument/2006/relationships/slide" Target="slides/slide117.xml"/><Relationship Id="rId122" Type="http://schemas.openxmlformats.org/officeDocument/2006/relationships/slide" Target="slides/slide118.xml"/><Relationship Id="rId123" Type="http://schemas.openxmlformats.org/officeDocument/2006/relationships/slide" Target="slides/slide119.xml"/><Relationship Id="rId124" Type="http://schemas.openxmlformats.org/officeDocument/2006/relationships/slide" Target="slides/slide120.xml"/><Relationship Id="rId125" Type="http://schemas.openxmlformats.org/officeDocument/2006/relationships/slide" Target="slides/slide121.xml"/><Relationship Id="rId126" Type="http://schemas.openxmlformats.org/officeDocument/2006/relationships/slide" Target="slides/slide122.xml"/><Relationship Id="rId127" Type="http://schemas.openxmlformats.org/officeDocument/2006/relationships/slide" Target="slides/slide123.xml"/><Relationship Id="rId128" Type="http://schemas.openxmlformats.org/officeDocument/2006/relationships/slide" Target="slides/slide124.xml"/><Relationship Id="rId129" Type="http://schemas.openxmlformats.org/officeDocument/2006/relationships/slide" Target="slides/slide125.xml"/><Relationship Id="rId130" Type="http://schemas.openxmlformats.org/officeDocument/2006/relationships/slide" Target="slides/slide126.xml"/><Relationship Id="rId131" Type="http://schemas.openxmlformats.org/officeDocument/2006/relationships/slide" Target="slides/slide127.xml"/><Relationship Id="rId132" Type="http://schemas.openxmlformats.org/officeDocument/2006/relationships/slide" Target="slides/slide128.xml"/><Relationship Id="rId133" Type="http://schemas.openxmlformats.org/officeDocument/2006/relationships/slide" Target="slides/slide129.xml"/><Relationship Id="rId134" Type="http://schemas.openxmlformats.org/officeDocument/2006/relationships/slide" Target="slides/slide130.xml"/><Relationship Id="rId135" Type="http://schemas.openxmlformats.org/officeDocument/2006/relationships/slide" Target="slides/slide131.xml"/><Relationship Id="rId136" Type="http://schemas.openxmlformats.org/officeDocument/2006/relationships/slide" Target="slides/slide132.xml"/><Relationship Id="rId137" Type="http://schemas.openxmlformats.org/officeDocument/2006/relationships/slide" Target="slides/slide133.xml"/><Relationship Id="rId138" Type="http://schemas.openxmlformats.org/officeDocument/2006/relationships/slide" Target="slides/slide134.xml"/><Relationship Id="rId139" Type="http://schemas.openxmlformats.org/officeDocument/2006/relationships/slide" Target="slides/slide135.xml"/><Relationship Id="rId140" Type="http://schemas.openxmlformats.org/officeDocument/2006/relationships/slide" Target="slides/slide136.xml"/><Relationship Id="rId141" Type="http://schemas.openxmlformats.org/officeDocument/2006/relationships/slide" Target="slides/slide137.xml"/><Relationship Id="rId142" Type="http://schemas.openxmlformats.org/officeDocument/2006/relationships/slide" Target="slides/slide138.xml"/><Relationship Id="rId143" Type="http://schemas.openxmlformats.org/officeDocument/2006/relationships/slide" Target="slides/slide139.xml"/><Relationship Id="rId144" Type="http://schemas.openxmlformats.org/officeDocument/2006/relationships/slide" Target="slides/slide140.xml"/><Relationship Id="rId145" Type="http://schemas.openxmlformats.org/officeDocument/2006/relationships/slide" Target="slides/slide141.xml"/><Relationship Id="rId146" Type="http://schemas.openxmlformats.org/officeDocument/2006/relationships/slide" Target="slides/slide142.xml"/><Relationship Id="rId147" Type="http://schemas.openxmlformats.org/officeDocument/2006/relationships/slide" Target="slides/slide143.xml"/><Relationship Id="rId148" Type="http://schemas.openxmlformats.org/officeDocument/2006/relationships/slide" Target="slides/slide144.xml"/><Relationship Id="rId149" Type="http://schemas.openxmlformats.org/officeDocument/2006/relationships/slide" Target="slides/slide145.xml"/><Relationship Id="rId150" Type="http://schemas.openxmlformats.org/officeDocument/2006/relationships/slide" Target="slides/slide146.xml"/><Relationship Id="rId151" Type="http://schemas.openxmlformats.org/officeDocument/2006/relationships/slide" Target="slides/slide147.xml"/><Relationship Id="rId152" Type="http://schemas.openxmlformats.org/officeDocument/2006/relationships/slide" Target="slides/slide148.xml"/><Relationship Id="rId153" Type="http://schemas.openxmlformats.org/officeDocument/2006/relationships/slide" Target="slides/slide149.xml"/><Relationship Id="rId154" Type="http://schemas.openxmlformats.org/officeDocument/2006/relationships/slide" Target="slides/slide150.xml"/><Relationship Id="rId155" Type="http://schemas.openxmlformats.org/officeDocument/2006/relationships/slide" Target="slides/slide151.xml"/><Relationship Id="rId156" Type="http://schemas.openxmlformats.org/officeDocument/2006/relationships/slide" Target="slides/slide152.xml"/><Relationship Id="rId157" Type="http://schemas.openxmlformats.org/officeDocument/2006/relationships/slide" Target="slides/slide153.xml"/><Relationship Id="rId158" Type="http://schemas.openxmlformats.org/officeDocument/2006/relationships/slide" Target="slides/slide154.xml"/><Relationship Id="rId159" Type="http://schemas.openxmlformats.org/officeDocument/2006/relationships/slide" Target="slides/slide155.xml"/><Relationship Id="rId160" Type="http://schemas.openxmlformats.org/officeDocument/2006/relationships/slide" Target="slides/slide156.xml"/><Relationship Id="rId161" Type="http://schemas.openxmlformats.org/officeDocument/2006/relationships/slide" Target="slides/slide157.xml"/><Relationship Id="rId162" Type="http://schemas.openxmlformats.org/officeDocument/2006/relationships/slide" Target="slides/slide158.xml"/><Relationship Id="rId163" Type="http://schemas.openxmlformats.org/officeDocument/2006/relationships/slide" Target="slides/slide159.xml"/><Relationship Id="rId164" Type="http://schemas.openxmlformats.org/officeDocument/2006/relationships/slide" Target="slides/slide160.xml"/><Relationship Id="rId165" Type="http://schemas.openxmlformats.org/officeDocument/2006/relationships/slide" Target="slides/slide161.xml"/><Relationship Id="rId166" Type="http://schemas.openxmlformats.org/officeDocument/2006/relationships/slide" Target="slides/slide162.xml"/><Relationship Id="rId167" Type="http://schemas.openxmlformats.org/officeDocument/2006/relationships/slide" Target="slides/slide163.xml"/><Relationship Id="rId168" Type="http://schemas.openxmlformats.org/officeDocument/2006/relationships/slide" Target="slides/slide164.xml"/><Relationship Id="rId169" Type="http://schemas.openxmlformats.org/officeDocument/2006/relationships/slide" Target="slides/slide165.xml"/><Relationship Id="rId170" Type="http://schemas.openxmlformats.org/officeDocument/2006/relationships/slide" Target="slides/slide166.xml"/><Relationship Id="rId171" Type="http://schemas.openxmlformats.org/officeDocument/2006/relationships/slide" Target="slides/slide167.xml"/><Relationship Id="rId172" Type="http://schemas.openxmlformats.org/officeDocument/2006/relationships/slide" Target="slides/slide168.xml"/><Relationship Id="rId173" Type="http://schemas.openxmlformats.org/officeDocument/2006/relationships/slide" Target="slides/slide169.xml"/><Relationship Id="rId174" Type="http://schemas.openxmlformats.org/officeDocument/2006/relationships/slide" Target="slides/slide170.xml"/><Relationship Id="rId175" Type="http://schemas.openxmlformats.org/officeDocument/2006/relationships/slide" Target="slides/slide171.xml"/><Relationship Id="rId176" Type="http://schemas.openxmlformats.org/officeDocument/2006/relationships/slide" Target="slides/slide172.xml"/><Relationship Id="rId177" Type="http://schemas.openxmlformats.org/officeDocument/2006/relationships/slide" Target="slides/slide173.xml"/><Relationship Id="rId178" Type="http://schemas.openxmlformats.org/officeDocument/2006/relationships/slide" Target="slides/slide174.xml"/><Relationship Id="rId179" Type="http://schemas.openxmlformats.org/officeDocument/2006/relationships/slide" Target="slides/slide175.xml"/><Relationship Id="rId180" Type="http://schemas.openxmlformats.org/officeDocument/2006/relationships/slide" Target="slides/slide176.xml"/><Relationship Id="rId181" Type="http://schemas.openxmlformats.org/officeDocument/2006/relationships/slide" Target="slides/slide177.xml"/><Relationship Id="rId182" Type="http://schemas.openxmlformats.org/officeDocument/2006/relationships/slide" Target="slides/slide178.xml"/><Relationship Id="rId183" Type="http://schemas.openxmlformats.org/officeDocument/2006/relationships/slide" Target="slides/slide179.xml"/><Relationship Id="rId184" Type="http://schemas.openxmlformats.org/officeDocument/2006/relationships/slide" Target="slides/slide180.xml"/><Relationship Id="rId185" Type="http://schemas.openxmlformats.org/officeDocument/2006/relationships/slide" Target="slides/slide181.xml"/><Relationship Id="rId186" Type="http://schemas.openxmlformats.org/officeDocument/2006/relationships/slide" Target="slides/slide182.xml"/><Relationship Id="rId187" Type="http://schemas.openxmlformats.org/officeDocument/2006/relationships/slide" Target="slides/slide183.xml"/><Relationship Id="rId188" Type="http://schemas.openxmlformats.org/officeDocument/2006/relationships/slide" Target="slides/slide184.xml"/><Relationship Id="rId189" Type="http://schemas.openxmlformats.org/officeDocument/2006/relationships/slide" Target="slides/slide185.xml"/><Relationship Id="rId190" Type="http://schemas.openxmlformats.org/officeDocument/2006/relationships/slide" Target="slides/slide186.xml"/><Relationship Id="rId191" Type="http://schemas.openxmlformats.org/officeDocument/2006/relationships/slide" Target="slides/slide187.xml"/><Relationship Id="rId192" Type="http://schemas.openxmlformats.org/officeDocument/2006/relationships/slide" Target="slides/slide188.xml"/><Relationship Id="rId193" Type="http://schemas.openxmlformats.org/officeDocument/2006/relationships/slide" Target="slides/slide189.xml"/><Relationship Id="rId194" Type="http://schemas.openxmlformats.org/officeDocument/2006/relationships/slide" Target="slides/slide190.xml"/><Relationship Id="rId195" Type="http://schemas.openxmlformats.org/officeDocument/2006/relationships/slide" Target="slides/slide191.xml"/><Relationship Id="rId196" Type="http://schemas.openxmlformats.org/officeDocument/2006/relationships/slide" Target="slides/slide192.xml"/><Relationship Id="rId197" Type="http://schemas.openxmlformats.org/officeDocument/2006/relationships/slide" Target="slides/slide193.xml"/><Relationship Id="rId198" Type="http://schemas.openxmlformats.org/officeDocument/2006/relationships/slide" Target="slides/slide194.xml"/><Relationship Id="rId199" Type="http://schemas.openxmlformats.org/officeDocument/2006/relationships/slide" Target="slides/slide195.xml"/><Relationship Id="rId200" Type="http://schemas.openxmlformats.org/officeDocument/2006/relationships/slide" Target="slides/slide196.xml"/><Relationship Id="rId201" Type="http://schemas.openxmlformats.org/officeDocument/2006/relationships/slide" Target="slides/slide197.xml"/><Relationship Id="rId202" Type="http://schemas.openxmlformats.org/officeDocument/2006/relationships/slide" Target="slides/slide198.xml"/><Relationship Id="rId203" Type="http://schemas.openxmlformats.org/officeDocument/2006/relationships/slide" Target="slides/slide199.xml"/><Relationship Id="rId204" Type="http://schemas.openxmlformats.org/officeDocument/2006/relationships/slide" Target="slides/slide200.xml"/><Relationship Id="rId205" Type="http://schemas.openxmlformats.org/officeDocument/2006/relationships/slide" Target="slides/slide201.xml"/><Relationship Id="rId206" Type="http://schemas.openxmlformats.org/officeDocument/2006/relationships/slide" Target="slides/slide202.xml"/><Relationship Id="rId207" Type="http://schemas.openxmlformats.org/officeDocument/2006/relationships/slide" Target="slides/slide203.xml"/><Relationship Id="rId208" Type="http://schemas.openxmlformats.org/officeDocument/2006/relationships/slide" Target="slides/slide204.xml"/><Relationship Id="rId209" Type="http://schemas.openxmlformats.org/officeDocument/2006/relationships/slide" Target="slides/slide205.xml"/><Relationship Id="rId210" Type="http://schemas.openxmlformats.org/officeDocument/2006/relationships/slide" Target="slides/slide206.xml"/><Relationship Id="rId211" Type="http://schemas.openxmlformats.org/officeDocument/2006/relationships/slide" Target="slides/slide207.xml"/><Relationship Id="rId212" Type="http://schemas.openxmlformats.org/officeDocument/2006/relationships/slide" Target="slides/slide208.xml"/><Relationship Id="rId213" Type="http://schemas.openxmlformats.org/officeDocument/2006/relationships/slide" Target="slides/slide209.xml"/><Relationship Id="rId214" Type="http://schemas.openxmlformats.org/officeDocument/2006/relationships/slide" Target="slides/slide210.xml"/><Relationship Id="rId215" Type="http://schemas.openxmlformats.org/officeDocument/2006/relationships/slide" Target="slides/slide211.xml"/><Relationship Id="rId216" Type="http://schemas.openxmlformats.org/officeDocument/2006/relationships/slide" Target="slides/slide212.xml"/><Relationship Id="rId217" Type="http://schemas.openxmlformats.org/officeDocument/2006/relationships/slide" Target="slides/slide213.xml"/><Relationship Id="rId218" Type="http://schemas.openxmlformats.org/officeDocument/2006/relationships/slide" Target="slides/slide214.xml"/><Relationship Id="rId219" Type="http://schemas.openxmlformats.org/officeDocument/2006/relationships/slide" Target="slides/slide215.xml"/><Relationship Id="rId220" Type="http://schemas.openxmlformats.org/officeDocument/2006/relationships/slide" Target="slides/slide216.xml"/><Relationship Id="rId221" Type="http://schemas.openxmlformats.org/officeDocument/2006/relationships/slide" Target="slides/slide217.xml"/><Relationship Id="rId222" Type="http://schemas.openxmlformats.org/officeDocument/2006/relationships/slide" Target="slides/slide218.xml"/><Relationship Id="rId223" Type="http://schemas.openxmlformats.org/officeDocument/2006/relationships/slide" Target="slides/slide219.xml"/><Relationship Id="rId224" Type="http://schemas.openxmlformats.org/officeDocument/2006/relationships/slide" Target="slides/slide220.xml"/><Relationship Id="rId225" Type="http://schemas.openxmlformats.org/officeDocument/2006/relationships/slide" Target="slides/slide221.xml"/><Relationship Id="rId226" Type="http://schemas.openxmlformats.org/officeDocument/2006/relationships/slide" Target="slides/slide222.xml"/><Relationship Id="rId227" Type="http://schemas.openxmlformats.org/officeDocument/2006/relationships/slide" Target="slides/slide223.xml"/><Relationship Id="rId228" Type="http://schemas.openxmlformats.org/officeDocument/2006/relationships/slide" Target="slides/slide224.xml"/><Relationship Id="rId229" Type="http://schemas.openxmlformats.org/officeDocument/2006/relationships/slide" Target="slides/slide225.xml"/><Relationship Id="rId230" Type="http://schemas.openxmlformats.org/officeDocument/2006/relationships/slide" Target="slides/slide226.xml"/><Relationship Id="rId231" Type="http://schemas.openxmlformats.org/officeDocument/2006/relationships/slide" Target="slides/slide227.xml"/><Relationship Id="rId232" Type="http://schemas.openxmlformats.org/officeDocument/2006/relationships/slide" Target="slides/slide228.xml"/><Relationship Id="rId233" Type="http://schemas.openxmlformats.org/officeDocument/2006/relationships/slide" Target="slides/slide229.xml"/><Relationship Id="rId234" Type="http://schemas.openxmlformats.org/officeDocument/2006/relationships/slide" Target="slides/slide230.xml"/><Relationship Id="rId235" Type="http://schemas.openxmlformats.org/officeDocument/2006/relationships/slide" Target="slides/slide231.xml"/><Relationship Id="rId236" Type="http://schemas.openxmlformats.org/officeDocument/2006/relationships/slide" Target="slides/slide232.xml"/><Relationship Id="rId237" Type="http://schemas.openxmlformats.org/officeDocument/2006/relationships/slide" Target="slides/slide233.xml"/><Relationship Id="rId238" Type="http://schemas.openxmlformats.org/officeDocument/2006/relationships/slide" Target="slides/slide234.xml"/><Relationship Id="rId239" Type="http://schemas.openxmlformats.org/officeDocument/2006/relationships/slide" Target="slides/slide235.xml"/><Relationship Id="rId240" Type="http://schemas.openxmlformats.org/officeDocument/2006/relationships/slide" Target="slides/slide236.xml"/><Relationship Id="rId241" Type="http://schemas.openxmlformats.org/officeDocument/2006/relationships/slide" Target="slides/slide237.xml"/><Relationship Id="rId242" Type="http://schemas.openxmlformats.org/officeDocument/2006/relationships/slide" Target="slides/slide238.xml"/><Relationship Id="rId243" Type="http://schemas.openxmlformats.org/officeDocument/2006/relationships/slide" Target="slides/slide239.xml"/><Relationship Id="rId244" Type="http://schemas.openxmlformats.org/officeDocument/2006/relationships/slide" Target="slides/slide240.xml"/><Relationship Id="rId245" Type="http://schemas.openxmlformats.org/officeDocument/2006/relationships/slide" Target="slides/slide241.xml"/><Relationship Id="rId246" Type="http://schemas.openxmlformats.org/officeDocument/2006/relationships/slide" Target="slides/slide242.xml"/><Relationship Id="rId247" Type="http://schemas.openxmlformats.org/officeDocument/2006/relationships/slide" Target="slides/slide243.xml"/><Relationship Id="rId248" Type="http://schemas.openxmlformats.org/officeDocument/2006/relationships/slide" Target="slides/slide244.xml"/><Relationship Id="rId249" Type="http://schemas.openxmlformats.org/officeDocument/2006/relationships/slide" Target="slides/slide245.xml"/><Relationship Id="rId250" Type="http://schemas.openxmlformats.org/officeDocument/2006/relationships/slide" Target="slides/slide246.xml"/><Relationship Id="rId251" Type="http://schemas.openxmlformats.org/officeDocument/2006/relationships/slide" Target="slides/slide247.xml"/><Relationship Id="rId252" Type="http://schemas.openxmlformats.org/officeDocument/2006/relationships/slide" Target="slides/slide248.xml"/><Relationship Id="rId253" Type="http://schemas.openxmlformats.org/officeDocument/2006/relationships/slide" Target="slides/slide249.xml"/><Relationship Id="rId254" Type="http://schemas.openxmlformats.org/officeDocument/2006/relationships/slide" Target="slides/slide250.xml"/><Relationship Id="rId255" Type="http://schemas.openxmlformats.org/officeDocument/2006/relationships/slide" Target="slides/slide251.xml"/><Relationship Id="rId256" Type="http://schemas.openxmlformats.org/officeDocument/2006/relationships/slide" Target="slides/slide252.xml"/><Relationship Id="rId257" Type="http://schemas.openxmlformats.org/officeDocument/2006/relationships/slide" Target="slides/slide253.xml"/><Relationship Id="rId258" Type="http://schemas.openxmlformats.org/officeDocument/2006/relationships/slide" Target="slides/slide254.xml"/><Relationship Id="rId259" Type="http://schemas.openxmlformats.org/officeDocument/2006/relationships/slide" Target="slides/slide255.xml"/><Relationship Id="rId260" Type="http://schemas.openxmlformats.org/officeDocument/2006/relationships/slide" Target="slides/slide256.xml"/><Relationship Id="rId261" Type="http://schemas.openxmlformats.org/officeDocument/2006/relationships/slide" Target="slides/slide257.xml"/><Relationship Id="rId262" Type="http://schemas.openxmlformats.org/officeDocument/2006/relationships/slide" Target="slides/slide258.xml"/><Relationship Id="rId263" Type="http://schemas.openxmlformats.org/officeDocument/2006/relationships/slide" Target="slides/slide259.xml"/><Relationship Id="rId264" Type="http://schemas.openxmlformats.org/officeDocument/2006/relationships/slide" Target="slides/slide260.xml"/><Relationship Id="rId265" Type="http://schemas.openxmlformats.org/officeDocument/2006/relationships/slide" Target="slides/slide261.xml"/><Relationship Id="rId266" Type="http://schemas.openxmlformats.org/officeDocument/2006/relationships/slide" Target="slides/slide262.xml"/><Relationship Id="rId267" Type="http://schemas.openxmlformats.org/officeDocument/2006/relationships/slide" Target="slides/slide263.xml"/><Relationship Id="rId268" Type="http://schemas.openxmlformats.org/officeDocument/2006/relationships/slide" Target="slides/slide264.xml"/><Relationship Id="rId269" Type="http://schemas.openxmlformats.org/officeDocument/2006/relationships/slide" Target="slides/slide265.xml"/><Relationship Id="rId270" Type="http://schemas.openxmlformats.org/officeDocument/2006/relationships/slide" Target="slides/slide266.xml"/><Relationship Id="rId271" Type="http://schemas.openxmlformats.org/officeDocument/2006/relationships/slide" Target="slides/slide267.xml"/><Relationship Id="rId272" Type="http://schemas.openxmlformats.org/officeDocument/2006/relationships/slide" Target="slides/slide268.xml"/><Relationship Id="rId273" Type="http://schemas.openxmlformats.org/officeDocument/2006/relationships/slide" Target="slides/slide269.xml"/><Relationship Id="rId274" Type="http://schemas.openxmlformats.org/officeDocument/2006/relationships/slide" Target="slides/slide270.xml"/><Relationship Id="rId275" Type="http://schemas.openxmlformats.org/officeDocument/2006/relationships/slide" Target="slides/slide271.xml"/><Relationship Id="rId276" Type="http://schemas.openxmlformats.org/officeDocument/2006/relationships/slide" Target="slides/slide272.xml"/><Relationship Id="rId277" Type="http://schemas.openxmlformats.org/officeDocument/2006/relationships/slide" Target="slides/slide273.xml"/><Relationship Id="rId278" Type="http://schemas.openxmlformats.org/officeDocument/2006/relationships/slide" Target="slides/slide274.xml"/><Relationship Id="rId279" Type="http://schemas.openxmlformats.org/officeDocument/2006/relationships/slide" Target="slides/slide275.xml"/><Relationship Id="rId280" Type="http://schemas.openxmlformats.org/officeDocument/2006/relationships/slide" Target="slides/slide276.xml"/><Relationship Id="rId281" Type="http://schemas.openxmlformats.org/officeDocument/2006/relationships/slide" Target="slides/slide277.xml"/><Relationship Id="rId282" Type="http://schemas.openxmlformats.org/officeDocument/2006/relationships/slide" Target="slides/slide278.xml"/><Relationship Id="rId283" Type="http://schemas.openxmlformats.org/officeDocument/2006/relationships/slide" Target="slides/slide279.xml"/><Relationship Id="rId284" Type="http://schemas.openxmlformats.org/officeDocument/2006/relationships/slide" Target="slides/slide280.xml"/><Relationship Id="rId285" Type="http://schemas.openxmlformats.org/officeDocument/2006/relationships/slide" Target="slides/slide281.xml"/><Relationship Id="rId286" Type="http://schemas.openxmlformats.org/officeDocument/2006/relationships/slide" Target="slides/slide282.xml"/><Relationship Id="rId287" Type="http://schemas.openxmlformats.org/officeDocument/2006/relationships/slide" Target="slides/slide283.xml"/><Relationship Id="rId288" Type="http://schemas.openxmlformats.org/officeDocument/2006/relationships/slide" Target="slides/slide284.xml"/><Relationship Id="rId289" Type="http://schemas.openxmlformats.org/officeDocument/2006/relationships/slide" Target="slides/slide285.xml"/><Relationship Id="rId290" Type="http://schemas.openxmlformats.org/officeDocument/2006/relationships/slide" Target="slides/slide286.xml"/><Relationship Id="rId291" Type="http://schemas.openxmlformats.org/officeDocument/2006/relationships/slide" Target="slides/slide287.xml"/><Relationship Id="rId292" Type="http://schemas.openxmlformats.org/officeDocument/2006/relationships/slide" Target="slides/slide288.xml"/><Relationship Id="rId293" Type="http://schemas.openxmlformats.org/officeDocument/2006/relationships/slide" Target="slides/slide289.xml"/><Relationship Id="rId294" Type="http://schemas.openxmlformats.org/officeDocument/2006/relationships/slide" Target="slides/slide290.xml"/><Relationship Id="rId295" Type="http://schemas.openxmlformats.org/officeDocument/2006/relationships/slide" Target="slides/slide291.xml"/><Relationship Id="rId296" Type="http://schemas.openxmlformats.org/officeDocument/2006/relationships/slide" Target="slides/slide292.xml"/><Relationship Id="rId297" Type="http://schemas.openxmlformats.org/officeDocument/2006/relationships/slide" Target="slides/slide293.xml"/><Relationship Id="rId298" Type="http://schemas.openxmlformats.org/officeDocument/2006/relationships/slide" Target="slides/slide294.xml"/><Relationship Id="rId299" Type="http://schemas.openxmlformats.org/officeDocument/2006/relationships/slide" Target="slides/slide295.xml"/><Relationship Id="rId300" Type="http://schemas.openxmlformats.org/officeDocument/2006/relationships/slide" Target="slides/slide296.xml"/><Relationship Id="rId301" Type="http://schemas.openxmlformats.org/officeDocument/2006/relationships/slide" Target="slides/slide297.xml"/><Relationship Id="rId302" Type="http://schemas.openxmlformats.org/officeDocument/2006/relationships/slide" Target="slides/slide298.xml"/><Relationship Id="rId303" Type="http://schemas.openxmlformats.org/officeDocument/2006/relationships/slide" Target="slides/slide299.xml"/><Relationship Id="rId304" Type="http://schemas.openxmlformats.org/officeDocument/2006/relationships/slide" Target="slides/slide300.xml"/><Relationship Id="rId305" Type="http://schemas.openxmlformats.org/officeDocument/2006/relationships/slide" Target="slides/slide301.xml"/><Relationship Id="rId306" Type="http://schemas.openxmlformats.org/officeDocument/2006/relationships/slide" Target="slides/slide302.xml"/><Relationship Id="rId307" Type="http://schemas.openxmlformats.org/officeDocument/2006/relationships/slide" Target="slides/slide303.xml"/><Relationship Id="rId308" Type="http://schemas.openxmlformats.org/officeDocument/2006/relationships/slide" Target="slides/slide304.xml"/><Relationship Id="rId309" Type="http://schemas.openxmlformats.org/officeDocument/2006/relationships/slide" Target="slides/slide305.xml"/><Relationship Id="rId310" Type="http://schemas.openxmlformats.org/officeDocument/2006/relationships/slide" Target="slides/slide306.xml"/><Relationship Id="rId311" Type="http://schemas.openxmlformats.org/officeDocument/2006/relationships/slide" Target="slides/slide307.xml"/><Relationship Id="rId312" Type="http://schemas.openxmlformats.org/officeDocument/2006/relationships/slide" Target="slides/slide308.xml"/><Relationship Id="rId313" Type="http://schemas.openxmlformats.org/officeDocument/2006/relationships/slide" Target="slides/slide309.xml"/><Relationship Id="rId314" Type="http://schemas.openxmlformats.org/officeDocument/2006/relationships/slide" Target="slides/slide310.xml"/><Relationship Id="rId315" Type="http://schemas.openxmlformats.org/officeDocument/2006/relationships/slide" Target="slides/slide311.xml"/><Relationship Id="rId316" Type="http://schemas.openxmlformats.org/officeDocument/2006/relationships/slide" Target="slides/slide312.xml"/><Relationship Id="rId317" Type="http://schemas.openxmlformats.org/officeDocument/2006/relationships/slide" Target="slides/slide313.xml"/><Relationship Id="rId318" Type="http://schemas.openxmlformats.org/officeDocument/2006/relationships/slide" Target="slides/slide314.xml"/><Relationship Id="rId319" Type="http://schemas.openxmlformats.org/officeDocument/2006/relationships/slide" Target="slides/slide315.xml"/><Relationship Id="rId320" Type="http://schemas.openxmlformats.org/officeDocument/2006/relationships/slide" Target="slides/slide316.xml"/><Relationship Id="rId321" Type="http://schemas.openxmlformats.org/officeDocument/2006/relationships/slide" Target="slides/slide317.xml"/><Relationship Id="rId322" Type="http://schemas.openxmlformats.org/officeDocument/2006/relationships/slide" Target="slides/slide318.xml"/><Relationship Id="rId323" Type="http://schemas.openxmlformats.org/officeDocument/2006/relationships/slide" Target="slides/slide319.xml"/><Relationship Id="rId324" Type="http://schemas.openxmlformats.org/officeDocument/2006/relationships/slide" Target="slides/slide320.xml"/><Relationship Id="rId325" Type="http://schemas.openxmlformats.org/officeDocument/2006/relationships/slide" Target="slides/slide321.xml"/><Relationship Id="rId326" Type="http://schemas.openxmlformats.org/officeDocument/2006/relationships/slide" Target="slides/slide322.xml"/><Relationship Id="rId327" Type="http://schemas.openxmlformats.org/officeDocument/2006/relationships/slide" Target="slides/slide323.xml"/><Relationship Id="rId328" Type="http://schemas.openxmlformats.org/officeDocument/2006/relationships/slide" Target="slides/slide324.xml"/><Relationship Id="rId329" Type="http://schemas.openxmlformats.org/officeDocument/2006/relationships/slide" Target="slides/slide325.xml"/><Relationship Id="rId330" Type="http://schemas.openxmlformats.org/officeDocument/2006/relationships/slide" Target="slides/slide326.xml"/><Relationship Id="rId331" Type="http://schemas.openxmlformats.org/officeDocument/2006/relationships/slide" Target="slides/slide327.xml"/><Relationship Id="rId332" Type="http://schemas.openxmlformats.org/officeDocument/2006/relationships/slide" Target="slides/slide328.xml"/><Relationship Id="rId333" Type="http://schemas.openxmlformats.org/officeDocument/2006/relationships/slide" Target="slides/slide329.xml"/><Relationship Id="rId334" Type="http://schemas.openxmlformats.org/officeDocument/2006/relationships/slide" Target="slides/slide330.xml"/><Relationship Id="rId335" Type="http://schemas.openxmlformats.org/officeDocument/2006/relationships/slide" Target="slides/slide331.xml"/><Relationship Id="rId336" Type="http://schemas.openxmlformats.org/officeDocument/2006/relationships/slide" Target="slides/slide332.xml"/><Relationship Id="rId337" Type="http://schemas.openxmlformats.org/officeDocument/2006/relationships/slide" Target="slides/slide333.xml"/><Relationship Id="rId338" Type="http://schemas.openxmlformats.org/officeDocument/2006/relationships/slide" Target="slides/slide334.xml"/><Relationship Id="rId339" Type="http://schemas.openxmlformats.org/officeDocument/2006/relationships/slide" Target="slides/slide335.xml"/><Relationship Id="rId340" Type="http://schemas.openxmlformats.org/officeDocument/2006/relationships/slide" Target="slides/slide336.xml"/><Relationship Id="rId341" Type="http://schemas.openxmlformats.org/officeDocument/2006/relationships/slide" Target="slides/slide337.xml"/><Relationship Id="rId342" Type="http://schemas.openxmlformats.org/officeDocument/2006/relationships/slide" Target="slides/slide338.xml"/><Relationship Id="rId343" Type="http://schemas.openxmlformats.org/officeDocument/2006/relationships/slide" Target="slides/slide339.xml"/><Relationship Id="rId344" Type="http://schemas.openxmlformats.org/officeDocument/2006/relationships/slide" Target="slides/slide340.xml"/><Relationship Id="rId345" Type="http://schemas.openxmlformats.org/officeDocument/2006/relationships/slide" Target="slides/slide341.xml"/><Relationship Id="rId346" Type="http://schemas.openxmlformats.org/officeDocument/2006/relationships/slide" Target="slides/slide342.xml"/><Relationship Id="rId347" Type="http://schemas.openxmlformats.org/officeDocument/2006/relationships/slide" Target="slides/slide343.xml"/><Relationship Id="rId348" Type="http://schemas.openxmlformats.org/officeDocument/2006/relationships/slide" Target="slides/slide344.xml"/><Relationship Id="rId349" Type="http://schemas.openxmlformats.org/officeDocument/2006/relationships/slide" Target="slides/slide345.xml"/><Relationship Id="rId350" Type="http://schemas.openxmlformats.org/officeDocument/2006/relationships/slide" Target="slides/slide346.xml"/><Relationship Id="rId351" Type="http://schemas.openxmlformats.org/officeDocument/2006/relationships/slide" Target="slides/slide347.xml"/><Relationship Id="rId352" Type="http://schemas.openxmlformats.org/officeDocument/2006/relationships/slide" Target="slides/slide348.xml"/><Relationship Id="rId353" Type="http://schemas.openxmlformats.org/officeDocument/2006/relationships/slide" Target="slides/slide349.xml"/><Relationship Id="rId354" Type="http://schemas.openxmlformats.org/officeDocument/2006/relationships/slide" Target="slides/slide350.xml"/><Relationship Id="rId355" Type="http://schemas.openxmlformats.org/officeDocument/2006/relationships/slide" Target="slides/slide351.xml"/><Relationship Id="rId356" Type="http://schemas.openxmlformats.org/officeDocument/2006/relationships/slide" Target="slides/slide352.xml"/><Relationship Id="rId357" Type="http://schemas.openxmlformats.org/officeDocument/2006/relationships/slide" Target="slides/slide353.xml"/><Relationship Id="rId358" Type="http://schemas.openxmlformats.org/officeDocument/2006/relationships/slide" Target="slides/slide354.xml"/><Relationship Id="rId359" Type="http://schemas.openxmlformats.org/officeDocument/2006/relationships/slide" Target="slides/slide355.xml"/><Relationship Id="rId360" Type="http://schemas.openxmlformats.org/officeDocument/2006/relationships/slide" Target="slides/slide356.xml"/><Relationship Id="rId361" Type="http://schemas.openxmlformats.org/officeDocument/2006/relationships/slide" Target="slides/slide357.xml"/><Relationship Id="rId362" Type="http://schemas.openxmlformats.org/officeDocument/2006/relationships/slide" Target="slides/slide358.xml"/><Relationship Id="rId363" Type="http://schemas.openxmlformats.org/officeDocument/2006/relationships/slide" Target="slides/slide359.xml"/><Relationship Id="rId364" Type="http://schemas.openxmlformats.org/officeDocument/2006/relationships/slide" Target="slides/slide360.xml"/><Relationship Id="rId365" Type="http://schemas.openxmlformats.org/officeDocument/2006/relationships/slide" Target="slides/slide361.xml"/><Relationship Id="rId366" Type="http://schemas.openxmlformats.org/officeDocument/2006/relationships/slide" Target="slides/slide362.xml"/><Relationship Id="rId367" Type="http://schemas.openxmlformats.org/officeDocument/2006/relationships/slide" Target="slides/slide363.xml"/><Relationship Id="rId368" Type="http://schemas.openxmlformats.org/officeDocument/2006/relationships/slide" Target="slides/slide364.xml"/><Relationship Id="rId369" Type="http://schemas.openxmlformats.org/officeDocument/2006/relationships/slide" Target="slides/slide365.xml"/><Relationship Id="rId370" Type="http://schemas.openxmlformats.org/officeDocument/2006/relationships/slide" Target="slides/slide366.xml"/><Relationship Id="rId371" Type="http://schemas.openxmlformats.org/officeDocument/2006/relationships/slide" Target="slides/slide367.xml"/><Relationship Id="rId372" Type="http://schemas.openxmlformats.org/officeDocument/2006/relationships/slide" Target="slides/slide368.xml"/><Relationship Id="rId373" Type="http://schemas.openxmlformats.org/officeDocument/2006/relationships/slide" Target="slides/slide369.xml"/><Relationship Id="rId374" Type="http://schemas.openxmlformats.org/officeDocument/2006/relationships/slide" Target="slides/slide370.xml"/><Relationship Id="rId375" Type="http://schemas.openxmlformats.org/officeDocument/2006/relationships/slide" Target="slides/slide371.xml"/><Relationship Id="rId376" Type="http://schemas.openxmlformats.org/officeDocument/2006/relationships/slide" Target="slides/slide372.xml"/><Relationship Id="rId377" Type="http://schemas.openxmlformats.org/officeDocument/2006/relationships/slide" Target="slides/slide373.xml"/><Relationship Id="rId378" Type="http://schemas.openxmlformats.org/officeDocument/2006/relationships/slide" Target="slides/slide374.xml"/><Relationship Id="rId379" Type="http://schemas.openxmlformats.org/officeDocument/2006/relationships/slide" Target="slides/slide375.xml"/><Relationship Id="rId380" Type="http://schemas.openxmlformats.org/officeDocument/2006/relationships/slide" Target="slides/slide376.xml"/><Relationship Id="rId381" Type="http://schemas.openxmlformats.org/officeDocument/2006/relationships/slide" Target="slides/slide377.xml"/><Relationship Id="rId382" Type="http://schemas.openxmlformats.org/officeDocument/2006/relationships/slide" Target="slides/slide378.xml"/><Relationship Id="rId383" Type="http://schemas.openxmlformats.org/officeDocument/2006/relationships/slide" Target="slides/slide379.xml"/><Relationship Id="rId384" Type="http://schemas.openxmlformats.org/officeDocument/2006/relationships/slide" Target="slides/slide380.xml"/><Relationship Id="rId385" Type="http://schemas.openxmlformats.org/officeDocument/2006/relationships/slide" Target="slides/slide381.xml"/><Relationship Id="rId386" Type="http://schemas.openxmlformats.org/officeDocument/2006/relationships/slide" Target="slides/slide382.xml"/><Relationship Id="rId387" Type="http://schemas.openxmlformats.org/officeDocument/2006/relationships/slide" Target="slides/slide383.xml"/><Relationship Id="rId388" Type="http://schemas.openxmlformats.org/officeDocument/2006/relationships/slide" Target="slides/slide384.xml"/><Relationship Id="rId389" Type="http://schemas.openxmlformats.org/officeDocument/2006/relationships/slide" Target="slides/slide385.xml"/><Relationship Id="rId390" Type="http://schemas.openxmlformats.org/officeDocument/2006/relationships/slide" Target="slides/slide386.xml"/><Relationship Id="rId391" Type="http://schemas.openxmlformats.org/officeDocument/2006/relationships/slide" Target="slides/slide387.xml"/><Relationship Id="rId392" Type="http://schemas.openxmlformats.org/officeDocument/2006/relationships/slide" Target="slides/slide388.xml"/><Relationship Id="rId393" Type="http://schemas.openxmlformats.org/officeDocument/2006/relationships/slide" Target="slides/slide389.xml"/><Relationship Id="rId394" Type="http://schemas.openxmlformats.org/officeDocument/2006/relationships/slide" Target="slides/slide390.xml"/><Relationship Id="rId395" Type="http://schemas.openxmlformats.org/officeDocument/2006/relationships/slide" Target="slides/slide391.xml"/><Relationship Id="rId396" Type="http://schemas.openxmlformats.org/officeDocument/2006/relationships/slide" Target="slides/slide392.xml"/><Relationship Id="rId397" Type="http://schemas.openxmlformats.org/officeDocument/2006/relationships/slide" Target="slides/slide393.xml"/><Relationship Id="rId398" Type="http://schemas.openxmlformats.org/officeDocument/2006/relationships/slide" Target="slides/slide394.xml"/><Relationship Id="rId399" Type="http://schemas.openxmlformats.org/officeDocument/2006/relationships/slide" Target="slides/slide395.xml"/><Relationship Id="rId400" Type="http://schemas.openxmlformats.org/officeDocument/2006/relationships/slide" Target="slides/slide396.xml"/><Relationship Id="rId401" Type="http://schemas.openxmlformats.org/officeDocument/2006/relationships/slide" Target="slides/slide397.xml"/><Relationship Id="rId402" Type="http://schemas.openxmlformats.org/officeDocument/2006/relationships/slide" Target="slides/slide398.xml"/><Relationship Id="rId403" Type="http://schemas.openxmlformats.org/officeDocument/2006/relationships/slide" Target="slides/slide399.xml"/><Relationship Id="rId404" Type="http://schemas.openxmlformats.org/officeDocument/2006/relationships/slide" Target="slides/slide400.xml"/><Relationship Id="rId405" Type="http://schemas.openxmlformats.org/officeDocument/2006/relationships/slide" Target="slides/slide401.xml"/><Relationship Id="rId406" Type="http://schemas.openxmlformats.org/officeDocument/2006/relationships/slide" Target="slides/slide402.xml"/><Relationship Id="rId407" Type="http://schemas.openxmlformats.org/officeDocument/2006/relationships/slide" Target="slides/slide403.xml"/><Relationship Id="rId408" Type="http://schemas.openxmlformats.org/officeDocument/2006/relationships/slide" Target="slides/slide404.xml"/><Relationship Id="rId409" Type="http://schemas.openxmlformats.org/officeDocument/2006/relationships/slide" Target="slides/slide405.xml"/><Relationship Id="rId410" Type="http://schemas.openxmlformats.org/officeDocument/2006/relationships/slide" Target="slides/slide406.xml"/><Relationship Id="rId411" Type="http://schemas.openxmlformats.org/officeDocument/2006/relationships/slide" Target="slides/slide407.xml"/><Relationship Id="rId412" Type="http://schemas.openxmlformats.org/officeDocument/2006/relationships/slide" Target="slides/slide408.xml"/><Relationship Id="rId413" Type="http://schemas.openxmlformats.org/officeDocument/2006/relationships/slide" Target="slides/slide409.xml"/><Relationship Id="rId414" Type="http://schemas.openxmlformats.org/officeDocument/2006/relationships/slide" Target="slides/slide410.xml"/><Relationship Id="rId415" Type="http://schemas.openxmlformats.org/officeDocument/2006/relationships/slide" Target="slides/slide411.xml"/><Relationship Id="rId416" Type="http://schemas.openxmlformats.org/officeDocument/2006/relationships/slide" Target="slides/slide412.xml"/><Relationship Id="rId417" Type="http://schemas.openxmlformats.org/officeDocument/2006/relationships/slide" Target="slides/slide413.xml"/><Relationship Id="rId418" Type="http://schemas.openxmlformats.org/officeDocument/2006/relationships/slide" Target="slides/slide414.xml"/><Relationship Id="rId419" Type="http://schemas.openxmlformats.org/officeDocument/2006/relationships/slide" Target="slides/slide415.xml"/><Relationship Id="rId420" Type="http://schemas.openxmlformats.org/officeDocument/2006/relationships/slide" Target="slides/slide416.xml"/><Relationship Id="rId421" Type="http://schemas.openxmlformats.org/officeDocument/2006/relationships/slide" Target="slides/slide417.xml"/><Relationship Id="rId422" Type="http://schemas.openxmlformats.org/officeDocument/2006/relationships/slide" Target="slides/slide418.xml"/><Relationship Id="rId423" Type="http://schemas.openxmlformats.org/officeDocument/2006/relationships/slide" Target="slides/slide419.xml"/><Relationship Id="rId424" Type="http://schemas.openxmlformats.org/officeDocument/2006/relationships/slide" Target="slides/slide420.xml"/><Relationship Id="rId425" Type="http://schemas.openxmlformats.org/officeDocument/2006/relationships/slide" Target="slides/slide421.xml"/><Relationship Id="rId426" Type="http://schemas.openxmlformats.org/officeDocument/2006/relationships/slide" Target="slides/slide422.xml"/><Relationship Id="rId427" Type="http://schemas.openxmlformats.org/officeDocument/2006/relationships/slide" Target="slides/slide423.xml"/><Relationship Id="rId428" Type="http://schemas.openxmlformats.org/officeDocument/2006/relationships/slide" Target="slides/slide424.xml"/><Relationship Id="rId429" Type="http://schemas.openxmlformats.org/officeDocument/2006/relationships/slide" Target="slides/slide425.xml"/><Relationship Id="rId430" Type="http://schemas.openxmlformats.org/officeDocument/2006/relationships/slide" Target="slides/slide426.xml"/><Relationship Id="rId431" Type="http://schemas.openxmlformats.org/officeDocument/2006/relationships/slide" Target="slides/slide427.xml"/><Relationship Id="rId432" Type="http://schemas.openxmlformats.org/officeDocument/2006/relationships/slide" Target="slides/slide428.xml"/><Relationship Id="rId433" Type="http://schemas.openxmlformats.org/officeDocument/2006/relationships/slide" Target="slides/slide429.xml"/><Relationship Id="rId434" Type="http://schemas.openxmlformats.org/officeDocument/2006/relationships/slide" Target="slides/slide430.xml"/><Relationship Id="rId435" Type="http://schemas.openxmlformats.org/officeDocument/2006/relationships/slide" Target="slides/slide431.xml"/><Relationship Id="rId436" Type="http://schemas.openxmlformats.org/officeDocument/2006/relationships/slide" Target="slides/slide432.xml"/><Relationship Id="rId437" Type="http://schemas.openxmlformats.org/officeDocument/2006/relationships/slide" Target="slides/slide433.xml"/><Relationship Id="rId438" Type="http://schemas.openxmlformats.org/officeDocument/2006/relationships/slide" Target="slides/slide434.xml"/><Relationship Id="rId439" Type="http://schemas.openxmlformats.org/officeDocument/2006/relationships/slide" Target="slides/slide435.xml"/><Relationship Id="rId440" Type="http://schemas.openxmlformats.org/officeDocument/2006/relationships/slide" Target="slides/slide436.xml"/><Relationship Id="rId441" Type="http://schemas.openxmlformats.org/officeDocument/2006/relationships/slide" Target="slides/slide437.xml"/><Relationship Id="rId442" Type="http://schemas.openxmlformats.org/officeDocument/2006/relationships/slide" Target="slides/slide438.xml"/><Relationship Id="rId443" Type="http://schemas.openxmlformats.org/officeDocument/2006/relationships/slide" Target="slides/slide439.xml"/><Relationship Id="rId444" Type="http://schemas.openxmlformats.org/officeDocument/2006/relationships/slide" Target="slides/slide440.xml"/><Relationship Id="rId445" Type="http://schemas.openxmlformats.org/officeDocument/2006/relationships/slide" Target="slides/slide441.xml"/><Relationship Id="rId446" Type="http://schemas.openxmlformats.org/officeDocument/2006/relationships/slide" Target="slides/slide442.xml"/><Relationship Id="rId447" Type="http://schemas.openxmlformats.org/officeDocument/2006/relationships/slide" Target="slides/slide443.xml"/><Relationship Id="rId448" Type="http://schemas.openxmlformats.org/officeDocument/2006/relationships/slide" Target="slides/slide444.xml"/><Relationship Id="rId449" Type="http://schemas.openxmlformats.org/officeDocument/2006/relationships/slide" Target="slides/slide445.xml"/><Relationship Id="rId450" Type="http://schemas.openxmlformats.org/officeDocument/2006/relationships/slide" Target="slides/slide446.xml"/><Relationship Id="rId451" Type="http://schemas.openxmlformats.org/officeDocument/2006/relationships/slide" Target="slides/slide447.xml"/><Relationship Id="rId452" Type="http://schemas.openxmlformats.org/officeDocument/2006/relationships/slide" Target="slides/slide448.xml"/><Relationship Id="rId453" Type="http://schemas.openxmlformats.org/officeDocument/2006/relationships/slide" Target="slides/slide449.xml"/><Relationship Id="rId454" Type="http://schemas.openxmlformats.org/officeDocument/2006/relationships/slide" Target="slides/slide450.xml"/><Relationship Id="rId455" Type="http://schemas.openxmlformats.org/officeDocument/2006/relationships/slide" Target="slides/slide451.xml"/><Relationship Id="rId456" Type="http://schemas.openxmlformats.org/officeDocument/2006/relationships/notesMaster" Target="notesMasters/notesMaster1.xml"/><Relationship Id="rId457" Type="http://schemas.openxmlformats.org/officeDocument/2006/relationships/font" Target="fonts/font1.fntdata"/><Relationship Id="rId458" Type="http://schemas.openxmlformats.org/officeDocument/2006/relationships/font" Target="fonts/font2.fntdata"/><Relationship Id="rId459" Type="http://schemas.openxmlformats.org/officeDocument/2006/relationships/presProps" Target="presProps.xml"/><Relationship Id="rId460" Type="http://schemas.openxmlformats.org/officeDocument/2006/relationships/viewProps" Target="viewProps.xml"/><Relationship Id="rId461" Type="http://schemas.openxmlformats.org/officeDocument/2006/relationships/theme" Target="theme/theme1.xml"/><Relationship Id="rId462" Type="http://schemas.openxmlformats.org/officeDocument/2006/relationships/tableStyles" Target="tableStyles.xml"/><Relationship Id="rId463" Type="http://schemas.microsoft.com/office/2015/10/relationships/revisionInfo" Target="revisionInfo.xml"/><Relationship Id="rId464" Type="http://schemas.microsoft.com/office/2018/10/relationships/authors" Target="author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89D519-E717-4F90-8075-EA4C012D7CD9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4C4AF9-F8A0-4E5A-9B2A-63DA093259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79849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Relationship Id="rId3" Type="http://schemas.openxmlformats.org/officeDocument/2006/relationships/hyperlink" Target="https://crucialexams.com/study/tests/comptia/sy0-701/auto?ShowTest=true&amp;QuestionCount=10&amp;__Invariant=QuestionCount&amp;SecondsPerQuestion=60&amp;__Invariant=SecondsPerQuestion&amp;IncludedObjectives=1692&amp;TestTimerEnabled=false" TargetMode="Externa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Relationship Id="rId3" Type="http://schemas.openxmlformats.org/officeDocument/2006/relationships/hyperlink" Target="https://crucialexams.com/study/tests/comptia/sy0-701/auto?ShowTest=true&amp;QuestionCount=10&amp;__Invariant=QuestionCount&amp;SecondsPerQuestion=60&amp;__Invariant=SecondsPerQuestion&amp;IncludedObjectives=1692&amp;TestTimerEnabled=false" TargetMode="Externa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Relationship Id="rId3" Type="http://schemas.openxmlformats.org/officeDocument/2006/relationships/hyperlink" Target="https://www.okta.com/identity-101/steganography/" TargetMode="External"/><Relationship Id="rId4" Type="http://schemas.openxmlformats.org/officeDocument/2006/relationships/hyperlink" Target="https://stylesuxx.github.io/steganography/" TargetMode="Externa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Relationship Id="rId3" Type="http://schemas.openxmlformats.org/officeDocument/2006/relationships/hyperlink" Target="https://www.ucertify.com/app/?func=navigate_items&amp;item_sequence=2" TargetMode="Externa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Relationship Id="rId3" Type="http://schemas.openxmlformats.org/officeDocument/2006/relationships/hyperlink" Target="https://crucialexams.com/study/questions/sy0-701/there-is-data-within-your-company-that-is-explicitly-owned-and-controlled/8070?setId=20d17629-3d35-451e-8e4e-aa07f61bfce9&amp;hideScore=True" TargetMode="External"/><Relationship Id="rId4" Type="http://schemas.openxmlformats.org/officeDocument/2006/relationships/hyperlink" Target="https://crucialexams.com/study/sy0-701/simulations/matching/cryptographic-concepts" TargetMode="External"/><Relationship Id="rId5" Type="http://schemas.openxmlformats.org/officeDocument/2006/relationships/hyperlink" Target="https://crucialexams.com/study/sy0-701/simulations/matching-diagram/network-components-and-common-protocols" TargetMode="Externa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Relationship Id="rId3" Type="http://schemas.openxmlformats.org/officeDocument/2006/relationships/hyperlink" Target="https://crucialexams.com/study/tests/comptia/sy0-701/auto?ShowTest=true&amp;QuestionCount=25&amp;__Invariant=QuestionCount&amp;TestTimerEnabled=true&amp;SecondsPerQuestion=60&amp;__Invariant=SecondsPerQuestion&amp;IncludedObjectives=1692&amp;IncludedObjectives=1697&amp;IncludedObjectives=1698&amp;IncludedObjectives=1699&amp;IncludedObjectives=1700&amp;TestTimerEnabled=false" TargetMode="External"/><Relationship Id="rId4" Type="http://schemas.openxmlformats.org/officeDocument/2006/relationships/hyperlink" Target="https://crucialexams.com/study/sy0-701/flashcards/identity-and-access-management-terms-and-concepts" TargetMode="Externa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2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3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4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5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6.xml"/></Relationships>
</file>

<file path=ppt/notesSlides/_rels/notesSlide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7.xml"/></Relationships>
</file>

<file path=ppt/notesSlides/_rels/notesSlide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8.xml"/></Relationships>
</file>

<file path=ppt/notesSlides/_rels/notesSlide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9.xml"/></Relationships>
</file>

<file path=ppt/notesSlides/_rels/notesSlide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.xml"/></Relationships>
</file>

<file path=ppt/notesSlides/_rels/notesSlide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1.xml"/></Relationships>
</file>

<file path=ppt/notesSlides/_rels/notesSlide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2.xml"/><Relationship Id="rId3" Type="http://schemas.openxmlformats.org/officeDocument/2006/relationships/hyperlink" Target="https://crucialexams.com/study/tests/comptia/sy0-701/auto?ShowTest=true&amp;QuestionCount=10&amp;__Invariant=QuestionCount&amp;SecondsPerQuestion=60&amp;__Invariant=SecondsPerQuestion&amp;IncludedObjectives=1697&amp;TestTimerEnabled=false" TargetMode="External"/></Relationships>
</file>

<file path=ppt/notesSlides/_rels/notesSlide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3.xml"/></Relationships>
</file>

<file path=ppt/notesSlides/_rels/notesSlide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4.xml"/></Relationships>
</file>

<file path=ppt/notesSlides/_rels/notesSlide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5.xml"/></Relationships>
</file>

<file path=ppt/notesSlides/_rels/notesSlide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6.xml"/></Relationships>
</file>

<file path=ppt/notesSlides/_rels/notesSlide9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7.xml"/></Relationships>
</file>

<file path=ppt/notesSlides/_rels/notesSlide10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8.xml"/></Relationships>
</file>

<file path=ppt/notesSlides/_rels/notesSlide10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9.xml"/></Relationships>
</file>

<file path=ppt/notesSlides/_rels/notesSlide10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0.xml"/><Relationship Id="rId3" Type="http://schemas.openxmlformats.org/officeDocument/2006/relationships/hyperlink" Target="https://www.ucertify.com/app/?func=navigate_items&amp;item_sequence=11" TargetMode="External"/></Relationships>
</file>

<file path=ppt/notesSlides/_rels/notesSlide10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1.xml"/></Relationships>
</file>

<file path=ppt/notesSlides/_rels/notesSlide10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2.xml"/></Relationships>
</file>

<file path=ppt/notesSlides/_rels/notesSlide10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3.xml"/></Relationships>
</file>

<file path=ppt/notesSlides/_rels/notesSlide10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4.xml"/></Relationships>
</file>

<file path=ppt/notesSlides/_rels/notesSlide10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5.xml"/></Relationships>
</file>

<file path=ppt/notesSlides/_rels/notesSlide10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6.xml"/></Relationships>
</file>

<file path=ppt/notesSlides/_rels/notesSlide10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7.xml"/></Relationships>
</file>

<file path=ppt/notesSlides/_rels/notesSlide1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8.xml"/><Relationship Id="rId3" Type="http://schemas.openxmlformats.org/officeDocument/2006/relationships/hyperlink" Target="https://crucialexams.com/study/tests/comptia/sy0-701/auto?ShowTest=true&amp;QuestionCount=10&amp;__Invariant=QuestionCount&amp;SecondsPerQuestion=60&amp;__Invariant=SecondsPerQuestion&amp;IncludedObjectives=1697&amp;TestTimerEnabled=false" TargetMode="External"/></Relationships>
</file>

<file path=ppt/notesSlides/_rels/notesSlide1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9.xml"/></Relationships>
</file>

<file path=ppt/notesSlides/_rels/notesSlide1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0.xml"/></Relationships>
</file>

<file path=ppt/notesSlides/_rels/notesSlide1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1.xml"/></Relationships>
</file>

<file path=ppt/notesSlides/_rels/notesSlide1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2.xml"/></Relationships>
</file>

<file path=ppt/notesSlides/_rels/notesSlide1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3.xml"/></Relationships>
</file>

<file path=ppt/notesSlides/_rels/notesSlide1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4.xml"/></Relationships>
</file>

<file path=ppt/notesSlides/_rels/notesSlide1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5.xml"/></Relationships>
</file>

<file path=ppt/notesSlides/_rels/notesSlide1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6.xml"/></Relationships>
</file>

<file path=ppt/notesSlides/_rels/notesSlide1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7.xml"/></Relationships>
</file>

<file path=ppt/notesSlides/_rels/notesSlide1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8.xml"/><Relationship Id="rId3" Type="http://schemas.openxmlformats.org/officeDocument/2006/relationships/hyperlink" Target="https://www.ucertify.com/app/?func=navigate_items&amp;item_sequence=15" TargetMode="External"/></Relationships>
</file>

<file path=ppt/notesSlides/_rels/notesSlide1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9.xml"/></Relationships>
</file>

<file path=ppt/notesSlides/_rels/notesSlide1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0.xml"/></Relationships>
</file>

<file path=ppt/notesSlides/_rels/notesSlide1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1.xml"/></Relationships>
</file>

<file path=ppt/notesSlides/_rels/notesSlide1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2.xml"/></Relationships>
</file>

<file path=ppt/notesSlides/_rels/notesSlide1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3.xml"/></Relationships>
</file>

<file path=ppt/notesSlides/_rels/notesSlide1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4.xml"/></Relationships>
</file>

<file path=ppt/notesSlides/_rels/notesSlide1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5.xml"/></Relationships>
</file>

<file path=ppt/notesSlides/_rels/notesSlide1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6.xml"/></Relationships>
</file>

<file path=ppt/notesSlides/_rels/notesSlide1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7.xml"/></Relationships>
</file>

<file path=ppt/notesSlides/_rels/notesSlide1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8.xml"/></Relationships>
</file>

<file path=ppt/notesSlides/_rels/notesSlide1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9.xml"/></Relationships>
</file>

<file path=ppt/notesSlides/_rels/notesSlide1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0.xml"/></Relationships>
</file>

<file path=ppt/notesSlides/_rels/notesSlide1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1.xml"/></Relationships>
</file>

<file path=ppt/notesSlides/_rels/notesSlide1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2.xml"/></Relationships>
</file>

<file path=ppt/notesSlides/_rels/notesSlide1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3.xml"/></Relationships>
</file>

<file path=ppt/notesSlides/_rels/notesSlide1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4.xml"/></Relationships>
</file>

<file path=ppt/notesSlides/_rels/notesSlide1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5.xml"/></Relationships>
</file>

<file path=ppt/notesSlides/_rels/notesSlide1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6.xml"/></Relationships>
</file>

<file path=ppt/notesSlides/_rels/notesSlide1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7.xml"/></Relationships>
</file>

<file path=ppt/notesSlides/_rels/notesSlide1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8.xml"/></Relationships>
</file>

<file path=ppt/notesSlides/_rels/notesSlide1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9.xml"/></Relationships>
</file>

<file path=ppt/notesSlides/_rels/notesSlide1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0.xml"/></Relationships>
</file>

<file path=ppt/notesSlides/_rels/notesSlide1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1.xml"/></Relationships>
</file>

<file path=ppt/notesSlides/_rels/notesSlide1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2.xml"/></Relationships>
</file>

<file path=ppt/notesSlides/_rels/notesSlide1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3.xml"/></Relationships>
</file>

<file path=ppt/notesSlides/_rels/notesSlide1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4.xml"/></Relationships>
</file>

<file path=ppt/notesSlides/_rels/notesSlide1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5.xml"/></Relationships>
</file>

<file path=ppt/notesSlides/_rels/notesSlide1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6.xml"/></Relationships>
</file>

<file path=ppt/notesSlides/_rels/notesSlide1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7.xml"/><Relationship Id="rId3" Type="http://schemas.openxmlformats.org/officeDocument/2006/relationships/hyperlink" Target="https://www.ucertify.com/app/?func=navigate_items&amp;item_sequence=37" TargetMode="External"/></Relationships>
</file>

<file path=ppt/notesSlides/_rels/notesSlide1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8.xml"/><Relationship Id="rId3" Type="http://schemas.openxmlformats.org/officeDocument/2006/relationships/hyperlink" Target="https://www.techtarget.com/whatis/video/WPA2-vs-WPA3" TargetMode="External"/></Relationships>
</file>

<file path=ppt/notesSlides/_rels/notesSlide1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9.xml"/></Relationships>
</file>

<file path=ppt/notesSlides/_rels/notesSlide1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0.xml"/></Relationships>
</file>

<file path=ppt/notesSlides/_rels/notesSlide1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1.xml"/></Relationships>
</file>

<file path=ppt/notesSlides/_rels/notesSlide1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2.xml"/></Relationships>
</file>

<file path=ppt/notesSlides/_rels/notesSlide1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3.xml"/></Relationships>
</file>

<file path=ppt/notesSlides/_rels/notesSlide1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4.xml"/></Relationships>
</file>

<file path=ppt/notesSlides/_rels/notesSlide1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5.xml"/><Relationship Id="rId3" Type="http://schemas.openxmlformats.org/officeDocument/2006/relationships/hyperlink" Target="https://crucialexams.com/study/tests/comptia/sy0-701/auto?ShowTest=true&amp;QuestionCount=10&amp;__Invariant=QuestionCount&amp;SecondsPerQuestion=60&amp;__Invariant=SecondsPerQuestion&amp;IncludedObjectives=1697&amp;TestTimerEnabled=false" TargetMode="External"/></Relationships>
</file>

<file path=ppt/notesSlides/_rels/notesSlide1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6.xml"/><Relationship Id="rId3" Type="http://schemas.openxmlformats.org/officeDocument/2006/relationships/hyperlink" Target="https://crucialexams.com/study/sy0-701/simulations/configuration/home-wlan-network-configuration" TargetMode="External"/><Relationship Id="rId4" Type="http://schemas.openxmlformats.org/officeDocument/2006/relationships/hyperlink" Target="https://crucialexams.com/study/sy0-701/simulations/configuration/public-wlan-network-configuration" TargetMode="External"/><Relationship Id="rId5" Type="http://schemas.openxmlformats.org/officeDocument/2006/relationships/hyperlink" Target="https://crucialexams.com/study/questions/exam/sy0-701?SetId=ee39da93-c20c-49bb-9e1a-7080db076ad1" TargetMode="External"/></Relationships>
</file>

<file path=ppt/notesSlides/_rels/notesSlide1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7.xml"/><Relationship Id="rId3" Type="http://schemas.openxmlformats.org/officeDocument/2006/relationships/hyperlink" Target="https://crucialexams.com/study/tests/comptia/sy0-701/auto?ShowTest=true&amp;QuestionCount=25&amp;__Invariant=QuestionCount&amp;TestTimerEnabled=true&amp;SecondsPerQuestion=60&amp;__Invariant=SecondsPerQuestion&amp;IncludedObjectives=1697&amp;TestTimerEnabled=false" TargetMode="External"/><Relationship Id="rId4" Type="http://schemas.openxmlformats.org/officeDocument/2006/relationships/hyperlink" Target="https://crucialexams.com/study/sy0-701/flashcards/comptia-security-plus-sy0-701-protocol-acronyms" TargetMode="External"/></Relationships>
</file>

<file path=ppt/notesSlides/_rels/notesSlide1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0.xml"/></Relationships>
</file>

<file path=ppt/notesSlides/_rels/notesSlide1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3.xml"/></Relationships>
</file>

<file path=ppt/notesSlides/_rels/notesSlide1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4.xml"/></Relationships>
</file>

<file path=ppt/notesSlides/_rels/notesSlide1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5.xml"/></Relationships>
</file>

<file path=ppt/notesSlides/_rels/notesSlide1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6.xml"/></Relationships>
</file>

<file path=ppt/notesSlides/_rels/notesSlide1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7.xml"/></Relationships>
</file>

<file path=ppt/notesSlides/_rels/notesSlide1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8.xml"/></Relationships>
</file>

<file path=ppt/notesSlides/_rels/notesSlide1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9.xml"/></Relationships>
</file>

<file path=ppt/notesSlides/_rels/notesSlide1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0.xml"/></Relationships>
</file>

<file path=ppt/notesSlides/_rels/notesSlide1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1.xml"/></Relationships>
</file>

<file path=ppt/notesSlides/_rels/notesSlide1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2.xml"/></Relationships>
</file>

<file path=ppt/notesSlides/_rels/notesSlide1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3.xml"/></Relationships>
</file>

<file path=ppt/notesSlides/_rels/notesSlide1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4.xml"/></Relationships>
</file>

<file path=ppt/notesSlides/_rels/notesSlide1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5.xml"/></Relationships>
</file>

<file path=ppt/notesSlides/_rels/notesSlide1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6.xml"/></Relationships>
</file>

<file path=ppt/notesSlides/_rels/notesSlide1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7.xml"/></Relationships>
</file>

<file path=ppt/notesSlides/_rels/notesSlide1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8.xml"/></Relationships>
</file>

<file path=ppt/notesSlides/_rels/notesSlide1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9.xml"/></Relationships>
</file>

<file path=ppt/notesSlides/_rels/notesSlide1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0.xml"/></Relationships>
</file>

<file path=ppt/notesSlides/_rels/notesSlide1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1.xml"/></Relationships>
</file>

<file path=ppt/notesSlides/_rels/notesSlide1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2.xml"/><Relationship Id="rId3" Type="http://schemas.openxmlformats.org/officeDocument/2006/relationships/hyperlink" Target="https://crucialexams.com/study/tests/comptia/sy0-701/auto?ShowTest=true&amp;QuestionCount=10&amp;__Invariant=QuestionCount&amp;SecondsPerQuestion=60&amp;__Invariant=SecondsPerQuestion&amp;IncludedObjectives=1698&amp;TestTimerEnabled=false" TargetMode="External"/></Relationships>
</file>

<file path=ppt/notesSlides/_rels/notesSlide1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3.xml"/><Relationship Id="rId3" Type="http://schemas.openxmlformats.org/officeDocument/2006/relationships/hyperlink" Target="https://www.ucertify.com/app/?func=navigate_items&amp;item_sequence=29" TargetMode="External"/></Relationships>
</file>

<file path=ppt/notesSlides/_rels/notesSlide1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4.xml"/></Relationships>
</file>

<file path=ppt/notesSlides/_rels/notesSlide1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5.xml"/></Relationships>
</file>

<file path=ppt/notesSlides/_rels/notesSlide1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6.xml"/></Relationships>
</file>

<file path=ppt/notesSlides/_rels/notesSlide1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7.xml"/></Relationships>
</file>

<file path=ppt/notesSlides/_rels/notesSlide1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8.xml"/></Relationships>
</file>

<file path=ppt/notesSlides/_rels/notesSlide1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9.xml"/></Relationships>
</file>

<file path=ppt/notesSlides/_rels/notesSlide1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0.xml"/><Relationship Id="rId3" Type="http://schemas.openxmlformats.org/officeDocument/2006/relationships/hyperlink" Target="https://www.ucertify.com/app/?func=navigate_items&amp;item_sequence=29" TargetMode="External"/></Relationships>
</file>

<file path=ppt/notesSlides/_rels/notesSlide1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1.xml"/></Relationships>
</file>

<file path=ppt/notesSlides/_rels/notesSlide1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2.xml"/></Relationships>
</file>

<file path=ppt/notesSlides/_rels/notesSlide1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3.xml"/></Relationships>
</file>

<file path=ppt/notesSlides/_rels/notesSlide1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4.xml"/></Relationships>
</file>

<file path=ppt/notesSlides/_rels/notesSlide1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5.xml"/></Relationships>
</file>

<file path=ppt/notesSlides/_rels/notesSlide1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6.xml"/></Relationships>
</file>

<file path=ppt/notesSlides/_rels/notesSlide1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7.xml"/><Relationship Id="rId3" Type="http://schemas.openxmlformats.org/officeDocument/2006/relationships/hyperlink" Target="https://www.ucertify.com/app/?func=navigate_items&amp;item_sequence=40" TargetMode="External"/></Relationships>
</file>

<file path=ppt/notesSlides/_rels/notesSlide1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8.xml"/></Relationships>
</file>

<file path=ppt/notesSlides/_rels/notesSlide1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9.xml"/></Relationships>
</file>

<file path=ppt/notesSlides/_rels/notesSlide1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0.xml"/></Relationships>
</file>

<file path=ppt/notesSlides/_rels/notesSlide19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1.xml"/></Relationships>
</file>

<file path=ppt/notesSlides/_rels/notesSlide20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2.xml"/></Relationships>
</file>

<file path=ppt/notesSlides/_rels/notesSlide20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3.xml"/></Relationships>
</file>

<file path=ppt/notesSlides/_rels/notesSlide20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4.xml"/></Relationships>
</file>

<file path=ppt/notesSlides/_rels/notesSlide20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5.xml"/></Relationships>
</file>

<file path=ppt/notesSlides/_rels/notesSlide20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6.xml"/></Relationships>
</file>

<file path=ppt/notesSlides/_rels/notesSlide20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7.xml"/></Relationships>
</file>

<file path=ppt/notesSlides/_rels/notesSlide20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8.xml"/><Relationship Id="rId3" Type="http://schemas.openxmlformats.org/officeDocument/2006/relationships/hyperlink" Target="https://crucialexams.com/study/tests/comptia/sy0-701/auto?ShowTest=true&amp;QuestionCount=10&amp;__Invariant=QuestionCount&amp;SecondsPerQuestion=60&amp;__Invariant=SecondsPerQuestion&amp;IncludedObjectives=1698&amp;TestTimerEnabled=false" TargetMode="External"/></Relationships>
</file>

<file path=ppt/notesSlides/_rels/notesSlide20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9.xml"/></Relationships>
</file>

<file path=ppt/notesSlides/_rels/notesSlide20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0.xml"/></Relationships>
</file>

<file path=ppt/notesSlides/_rels/notesSlide20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1.xml"/></Relationships>
</file>

<file path=ppt/notesSlides/_rels/notesSlide2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2.xml"/></Relationships>
</file>

<file path=ppt/notesSlides/_rels/notesSlide2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3.xml"/></Relationships>
</file>

<file path=ppt/notesSlides/_rels/notesSlide2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4.xml"/></Relationships>
</file>

<file path=ppt/notesSlides/_rels/notesSlide2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5.xml"/></Relationships>
</file>

<file path=ppt/notesSlides/_rels/notesSlide2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6.xml"/></Relationships>
</file>

<file path=ppt/notesSlides/_rels/notesSlide2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7.xml"/></Relationships>
</file>

<file path=ppt/notesSlides/_rels/notesSlide2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8.xml"/></Relationships>
</file>

<file path=ppt/notesSlides/_rels/notesSlide2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9.xml"/><Relationship Id="rId3" Type="http://schemas.openxmlformats.org/officeDocument/2006/relationships/hyperlink" Target="https://crucialexams.com/study/tests/comptia/sy0-701/auto?ShowTest=true&amp;QuestionCount=10&amp;__Invariant=QuestionCount&amp;SecondsPerQuestion=60&amp;__Invariant=SecondsPerQuestion&amp;IncludedObjectives=1698&amp;TestTimerEnabled=false" TargetMode="External"/></Relationships>
</file>

<file path=ppt/notesSlides/_rels/notesSlide2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0.xml"/></Relationships>
</file>

<file path=ppt/notesSlides/_rels/notesSlide2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1.xml"/></Relationships>
</file>

<file path=ppt/notesSlides/_rels/notesSlide2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2.xml"/></Relationships>
</file>

<file path=ppt/notesSlides/_rels/notesSlide2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3.xml"/></Relationships>
</file>

<file path=ppt/notesSlides/_rels/notesSlide2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4.xml"/></Relationships>
</file>

<file path=ppt/notesSlides/_rels/notesSlide2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5.xml"/></Relationships>
</file>

<file path=ppt/notesSlides/_rels/notesSlide2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6.xml"/></Relationships>
</file>

<file path=ppt/notesSlides/_rels/notesSlide2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7.xml"/></Relationships>
</file>

<file path=ppt/notesSlides/_rels/notesSlide2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8.xml"/></Relationships>
</file>

<file path=ppt/notesSlides/_rels/notesSlide2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9.xml"/><Relationship Id="rId3" Type="http://schemas.openxmlformats.org/officeDocument/2006/relationships/hyperlink" Target="https://www.ucertify.com/" TargetMode="External"/><Relationship Id="rId4" Type="http://schemas.openxmlformats.org/officeDocument/2006/relationships/hyperlink" Target="https://www.ucertify.com/app/?func=navigate_items&amp;item_sequence=14" TargetMode="External"/></Relationships>
</file>

<file path=ppt/notesSlides/_rels/notesSlide2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0.xml"/></Relationships>
</file>

<file path=ppt/notesSlides/_rels/notesSlide2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1.xml"/><Relationship Id="rId3" Type="http://schemas.openxmlformats.org/officeDocument/2006/relationships/hyperlink" Target="https://crucialexams.com/study/questions/sy0-701/your-organization-is-exploring-the-option-of-migrating-some-services-to-the/8390?setId=5958bb19-98c9-4bf2-ba36-0ae5f130dc65&amp;hideScore=True" TargetMode="External"/><Relationship Id="rId4" Type="http://schemas.openxmlformats.org/officeDocument/2006/relationships/hyperlink" Target="https://crucialexams.com/study/sy0-701/simulations/configuration/cloud-web-application-firewall-setup" TargetMode="External"/><Relationship Id="rId5" Type="http://schemas.openxmlformats.org/officeDocument/2006/relationships/hyperlink" Target="https://crucialexams.com/study/sy0-701/simulations/configuration/mobile-device-management-enrollment" TargetMode="External"/></Relationships>
</file>

<file path=ppt/notesSlides/_rels/notesSlide2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2.xml"/><Relationship Id="rId3" Type="http://schemas.openxmlformats.org/officeDocument/2006/relationships/hyperlink" Target="https://crucialexams.com/study/tests/comptia/sy0-701/auto?ShowTest=true&amp;QuestionCount=25&amp;__Invariant=QuestionCount&amp;TestTimerEnabled=true&amp;SecondsPerQuestion=60&amp;__Invariant=SecondsPerQuestion&amp;IncludedObjectives=1698&amp;TestTimerEnabled=false" TargetMode="External"/><Relationship Id="rId4" Type="http://schemas.openxmlformats.org/officeDocument/2006/relationships/hyperlink" Target="https://crucialexams.com/study/sy0-701/flashcards/threat-management-terms-and-concepts" TargetMode="External"/></Relationships>
</file>

<file path=ppt/notesSlides/_rels/notesSlide2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8.xml"/></Relationships>
</file>

<file path=ppt/notesSlides/_rels/notesSlide2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9.xml"/></Relationships>
</file>

<file path=ppt/notesSlides/_rels/notesSlide2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0.xml"/></Relationships>
</file>

<file path=ppt/notesSlides/_rels/notesSlide2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1.xml"/></Relationships>
</file>

<file path=ppt/notesSlides/_rels/notesSlide2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2.xml"/></Relationships>
</file>

<file path=ppt/notesSlides/_rels/notesSlide2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3.xml"/></Relationships>
</file>

<file path=ppt/notesSlides/_rels/notesSlide2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4.xml"/></Relationships>
</file>

<file path=ppt/notesSlides/_rels/notesSlide2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5.xml"/></Relationships>
</file>

<file path=ppt/notesSlides/_rels/notesSlide2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6.xml"/></Relationships>
</file>

<file path=ppt/notesSlides/_rels/notesSlide2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7.xml"/></Relationships>
</file>

<file path=ppt/notesSlides/_rels/notesSlide2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8.xml"/></Relationships>
</file>

<file path=ppt/notesSlides/_rels/notesSlide2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9.xml"/></Relationships>
</file>

<file path=ppt/notesSlides/_rels/notesSlide2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0.xml"/></Relationships>
</file>

<file path=ppt/notesSlides/_rels/notesSlide2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1.xml"/></Relationships>
</file>

<file path=ppt/notesSlides/_rels/notesSlide2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2.xml"/><Relationship Id="rId3" Type="http://schemas.openxmlformats.org/officeDocument/2006/relationships/hyperlink" Target="https://www.ucertify.com/app/?func=navigate_items&amp;item_sequence=44" TargetMode="External"/><Relationship Id="rId4" Type="http://schemas.openxmlformats.org/officeDocument/2006/relationships/hyperlink" Target="https://www.ucertify.com/app/?func=navigate_items&amp;item_sequence=43" TargetMode="External"/></Relationships>
</file>

<file path=ppt/notesSlides/_rels/notesSlide2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3.xml"/></Relationships>
</file>

<file path=ppt/notesSlides/_rels/notesSlide2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4.xml"/></Relationships>
</file>

<file path=ppt/notesSlides/_rels/notesSlide2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5.xml"/></Relationships>
</file>

<file path=ppt/notesSlides/_rels/notesSlide2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6.xml"/></Relationships>
</file>

<file path=ppt/notesSlides/_rels/notesSlide2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7.xml"/></Relationships>
</file>

<file path=ppt/notesSlides/_rels/notesSlide2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8.xml"/></Relationships>
</file>

<file path=ppt/notesSlides/_rels/notesSlide2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9.xml"/></Relationships>
</file>

<file path=ppt/notesSlides/_rels/notesSlide2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0.xml"/></Relationships>
</file>

<file path=ppt/notesSlides/_rels/notesSlide2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1.xml"/></Relationships>
</file>

<file path=ppt/notesSlides/_rels/notesSlide2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2.xml"/></Relationships>
</file>

<file path=ppt/notesSlides/_rels/notesSlide2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3.xml"/></Relationships>
</file>

<file path=ppt/notesSlides/_rels/notesSlide2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4.xml"/><Relationship Id="rId3" Type="http://schemas.openxmlformats.org/officeDocument/2006/relationships/hyperlink" Target="https://crucialexams.com/study/tests/comptia/sy0-701/auto?ShowTest=true&amp;QuestionCount=10&amp;__Invariant=QuestionCount&amp;SecondsPerQuestion=60&amp;__Invariant=SecondsPerQuestion&amp;IncludedObjectives=1699&amp;TestTimerEnabled=false" TargetMode="External"/></Relationships>
</file>

<file path=ppt/notesSlides/_rels/notesSlide2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5.xml"/></Relationships>
</file>

<file path=ppt/notesSlides/_rels/notesSlide2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6.xml"/></Relationships>
</file>

<file path=ppt/notesSlides/_rels/notesSlide2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7.xml"/></Relationships>
</file>

<file path=ppt/notesSlides/_rels/notesSlide2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8.xml"/></Relationships>
</file>

<file path=ppt/notesSlides/_rels/notesSlide2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9.xml"/></Relationships>
</file>

<file path=ppt/notesSlides/_rels/notesSlide2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0.xml"/></Relationships>
</file>

<file path=ppt/notesSlides/_rels/notesSlide2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1.xml"/></Relationships>
</file>

<file path=ppt/notesSlides/_rels/notesSlide2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2.xml"/></Relationships>
</file>

<file path=ppt/notesSlides/_rels/notesSlide2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3.xml"/></Relationships>
</file>

<file path=ppt/notesSlides/_rels/notesSlide2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4.xml"/></Relationships>
</file>

<file path=ppt/notesSlides/_rels/notesSlide2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5.xml"/></Relationships>
</file>

<file path=ppt/notesSlides/_rels/notesSlide2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6.xml"/></Relationships>
</file>

<file path=ppt/notesSlides/_rels/notesSlide2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7.xml"/></Relationships>
</file>

<file path=ppt/notesSlides/_rels/notesSlide2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8.xml"/></Relationships>
</file>

<file path=ppt/notesSlides/_rels/notesSlide2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9.xml"/></Relationships>
</file>

<file path=ppt/notesSlides/_rels/notesSlide2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0.xml"/><Relationship Id="rId3" Type="http://schemas.openxmlformats.org/officeDocument/2006/relationships/hyperlink" Target="https://www.ucertify.com/app/?func=navigate_items&amp;item_sequence=42" TargetMode="External"/></Relationships>
</file>

<file path=ppt/notesSlides/_rels/notesSlide2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1.xml"/></Relationships>
</file>

<file path=ppt/notesSlides/_rels/notesSlide2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2.xml"/></Relationships>
</file>

<file path=ppt/notesSlides/_rels/notesSlide2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3.xml"/></Relationships>
</file>

<file path=ppt/notesSlides/_rels/notesSlide2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4.xml"/></Relationships>
</file>

<file path=ppt/notesSlides/_rels/notesSlide2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5.xml"/></Relationships>
</file>

<file path=ppt/notesSlides/_rels/notesSlide2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6.xml"/></Relationships>
</file>

<file path=ppt/notesSlides/_rels/notesSlide2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7.xml"/></Relationships>
</file>

<file path=ppt/notesSlides/_rels/notesSlide2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8.xml"/></Relationships>
</file>

<file path=ppt/notesSlides/_rels/notesSlide2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9.xml"/></Relationships>
</file>

<file path=ppt/notesSlides/_rels/notesSlide2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0.xml"/></Relationships>
</file>

<file path=ppt/notesSlides/_rels/notesSlide2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1.xml"/></Relationships>
</file>

<file path=ppt/notesSlides/_rels/notesSlide2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2.xml"/><Relationship Id="rId3" Type="http://schemas.openxmlformats.org/officeDocument/2006/relationships/hyperlink" Target="https://www.ucertify.com/app/?func=navigate_items&amp;item_sequence=33" TargetMode="External"/></Relationships>
</file>

<file path=ppt/notesSlides/_rels/notesSlide2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3.xml"/></Relationships>
</file>

<file path=ppt/notesSlides/_rels/notesSlide2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4.xml"/></Relationships>
</file>

<file path=ppt/notesSlides/_rels/notesSlide2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5.xml"/></Relationships>
</file>

<file path=ppt/notesSlides/_rels/notesSlide2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6.xml"/></Relationships>
</file>

<file path=ppt/notesSlides/_rels/notesSlide2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7.xml"/></Relationships>
</file>

<file path=ppt/notesSlides/_rels/notesSlide2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8.xml"/></Relationships>
</file>

<file path=ppt/notesSlides/_rels/notesSlide2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9.xml"/></Relationships>
</file>

<file path=ppt/notesSlides/_rels/notesSlide2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0.xml"/></Relationships>
</file>

<file path=ppt/notesSlides/_rels/notesSlide2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1.xml"/></Relationships>
</file>

<file path=ppt/notesSlides/_rels/notesSlide2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2.xml"/></Relationships>
</file>

<file path=ppt/notesSlides/_rels/notesSlide2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3.xml"/></Relationships>
</file>

<file path=ppt/notesSlides/_rels/notesSlide2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4.xml"/><Relationship Id="rId3" Type="http://schemas.openxmlformats.org/officeDocument/2006/relationships/hyperlink" Target="https://crucialexams.com/study/tests/comptia/sy0-701/auto?ShowTest=true&amp;QuestionCount=10&amp;__Invariant=QuestionCount&amp;SecondsPerQuestion=60&amp;__Invariant=SecondsPerQuestion&amp;IncludedObjectives=1699&amp;TestTimerEnabled=false" TargetMode="External"/></Relationships>
</file>

<file path=ppt/notesSlides/_rels/notesSlide2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5.xml"/></Relationships>
</file>

<file path=ppt/notesSlides/_rels/notesSlide29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6.xml"/></Relationships>
</file>

<file path=ppt/notesSlides/_rels/notesSlide30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7.xml"/></Relationships>
</file>

<file path=ppt/notesSlides/_rels/notesSlide30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8.xml"/></Relationships>
</file>

<file path=ppt/notesSlides/_rels/notesSlide30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9.xml"/></Relationships>
</file>

<file path=ppt/notesSlides/_rels/notesSlide30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0.xml"/></Relationships>
</file>

<file path=ppt/notesSlides/_rels/notesSlide30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1.xml"/></Relationships>
</file>

<file path=ppt/notesSlides/_rels/notesSlide30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2.xml"/></Relationships>
</file>

<file path=ppt/notesSlides/_rels/notesSlide30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3.xml"/><Relationship Id="rId3" Type="http://schemas.openxmlformats.org/officeDocument/2006/relationships/hyperlink" Target="https://crucialexams.com/study/tests/comptia/sy0-701/auto?ShowTest=true&amp;QuestionCount=10&amp;__Invariant=QuestionCount&amp;SecondsPerQuestion=60&amp;__Invariant=SecondsPerQuestion&amp;IncludedObjectives=1699&amp;TestTimerEnabled=false" TargetMode="External"/></Relationships>
</file>

<file path=ppt/notesSlides/_rels/notesSlide30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4.xml"/><Relationship Id="rId3" Type="http://schemas.openxmlformats.org/officeDocument/2006/relationships/hyperlink" Target="https://crucialexams.com/study/questions/sy0-701/a-network-administrator-for-a-company-that-uses-cisco-equipment-needs-to/8026?setId=f8576d6a-2602-4eeb-b3a7-fca3aad7247b&amp;hideScore=True" TargetMode="External"/><Relationship Id="rId4" Type="http://schemas.openxmlformats.org/officeDocument/2006/relationships/hyperlink" Target="https://crucialexams.com/study/sy0-701/simulations/configuration/siem-alert-configuration" TargetMode="External"/><Relationship Id="rId5" Type="http://schemas.openxmlformats.org/officeDocument/2006/relationships/hyperlink" Target="https://crucialexams.com/study/sy0-701/simulations/matching/incident-response-procedures" TargetMode="External"/></Relationships>
</file>

<file path=ppt/notesSlides/_rels/notesSlide30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5.xml"/><Relationship Id="rId3" Type="http://schemas.openxmlformats.org/officeDocument/2006/relationships/hyperlink" Target="https://crucialexams.com/study/tests/comptia/sy0-701/auto?ShowTest=true&amp;QuestionCount=25&amp;__Invariant=QuestionCount&amp;TestTimerEnabled=true&amp;SecondsPerQuestion=60&amp;__Invariant=SecondsPerQuestion&amp;IncludedObjectives=1699&amp;TestTimerEnabled=false" TargetMode="External"/><Relationship Id="rId4" Type="http://schemas.openxmlformats.org/officeDocument/2006/relationships/hyperlink" Target="https://crucialexams.com/study/sy0-701/flashcards/identity-and-access-management-terms-and-concepts" TargetMode="External"/></Relationships>
</file>

<file path=ppt/notesSlides/_rels/notesSlide30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1.xml"/></Relationships>
</file>

<file path=ppt/notesSlides/_rels/notesSlide3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2.xml"/></Relationships>
</file>

<file path=ppt/notesSlides/_rels/notesSlide3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3.xml"/></Relationships>
</file>

<file path=ppt/notesSlides/_rels/notesSlide3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4.xml"/></Relationships>
</file>

<file path=ppt/notesSlides/_rels/notesSlide3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5.xml"/></Relationships>
</file>

<file path=ppt/notesSlides/_rels/notesSlide3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6.xml"/></Relationships>
</file>

<file path=ppt/notesSlides/_rels/notesSlide3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7.xml"/></Relationships>
</file>

<file path=ppt/notesSlides/_rels/notesSlide3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8.xml"/></Relationships>
</file>

<file path=ppt/notesSlides/_rels/notesSlide3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9.xml"/></Relationships>
</file>

<file path=ppt/notesSlides/_rels/notesSlide3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0.xml"/></Relationships>
</file>

<file path=ppt/notesSlides/_rels/notesSlide3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1.xml"/></Relationships>
</file>

<file path=ppt/notesSlides/_rels/notesSlide3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2.xml"/></Relationships>
</file>

<file path=ppt/notesSlides/_rels/notesSlide3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3.xml"/></Relationships>
</file>

<file path=ppt/notesSlides/_rels/notesSlide3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4.xml"/></Relationships>
</file>

<file path=ppt/notesSlides/_rels/notesSlide3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5.xml"/></Relationships>
</file>

<file path=ppt/notesSlides/_rels/notesSlide3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6.xml"/></Relationships>
</file>

<file path=ppt/notesSlides/_rels/notesSlide3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7.xml"/></Relationships>
</file>

<file path=ppt/notesSlides/_rels/notesSlide3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8.xml"/></Relationships>
</file>

<file path=ppt/notesSlides/_rels/notesSlide3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9.xml"/></Relationships>
</file>

<file path=ppt/notesSlides/_rels/notesSlide3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0.xml"/></Relationships>
</file>

<file path=ppt/notesSlides/_rels/notesSlide3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1.xml"/></Relationships>
</file>

<file path=ppt/notesSlides/_rels/notesSlide3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2.xml"/></Relationships>
</file>

<file path=ppt/notesSlides/_rels/notesSlide3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3.xml"/></Relationships>
</file>

<file path=ppt/notesSlides/_rels/notesSlide3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4.xml"/></Relationships>
</file>

<file path=ppt/notesSlides/_rels/notesSlide3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5.xml"/></Relationships>
</file>

<file path=ppt/notesSlides/_rels/notesSlide3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6.xml"/></Relationships>
</file>

<file path=ppt/notesSlides/_rels/notesSlide3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7.xml"/></Relationships>
</file>

<file path=ppt/notesSlides/_rels/notesSlide3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8.xml"/></Relationships>
</file>

<file path=ppt/notesSlides/_rels/notesSlide3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9.xml"/></Relationships>
</file>

<file path=ppt/notesSlides/_rels/notesSlide3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0.xml"/></Relationships>
</file>

<file path=ppt/notesSlides/_rels/notesSlide3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1.xml"/></Relationships>
</file>

<file path=ppt/notesSlides/_rels/notesSlide3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2.xml"/></Relationships>
</file>

<file path=ppt/notesSlides/_rels/notesSlide3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3.xml"/></Relationships>
</file>

<file path=ppt/notesSlides/_rels/notesSlide3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4.xml"/></Relationships>
</file>

<file path=ppt/notesSlides/_rels/notesSlide3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5.xml"/></Relationships>
</file>

<file path=ppt/notesSlides/_rels/notesSlide3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6.xml"/></Relationships>
</file>

<file path=ppt/notesSlides/_rels/notesSlide3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7.xml"/></Relationships>
</file>

<file path=ppt/notesSlides/_rels/notesSlide3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8.xml"/></Relationships>
</file>

<file path=ppt/notesSlides/_rels/notesSlide3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9.xml"/></Relationships>
</file>

<file path=ppt/notesSlides/_rels/notesSlide3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0.xml"/></Relationships>
</file>

<file path=ppt/notesSlides/_rels/notesSlide3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1.xml"/></Relationships>
</file>

<file path=ppt/notesSlides/_rels/notesSlide3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2.xml"/></Relationships>
</file>

<file path=ppt/notesSlides/_rels/notesSlide3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3.xml"/></Relationships>
</file>

<file path=ppt/notesSlides/_rels/notesSlide3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4.xml"/></Relationships>
</file>

<file path=ppt/notesSlides/_rels/notesSlide3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5.xml"/></Relationships>
</file>

<file path=ppt/notesSlides/_rels/notesSlide3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6.xml"/></Relationships>
</file>

<file path=ppt/notesSlides/_rels/notesSlide3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7.xml"/></Relationships>
</file>

<file path=ppt/notesSlides/_rels/notesSlide3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8.xml"/></Relationships>
</file>

<file path=ppt/notesSlides/_rels/notesSlide3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9.xml"/></Relationships>
</file>

<file path=ppt/notesSlides/_rels/notesSlide3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0.xml"/></Relationships>
</file>

<file path=ppt/notesSlides/_rels/notesSlide3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1.xml"/></Relationships>
</file>

<file path=ppt/notesSlides/_rels/notesSlide3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2.xml"/></Relationships>
</file>

<file path=ppt/notesSlides/_rels/notesSlide3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3.xml"/></Relationships>
</file>

<file path=ppt/notesSlides/_rels/notesSlide3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4.xml"/></Relationships>
</file>

<file path=ppt/notesSlides/_rels/notesSlide3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5.xml"/></Relationships>
</file>

<file path=ppt/notesSlides/_rels/notesSlide3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6.xml"/></Relationships>
</file>

<file path=ppt/notesSlides/_rels/notesSlide3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7.xml"/></Relationships>
</file>

<file path=ppt/notesSlides/_rels/notesSlide3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8.xml"/></Relationships>
</file>

<file path=ppt/notesSlides/_rels/notesSlide3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9.xml"/></Relationships>
</file>

<file path=ppt/notesSlides/_rels/notesSlide3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0.xml"/></Relationships>
</file>

<file path=ppt/notesSlides/_rels/notesSlide3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1.xml"/></Relationships>
</file>

<file path=ppt/notesSlides/_rels/notesSlide3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2.xml"/></Relationships>
</file>

<file path=ppt/notesSlides/_rels/notesSlide3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3.xml"/></Relationships>
</file>

<file path=ppt/notesSlides/_rels/notesSlide3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4.xml"/></Relationships>
</file>

<file path=ppt/notesSlides/_rels/notesSlide3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5.xml"/></Relationships>
</file>

<file path=ppt/notesSlides/_rels/notesSlide3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6.xml"/></Relationships>
</file>

<file path=ppt/notesSlides/_rels/notesSlide3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7.xml"/></Relationships>
</file>

<file path=ppt/notesSlides/_rels/notesSlide3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8.xml"/></Relationships>
</file>

<file path=ppt/notesSlides/_rels/notesSlide3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9.xml"/></Relationships>
</file>

<file path=ppt/notesSlides/_rels/notesSlide3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0.xml"/></Relationships>
</file>

<file path=ppt/notesSlides/_rels/notesSlide3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1.xml"/></Relationships>
</file>

<file path=ppt/notesSlides/_rels/notesSlide3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2.xml"/></Relationships>
</file>

<file path=ppt/notesSlides/_rels/notesSlide3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3.xml"/></Relationships>
</file>

<file path=ppt/notesSlides/_rels/notesSlide3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4.xml"/></Relationships>
</file>

<file path=ppt/notesSlides/_rels/notesSlide3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5.xml"/></Relationships>
</file>

<file path=ppt/notesSlides/_rels/notesSlide3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6.xml"/></Relationships>
</file>

<file path=ppt/notesSlides/_rels/notesSlide3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7.xml"/></Relationships>
</file>

<file path=ppt/notesSlides/_rels/notesSlide3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8.xml"/></Relationships>
</file>

<file path=ppt/notesSlides/_rels/notesSlide3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9.xml"/></Relationships>
</file>

<file path=ppt/notesSlides/_rels/notesSlide3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0.xml"/></Relationships>
</file>

<file path=ppt/notesSlides/_rels/notesSlide3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1.xml"/><Relationship Id="rId3" Type="http://schemas.openxmlformats.org/officeDocument/2006/relationships/hyperlink" Target="https://crucialexams.com/study/tests/comptia/sy0-701/auto?ShowTest=true&amp;QuestionCount=90&amp;__Invariant=QuestionCount&amp;TestTimerEnabled=true&amp;SecondsPerQuestion=60&amp;__Invariant=SecondsPerQuestion&amp;IncludedObjectives=1692&amp;IncludedObjectives=1697&amp;IncludedObjectives=1698&amp;IncludedObjectives=1699&amp;IncludedObjectives=1700&amp;TestTimerEnabled=false" TargetMode="External"/></Relationships>
</file>

<file path=ppt/notesSlides/_rels/notesSlide3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2.xml"/></Relationships>
</file>

<file path=ppt/notesSlides/_rels/notesSlide3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6.xml"/></Relationships>
</file>

<file path=ppt/notesSlides/_rels/notesSlide3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7.xml"/></Relationships>
</file>

<file path=ppt/notesSlides/_rels/notesSlide3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8.xml"/></Relationships>
</file>

<file path=ppt/notesSlides/_rels/notesSlide3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9.xml"/></Relationships>
</file>

<file path=ppt/notesSlides/_rels/notesSlide3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0.xml"/></Relationships>
</file>

<file path=ppt/notesSlides/_rels/notesSlide3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1.xml"/></Relationships>
</file>

<file path=ppt/notesSlides/_rels/notesSlide3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2.xml"/></Relationships>
</file>

<file path=ppt/notesSlides/_rels/notesSlide3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3.xml"/></Relationships>
</file>

<file path=ppt/notesSlides/_rels/notesSlide39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4.xml"/></Relationships>
</file>

<file path=ppt/notesSlides/_rels/notesSlide40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5.xml"/></Relationships>
</file>

<file path=ppt/notesSlides/_rels/notesSlide40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6.xml"/></Relationships>
</file>

<file path=ppt/notesSlides/_rels/notesSlide40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7.xml"/></Relationships>
</file>

<file path=ppt/notesSlides/_rels/notesSlide40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8.xml"/></Relationships>
</file>

<file path=ppt/notesSlides/_rels/notesSlide40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9.xml"/></Relationships>
</file>

<file path=ppt/notesSlides/_rels/notesSlide40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0.xml"/></Relationships>
</file>

<file path=ppt/notesSlides/_rels/notesSlide40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1.xml"/></Relationships>
</file>

<file path=ppt/notesSlides/_rels/notesSlide40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2.xml"/></Relationships>
</file>

<file path=ppt/notesSlides/_rels/notesSlide40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3.xml"/></Relationships>
</file>

<file path=ppt/notesSlides/_rels/notesSlide40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4.xml"/></Relationships>
</file>

<file path=ppt/notesSlides/_rels/notesSlide4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5.xml"/></Relationships>
</file>

<file path=ppt/notesSlides/_rels/notesSlide4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6.xml"/></Relationships>
</file>

<file path=ppt/notesSlides/_rels/notesSlide4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7.xml"/></Relationships>
</file>

<file path=ppt/notesSlides/_rels/notesSlide4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8.xml"/></Relationships>
</file>

<file path=ppt/notesSlides/_rels/notesSlide4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9.xml"/></Relationships>
</file>

<file path=ppt/notesSlides/_rels/notesSlide4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0.xml"/></Relationships>
</file>

<file path=ppt/notesSlides/_rels/notesSlide4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1.xml"/></Relationships>
</file>

<file path=ppt/notesSlides/_rels/notesSlide4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2.xml"/></Relationships>
</file>

<file path=ppt/notesSlides/_rels/notesSlide4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3.xml"/></Relationships>
</file>

<file path=ppt/notesSlides/_rels/notesSlide4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4.xml"/></Relationships>
</file>

<file path=ppt/notesSlides/_rels/notesSlide4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5.xml"/></Relationships>
</file>

<file path=ppt/notesSlides/_rels/notesSlide4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6.xml"/></Relationships>
</file>

<file path=ppt/notesSlides/_rels/notesSlide4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7.xml"/></Relationships>
</file>

<file path=ppt/notesSlides/_rels/notesSlide4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8.xml"/></Relationships>
</file>

<file path=ppt/notesSlides/_rels/notesSlide4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9.xml"/></Relationships>
</file>

<file path=ppt/notesSlides/_rels/notesSlide4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0.xml"/></Relationships>
</file>

<file path=ppt/notesSlides/_rels/notesSlide4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4C4AF9-F8A0-4E5A-9B2A-63DA0932590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29565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84CF65-BB11-3A3D-21DC-7529C28E7B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4AF2559-8D84-6E56-3BF8-F10EA6C3B8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F277859-DD9A-291B-29E6-3C3352AE84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68253E-3D0A-5FBB-0AA4-3242CADA8C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4C4AF9-F8A0-4E5A-9B2A-63DA0932590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57858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4C4AF9-F8A0-4E5A-9B2A-63DA09325906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36517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CDF214-F16C-6680-DC73-185B3C3B60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782297-6B17-B6C4-23D6-5FF99ECCF9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84B8A9-3CC0-E561-8E5C-F75AD479CA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C1B48F-E2AA-ABA2-A02B-39C7C7DA1E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4C4AF9-F8A0-4E5A-9B2A-63DA09325906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52500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3A83E2-97C6-26B5-711A-1B6363680B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3A71DE-CBD9-52AE-1EF5-D685819955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9E08BBA-18B1-6B1B-41EA-2E615DA32A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9B283E-C7EB-FDA3-C76A-E67D782DBA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4C4AF9-F8A0-4E5A-9B2A-63DA09325906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7778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FFB88C-012E-4339-4F53-611C4A1E74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F2EC62-C943-A720-EBAE-C27CB68FF9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52A49A-1D1A-607C-793C-F63B96CC58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56DEE8-1263-4D13-0937-631DDC6381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4C4AF9-F8A0-4E5A-9B2A-63DA09325906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95297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5DBEF2-2082-A931-4D86-35FDB82D70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FAD493-3476-EDB5-106C-0ACE3CC655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12D5E57-3246-53D1-2029-3ED9020206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4C3FEA-7CF9-FCF1-3D73-EA3D6D56B2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4C4AF9-F8A0-4E5A-9B2A-63DA09325906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429355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02265D-B53B-C236-5435-04DEB8ADF4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728E4AF-EC8C-4746-9F54-4F83B47C50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469C23-A3E7-C39E-83E5-853B26DC04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94BF47-D0C3-C38E-9F46-E5BB98C32F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4C4AF9-F8A0-4E5A-9B2A-63DA09325906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02335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A7A5A7-B5E6-F2CC-69D5-991C1CEDDF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4245F5-46D9-8DAE-F389-7F5C0CF86C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FF064A-257B-887C-6C4A-B5A4D0E53A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FC82C7-6775-F96C-102A-FAA0DC5DA0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4C4AF9-F8A0-4E5A-9B2A-63DA09325906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782672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A7F344-DA67-206B-540E-46E5641947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AAF1DC-7892-569C-4281-5029C4D25C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3BFA5D-76C9-F179-5860-B506939C78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229680-4D91-A11C-5A43-20D348A658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4C4AF9-F8A0-4E5A-9B2A-63DA09325906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299908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26D973-24ED-D8BE-62BE-53FF2E125F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C102007-47F6-CD53-6929-5E41F1C410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C3A3DFE-942C-D8FA-0AC0-9A70F66412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41B8B1-9A21-2E53-1B4E-86EAA58A23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4C4AF9-F8A0-4E5A-9B2A-63DA09325906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348765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CEA40B-BCE2-E287-41E1-E2D6E71373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2F543F9-3F26-9E30-9C1F-05D49D1B5A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A01C07-63B8-9830-D1EB-C928C5FED9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CDBB1A-D451-A5CF-CCF2-FDA9FA777B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4C4AF9-F8A0-4E5A-9B2A-63DA09325906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83446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E1ADC8-19EA-C6A3-7FF8-E0FF9D7437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07D5F2-F2FD-F22B-225E-7927FB6341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3AC6563-FDCC-2317-F6FD-D1525BF9CF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D78EA2-778F-9196-A854-E86AFB3C4D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4C4AF9-F8A0-4E5A-9B2A-63DA09325906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046197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E7BDEB-86A1-55E2-1296-43BB154014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3EC5DE-227C-921F-F0E8-E0C3D7C16F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DEA6197-71A4-708E-3D93-B69568883B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18C3EB-F27C-9075-4FCF-E278463CCF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4C4AF9-F8A0-4E5A-9B2A-63DA09325906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689086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3FB962-6C3B-1497-58B4-E00E690AC7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D9DBA2-AAF8-5332-FADD-607D0B7684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9BA0CA-955A-6411-BE1F-9D72452F19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E0C9FD-01BF-9806-8014-966CE29B2B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4C4AF9-F8A0-4E5A-9B2A-63DA09325906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50950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6944D6-8D71-076A-EA21-4890C8D2D3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9C4D2C0-76B1-410E-ACA1-32B41B6EB1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E91621-B615-6BFC-8CF2-6EE6270861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773F29-D2BC-587C-18F2-705A11FA9C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4C4AF9-F8A0-4E5A-9B2A-63DA09325906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823775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F7D2F5-C196-EA60-5FEF-60A8396611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C11F7A-1394-2994-36E6-298F077288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12E5284-AAF9-F576-5F0A-DB048B8471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952FAF-B87D-72BE-1364-70157B816D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4C4AF9-F8A0-4E5A-9B2A-63DA09325906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329274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9E17D8-7589-C551-9148-8692279372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8342C7-280F-B71B-3741-C037FE53B7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32CF805-BAE7-2E1B-8478-C6FE707A09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BC24AD-5227-ACCE-E91C-93C4201FBD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4C4AF9-F8A0-4E5A-9B2A-63DA09325906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23383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E46370-FF39-3CE4-8008-BC9AFBED41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A49505-B404-C57A-8F63-17725AF660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0D540B3-1DB9-D859-581A-E5FF0EC073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C418EC-7E94-7D17-B709-2E0EBE90E8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4C4AF9-F8A0-4E5A-9B2A-63DA09325906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114103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4755D4-9064-E84A-2E06-43813BDB1F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2EE191-9C04-984B-6BE9-F26D0689EC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623A8E-5FF5-0ED3-0A1A-B1ED25FE52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E1CE1A-106F-C201-E302-E47AAA0141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4C4AF9-F8A0-4E5A-9B2A-63DA09325906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887987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14DA4E-306F-A5D0-1F86-3060632424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EB90EA-FBC6-7360-F127-A2AD679A0D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5CF1BA-229E-819A-7391-1B555A7391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F99BED-82F7-F18F-A2BF-49B6A5A9D2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4C4AF9-F8A0-4E5A-9B2A-63DA09325906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12002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C81354-0232-A692-0802-48793A05B3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4631ED-0E61-D4BC-64D2-AB05419649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C7267E-CBAD-FC45-7488-6436C352F5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3FAE99-2F75-7B65-7783-AAADD0F966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4C4AF9-F8A0-4E5A-9B2A-63DA09325906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86070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A9C175-FDEB-7153-7C21-77736BB137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B719294-EB0C-F0A8-CCB7-4C4D758F83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FE0834C-8B3E-6476-B487-B173AE59EF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1126CE-4FFA-8471-A71E-EC863C7428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4C4AF9-F8A0-4E5A-9B2A-63DA09325906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921041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795834-C92E-CAA5-2EE3-CAF6CFF87B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CF6C48-71DC-9AC1-FD99-386F4B3AA1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9A4A02-9053-A074-94CE-318A3CBA42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569537-462E-A023-EADA-DCD12FD201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4C4AF9-F8A0-4E5A-9B2A-63DA09325906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507892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3185BB-2047-EAEE-64A3-C34656E6E8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F051AB-A841-13FC-69A1-F1C2FC2AD2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6B2AA9-770A-5B07-3C8E-F46FAC69CF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201185-8F6F-A907-3B66-B022AAD84F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4C4AF9-F8A0-4E5A-9B2A-63DA09325906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55484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BC1136-AF61-7FB2-7648-63AFD395CC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9339C3-6E2C-88A0-E1AB-E653B39CED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A144CA-AD1A-B4B9-AF0A-231DB0D1BC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21B053-7577-DAA6-B70A-2765AB4437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4C4AF9-F8A0-4E5A-9B2A-63DA09325906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233055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7D8944-3CB7-F6ED-F9B0-26E4CA643C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0DC238-057C-EB62-BBDD-4C43DBE088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EB3E10-08D3-C5F0-1062-6C99663C03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CF7B3C-5133-BAD8-A23D-688331AA93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4C4AF9-F8A0-4E5A-9B2A-63DA09325906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422427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17C490-5268-EF91-029E-A8DE5DA71A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85B63F-F0AE-B6A5-5AAC-F0D0BFE276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935427-B0EB-3659-01EB-DAEF6A5B6F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03B90C-9572-2AAE-EACF-26078DDC5E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4C4AF9-F8A0-4E5A-9B2A-63DA09325906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44212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297B73-E6E7-104D-A6FD-6815637A75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656373-B1C9-CBA6-E263-40AA85CD9F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BC3B08-F374-152A-56FB-59BDF89306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9D0C55-3DFB-2066-E9A5-5923E3E34D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4C4AF9-F8A0-4E5A-9B2A-63DA09325906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04148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44007B-2719-A8EB-6267-B161CEB310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18A553-E52D-06DA-54FF-7810B818FA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31805B-45FA-6730-B73D-F3FCC313CD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BCE27E-6059-20EB-ACD0-824FDEBA65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4C4AF9-F8A0-4E5A-9B2A-63DA09325906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843911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E35EEC-C2DA-974E-BA78-DF813AE781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510A67-6ABD-D829-A925-64DE1BE24B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7DC2C1D-9C54-7EF9-BEFF-86DAD1A330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9229E6-1BD8-1AB6-CA71-AF24F09C65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4C4AF9-F8A0-4E5A-9B2A-63DA09325906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961774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A78089-E971-B898-D9E4-EFEEA82F6B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8D2D50-9E44-B2E1-CD60-014337B4FE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E048A2-A7D1-7304-8506-41E89BDE80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86C769-3B93-626C-19A0-41F9837CE4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4C4AF9-F8A0-4E5A-9B2A-63DA09325906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286900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73BC0E-DD21-523C-8261-C33473FF9C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623957-D071-4CE0-59B2-F9CE1EBFCF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E9A8984-CEF1-DDAA-546B-08F560B054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974F14-5C7E-FAA5-C405-CB36916359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4C4AF9-F8A0-4E5A-9B2A-63DA09325906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669657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B9C956-9C2B-A22D-47DD-CAEB33802F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A8CDC3-BC4A-69C6-CBA4-DD10672B2B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9C480AD-BBE4-D48D-1793-9E71A33893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DF7AC5-5AE0-11B7-2B77-F2DD8502D9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4C4AF9-F8A0-4E5A-9B2A-63DA09325906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55857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4273F2-18EB-FA2D-411C-FE1D90E2CD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31A7B11-4475-E49F-D42B-D9E7A174F0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03D094-5551-384B-94F5-22FAA92034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3910D4-E301-2A21-45FF-9C13291D71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4C4AF9-F8A0-4E5A-9B2A-63DA09325906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9012670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76AC65-2E43-EB77-4EA9-283856583D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4EC5815-D8D2-CE66-DA1B-00C50EACA3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5193320-1209-EE9E-1055-CBF93DD3FE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DFE50A-C21C-DAF8-56D8-CF2266E7C0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4C4AF9-F8A0-4E5A-9B2A-63DA09325906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397046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594DFA-332B-EB8B-D6C4-37388DC854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44063A-641F-ADF9-3FBB-5322CADEA0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BBB285-53BC-A33E-C519-37879B23D4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63CCBB-0372-3FDB-9F70-F664980DCB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4C4AF9-F8A0-4E5A-9B2A-63DA09325906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8664188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135B87-7A4E-D7D0-4852-0D39DB1DE7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D223EB-6D03-04F9-7A5B-2E74742AA8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9D5A848-5C4A-2278-C37B-D6AEC7681B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C24C89-97B4-018F-71DD-2241E35F33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4C4AF9-F8A0-4E5A-9B2A-63DA09325906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1458122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4F7E50-9E5F-6124-0B34-F0B47C5739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CDEB88-44D7-29E2-2D12-71213C04BF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2FBD70-68FF-B575-6743-F483D5D456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11C730-B275-2113-9F6E-73908D97A7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4C4AF9-F8A0-4E5A-9B2A-63DA09325906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7992787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5E26E7-AC0E-0781-AB64-09FDF173ED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F306AF-F8CA-B06E-3580-266110C3FB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40C1C2-E93B-8F13-7BC3-6426DE3DA8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B653E6-0417-1BCA-FED8-535F6A5F21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4C4AF9-F8A0-4E5A-9B2A-63DA09325906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5701393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0345A2-D8C0-E712-4DBF-0186D36538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D4CE4C-7E0F-2AA2-EC87-916FA8F708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810E67-DF33-7A22-5C63-730AD04090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3CCE4D-14D6-B49A-3871-88CC3C556E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4C4AF9-F8A0-4E5A-9B2A-63DA09325906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1217929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F7A3BF-1804-8D75-1CEC-83F33D9AFD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014A668-6632-1DAE-8CB9-E5A3161BD6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766CE0-58C1-FEC2-388E-ABAFC2810C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AD05D3-9EA9-B87F-417A-8D6DA082CB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4C4AF9-F8A0-4E5A-9B2A-63DA09325906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6949548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C736F1-60D4-3A38-3F28-A15E03E083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44FA6CB-2B07-BC80-93E1-1E80CB97C0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E29358-31AF-358D-99C4-8E1CCA850B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7F7463-A653-2471-BD97-D74799D098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4C4AF9-F8A0-4E5A-9B2A-63DA09325906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8534067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DC1D83-9320-09AC-AE33-6E2C666129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0F9351-AC18-7C01-E7BB-07B07290DC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822A04-F7A6-4C8B-DBC0-6A6831A06B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D98E9-E2AB-094C-AD83-1654E4A4E4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4C4AF9-F8A0-4E5A-9B2A-63DA09325906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260323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ECE6A5-49AF-82E1-47C3-06CFAF250A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B5D7DE-0B45-8CE1-AC5F-9C7FA59A88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E924C5-266A-CEAB-2C47-E147BDDECB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2AC728-C00B-F36C-7358-2D81A83C3E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4C4AF9-F8A0-4E5A-9B2A-63DA09325906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3463030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F51CEF-31A5-192A-E00E-7DA5BCF33F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A681C0-0A76-251B-C18F-5173797706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F5D582A-57CC-40AB-FDCD-57B2761A17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3DCE97-0D8A-AEFA-5CEE-16B4D64AB8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4C4AF9-F8A0-4E5A-9B2A-63DA09325906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9615149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4300D9-183B-ACFD-460B-901558DCAF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72A5B0-9722-801F-F8DC-5E9C612FEC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E70375C-30D7-FA2A-CC11-91352C746C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448967-C856-3345-0164-E25DB04193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4C4AF9-F8A0-4E5A-9B2A-63DA09325906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4963096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E20B1E-2C8B-D614-77E7-95169D5E5F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37F164-0EE4-B86F-9C7E-7098040B5E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C598E3-1ED2-A759-484D-AD1BD1D990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1E7266-9634-23C6-7903-2627DD6FC1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4C4AF9-F8A0-4E5A-9B2A-63DA09325906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1649460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6152DE-0B2D-482F-3C8D-08F113D0D6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C00771-F06E-1D78-5B87-BC816862B7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1FA293-AEA2-89CA-B9C2-087AF96116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12D86B-8C5C-77B4-FFBD-795412BAFE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4C4AF9-F8A0-4E5A-9B2A-63DA09325906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8249072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8A880E-843D-D15C-1FCC-2C109F27E9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6247C4-0BFE-920B-E56E-82F4855223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609028-9336-8A88-5053-16EF2942E1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C15275-2C18-57CA-85B6-AF03021A7A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4C4AF9-F8A0-4E5A-9B2A-63DA09325906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5162444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BE735D-1B7E-5B19-2C08-3705C022EC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1E8673-406C-B7AB-4651-9350A5AA31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4F2573A-EEF8-401B-B2A5-8648BE0699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3605F2-CFA4-F9A5-7E81-636AE5C5B4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4C4AF9-F8A0-4E5A-9B2A-63DA09325906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4503116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2424C9-5FB7-09A7-DA62-DD0EB1EE85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4AD9B5-7EDD-E48C-1A86-A39F8465F8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9F520D-D82A-18DF-3D3C-2681B75A66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FCEC44-9113-57B0-B701-D421B9F549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4C4AF9-F8A0-4E5A-9B2A-63DA09325906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4263634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558207-C06D-619C-F9F4-C062A203C6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D8EFBB-1722-5EF0-3209-841169AD1F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9DD128-B853-DF2B-CDF7-9AAE98A8D7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3F59B2-1556-2106-4815-72D8A578B9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4C4AF9-F8A0-4E5A-9B2A-63DA09325906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6326163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E1F22A-942B-7A6B-1A17-7BF521016E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D209F9-2783-ED5D-71D9-2D63AF9AEE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86F7D1-864D-DD02-B437-3AD47906CD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260CD2-2731-CE89-1717-E9ABC239B3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4C4AF9-F8A0-4E5A-9B2A-63DA09325906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9187283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6D65B0-4FEB-5D9B-5177-CD908D75DE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6DD7A0-94C1-E7CE-7C21-70D15C6C5D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72CA6E-F71A-0ADC-A65D-EA07490759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2EDA69-EE7C-7B12-ED62-F95C9F307A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4C4AF9-F8A0-4E5A-9B2A-63DA09325906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6849173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E2C0B1-79BB-BC42-2766-2AD0219745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84F14A-C64F-BD1D-C1BA-6ABF7F658B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766254-12B0-873C-1818-A2C18676E8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832E83-4C92-66F4-3852-B068C0FACA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4C4AF9-F8A0-4E5A-9B2A-63DA09325906}" type="slidenum">
              <a:rPr lang="en-US" smtClean="0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3833988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5702E8-0796-177D-919C-35EB35BBF2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73C8BD-9A3D-075F-EE5E-08C2221A2F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921D4B-751E-8F2F-B84A-7FFC54D345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1162A4-B036-1645-7FBF-71865E9287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4C4AF9-F8A0-4E5A-9B2A-63DA09325906}" type="slidenum">
              <a:rPr lang="en-US" smtClean="0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5310168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616441-1ED0-53FF-F143-C79894C758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8620757-D82B-24B5-C953-C971B88A1D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D789EE-3DC8-6098-C962-71492FFAA2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72BE60-A6D9-11DF-1254-5BA06A84B5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4C4AF9-F8A0-4E5A-9B2A-63DA09325906}" type="slidenum">
              <a:rPr lang="en-US" smtClean="0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7859385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244159-CB72-3118-F440-BF94CB5F2E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CD50CB-A5FF-1488-D386-EDBB7274B3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9F3474-45DC-787F-6AB7-183D46788C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932D7E-FFD2-803F-78C8-D93E06E076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4C4AF9-F8A0-4E5A-9B2A-63DA09325906}" type="slidenum">
              <a:rPr lang="en-US" smtClean="0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6293815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95FE70-21DC-2151-F32B-DDF989416C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C67A04-7963-0039-0F42-E09F5BB81F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1B6019-226A-0B51-30B8-4B199B0E65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A0F53F-60D8-5A98-C146-8A56354F0E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4C4AF9-F8A0-4E5A-9B2A-63DA09325906}" type="slidenum">
              <a:rPr lang="en-US" smtClean="0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321850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C0E27B-B6A8-A866-FD6C-522F91EDAC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4E9F51F-BBE1-3627-F6F2-0D851AA347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002AAB-16EB-861E-630F-B3B321CDE5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17EDBF-1F9F-92F0-EA3A-EF428A7E2B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4C4AF9-F8A0-4E5A-9B2A-63DA09325906}" type="slidenum">
              <a:rPr lang="en-US" smtClean="0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9345044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4AA7AE-83FA-CD96-4133-E96718F557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6758F9-48BD-C497-A283-36FF7C2CAD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582C1E-423C-AC96-DB53-F8EE2B47E6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321ACD-5071-D390-1CA5-64A384C227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4C4AF9-F8A0-4E5A-9B2A-63DA09325906}" type="slidenum">
              <a:rPr lang="en-US" smtClean="0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9867268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195DA8-DB0F-644D-6DA0-CD00047336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499BC36-6CA8-F84F-FB77-CE33744E17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D37C23-91B2-62CF-3FB2-80423CF9A3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C5A561-5D35-1BE8-FC23-B390C8CA31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4C4AF9-F8A0-4E5A-9B2A-63DA09325906}" type="slidenum">
              <a:rPr lang="en-US" smtClean="0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9956277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0524BF-6AA2-8FD8-4A44-272F1E0CD4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BAEBE01-CAD8-8A8C-599B-F8B639C155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7142613-2F0E-3C05-0CDD-40467B5743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901C03-555E-C539-B1DA-FEAADD7D92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4C4AF9-F8A0-4E5A-9B2A-63DA09325906}" type="slidenum">
              <a:rPr lang="en-US" smtClean="0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459696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401365-2D3A-1870-F9CC-221046687B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98C228-E472-36DF-1534-174B0BAC24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511ACF-2FA9-8B31-29D4-22A025009F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092E45-7BB1-ED1F-BBAD-FC3FB245AD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4C4AF9-F8A0-4E5A-9B2A-63DA09325906}" type="slidenum">
              <a:rPr lang="en-US" smtClean="0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4710560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B62F3A-0C13-4795-42EB-779FB89C85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F476A0B-BAC2-0583-DEE6-59E0F14CFB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9D67CD-B9D6-9003-13B5-1AB6F48B65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F93908-1895-5CF2-52BE-32C2BA3E80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4C4AF9-F8A0-4E5A-9B2A-63DA09325906}" type="slidenum">
              <a:rPr lang="en-US" smtClean="0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9682282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CB9A69-B055-7932-1E1C-E9E57049C6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1D83BC-F18D-10C0-9BDB-B8C39694B9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1FB0B26-25CC-DD14-6EE0-285BC183B9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6FB870-D155-B870-D343-8952B43F4A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4C4AF9-F8A0-4E5A-9B2A-63DA09325906}" type="slidenum">
              <a:rPr lang="en-US" smtClean="0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9410759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72506D-69F0-102D-F2A7-DE110F80EE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5C1C00-9B98-351D-0055-1D0DFF8FC3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FA30ECE-8F0B-4388-8E3E-EC238737C9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0C025F-DDB3-7A57-662A-7FD251EBF4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4C4AF9-F8A0-4E5A-9B2A-63DA09325906}" type="slidenum">
              <a:rPr lang="en-US" smtClean="0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3035454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5DBD23-61EA-0DFB-68C7-D4F2A2C895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B6D2BA-C368-6F9D-14E8-EFEBC852A7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58E4F9-8AEC-3D80-EA00-B0A1F1B86E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778D24-4A4C-022E-0BD8-4D674AB942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4C4AF9-F8A0-4E5A-9B2A-63DA09325906}" type="slidenum">
              <a:rPr lang="en-US" smtClean="0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9253092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DAB732-20A7-57E0-6FC7-0B97F71B1E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7733105-04CC-398F-4E57-4857219F77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0B9F07B-63AA-D72E-939C-F6576CE114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55F1E9-D9BA-7DDA-3F86-3A7E9B5383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4C4AF9-F8A0-4E5A-9B2A-63DA09325906}" type="slidenum">
              <a:rPr lang="en-US" smtClean="0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6293006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788C78-6728-2041-6766-1A2C38DE83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34EE03-1F17-2C7D-4A46-0EE31D7EE6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AF9F6E-8B8C-3A3A-02F8-A59CFA6877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07616C-BBDB-10BB-5DB1-5B81AA688C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4C4AF9-F8A0-4E5A-9B2A-63DA09325906}" type="slidenum">
              <a:rPr lang="en-US" smtClean="0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247776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0EC7B6-6FC4-4656-C4BE-E85B010CEA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D62862-FB10-375F-DC8D-8CDBA07FCD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1C348C-3518-0A3B-CEE6-9329F25CBB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ECC537-4A4A-1C73-F92E-DB48578E16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4C4AF9-F8A0-4E5A-9B2A-63DA09325906}" type="slidenum">
              <a:rPr lang="en-US" smtClean="0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9974544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B7553B-B7B9-25C4-06E9-C6136F2827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E96319F-9CB3-9F43-25D2-C3666E541E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48FE940-A6E4-D371-9E0D-8E61791303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EED2E8-CCAF-2C4E-ED19-7F19C79DA2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4C4AF9-F8A0-4E5A-9B2A-63DA09325906}" type="slidenum">
              <a:rPr lang="en-US" smtClean="0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6110508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DA63B0-570E-4061-7AAC-370E4E9379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0A36B82-AB16-0D81-F5D4-B24D6D58C4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A55E0E-6CC7-BAFC-C051-1E01155835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DD6086-F3A5-CE7E-89ED-50ADEA52B5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4C4AF9-F8A0-4E5A-9B2A-63DA09325906}" type="slidenum">
              <a:rPr lang="en-US" smtClean="0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2619534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DC5EFF-9F44-3F9B-42B5-8196B7D372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F21259-CEC5-44AB-6967-C2AEAF0543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4C4094B-7A3A-9F81-0AC7-CF52A107C2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4B1BA8-ECC0-29B9-8514-2917488BA3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4C4AF9-F8A0-4E5A-9B2A-63DA09325906}" type="slidenum">
              <a:rPr lang="en-US" smtClean="0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3323525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6B12BF-CF14-FFFF-5EE1-BB27AEFB36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26E81F1-CF1F-5A6E-5A2E-534E84FEF9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DCD25E7-030B-BADB-1AD2-0FF34D0E66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AAEF5-EDFF-3E5F-2A52-BABE78AEED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4C4AF9-F8A0-4E5A-9B2A-63DA09325906}" type="slidenum">
              <a:rPr lang="en-US" smtClean="0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1414970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BD3875-F305-838D-31C9-0FE36ED24F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ED84699-B465-0FA6-E8B9-1D1E6231D9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F9777E-6257-4170-6676-DB90415810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843916-F33A-899A-F746-570A74A63D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4C4AF9-F8A0-4E5A-9B2A-63DA09325906}" type="slidenum">
              <a:rPr lang="en-US" smtClean="0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404227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D22694-1B5A-2116-8FA8-1F56965973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F11B28-4DFF-A8A2-E866-DD66B20490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4D4CC6-9FB2-E4F1-549E-0FEE9615F4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C3D56A-33DD-E0F3-F940-B961406C72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4C4AF9-F8A0-4E5A-9B2A-63DA09325906}" type="slidenum">
              <a:rPr lang="en-US" smtClean="0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9536443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73ECE7-88FF-DF20-2FBE-3DCB6CEFBC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067F89C-4AB1-B78B-3509-5EDB09A9D0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5C1EAA-4197-5F00-272A-ABB9DD4EA4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D47BB6-A431-5B15-234C-1F948E4122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4C4AF9-F8A0-4E5A-9B2A-63DA09325906}" type="slidenum">
              <a:rPr lang="en-US" smtClean="0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342902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22D65B-406F-272B-930A-13D54F817A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AAA26FC-2EAF-E7FA-7063-30A022B63C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9E4D62E-1FBD-EC38-5E5D-E67E34AAA9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4CFA0E-75A2-804C-EBF7-769FF520EB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4C4AF9-F8A0-4E5A-9B2A-63DA09325906}" type="slidenum">
              <a:rPr lang="en-US" smtClean="0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2479838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DD98C8-DC07-B6CA-5E78-37AAB97C48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CB4D4B-9A4B-458C-64F9-933F911EC8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50C3A3-810A-F1DE-FBE1-B01F20C1AD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BFF7F3-16F0-165D-EC0A-EBE1F5C46A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4C4AF9-F8A0-4E5A-9B2A-63DA09325906}" type="slidenum">
              <a:rPr lang="en-US" smtClean="0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406599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1207ED-172F-4EFA-FF0A-55A22AF404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CA13E9-389A-1A91-02B0-580B11A11D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CE48B1-648D-1AF2-6612-7E46FC3B4E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8BDAFD-A674-A1A3-0A3D-891588A3A1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C4AF9-F8A0-4E5A-9B2A-63DA093259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71310679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D82CAE-67B7-2DA8-9AEC-B9D6F2AF25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3818A51-7E1C-A5AC-D84F-8BED0B222C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141806-16B4-17D9-F02A-964B751F80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DC5DC3-6E92-D9B8-3030-4795B1CFAE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C4AF9-F8A0-4E5A-9B2A-63DA093259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9685805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79E77D-552C-3A2A-D142-2D64171F12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A976F47-ABAD-FA5E-2EC2-C584E2781D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700079-C99C-3FA1-F5A7-18EBC5B65C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48DA62-B086-A745-9BDB-1378DC2A39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C4AF9-F8A0-4E5A-9B2A-63DA093259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453740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F99CCA-B893-22D0-2863-0220033AAB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003AC1-D0DA-8201-6180-98427D4BA2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845F92-465A-AE2E-38E7-D1204277A6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CE8EB7-4F8E-7F30-88E8-3FFB9E4295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4C4AF9-F8A0-4E5A-9B2A-63DA09325906}" type="slidenum">
              <a:rPr lang="en-US" smtClean="0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12535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D85714-FB27-B295-A8AA-9625E088E5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5EC769-00B4-CF7E-5C54-2AFAB5C4B8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4792A99-ED89-F156-148B-3419EC93F8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D78C75-39E0-3D73-E826-B595E6404F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4C4AF9-F8A0-4E5A-9B2A-63DA09325906}" type="slidenum">
              <a:rPr lang="en-US" smtClean="0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1792082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8B92A6-C43E-5454-4BA1-1BCCA06E43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8B1CA6-C704-8682-FA88-0B81C685D8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CFCF92-1FA9-B172-589D-694BADDB19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E45C98-9297-F56D-0CC2-FCA065B976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4C4AF9-F8A0-4E5A-9B2A-63DA09325906}" type="slidenum">
              <a:rPr lang="en-US" smtClean="0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2914930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5DBD17-73C1-7731-C64A-FB2D5F8216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BDA725D-A10A-1881-19C3-EC7E4871B9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1DBC6A-C9B2-522D-017C-71C9B61D96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2B14D5-124B-2942-3716-C2DDF33C2B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4C4AF9-F8A0-4E5A-9B2A-63DA09325906}" type="slidenum">
              <a:rPr lang="en-US" smtClean="0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8310932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9176CF-24F4-E02F-458A-1ACF0D1F77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EC494F5-3B09-CB95-0B22-75A78C7CC4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DCEE1F-A2CD-4A80-F5F6-4ECE518FDE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24B2F0-3979-C5A0-33CF-F0A7CF95A9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4C4AF9-F8A0-4E5A-9B2A-63DA09325906}" type="slidenum">
              <a:rPr lang="en-US" smtClean="0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803593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8BA420-DBBB-A555-7FE4-CCE54F75A6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7A6BC1F-BB0B-50B5-6AE3-7D5C76819A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9AA145F-C93D-9150-7338-35E6113BF5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2A6A7D-9348-C9CA-837F-4D7082819D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4C4AF9-F8A0-4E5A-9B2A-63DA09325906}" type="slidenum">
              <a:rPr lang="en-US" smtClean="0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733198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64E3BD-7E3E-EB90-2AB6-5F65E9FCCF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CA956D5-53F1-B33A-EC12-57A400F361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363E9D0-49B2-F44D-AC4D-8D744588C4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84CECD-6058-A46A-1CA9-61BB35E61F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4C4AF9-F8A0-4E5A-9B2A-63DA09325906}" type="slidenum">
              <a:rPr lang="en-US" smtClean="0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092592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7F75B2-7525-0AEE-E0CC-CF1A57189E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6D2909-1A0E-6040-6AB2-D01B3D72ED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A8E2DE-C214-80E9-E3CC-5C08A59FDA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9068C5-6E1E-D68B-2930-63A55AE51F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4C4AF9-F8A0-4E5A-9B2A-63DA09325906}" type="slidenum">
              <a:rPr lang="en-US" smtClean="0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2622297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CD7F8E-7802-AF93-46E2-DA91499EBB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75D3FC-B247-2CF9-7D3A-15FD4B59FF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5EB940-B93B-C4DB-FF6B-91005ECADB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03DF7A-5860-35D7-F353-52CCDF0A3B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4C4AF9-F8A0-4E5A-9B2A-63DA09325906}" type="slidenum">
              <a:rPr lang="en-US" smtClean="0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6405947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DB4B8C-B1F3-B50B-8290-92E893E2B6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A9ECF8-5D3B-C114-0CB7-251A50EE72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970A40-364A-2693-B353-90D646ABD7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4374B1-FE16-6EFB-9747-BBB47F07CF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4C4AF9-F8A0-4E5A-9B2A-63DA09325906}" type="slidenum">
              <a:rPr lang="en-US" smtClean="0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9944002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8C5EBC-80F0-D1CF-DAF8-4F6C18C272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380549-F92F-8F2D-D3AE-5134D73425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DC4C75-14CD-8E94-0E0C-CD1C3F269A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63F543-0449-A9C7-E438-541E07CCBF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C4AF9-F8A0-4E5A-9B2A-63DA093259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64268992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05B8F7-FE75-EC7B-E8FA-69FF3D4FAE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827A4A0-6904-E4AD-807A-57DF23AE5E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765459-042C-5D47-04EB-16E3245BBE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653523-14F4-DFEF-FA03-567897179C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4C4AF9-F8A0-4E5A-9B2A-63DA09325906}" type="slidenum">
              <a:rPr lang="en-US" smtClean="0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6246349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D759B9-94AC-2040-5184-C64276F2E4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7AD5B1-3E52-8648-72C8-C42EA6FD16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3347AB9-81D7-0137-2CEF-C0C387444E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ED156E-D317-43A1-338C-C99BE3E81E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4C4AF9-F8A0-4E5A-9B2A-63DA09325906}" type="slidenum">
              <a:rPr lang="en-US" smtClean="0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8538694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E6A8F3-F441-DF45-9AC6-005B84239C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F1FA09-5F53-FEF0-67F9-F75169FC3B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B0EA463-79AC-6986-E68D-EE4E9B4B69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D364A0-3757-2464-6B42-5F09C63349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4C4AF9-F8A0-4E5A-9B2A-63DA09325906}" type="slidenum">
              <a:rPr lang="en-US" smtClean="0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4846483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395E02-90CA-BCE2-9FA3-74677DB958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2E5D06-AEE5-BB4E-AE53-F95476609B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6A3B506-A941-732D-EC6E-EFB6DE4609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67BD01-87E5-5BBC-629A-E8D151AD24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4C4AF9-F8A0-4E5A-9B2A-63DA09325906}" type="slidenum">
              <a:rPr lang="en-US" smtClean="0"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2012204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A4C919-67EE-4E88-118A-7FD712A29D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E43B9B-1265-E146-2ABD-79F944DAE3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1FA425-D42B-920B-30B8-D976E43C89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46352A-F448-2E69-9695-30FEA4CE00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4C4AF9-F8A0-4E5A-9B2A-63DA09325906}" type="slidenum">
              <a:rPr lang="en-US" smtClean="0"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30450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16F4FC-E34D-8052-4CFA-299D26AA8B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8C6DA6-1896-CFEB-E6F4-0BCB27A20C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65A66D-41B4-AE36-C952-1566A3E4EE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A34EE0-F81C-C1AD-A74F-3DD92EDF38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4C4AF9-F8A0-4E5A-9B2A-63DA09325906}" type="slidenum">
              <a:rPr lang="en-US" smtClean="0"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3966059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E05396-98D8-3E0A-D297-8037F16365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369EB9-3DEF-8ECE-6F7E-8808EA36A2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BE8ECA8-5F98-6F28-659C-3586D52300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079C30-595C-008D-7DCD-CC0EAEC6F7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4C4AF9-F8A0-4E5A-9B2A-63DA09325906}" type="slidenum">
              <a:rPr lang="en-US" smtClean="0"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8631982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37B6CB-6834-3AA7-8E7B-AA7DEE4CD7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34FA66A-1869-1D60-17A8-F942EF3931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6377FA-B267-3403-8983-2441A4A740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27C31C-3967-EB1A-7A40-8D8406B1A9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C4AF9-F8A0-4E5A-9B2A-63DA093259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92625639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DB2B52-EA87-B5E3-F257-F065C60836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F8E489-14B7-3D2D-0EEE-B9305B24EE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D23D6BD-4664-99C4-0C84-487DB174C8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784AB1-958A-44CD-B6A3-EA1F533F6B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4C4AF9-F8A0-4E5A-9B2A-63DA09325906}" type="slidenum">
              <a:rPr lang="en-US" smtClean="0"/>
              <a:t>112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2392308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AE3D2A-2CF3-F628-290A-D94EADB9BD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D16B02-EBEF-1649-62CC-31BE4DA266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EF2DB9-A20D-34AD-370C-A3B5D7CBED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1F8A17-0335-635E-8D0B-8251BECB36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4C4AF9-F8A0-4E5A-9B2A-63DA09325906}" type="slidenum">
              <a:rPr lang="en-US" smtClean="0"/>
              <a:t>113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2698194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007A40-33E8-6185-269D-CAF2E1DA7A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9D7FB6-8625-4081-7624-EFEE32C8D3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9728A2-F120-6F1A-1DCE-5A2540BF63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A814D0-663E-1882-7257-FEC711D2B6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4C4AF9-F8A0-4E5A-9B2A-63DA09325906}" type="slidenum">
              <a:rPr lang="en-US" smtClean="0"/>
              <a:t>114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372010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16C1C9-B55C-719E-2F33-669CB34BDE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8CA878B-A9E7-637B-EAFD-6637278BE5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44485A-0941-72FC-9C5C-6061E530C6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F3DF06-A5C4-47CF-62F8-77FE1DE387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4C4AF9-F8A0-4E5A-9B2A-63DA09325906}" type="slidenum">
              <a:rPr lang="en-US" smtClean="0"/>
              <a:t>115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6430534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E18C97-29CC-6FDD-0135-5E20DF9A94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6886DC-A3A4-E657-27D0-9BB8A2AB82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A14A720-F59E-A6DE-135B-23A4EC6D2C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15AB76-3B56-235D-94DD-2DB80DCF8D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4C4AF9-F8A0-4E5A-9B2A-63DA09325906}" type="slidenum">
              <a:rPr lang="en-US" smtClean="0"/>
              <a:t>116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0265984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731C4D-F841-A293-02A1-9C33B58E10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2F13D6-9654-ADE9-61A3-3F1CC78677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8F4F19-50A3-D4DA-01B4-E6BC6045F3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0E3537-3A3F-2EBE-5848-73AEB8AAC4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4C4AF9-F8A0-4E5A-9B2A-63DA09325906}" type="slidenum">
              <a:rPr lang="en-US" smtClean="0"/>
              <a:t>117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4493510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C02111-6483-06E1-EDA7-D52D4769E2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7BE1C7-A87D-8E4A-B082-7B5623E1D6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2662A2-8C9D-EEFA-C73C-FCE306A374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BDEB01-D2D2-9876-3D42-F0B18ACA18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4C4AF9-F8A0-4E5A-9B2A-63DA09325906}" type="slidenum">
              <a:rPr lang="en-US" smtClean="0"/>
              <a:t>118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7911251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BD363A-B33A-A6E5-3FD4-D8B994D51C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21E53CA-199F-2CCA-D18B-2942AA8A0C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0F3A97-8FA6-0A06-278F-BB7B3C11E2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4C7D7B-ABC6-EBD3-4422-4FFEC554BD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C4AF9-F8A0-4E5A-9B2A-63DA093259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59581835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F861BA-4477-5761-6744-3008EB37B0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B2F7FB-0579-F414-4AFE-7B88D0507C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486B9F-BCD6-0C4D-8727-92CF20EFC6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7D3C3D-287B-FC56-5F92-2A15E7F72F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4C4AF9-F8A0-4E5A-9B2A-63DA09325906}" type="slidenum">
              <a:rPr lang="en-US" smtClean="0"/>
              <a:t>120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1914673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AE10FA-5DC9-B751-E4DB-9ACCA16BC5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4112AB-D0D5-A6CF-4C5B-46CDA33F75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FB2B37-889D-B3E7-88B3-02F1D081AD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E8BEF8-E9AF-AB50-FCDA-08048BD35A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C4AF9-F8A0-4E5A-9B2A-63DA093259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51939665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02C6AD-71B1-0746-98BA-AFFAACA823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157E61-F7F7-B4E3-F584-782F5391DF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F04CC75-464B-3E96-586B-B895159FC5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B731A5-C6D5-0E4A-40B5-D455787D5D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C4AF9-F8A0-4E5A-9B2A-63DA093259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22768600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8E85F0-9295-30B6-9E6E-58E522138D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BACF04-020F-BBDB-13B0-5879EED70B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2B7CC6-9D78-6525-8221-29BCF3F7F5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5FBA4E-FFC6-8D37-95AB-6B70EC6478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4C4AF9-F8A0-4E5A-9B2A-63DA09325906}" type="slidenum">
              <a:rPr lang="en-US" smtClean="0"/>
              <a:t>123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052795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67423E-7692-B02D-F1C2-E56ABF4EB4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8971E2-3591-2158-1452-24C7D072FD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F76B5B4-E232-9781-DB1E-6CC79B0D87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6DA7E9-7FE6-4FB2-903E-B9F39352AB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4C4AF9-F8A0-4E5A-9B2A-63DA09325906}" type="slidenum">
              <a:rPr lang="en-US" smtClean="0"/>
              <a:t>124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3936877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5CFA97-DD0A-3E95-7D94-4C008D9258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42B0CA1-3513-817D-963C-0A85F26D40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F598FB-B72F-57DD-DBFF-99B255D7FB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1A7093-454F-1424-F852-35EAEB303B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4C4AF9-F8A0-4E5A-9B2A-63DA09325906}" type="slidenum">
              <a:rPr lang="en-US" smtClean="0"/>
              <a:t>125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3419760"/>
      </p:ext>
    </p:extLst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319564-D970-9202-6770-C229272D50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CB4A00-E9BC-62E4-FA62-573B1EA6D9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CD51764-A378-4547-9FC7-66BB3E3627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2864C5-C3B7-648E-9943-90ED638652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4C4AF9-F8A0-4E5A-9B2A-63DA09325906}" type="slidenum">
              <a:rPr lang="en-US" smtClean="0"/>
              <a:t>126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7426398"/>
      </p:ext>
    </p:extLst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AEF22E-7BF8-F4F0-5B45-1BBF9A223D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A0B75D2-B3AF-FFAF-30F7-71A97F0E0C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23DCB7-6A44-39C0-1293-69C414F378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DA14F0-D0AD-9C12-DBBD-7C13705587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4C4AF9-F8A0-4E5A-9B2A-63DA09325906}" type="slidenum">
              <a:rPr lang="en-US" smtClean="0"/>
              <a:t>127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9706215"/>
      </p:ext>
    </p:extLst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DCDB53-04C6-115A-875B-5C9A732FF1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518887-B012-9555-4E3E-5EE7A3CCC7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DFCD6E-D427-0E92-F514-52177EE6C9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225716-70F7-4ABB-D9ED-B29080268E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4C4AF9-F8A0-4E5A-9B2A-63DA09325906}" type="slidenum">
              <a:rPr lang="en-US" smtClean="0"/>
              <a:t>128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295516"/>
      </p:ext>
    </p:extLst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D3188F-BB55-AC85-B1A1-79C09CCD3D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5E7182-4808-E99D-E70E-439169A600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9076C4-D80F-50BF-D7F7-A301B56866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DE6147-299E-CFE6-BF9E-974FF32356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4C4AF9-F8A0-4E5A-9B2A-63DA09325906}" type="slidenum">
              <a:rPr lang="en-US" smtClean="0"/>
              <a:t>129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018761"/>
      </p:ext>
    </p:extLst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DD5900-BBD5-0341-37AE-E7D60331BC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A3F286-714F-79ED-469B-60944286AB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FAFF243-3C5F-C9BE-B540-6BF36A5B9A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5A7DF1-E1E5-E45B-1172-3147DA9A86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C4AF9-F8A0-4E5A-9B2A-63DA093259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2956319"/>
      </p:ext>
    </p:extLst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A5AE0B-6D38-6ECD-50FF-5D1A3F8763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3908204-0578-BF19-F3B9-F09AE60A26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E4801E3-AAA2-86F2-712B-6BCFEA47F0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464775-62DC-62B2-06DA-20717BC134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C4AF9-F8A0-4E5A-9B2A-63DA093259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17948533"/>
      </p:ext>
    </p:extLst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CA7228-9E15-75B8-CDC3-97FE74C7C6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A2A9A5-7A73-D42B-B3A3-A2C17EC337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49D60D-0870-8E50-22E9-00625F57EA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883D30-181A-CFE7-1D86-AFBC746443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C4AF9-F8A0-4E5A-9B2A-63DA093259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51562834"/>
      </p:ext>
    </p:extLst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47D363-306A-780F-FB82-5C781E44E3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0CB0DC9-4AAB-B710-F0D8-FC919FAAA5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109ADB4-8B78-8115-D175-64C1B24B3E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069030-3BE5-A96D-2E16-89723EECDA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C4AF9-F8A0-4E5A-9B2A-63DA093259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09986962"/>
      </p:ext>
    </p:extLst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A9C37E-E1B9-C1B3-F2C3-A709C9DAAF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33546C-902A-727C-93DE-C6FBF1338B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465E3D-C608-54E5-E790-D5487D55E9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3D64BF-2FAB-BC92-20BA-2D88F6D879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C4AF9-F8A0-4E5A-9B2A-63DA093259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55943150"/>
      </p:ext>
    </p:extLst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93AACE-E542-F059-BFA9-E6B8E5C298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E01270-2E86-F82C-2533-654B154FD8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C20725-884D-4133-0A92-8AC798190C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3EF3B3-1877-8857-895D-D77751359E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C4AF9-F8A0-4E5A-9B2A-63DA093259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34248994"/>
      </p:ext>
    </p:extLst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D8DDD9-3CBE-8D69-A78C-A8EDC0583E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A49824-E949-5278-A6AC-E67952301C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3D3216-13E4-BAC3-A43B-B3317C43C8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1EAEA5-532B-7B4E-7555-36DD29FEAE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C4AF9-F8A0-4E5A-9B2A-63DA093259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21192498"/>
      </p:ext>
    </p:extLst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D2310B-1E3E-3E21-48B1-13B0E4FA9F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3959FA8-01D1-8CAD-66A6-B00AEB4D2C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C543FF-8A65-8224-C26E-4D3B924280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2BDD88-CB14-4F12-9FC3-736E21FE54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C4AF9-F8A0-4E5A-9B2A-63DA093259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24421631"/>
      </p:ext>
    </p:extLst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33F82E-4B5F-CE69-A4A0-595D4291F0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FBC74CD-8613-FA22-EA38-EDF68107E0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644987-9F96-3322-693E-4DEDAD81EB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8CB62A-9A15-6E00-FC15-528D089408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C4AF9-F8A0-4E5A-9B2A-63DA093259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78923260"/>
      </p:ext>
    </p:extLst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6DEBBD-EFC1-C21A-7FD7-BD378E8D95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D8E5383-8405-D99E-8ACB-F2E9E14E1E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D4D9E93-7EBE-56E0-C483-D8647D86E9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E02B37-F298-F945-1E75-750522E594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C4AF9-F8A0-4E5A-9B2A-63DA093259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09560386"/>
      </p:ext>
    </p:extLst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896EBD-6F63-EF3C-68F1-8CDCBFDEBE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0892A12-7D5C-9A5D-36F5-0B7560F648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05E329-C66A-3701-FAAD-A43DC59034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C0F2B4-6DC8-AB8D-F9A0-8EFA220560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C4AF9-F8A0-4E5A-9B2A-63DA093259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20454109"/>
      </p:ext>
    </p:extLst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1762F7-F45A-FA38-1523-99C2C6A155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3071D78-6FBF-E8DC-8B13-585CDCF3B5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F67A15-488D-BC0B-DD78-6A604F5F02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C316E5-260D-7D09-26BD-4E8774495F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C4AF9-F8A0-4E5A-9B2A-63DA093259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67849672"/>
      </p:ext>
    </p:extLst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EF3A1D-07A3-64BF-AF1C-DF1589C35E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4423D9-9691-653F-9709-1A06F4AD43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26DD23C-1F26-683E-B5D3-E81A944CAF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50F3F7-B458-2ED8-C144-2114FE06F4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C4AF9-F8A0-4E5A-9B2A-63DA093259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06417000"/>
      </p:ext>
    </p:extLst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7D373D-0B6F-516B-4338-3C5DF31006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92AA5B-EB3C-A006-2139-359EBB59EB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2A3A67-16C8-C35A-A6A4-823EFD6C50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82072D-0B0F-E027-5386-DBA8CD5B2A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C4AF9-F8A0-4E5A-9B2A-63DA093259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9350453"/>
      </p:ext>
    </p:extLst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CA6FF6-1365-D969-D74F-0E66903B8B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59BB9C3-8148-C1D0-8523-9C6342B9B9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173580-7EA3-D0CE-7BFD-920E826A11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C42ABD-860A-6B8C-23F2-1486C314A2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C4AF9-F8A0-4E5A-9B2A-63DA093259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6107954"/>
      </p:ext>
    </p:extLst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198F02-DD48-F8D1-9193-AB2CAE3EC5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825567-0D80-C15A-D0B8-48502F32F7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FB28714-F35E-99BF-54BD-E66C617A5C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FE7843-4B5B-8944-77DD-7C2D94E3A9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C4AF9-F8A0-4E5A-9B2A-63DA093259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59269880"/>
      </p:ext>
    </p:extLst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596113-CA9B-AACA-E04B-93F5C4B555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871D0B-7A6D-ADD4-F01C-3810D60586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7FDC6A-FDAC-20C8-35C9-71DD727B9C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BEE21C-0E22-05D0-77F2-AFBE9C23CC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C4AF9-F8A0-4E5A-9B2A-63DA093259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38662249"/>
      </p:ext>
    </p:extLst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C9A7FD-4C13-32E3-C3AC-2306915911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F7A5F3-B582-7404-6A8F-D0D6BA1650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CB97F68-1503-C606-56FE-3BB6269B86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EA0044-1A66-4CBC-9A22-4C1921E6DE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C4AF9-F8A0-4E5A-9B2A-63DA093259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09454247"/>
      </p:ext>
    </p:extLst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091D6D-3AE6-963A-B95F-085FD4BDAF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D838ED-7AA2-7650-4658-9BD413BB87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DD1F78-CCBD-17F3-DC5A-2931562F80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01264D-6BA5-2D5E-70E7-941BB9BA7E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C4AF9-F8A0-4E5A-9B2A-63DA093259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7760039"/>
      </p:ext>
    </p:extLst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F64493-3F7D-10C4-EE16-B80F5B407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83D9CF-8673-C897-7E7F-9BB947929F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6B23C4-1A5E-5633-5023-6855EB4E9C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E1EEBF-748E-CBA4-900D-8EF7528677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C4AF9-F8A0-4E5A-9B2A-63DA093259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44317772"/>
      </p:ext>
    </p:extLst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23F136-6B53-B8CD-A402-0884671BF3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7161A72-B7DB-D9E5-2B28-0D050A8C92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50FCF4F-D9B9-91BF-259F-C9D7781B67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E46E61-DDD2-46C2-5835-8B80E489E1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C4AF9-F8A0-4E5A-9B2A-63DA093259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60712420"/>
      </p:ext>
    </p:extLst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9FF7E9-5DED-4DB1-B740-F1FD128597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7BD2D3D-AF3E-E8FA-F873-A77FDF427D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CA1FF2-3C1E-4EF6-D873-4F8C4A92B2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420151-9184-4266-2EEE-75365B99C6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C4AF9-F8A0-4E5A-9B2A-63DA093259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30279552"/>
      </p:ext>
    </p:extLst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278BF8-4AAE-7AC3-31FB-63D4D07C2D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F096E3-6F83-DCF6-BD2C-AF22FC0B3B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E8AE1DC-BAF9-F1D1-5BDD-A9AF58B144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56386E-3500-BC4F-8657-20E7020FE9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C4AF9-F8A0-4E5A-9B2A-63DA093259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05367160"/>
      </p:ext>
    </p:extLst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F98CF6-2155-9F15-31EF-A07121D09D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8A0714-9E68-648A-1B93-B909F90C5D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555502-8A5E-A4B3-E4D9-024B9EB2E1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CE6BBD-5B95-E155-6981-951FAA5D6B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C4AF9-F8A0-4E5A-9B2A-63DA093259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29079013"/>
      </p:ext>
    </p:extLst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B6160F-CEDF-ED9D-CCE1-F85CA2680E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614B5E-65C8-09EF-4BF8-E68AEEDEFC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AD5645-B646-64A1-07CD-45FAA02014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71DBB4-79D7-1240-0563-85325EAA58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C4AF9-F8A0-4E5A-9B2A-63DA093259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03224745"/>
      </p:ext>
    </p:extLst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3DAAFA-1901-637F-F1DE-9DF734C80E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348196-AAD3-6A0D-0536-6596ABD5A5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D232A6-F245-15FD-FE1C-72B224C0F9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662243-0DC7-45A5-4F10-E0FEAA76B9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C4AF9-F8A0-4E5A-9B2A-63DA093259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98585712"/>
      </p:ext>
    </p:extLst>
  </p:cSld>
  <p:clrMapOvr>
    <a:masterClrMapping/>
  </p:clrMapOvr>
</p:notes>
</file>

<file path=ppt/notesSlides/notesSlide1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48D694-FFAD-49EC-9D18-50E9D96E0F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FCB66E-B47B-7AE4-FC7A-EE3B7FE6B2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B6506A-A302-997D-EB9E-60D9C8809E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32597B-D391-5F64-F8CC-F8B1AD3CCB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C4AF9-F8A0-4E5A-9B2A-63DA093259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73886545"/>
      </p:ext>
    </p:extLst>
  </p:cSld>
  <p:clrMapOvr>
    <a:masterClrMapping/>
  </p:clrMapOvr>
</p:notes>
</file>

<file path=ppt/notesSlides/notesSlide1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9B485D-F83F-4918-4BE5-B4F7ECD36B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7FC116F-DD43-075A-339E-4B3B954779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DE1810-3461-6FF3-D29D-17B52D0CD4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619D50-A565-4866-04F2-A7563A717F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C4AF9-F8A0-4E5A-9B2A-63DA093259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1171183"/>
      </p:ext>
    </p:extLst>
  </p:cSld>
  <p:clrMapOvr>
    <a:masterClrMapping/>
  </p:clrMapOvr>
</p:notes>
</file>

<file path=ppt/notesSlides/notesSlide1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E69EB2-F5A2-F407-10FB-BB9A6A2303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7F7254-1515-6012-EE62-0D049D898B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F268C2-9C29-1596-7634-480D329E61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9EECAF-5990-CFB4-3103-43980D958F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C4AF9-F8A0-4E5A-9B2A-63DA093259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63447455"/>
      </p:ext>
    </p:extLst>
  </p:cSld>
  <p:clrMapOvr>
    <a:masterClrMapping/>
  </p:clrMapOvr>
</p:notes>
</file>

<file path=ppt/notesSlides/notesSlide1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19C203-43B7-0A8E-FF67-0C963FD6A3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6131C3F-3D61-ABB7-D0C4-7340E20A08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D7C2CF-EF14-2791-E65B-BE5A349BEA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B38BC5-A423-C981-E90D-3AB7D2526F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C4AF9-F8A0-4E5A-9B2A-63DA093259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3545002"/>
      </p:ext>
    </p:extLst>
  </p:cSld>
  <p:clrMapOvr>
    <a:masterClrMapping/>
  </p:clrMapOvr>
</p:notes>
</file>

<file path=ppt/notesSlides/notesSlide1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1922EB-5577-690B-54A1-C383640E4F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5EAD3D-C5F1-E3F2-94A5-B4747DC2D9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AB83F7-3BDC-6BE3-2719-E74D97BE1D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D076E4-E3C7-67BD-F002-3A16477409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C4AF9-F8A0-4E5A-9B2A-63DA093259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88417197"/>
      </p:ext>
    </p:extLst>
  </p:cSld>
  <p:clrMapOvr>
    <a:masterClrMapping/>
  </p:clrMapOvr>
</p:notes>
</file>

<file path=ppt/notesSlides/notesSlide1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7D7EA4-17D6-B2B5-7249-6FF8842679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D6C4B55-3640-E516-0035-E7AF4D96DF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3CF4078-AB70-6EF2-9565-89A92356CA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885923-4C93-DED1-BAB8-1A8F7DD2A0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C4AF9-F8A0-4E5A-9B2A-63DA093259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50567886"/>
      </p:ext>
    </p:extLst>
  </p:cSld>
  <p:clrMapOvr>
    <a:masterClrMapping/>
  </p:clrMapOvr>
</p:notes>
</file>

<file path=ppt/notesSlides/notesSlide1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852052-2CB6-3F52-E6DF-035E93C6B2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444DA3D-5F08-851C-5300-6155E75584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F7CDF2-F03F-6031-A920-544AFDE6C3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FA0907-8ADC-0AB1-79C5-EB7559A1EA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C4AF9-F8A0-4E5A-9B2A-63DA093259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43557720"/>
      </p:ext>
    </p:extLst>
  </p:cSld>
  <p:clrMapOvr>
    <a:masterClrMapping/>
  </p:clrMapOvr>
</p:notes>
</file>

<file path=ppt/notesSlides/notesSlide1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FEF835-90A3-51EB-8C07-A77570CBD5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D70DE1-F817-E0D7-4698-A6A545A4F8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179A63D-E7B5-4BAA-7F68-F63BC41005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8550EF-71E3-1B3A-E8E6-EE05F3CF1F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C4AF9-F8A0-4E5A-9B2A-63DA093259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58324954"/>
      </p:ext>
    </p:extLst>
  </p:cSld>
  <p:clrMapOvr>
    <a:masterClrMapping/>
  </p:clrMapOvr>
</p:notes>
</file>

<file path=ppt/notesSlides/notesSlide1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F2C95B-B9AA-B167-880E-49580B968E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2F6A7D-9D37-47F0-50D3-2ECD407529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696094F-14B2-129C-5ECB-3E87023C62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90C7AC-DAB7-7789-CA7A-ABDE171A51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C4AF9-F8A0-4E5A-9B2A-63DA093259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30026309"/>
      </p:ext>
    </p:extLst>
  </p:cSld>
  <p:clrMapOvr>
    <a:masterClrMapping/>
  </p:clrMapOvr>
</p:notes>
</file>

<file path=ppt/notesSlides/notesSlide1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A30384-E267-0933-77FB-1F8A377356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69E4B30-8DA9-A04D-5390-4D42FBBF45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0D34D3-708C-94DE-075C-44F199E6B6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CC121B-F13D-7378-8089-DB311BEEC5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C4AF9-F8A0-4E5A-9B2A-63DA093259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27937393"/>
      </p:ext>
    </p:extLst>
  </p:cSld>
  <p:clrMapOvr>
    <a:masterClrMapping/>
  </p:clrMapOvr>
</p:notes>
</file>

<file path=ppt/notesSlides/notesSlide1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C73C19-C881-0CC5-6F4F-0F282F4DB7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0BAB3A-80F3-7621-D1A6-DC6CEB354A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3BB15DE-F782-968D-27AB-D716437AD6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B968C7-29A6-1B67-BE9A-5B2EB97E5D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C4AF9-F8A0-4E5A-9B2A-63DA093259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85280841"/>
      </p:ext>
    </p:extLst>
  </p:cSld>
  <p:clrMapOvr>
    <a:masterClrMapping/>
  </p:clrMapOvr>
</p:notes>
</file>

<file path=ppt/notesSlides/notesSlide1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F10A68-A71E-736E-CDD6-326024822A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DB850D-CA49-2515-979B-ABF7B870E3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CD3B50E-D65E-87B7-2B0A-C0F576D018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174152-9C66-C6B2-2350-9B84B29852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C4AF9-F8A0-4E5A-9B2A-63DA093259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14532820"/>
      </p:ext>
    </p:extLst>
  </p:cSld>
  <p:clrMapOvr>
    <a:masterClrMapping/>
  </p:clrMapOvr>
</p:notes>
</file>

<file path=ppt/notesSlides/notesSlide1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4C4AF9-F8A0-4E5A-9B2A-63DA09325906}" type="slidenum">
              <a:rPr lang="en-US" smtClean="0"/>
              <a:t>170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9843160"/>
      </p:ext>
    </p:extLst>
  </p:cSld>
  <p:clrMapOvr>
    <a:masterClrMapping/>
  </p:clrMapOvr>
</p:notes>
</file>

<file path=ppt/notesSlides/notesSlide1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CD6481-FC36-FD01-4170-AC5BDA704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6A17DE-BE1E-2E95-3B85-A96C9EF6A5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13F067-68F0-30B3-F081-E140AF1006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5DDDAF-5200-3274-FD79-842E25733D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C4AF9-F8A0-4E5A-9B2A-63DA093259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70416381"/>
      </p:ext>
    </p:extLst>
  </p:cSld>
  <p:clrMapOvr>
    <a:masterClrMapping/>
  </p:clrMapOvr>
</p:notes>
</file>

<file path=ppt/notesSlides/notesSlide1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AE4B16-AAC0-34F2-2404-170163301A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54E383-9CB7-B726-B556-1FC23A2C42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24E0631-46B6-0656-3C5F-22024F104C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B4F9F7-4358-A0AB-8656-D8B4ADADCE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C4AF9-F8A0-4E5A-9B2A-63DA093259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6764498"/>
      </p:ext>
    </p:extLst>
  </p:cSld>
  <p:clrMapOvr>
    <a:masterClrMapping/>
  </p:clrMapOvr>
</p:notes>
</file>

<file path=ppt/notesSlides/notesSlide1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34A6B1-DEBC-3020-30CF-A7F4E29E4E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7FFA6FF-3400-78D7-2528-E02AF7E90F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7C8FE1-5854-70EF-F28B-5CECBD0BF3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CF3648-C149-376E-B18C-25910734DC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C4AF9-F8A0-4E5A-9B2A-63DA093259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59848293"/>
      </p:ext>
    </p:extLst>
  </p:cSld>
  <p:clrMapOvr>
    <a:masterClrMapping/>
  </p:clrMapOvr>
</p:notes>
</file>

<file path=ppt/notesSlides/notesSlide1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7E8FB3-5DD1-DB4B-524A-7493339335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D55FE9-FB6B-72FE-D2C9-45CE151A1A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6F5C8C-5414-5177-24FE-9AF1299F95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F6B8D7-235E-B488-5F26-63F492CE22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C4AF9-F8A0-4E5A-9B2A-63DA093259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18959839"/>
      </p:ext>
    </p:extLst>
  </p:cSld>
  <p:clrMapOvr>
    <a:masterClrMapping/>
  </p:clrMapOvr>
</p:notes>
</file>

<file path=ppt/notesSlides/notesSlide1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9FA8E9-5BD9-FD2A-C9E6-5A1B3603AA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CD527D-5B5C-CF9F-E446-81A77F1C72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4B1DACA-A874-849F-6F9B-C0CD81E561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8B77A6-C258-E0E2-7AAD-4792F07DA2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C4AF9-F8A0-4E5A-9B2A-63DA093259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43424138"/>
      </p:ext>
    </p:extLst>
  </p:cSld>
  <p:clrMapOvr>
    <a:masterClrMapping/>
  </p:clrMapOvr>
</p:notes>
</file>

<file path=ppt/notesSlides/notesSlide1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7A8D67-2BCA-4C2E-ED38-00F178B09C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18031B-F2CA-346C-D6C4-A2EBAC4B6C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A0A4D4-C502-6618-101E-FA5D8BC3EC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7E6CB4-2DAD-5CE5-C0AD-E075B0E11F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C4AF9-F8A0-4E5A-9B2A-63DA093259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5648388"/>
      </p:ext>
    </p:extLst>
  </p:cSld>
  <p:clrMapOvr>
    <a:masterClrMapping/>
  </p:clrMapOvr>
</p:notes>
</file>

<file path=ppt/notesSlides/notesSlide1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97B885-2F6E-1696-D5E8-49634ED6DF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08B630-3B98-F302-4E7F-EDC2D18D52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FC0A99-2F65-EA2D-909D-0A93CF8C77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442103-F856-B8BC-9037-45904F0E65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C4AF9-F8A0-4E5A-9B2A-63DA093259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94250447"/>
      </p:ext>
    </p:extLst>
  </p:cSld>
  <p:clrMapOvr>
    <a:masterClrMapping/>
  </p:clrMapOvr>
</p:notes>
</file>

<file path=ppt/notesSlides/notesSlide1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C46189-9798-2A47-9155-3FB66206D3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2717DC-9582-520A-3564-D36580E299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0286551-2632-361B-D2AB-3EC94BC852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3313ED-0181-056C-482A-B71C4E955C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C4AF9-F8A0-4E5A-9B2A-63DA093259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0580480"/>
      </p:ext>
    </p:extLst>
  </p:cSld>
  <p:clrMapOvr>
    <a:masterClrMapping/>
  </p:clrMapOvr>
</p:notes>
</file>

<file path=ppt/notesSlides/notesSlide1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745544-57FD-A1A1-B85C-AE5ADCB2F2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DC4F2F6-55AE-8EEF-8B74-9E34280CE8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60743E-0AF9-4010-D590-022C35BB1F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5BD6FB-1771-0CFE-CD47-F86748847D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C4AF9-F8A0-4E5A-9B2A-63DA093259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57401380"/>
      </p:ext>
    </p:extLst>
  </p:cSld>
  <p:clrMapOvr>
    <a:masterClrMapping/>
  </p:clrMapOvr>
</p:notes>
</file>

<file path=ppt/notesSlides/notesSlide1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AE9306-CB0C-E783-C169-1FAAE88EB9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A9C8F0F-F0B1-DCB9-75DA-FF40B5DDCE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8373E1-F295-E94C-3F2F-43CB49C766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6F2424-1852-B702-7660-86C508241C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C4AF9-F8A0-4E5A-9B2A-63DA093259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44780310"/>
      </p:ext>
    </p:extLst>
  </p:cSld>
  <p:clrMapOvr>
    <a:masterClrMapping/>
  </p:clrMapOvr>
</p:notes>
</file>

<file path=ppt/notesSlides/notesSlide1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FC3352-4CC2-2E4C-DB35-CE50FAE347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BAFD99-BC20-3352-6BFE-70A044C3D2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2B0A61-2840-822A-DB21-EB9E0D2CBF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8E2991-77A9-C783-782B-B161ACB364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C4AF9-F8A0-4E5A-9B2A-63DA093259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03654765"/>
      </p:ext>
    </p:extLst>
  </p:cSld>
  <p:clrMapOvr>
    <a:masterClrMapping/>
  </p:clrMapOvr>
</p:notes>
</file>

<file path=ppt/notesSlides/notesSlide1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27A63D-D6A9-DC8F-CAC4-198B8CF2EF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0FEA3D-0D46-C6D8-E654-768A4CEA82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519A2FD-ED10-8150-D100-FDAC45DA94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0C1C24-55B7-6492-DA3F-03F406E464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C4AF9-F8A0-4E5A-9B2A-63DA093259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12737367"/>
      </p:ext>
    </p:extLst>
  </p:cSld>
  <p:clrMapOvr>
    <a:masterClrMapping/>
  </p:clrMapOvr>
</p:notes>
</file>

<file path=ppt/notesSlides/notesSlide1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68DB36-DA8C-DB45-024A-38D543C1A3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4011A8-4E71-1B58-2238-E047D8D0E3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CBCCA8-51D3-328F-3A66-4EDC8800ED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FD7BB7-15AB-6A1C-0E0F-CB9677A7EC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C4AF9-F8A0-4E5A-9B2A-63DA093259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11463866"/>
      </p:ext>
    </p:extLst>
  </p:cSld>
  <p:clrMapOvr>
    <a:masterClrMapping/>
  </p:clrMapOvr>
</p:notes>
</file>

<file path=ppt/notesSlides/notesSlide1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6A903B-321D-32A1-336E-B103FCD1D7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8485E3-1BD6-7D42-3D10-EBF76614FE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BECF3B-D9CA-5E1B-6DFC-D61D877760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D95341-0A9B-766B-A7F6-1AEB3FA319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C4AF9-F8A0-4E5A-9B2A-63DA093259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08231407"/>
      </p:ext>
    </p:extLst>
  </p:cSld>
  <p:clrMapOvr>
    <a:masterClrMapping/>
  </p:clrMapOvr>
</p:notes>
</file>

<file path=ppt/notesSlides/notesSlide1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2622B8-6544-E0C6-D737-76655537C7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029D69-E2DC-7C7A-2445-B48971170E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DC8A3C-0720-A13E-20A5-EF56D1C640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A88870-6736-04BB-F066-30BC1F7F8C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C4AF9-F8A0-4E5A-9B2A-63DA093259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8602747"/>
      </p:ext>
    </p:extLst>
  </p:cSld>
  <p:clrMapOvr>
    <a:masterClrMapping/>
  </p:clrMapOvr>
</p:notes>
</file>

<file path=ppt/notesSlides/notesSlide1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4C9A3C-3DB2-8C64-22AB-2EF7B5578A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E6BE6E-FEF4-517A-49D4-DCB6527956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EDE7B5-0EC3-A43E-C249-8EF1E75009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E1A235-C18D-5B16-37F4-E687B19D0F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C4AF9-F8A0-4E5A-9B2A-63DA093259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97756305"/>
      </p:ext>
    </p:extLst>
  </p:cSld>
  <p:clrMapOvr>
    <a:masterClrMapping/>
  </p:clrMapOvr>
</p:notes>
</file>

<file path=ppt/notesSlides/notesSlide1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49A5FB-A464-829E-AD23-47FFB67A0B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9636C7-6C66-46C8-8CC7-4075AA0671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F9F95FD-55B5-634C-CCA2-DF451E24F0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B643A9-A8B6-231D-F44A-ACA9C3B64A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C4AF9-F8A0-4E5A-9B2A-63DA093259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16672268"/>
      </p:ext>
    </p:extLst>
  </p:cSld>
  <p:clrMapOvr>
    <a:masterClrMapping/>
  </p:clrMapOvr>
</p:notes>
</file>

<file path=ppt/notesSlides/notesSlide1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867A1B-E347-C1E9-7256-F9CB6C75B8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6A739B-2E10-041F-1FD2-336B71FCEB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3E0A78-635D-D1C5-992A-E950A6DF98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ABC6CE-5FCE-E69D-E9CA-3FB7098CA8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C4AF9-F8A0-4E5A-9B2A-63DA093259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70390539"/>
      </p:ext>
    </p:extLst>
  </p:cSld>
  <p:clrMapOvr>
    <a:masterClrMapping/>
  </p:clrMapOvr>
</p:notes>
</file>

<file path=ppt/notesSlides/notesSlide1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8354FA-11AE-F3A7-F9AA-8B1FF4F226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DEEE4CC-9710-D6C8-FED8-6493F08F3C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2E6C11-9974-897F-C0DA-DD2AB40AA6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CFB895-B816-D904-AD3E-281E357ABB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C4AF9-F8A0-4E5A-9B2A-63DA093259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960986"/>
      </p:ext>
    </p:extLst>
  </p:cSld>
  <p:clrMapOvr>
    <a:masterClrMapping/>
  </p:clrMapOvr>
</p:notes>
</file>

<file path=ppt/notesSlides/notesSlide1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114EAF-4E60-5501-DA26-6D0B57EF51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AD0D1C-EF1F-60E7-9C72-5AAFA2660E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477F07-8981-BD3A-7131-834C27E922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F205B7-5313-3F03-8E54-0CD7740167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C4AF9-F8A0-4E5A-9B2A-63DA093259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57035628"/>
      </p:ext>
    </p:extLst>
  </p:cSld>
  <p:clrMapOvr>
    <a:masterClrMapping/>
  </p:clrMapOvr>
</p:notes>
</file>

<file path=ppt/notesSlides/notesSlide1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515EBC-6A78-AFCC-314B-8D9290AF99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24FA23-5F7F-217B-91E4-59949D4B6B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8685D9-664E-BF32-92F0-2D9E04478F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2A610A-5935-87D9-C010-5D15D1BE00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C4AF9-F8A0-4E5A-9B2A-63DA093259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69159777"/>
      </p:ext>
    </p:extLst>
  </p:cSld>
  <p:clrMapOvr>
    <a:masterClrMapping/>
  </p:clrMapOvr>
</p:notes>
</file>

<file path=ppt/notesSlides/notesSlide1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269856-1D20-3757-9AD7-32531F1C51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79DC3C-1BE1-2CC0-9DC6-46655FA201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6E1EC7-E354-839A-8E56-C6BBE0105A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9727EB-02E2-90AC-5BFB-00A415497F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C4AF9-F8A0-4E5A-9B2A-63DA093259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00914648"/>
      </p:ext>
    </p:extLst>
  </p:cSld>
  <p:clrMapOvr>
    <a:masterClrMapping/>
  </p:clrMapOvr>
</p:notes>
</file>

<file path=ppt/notesSlides/notesSlide1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C4BB7A-82C3-F578-B269-D024594F3E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67CD65-6FD1-5903-F3C6-C6ECC46623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6768048-4DFC-DC45-097A-94C453E2EA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641F7D-C0BB-C8B9-64D5-DC682ED35C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C4AF9-F8A0-4E5A-9B2A-63DA093259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25444743"/>
      </p:ext>
    </p:extLst>
  </p:cSld>
  <p:clrMapOvr>
    <a:masterClrMapping/>
  </p:clrMapOvr>
</p:notes>
</file>

<file path=ppt/notesSlides/notesSlide1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BC94E0-B9F9-FAD7-6FE0-C61DB65499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8EECF91-8D8A-0879-0909-DF9D59EE66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BFDE3F-2B27-6213-76C9-CC42A7046A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B730AA-11A8-A309-AB45-6BF23F1D4A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C4AF9-F8A0-4E5A-9B2A-63DA093259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94054069"/>
      </p:ext>
    </p:extLst>
  </p:cSld>
  <p:clrMapOvr>
    <a:masterClrMapping/>
  </p:clrMapOvr>
</p:notes>
</file>

<file path=ppt/notesSlides/notesSlide1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A8AF79-76A1-DF2B-8674-9230FC63F4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D49078-BC69-42FC-4B69-7C63BAE273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FC2167-D1F9-3A64-652F-3B6C917FB8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9C6123-A1DB-227C-1D1B-ED0C6AFC57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C4AF9-F8A0-4E5A-9B2A-63DA093259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64874605"/>
      </p:ext>
    </p:extLst>
  </p:cSld>
  <p:clrMapOvr>
    <a:masterClrMapping/>
  </p:clrMapOvr>
</p:notes>
</file>

<file path=ppt/notesSlides/notesSlide1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5C1750-A3FF-FB3D-FCD8-5B6492131E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193DC6A-D550-C025-4C96-794FADB34B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760B6F1-66D4-C9DF-06E2-26BF9DED35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94F5A5-6C3C-0BB4-9791-6DF2B77B6E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C4AF9-F8A0-4E5A-9B2A-63DA093259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19947672"/>
      </p:ext>
    </p:extLst>
  </p:cSld>
  <p:clrMapOvr>
    <a:masterClrMapping/>
  </p:clrMapOvr>
</p:notes>
</file>

<file path=ppt/notesSlides/notesSlide1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242EDC-C97E-7F5A-37A3-6B74B2F590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AB06F0-375E-6E58-C84F-3250BC9228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1C58AC-FE40-F441-C59C-5D86243E15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A9F6DE-E118-6268-6686-DF378A2C44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C4AF9-F8A0-4E5A-9B2A-63DA093259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03042999"/>
      </p:ext>
    </p:extLst>
  </p:cSld>
  <p:clrMapOvr>
    <a:masterClrMapping/>
  </p:clrMapOvr>
</p:notes>
</file>

<file path=ppt/notesSlides/notesSlide1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DEF985-FF02-7C5F-6BCE-3E8ACA3F58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36E59EC-79C5-E625-3A7B-E419047790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10363B-AA32-B125-450E-6DDAC41123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7C1E0C-C082-4CE4-75AE-90736D6CF7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C4AF9-F8A0-4E5A-9B2A-63DA093259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27776832"/>
      </p:ext>
    </p:extLst>
  </p:cSld>
  <p:clrMapOvr>
    <a:masterClrMapping/>
  </p:clrMapOvr>
</p:notes>
</file>

<file path=ppt/notesSlides/notesSlide1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784223-9B88-FD0C-5500-B00B87FE1C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837E66-2BAF-2DF5-7909-7E520FA1A9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35B462-C12A-F22B-DBD0-36C22DADA0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B275ED-F455-4593-2D19-EF78297999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C4AF9-F8A0-4E5A-9B2A-63DA093259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5081193"/>
      </p:ext>
    </p:extLst>
  </p:cSld>
  <p:clrMapOvr>
    <a:masterClrMapping/>
  </p:clrMapOvr>
</p:notes>
</file>

<file path=ppt/notesSlides/notesSlide1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01DC79-24BB-394B-1F27-86F965EDC1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037470F-74BC-512E-55B1-1238300AEF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EE92DD3-6B5C-A0F1-07AC-2DA12D099F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4D4212-FC98-DF6C-2B9D-5FB2F067A1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C4AF9-F8A0-4E5A-9B2A-63DA093259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37553156"/>
      </p:ext>
    </p:extLst>
  </p:cSld>
  <p:clrMapOvr>
    <a:masterClrMapping/>
  </p:clrMapOvr>
</p:notes>
</file>

<file path=ppt/notesSlides/notesSlide1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21B76D-ECE7-10D8-1202-52499331ED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5140D1-FE04-DBB2-73E7-3AED493939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19C519-773A-7DB5-3A70-26AC3CB20A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9B41B6-B939-1441-66CC-A1A854AAE5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C4AF9-F8A0-4E5A-9B2A-63DA093259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42876366"/>
      </p:ext>
    </p:extLst>
  </p:cSld>
  <p:clrMapOvr>
    <a:masterClrMapping/>
  </p:clrMapOvr>
</p:notes>
</file>

<file path=ppt/notesSlides/notesSlide1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EB96E7-C0A2-7BC4-2287-0744D42FDD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952B1A-A93F-6899-8A04-95F66A8A9F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E4E2EDD-6547-B2A4-B110-3D11EC4E18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58A8CE-754A-0C79-FA7E-A17CF033B4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C4AF9-F8A0-4E5A-9B2A-63DA093259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16126671"/>
      </p:ext>
    </p:extLst>
  </p:cSld>
  <p:clrMapOvr>
    <a:masterClrMapping/>
  </p:clrMapOvr>
</p:notes>
</file>

<file path=ppt/notesSlides/notesSlide1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275101-62AA-9ACF-52C0-E33ABEA852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0CAD839-1DD1-6CEA-A836-9627E42164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2BA319-6A13-B2A0-F530-C80A45A998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92CCF9-D691-CB90-CC3D-416F693771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C4AF9-F8A0-4E5A-9B2A-63DA093259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1009631"/>
      </p:ext>
    </p:extLst>
  </p:cSld>
  <p:clrMapOvr>
    <a:masterClrMapping/>
  </p:clrMapOvr>
</p:notes>
</file>

<file path=ppt/notesSlides/notesSlide1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BBEFD4-6E6F-A195-967D-36882BAA20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AC18BC4-7ADE-7780-A7D9-39FB711A20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36D4AA-CBD7-1A66-9F60-3D5C043163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746CD5-FEB8-D40D-CB95-2606E07697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C4AF9-F8A0-4E5A-9B2A-63DA093259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68230184"/>
      </p:ext>
    </p:extLst>
  </p:cSld>
  <p:clrMapOvr>
    <a:masterClrMapping/>
  </p:clrMapOvr>
</p:notes>
</file>

<file path=ppt/notesSlides/notesSlide1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832091-D2EE-CFA8-3D86-64A73E65AF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0A792B-86F1-DBA7-29C8-32C7157B43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216DCF-9574-1D30-F1DF-03C1D9B7B6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9FD803-A143-DDEB-0D64-FE288BBC0B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C4AF9-F8A0-4E5A-9B2A-63DA093259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88467650"/>
      </p:ext>
    </p:extLst>
  </p:cSld>
  <p:clrMapOvr>
    <a:masterClrMapping/>
  </p:clrMapOvr>
</p:notes>
</file>

<file path=ppt/notesSlides/notesSlide1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5D2528-DD04-DA68-AB67-CF10467411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6AF10E-10F5-FF11-45C2-6668856297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7E0E68-E3ED-BC4A-2F19-B141CD4172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B79ADB-2456-FF00-F8E4-D7CFA337D0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C4AF9-F8A0-4E5A-9B2A-63DA093259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07871934"/>
      </p:ext>
    </p:extLst>
  </p:cSld>
  <p:clrMapOvr>
    <a:masterClrMapping/>
  </p:clrMapOvr>
</p:notes>
</file>

<file path=ppt/notesSlides/notesSlide1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42C010-C923-FD5D-A8DD-A5F97B7238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FFEDE85-3853-1C75-4E11-F3E23D9733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DCCA44-A313-EB1F-BFAC-F1AAB064C7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E8F735-AC24-3E78-E7B4-D3AD692D6D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C4AF9-F8A0-4E5A-9B2A-63DA093259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70355070"/>
      </p:ext>
    </p:extLst>
  </p:cSld>
  <p:clrMapOvr>
    <a:masterClrMapping/>
  </p:clrMapOvr>
</p:notes>
</file>

<file path=ppt/notesSlides/notesSlide1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DAB6D8-2574-7A8D-DEE0-D99D0A19EB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1DD343-983C-BFDB-F8DF-933E9E36A6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61466F-9721-F4A6-D113-A92485D924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F713C6-3EAB-8E49-F167-C9054883AB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C4AF9-F8A0-4E5A-9B2A-63DA093259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78626086"/>
      </p:ext>
    </p:extLst>
  </p:cSld>
  <p:clrMapOvr>
    <a:masterClrMapping/>
  </p:clrMapOvr>
</p:notes>
</file>

<file path=ppt/notesSlides/notesSlide1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A367F1-AE21-654B-D6E0-456DFF9AB0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B68FE4-3C65-87C9-3ACB-84CA71FBA7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8DFB52-EC5D-FEA8-3E4E-A46EA276E0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C6F75B-29C6-B846-E31F-28EB7A55C8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C4AF9-F8A0-4E5A-9B2A-63DA093259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75861264"/>
      </p:ext>
    </p:extLst>
  </p:cSld>
  <p:clrMapOvr>
    <a:masterClrMapping/>
  </p:clrMapOvr>
</p:notes>
</file>

<file path=ppt/notesSlides/notesSlide2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466484-717E-2AC6-B2EC-A15111FF62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A7E1128-8C47-35B1-B47F-D03F8124EA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1FA231-CCAB-9E27-82D0-012D2D4932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EC6B2A-C8E5-864B-7DB7-F3B2AF9959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C4AF9-F8A0-4E5A-9B2A-63DA093259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04876732"/>
      </p:ext>
    </p:extLst>
  </p:cSld>
  <p:clrMapOvr>
    <a:masterClrMapping/>
  </p:clrMapOvr>
</p:notes>
</file>

<file path=ppt/notesSlides/notesSlide2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177DAD-2F04-42A2-BFC5-C6B4D08B01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B14986-43EE-D132-0660-7C45C5CCD3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4F28BC-CD9C-834F-9802-DEB6E43AAE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9A715F-067B-4738-7872-7E0DE7381A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C4AF9-F8A0-4E5A-9B2A-63DA093259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52825735"/>
      </p:ext>
    </p:extLst>
  </p:cSld>
  <p:clrMapOvr>
    <a:masterClrMapping/>
  </p:clrMapOvr>
</p:notes>
</file>

<file path=ppt/notesSlides/notesSlide2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2DF766-5AEE-0711-64D0-78FB7CE270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12966F7-58A2-37B3-524E-2858C8F016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DF44EB-F150-14D1-F49F-EE5778FE6D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6843C4-D8BE-2BF7-446B-3D5F7532BF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C4AF9-F8A0-4E5A-9B2A-63DA093259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71379081"/>
      </p:ext>
    </p:extLst>
  </p:cSld>
  <p:clrMapOvr>
    <a:masterClrMapping/>
  </p:clrMapOvr>
</p:notes>
</file>

<file path=ppt/notesSlides/notesSlide2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3C725A-E9B5-3DAF-E542-1977857A53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AEBE74-31F8-2CF4-4CAF-A6AE641E74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553B940-C3EC-7986-86C4-EDB2933E7E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D7CF50-8C5D-7C7C-114E-AA825D22D5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C4AF9-F8A0-4E5A-9B2A-63DA093259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21506373"/>
      </p:ext>
    </p:extLst>
  </p:cSld>
  <p:clrMapOvr>
    <a:masterClrMapping/>
  </p:clrMapOvr>
</p:notes>
</file>

<file path=ppt/notesSlides/notesSlide2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CE3BA4-7388-35D4-32FC-FBA40BDEEC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4B4CF8-9613-4D76-26B2-3BE8E546D7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CF8FCA-8DC5-2CAD-59DC-A3DB8A4DEE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CF9092-9190-E85C-597D-9459B7A9DA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C4AF9-F8A0-4E5A-9B2A-63DA093259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11064504"/>
      </p:ext>
    </p:extLst>
  </p:cSld>
  <p:clrMapOvr>
    <a:masterClrMapping/>
  </p:clrMapOvr>
</p:notes>
</file>

<file path=ppt/notesSlides/notesSlide2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042063-DB59-66B5-D786-0F949A8477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2800A3C-9A10-A4F3-271E-956C2B4784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94BAF4-277E-866F-5AD1-57D4B37D0D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8D0D41-84F5-6CFE-9322-3CB487A5A3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C4AF9-F8A0-4E5A-9B2A-63DA093259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6046155"/>
      </p:ext>
    </p:extLst>
  </p:cSld>
  <p:clrMapOvr>
    <a:masterClrMapping/>
  </p:clrMapOvr>
</p:notes>
</file>

<file path=ppt/notesSlides/notesSlide2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4748F5-5186-C22C-9FC2-64CF084614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57AD54-F7EC-68E9-9964-A00E15E2CA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3DDCEF-7F82-8989-5FB6-EC26B25816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9360B5-BCDB-B13F-658F-E7448DCE63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C4AF9-F8A0-4E5A-9B2A-63DA093259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57065778"/>
      </p:ext>
    </p:extLst>
  </p:cSld>
  <p:clrMapOvr>
    <a:masterClrMapping/>
  </p:clrMapOvr>
</p:notes>
</file>

<file path=ppt/notesSlides/notesSlide2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9450A6-1087-C4B6-597F-85A58D52E4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30DB0D-3860-B195-359C-264389E232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6BB7AA-8A4D-42EA-1A6D-2236567F34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0E3960-172A-03BB-0C9E-2A81D32B12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C4AF9-F8A0-4E5A-9B2A-63DA093259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06826245"/>
      </p:ext>
    </p:extLst>
  </p:cSld>
  <p:clrMapOvr>
    <a:masterClrMapping/>
  </p:clrMapOvr>
</p:notes>
</file>

<file path=ppt/notesSlides/notesSlide2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ECAA7F-7C84-D6E2-14C3-E0B4C67F9D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99C223-EBDE-0099-D148-0C8204C664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92C019A-68D4-26A3-4E71-F0DD7071ED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CC54B7-0956-D377-EC99-39FCD084DA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C4AF9-F8A0-4E5A-9B2A-63DA093259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15599316"/>
      </p:ext>
    </p:extLst>
  </p:cSld>
  <p:clrMapOvr>
    <a:masterClrMapping/>
  </p:clrMapOvr>
</p:notes>
</file>

<file path=ppt/notesSlides/notesSlide2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EA938D-0F2E-88BB-C78E-1396868253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233B515-0429-5B0A-1520-3630E1B868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60FE532-0874-4856-6076-0F608CCC2C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9B26A4-8DB3-81DC-D18D-842B42DF5B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C4AF9-F8A0-4E5A-9B2A-63DA093259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01070310"/>
      </p:ext>
    </p:extLst>
  </p:cSld>
  <p:clrMapOvr>
    <a:masterClrMapping/>
  </p:clrMapOvr>
</p:notes>
</file>

<file path=ppt/notesSlides/notesSlide2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D18F8C-FCAA-ACFA-645B-E9490EB2C2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5991B6-C6F7-85F5-2036-F77B696278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03F2E1-A9CD-F16E-F3F2-7CEBB824A1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6F4BB7-340E-DE16-2E2C-36C5314BA7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C4AF9-F8A0-4E5A-9B2A-63DA093259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23243486"/>
      </p:ext>
    </p:extLst>
  </p:cSld>
  <p:clrMapOvr>
    <a:masterClrMapping/>
  </p:clrMapOvr>
</p:notes>
</file>

<file path=ppt/notesSlides/notesSlide2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679F0A-6AA6-7417-228E-06F98EA6CF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6586D2-4F4F-CD59-B0E8-787B2ED807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F95782-0718-1161-E2D0-04EA9BC7D8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3616CF-65F1-A510-ECFD-0FD34CA698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C4AF9-F8A0-4E5A-9B2A-63DA093259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70120550"/>
      </p:ext>
    </p:extLst>
  </p:cSld>
  <p:clrMapOvr>
    <a:masterClrMapping/>
  </p:clrMapOvr>
</p:notes>
</file>

<file path=ppt/notesSlides/notesSlide2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A0A2C2-91B7-B79E-3C47-C22B873135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3B4C64B-217E-B335-AA34-01F1894897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C6C723-DCE3-BFCB-1654-59FDBDF564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DF419B-64E4-2D3C-6CFC-11975F771B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C4AF9-F8A0-4E5A-9B2A-63DA093259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14676403"/>
      </p:ext>
    </p:extLst>
  </p:cSld>
  <p:clrMapOvr>
    <a:masterClrMapping/>
  </p:clrMapOvr>
</p:notes>
</file>

<file path=ppt/notesSlides/notesSlide2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0B94E9-96AF-6693-5CE0-3FCA57B0BA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87DF2B-B730-00FC-9E7A-84A739A760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881B119-64B1-1D80-7CC4-F6B96A1EE6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5E1855-0E77-A991-2767-B8F620260F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C4AF9-F8A0-4E5A-9B2A-63DA093259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97294235"/>
      </p:ext>
    </p:extLst>
  </p:cSld>
  <p:clrMapOvr>
    <a:masterClrMapping/>
  </p:clrMapOvr>
</p:notes>
</file>

<file path=ppt/notesSlides/notesSlide2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3B1A0E-FD7E-D689-370F-4AD8D6C10D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94359F-37E2-D4A5-BB83-BEF14E0909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BEA5A4-B7E5-FB5F-6CE1-0B72F24E30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362147-370C-26BC-AD5F-99133CAA41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C4AF9-F8A0-4E5A-9B2A-63DA093259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04079325"/>
      </p:ext>
    </p:extLst>
  </p:cSld>
  <p:clrMapOvr>
    <a:masterClrMapping/>
  </p:clrMapOvr>
</p:notes>
</file>

<file path=ppt/notesSlides/notesSlide2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1830AF-916D-BA93-7EA9-D9467766DF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A91BA2-F837-24E6-FEF1-4A85E3E9A8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A03AC3-6202-A070-9F38-E9F19DEC7E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E22126-1D86-213E-811D-2A905093A5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C4AF9-F8A0-4E5A-9B2A-63DA093259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10816544"/>
      </p:ext>
    </p:extLst>
  </p:cSld>
  <p:clrMapOvr>
    <a:masterClrMapping/>
  </p:clrMapOvr>
</p:notes>
</file>

<file path=ppt/notesSlides/notesSlide2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15DA1-1C95-C2A5-CC5B-EFEF08A17F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268511-CA01-EF5B-41D4-E97A997572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0603EC-A734-35BB-7DDB-37DD88C652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167FA9-0B72-A140-7C75-D5C43A34A9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C4AF9-F8A0-4E5A-9B2A-63DA093259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4449026"/>
      </p:ext>
    </p:extLst>
  </p:cSld>
  <p:clrMapOvr>
    <a:masterClrMapping/>
  </p:clrMapOvr>
</p:notes>
</file>

<file path=ppt/notesSlides/notesSlide2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C15B35-2D59-4947-A5EB-5EA7A0B0B9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177FCF-EC84-0700-DEFC-775F47514F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6DCE4B4-83F1-4706-9A79-92A9D798CB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5CF368-1B9F-DCC2-5D1E-485D4FA904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C4AF9-F8A0-4E5A-9B2A-63DA093259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46864303"/>
      </p:ext>
    </p:extLst>
  </p:cSld>
  <p:clrMapOvr>
    <a:masterClrMapping/>
  </p:clrMapOvr>
</p:notes>
</file>

<file path=ppt/notesSlides/notesSlide2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44E587-0573-4A68-D9D3-71E2821A17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F7A312C-C662-5E32-4C72-86B04D19A5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90970F-0C41-9C09-856C-AC894802FA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D60E7C-398C-1279-D5B8-1E48BA8350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C4AF9-F8A0-4E5A-9B2A-63DA093259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92079006"/>
      </p:ext>
    </p:extLst>
  </p:cSld>
  <p:clrMapOvr>
    <a:masterClrMapping/>
  </p:clrMapOvr>
</p:notes>
</file>

<file path=ppt/notesSlides/notesSlide2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E048F6-F1AF-C6E1-6C9B-6317938F67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8C1105-C457-40DF-6BB5-0D00A0437E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769D1D-669A-30A4-1235-5D40AD6139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54EC41-1232-EC05-2232-E4B86098AC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C4AF9-F8A0-4E5A-9B2A-63DA093259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40238447"/>
      </p:ext>
    </p:extLst>
  </p:cSld>
  <p:clrMapOvr>
    <a:masterClrMapping/>
  </p:clrMapOvr>
</p:notes>
</file>

<file path=ppt/notesSlides/notesSlide2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C0E268-2A5F-ADB3-73FF-2E346B2AFF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05EA59-F484-3A3B-0CEF-4F9B10DBCA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70F077-96E7-9FA7-A1FE-1BD0B090D9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A8D506-C30E-FC24-7862-2512E82F26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C4AF9-F8A0-4E5A-9B2A-63DA093259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31592282"/>
      </p:ext>
    </p:extLst>
  </p:cSld>
  <p:clrMapOvr>
    <a:masterClrMapping/>
  </p:clrMapOvr>
</p:notes>
</file>

<file path=ppt/notesSlides/notesSlide2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95FC1F-731A-9A74-72CD-668BEDDE59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63CE6E-0CA8-5469-FA03-803E851136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02CFBE-558B-1776-773B-6F3B452F9E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65D8E9-2D8C-C01B-A480-6DF7DEF2C6B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C4AF9-F8A0-4E5A-9B2A-63DA093259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79383109"/>
      </p:ext>
    </p:extLst>
  </p:cSld>
  <p:clrMapOvr>
    <a:masterClrMapping/>
  </p:clrMapOvr>
</p:notes>
</file>

<file path=ppt/notesSlides/notesSlide2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16A150-57D1-1708-DFFF-4717C4851F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CF8CD9-9AD4-D052-2157-CFE970453C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051CB2-78BB-9B9B-6889-14DC17F353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7F14B9-DF17-95A6-763C-68FFADB49F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C4AF9-F8A0-4E5A-9B2A-63DA093259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11984751"/>
      </p:ext>
    </p:extLst>
  </p:cSld>
  <p:clrMapOvr>
    <a:masterClrMapping/>
  </p:clrMapOvr>
</p:notes>
</file>

<file path=ppt/notesSlides/notesSlide2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872093-75E4-22EE-5CA0-3A8CE83C5D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FB5C64-FB70-F181-CDB7-A153C3D575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8190A5-C598-00F7-3FA2-3CFE2F64F9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6CA90F-2EBB-9278-B45C-62420201BB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C4AF9-F8A0-4E5A-9B2A-63DA093259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16903510"/>
      </p:ext>
    </p:extLst>
  </p:cSld>
  <p:clrMapOvr>
    <a:masterClrMapping/>
  </p:clrMapOvr>
</p:notes>
</file>

<file path=ppt/notesSlides/notesSlide2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D7942F-5333-6AEB-9773-AE67B20DF4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DBC3685-29C4-55D3-2D93-275540AEF0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75DC358-DC3F-65C5-BB3F-E638780AB8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B9EAF7-940E-C7D1-F085-E4C1652B42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C4AF9-F8A0-4E5A-9B2A-63DA093259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41025457"/>
      </p:ext>
    </p:extLst>
  </p:cSld>
  <p:clrMapOvr>
    <a:masterClrMapping/>
  </p:clrMapOvr>
</p:notes>
</file>

<file path=ppt/notesSlides/notesSlide2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7457CC-3E68-CC6C-B660-5819659228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59DD19-FF1C-85E5-06CB-3835476219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B00C07-4360-C6CE-15F3-0000F15DC2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D36ECE-0A3F-B917-BC75-6BA0558DAA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C4AF9-F8A0-4E5A-9B2A-63DA093259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42178569"/>
      </p:ext>
    </p:extLst>
  </p:cSld>
  <p:clrMapOvr>
    <a:masterClrMapping/>
  </p:clrMapOvr>
</p:notes>
</file>

<file path=ppt/notesSlides/notesSlide2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3918E5-5B40-FA8E-6EBA-7D20760425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514FAB-B7D8-2E0D-AF66-26722A223D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AA2130F-6386-555A-861F-07980363DD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F671C9-E8BD-DF92-10D9-CCCACB24F7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C4AF9-F8A0-4E5A-9B2A-63DA093259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57018538"/>
      </p:ext>
    </p:extLst>
  </p:cSld>
  <p:clrMapOvr>
    <a:masterClrMapping/>
  </p:clrMapOvr>
</p:notes>
</file>

<file path=ppt/notesSlides/notesSlide2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B2C3DA-D821-71FE-69B4-E84D257202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4B900E-9178-F247-2719-34109E7227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FE4C4A-9E92-D5AC-4990-5EF88B79BD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D07C65-6292-1C4F-1459-13146A3E1F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C4AF9-F8A0-4E5A-9B2A-63DA093259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57519113"/>
      </p:ext>
    </p:extLst>
  </p:cSld>
  <p:clrMapOvr>
    <a:masterClrMapping/>
  </p:clrMapOvr>
</p:notes>
</file>

<file path=ppt/notesSlides/notesSlide2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004E8-249F-9650-54BA-6468FBAF34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AF5A16-BD30-3A1D-E583-ABB32EF8F4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19AB178-6E61-3B4B-CCAA-514407FF22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CFA55A-5FE0-DE43-6D40-E33CF7EB30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C4AF9-F8A0-4E5A-9B2A-63DA093259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80347952"/>
      </p:ext>
    </p:extLst>
  </p:cSld>
  <p:clrMapOvr>
    <a:masterClrMapping/>
  </p:clrMapOvr>
</p:notes>
</file>

<file path=ppt/notesSlides/notesSlide2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1559C8-EE5D-CC57-D3D1-F883C05CE5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211FB8-797D-A577-24A6-0C40DF6D14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981569-EBE4-DAB5-DA28-10FE67DAEA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EB578B-6C25-C7A9-B00A-2123026549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C4AF9-F8A0-4E5A-9B2A-63DA093259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84037453"/>
      </p:ext>
    </p:extLst>
  </p:cSld>
  <p:clrMapOvr>
    <a:masterClrMapping/>
  </p:clrMapOvr>
</p:notes>
</file>

<file path=ppt/notesSlides/notesSlide2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E89084-D199-15A2-E92D-4F0320FD92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FF52494-7621-324E-69BE-230D8E2E14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102282-177C-B2BA-51E2-2BBC49A1F4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CA093F-AC85-BD53-842F-FA8BE8FB2D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C4AF9-F8A0-4E5A-9B2A-63DA093259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92061431"/>
      </p:ext>
    </p:extLst>
  </p:cSld>
  <p:clrMapOvr>
    <a:masterClrMapping/>
  </p:clrMapOvr>
</p:notes>
</file>

<file path=ppt/notesSlides/notesSlide2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295FAD-A680-9B74-B894-8C455CC574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88B654F-6137-D70C-1B08-45E73C14CD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1C58B7-41F5-43F3-0417-6092B21AE1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E39D43-DC45-CBCB-FC0A-ACD32E7B77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C4AF9-F8A0-4E5A-9B2A-63DA093259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01108096"/>
      </p:ext>
    </p:extLst>
  </p:cSld>
  <p:clrMapOvr>
    <a:masterClrMapping/>
  </p:clrMapOvr>
</p:notes>
</file>

<file path=ppt/notesSlides/notesSlide2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E32FD7-3FB4-277D-FC2A-57DAE2774C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BDE6CA0-1ACD-3AA4-235E-F0C97DC04B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6E24C3-67BA-5ABC-2369-E6C41BE296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3FD854-C8B1-AC4D-905A-31209A3186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C4AF9-F8A0-4E5A-9B2A-63DA093259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3994563"/>
      </p:ext>
    </p:extLst>
  </p:cSld>
  <p:clrMapOvr>
    <a:masterClrMapping/>
  </p:clrMapOvr>
</p:notes>
</file>

<file path=ppt/notesSlides/notesSlide2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E6EFAE-3A63-8F09-04B6-A60EECF7B4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196240-6D0F-12EA-9628-8C78C81B0F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17B067-1963-41BA-5612-5B0D18BCE6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88AE52-5F80-2D69-F9F1-7E68F7A063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C4AF9-F8A0-4E5A-9B2A-63DA093259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85560998"/>
      </p:ext>
    </p:extLst>
  </p:cSld>
  <p:clrMapOvr>
    <a:masterClrMapping/>
  </p:clrMapOvr>
</p:notes>
</file>

<file path=ppt/notesSlides/notesSlide2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D1F474-2A90-AA5C-BF50-6208A92A44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78BB20-B491-3249-F6C1-0F79DB2D53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D6F866-821F-C1AB-68B7-947553E07A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39052C-9025-03C4-7463-D87DB7BAAA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C4AF9-F8A0-4E5A-9B2A-63DA093259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0257636"/>
      </p:ext>
    </p:extLst>
  </p:cSld>
  <p:clrMapOvr>
    <a:masterClrMapping/>
  </p:clrMapOvr>
</p:notes>
</file>

<file path=ppt/notesSlides/notesSlide2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662305-358D-C8F0-5F0A-879718DB4E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4A3B24-4128-3580-016B-C2DC567563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5B8BB6-E4DD-E422-80BB-7DDF7F4A9D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B830DA-11FB-93E1-DF5A-9D715346C1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C4AF9-F8A0-4E5A-9B2A-63DA093259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22003382"/>
      </p:ext>
    </p:extLst>
  </p:cSld>
  <p:clrMapOvr>
    <a:masterClrMapping/>
  </p:clrMapOvr>
</p:notes>
</file>

<file path=ppt/notesSlides/notesSlide2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A4A678-992B-C61A-6BCE-9A1242C8EE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FE53E9-D857-7A8F-2675-FD72CD5922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4A425D6-7C14-B47E-746B-F0A7BB3813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E04C99-50A6-1468-FFD0-C7B6F75EA1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C4AF9-F8A0-4E5A-9B2A-63DA093259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44120385"/>
      </p:ext>
    </p:extLst>
  </p:cSld>
  <p:clrMapOvr>
    <a:masterClrMapping/>
  </p:clrMapOvr>
</p:notes>
</file>

<file path=ppt/notesSlides/notesSlide2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4EE261-EDF4-926F-2282-EF206BC1F2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A3767E-A8F5-05A5-AE5F-CC1AE096A8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D73874-FB87-1902-8D30-29DAE511B7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2E54A7-8057-3B63-EC9A-76A3E8B001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C4AF9-F8A0-4E5A-9B2A-63DA093259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24916048"/>
      </p:ext>
    </p:extLst>
  </p:cSld>
  <p:clrMapOvr>
    <a:masterClrMapping/>
  </p:clrMapOvr>
</p:notes>
</file>

<file path=ppt/notesSlides/notesSlide2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F6DBAF-5476-4946-09D5-8C2430DF43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8BDF3E-1AFC-1BDD-CC6E-2CD67C05A7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47CA39-38CB-436B-4BF7-9B74EA98B5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DEFF38-B521-4269-2E05-9A71BD8ED0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C4AF9-F8A0-4E5A-9B2A-63DA093259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14189051"/>
      </p:ext>
    </p:extLst>
  </p:cSld>
  <p:clrMapOvr>
    <a:masterClrMapping/>
  </p:clrMapOvr>
</p:notes>
</file>

<file path=ppt/notesSlides/notesSlide2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609826-5A1C-5041-E223-6EE216497C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B745E86-11F5-A09E-60BD-1DA31E3573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C6F596D-8292-40EE-566F-1AE4390E69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858243-653F-B12B-8590-09D66B3A4A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C4AF9-F8A0-4E5A-9B2A-63DA093259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17817317"/>
      </p:ext>
    </p:extLst>
  </p:cSld>
  <p:clrMapOvr>
    <a:masterClrMapping/>
  </p:clrMapOvr>
</p:notes>
</file>

<file path=ppt/notesSlides/notesSlide2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03464A-4E8E-DD53-9848-EC748329C2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73C006-0C9C-B2EE-E344-F277DF9DAB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E8D297-320E-56F8-BF7D-FB4C219508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53DC87-D430-8A4B-97E8-CEADDB5D77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C4AF9-F8A0-4E5A-9B2A-63DA093259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59676413"/>
      </p:ext>
    </p:extLst>
  </p:cSld>
  <p:clrMapOvr>
    <a:masterClrMapping/>
  </p:clrMapOvr>
</p:notes>
</file>

<file path=ppt/notesSlides/notesSlide2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1806BD-46E3-3D31-1C4E-72E703752C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EB7FC21-081B-B258-466A-8D5DF63D31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DE9938-D32A-01DB-763E-05AF29FA50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8C4429-69FD-F728-1BBA-73A9E5FE2D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C4AF9-F8A0-4E5A-9B2A-63DA093259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55634942"/>
      </p:ext>
    </p:extLst>
  </p:cSld>
  <p:clrMapOvr>
    <a:masterClrMapping/>
  </p:clrMapOvr>
</p:notes>
</file>

<file path=ppt/notesSlides/notesSlide2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AECEF4-933A-8DB5-AF54-8422AF359E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954F4B-17E4-47D3-1D73-62D48E5F6E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4862E2-D550-0EB5-24A3-B4070E4863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54AE06-7BCB-DB83-4A82-6D5D225227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C4AF9-F8A0-4E5A-9B2A-63DA093259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91440842"/>
      </p:ext>
    </p:extLst>
  </p:cSld>
  <p:clrMapOvr>
    <a:masterClrMapping/>
  </p:clrMapOvr>
</p:notes>
</file>

<file path=ppt/notesSlides/notesSlide2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BA69D7-2DF6-F46D-DA9F-B787301B2D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7F44C3-38C3-AAE7-25A5-5AFCC9F3DC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283652-F096-C179-B063-E9A9D61C37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AFC1D4-DD71-356E-5967-79D1E8FC58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C4AF9-F8A0-4E5A-9B2A-63DA093259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85039671"/>
      </p:ext>
    </p:extLst>
  </p:cSld>
  <p:clrMapOvr>
    <a:masterClrMapping/>
  </p:clrMapOvr>
</p:notes>
</file>

<file path=ppt/notesSlides/notesSlide2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F7A45C-BFE9-5A87-C4F4-1572EBD1CF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C91DBB1-44F3-6E38-BC7C-42217FDAA8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A89A93-D390-14E0-3EA3-A7C25E4032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17B0BD-770F-1D49-9DAD-1ED5ADCFDB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C4AF9-F8A0-4E5A-9B2A-63DA093259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18731613"/>
      </p:ext>
    </p:extLst>
  </p:cSld>
  <p:clrMapOvr>
    <a:masterClrMapping/>
  </p:clrMapOvr>
</p:notes>
</file>

<file path=ppt/notesSlides/notesSlide2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DE9B6D-B14D-C58A-D811-54B9F01BAA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876EBDE-F770-94D0-7393-10E44ACCF4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7927BA-D4C1-9030-850E-6F2091DD80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D2559A-67FD-172D-A52D-44B09AE5CD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C4AF9-F8A0-4E5A-9B2A-63DA093259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17872817"/>
      </p:ext>
    </p:extLst>
  </p:cSld>
  <p:clrMapOvr>
    <a:masterClrMapping/>
  </p:clrMapOvr>
</p:notes>
</file>

<file path=ppt/notesSlides/notesSlide2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1FA440-6C94-5AEB-B7FC-E17EFF4F68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0586B1-21BC-8DA5-6D4F-EBE1E64390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5FC48EC-E8F8-595F-9198-5B4BB723E4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B25BCF-B341-B1A3-34ED-87F091BC49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C4AF9-F8A0-4E5A-9B2A-63DA093259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48010989"/>
      </p:ext>
    </p:extLst>
  </p:cSld>
  <p:clrMapOvr>
    <a:masterClrMapping/>
  </p:clrMapOvr>
</p:notes>
</file>

<file path=ppt/notesSlides/notesSlide2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D22446-84CE-03D1-5756-48CDC4D5FF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49ED67-04FB-8977-B73C-938A1DB798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996D81-2644-F9AC-BDB9-6D3A6CC269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2A61F1-F4DB-7C14-C96E-A4AF12A9A7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C4AF9-F8A0-4E5A-9B2A-63DA093259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93734931"/>
      </p:ext>
    </p:extLst>
  </p:cSld>
  <p:clrMapOvr>
    <a:masterClrMapping/>
  </p:clrMapOvr>
</p:notes>
</file>

<file path=ppt/notesSlides/notesSlide2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0FD4F2-EFF6-9C9C-726D-53E0AA8FCB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6E432A-9C99-28C6-3B40-46FAA56A6D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75BE80-AECF-498F-1FB8-D7602C6F5B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CC940E-C673-4CA7-E9FD-4F138AE565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C4AF9-F8A0-4E5A-9B2A-63DA093259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63230778"/>
      </p:ext>
    </p:extLst>
  </p:cSld>
  <p:clrMapOvr>
    <a:masterClrMapping/>
  </p:clrMapOvr>
</p:notes>
</file>

<file path=ppt/notesSlides/notesSlide2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0C16F4-F394-6062-427A-E448739247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0A2F16D-E28A-32B3-BD30-4E767E9FBD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C0AB68-A3EA-4471-E5A8-2C5CD532E0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D5233B-B964-4657-F761-3F1FA65925B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C4AF9-F8A0-4E5A-9B2A-63DA093259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57058582"/>
      </p:ext>
    </p:extLst>
  </p:cSld>
  <p:clrMapOvr>
    <a:masterClrMapping/>
  </p:clrMapOvr>
</p:notes>
</file>

<file path=ppt/notesSlides/notesSlide2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3AE6E9-5CB6-2E8F-D176-6269244034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71EA845-47A2-6E7C-BDE1-92AFEBE571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B300826-95BC-B67C-EAFF-2D5250F368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607F74-52F8-E1BC-1166-75138EC9FC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C4AF9-F8A0-4E5A-9B2A-63DA093259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35130797"/>
      </p:ext>
    </p:extLst>
  </p:cSld>
  <p:clrMapOvr>
    <a:masterClrMapping/>
  </p:clrMapOvr>
</p:notes>
</file>

<file path=ppt/notesSlides/notesSlide2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088EDE-8B40-ED3D-3269-989CE20667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E0D5C5-319D-AB4D-2736-B9F142E50B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118B34-57F7-A911-D49B-1F3CB4E427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C76DB0-1BDF-D045-290B-004A99130F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C4AF9-F8A0-4E5A-9B2A-63DA093259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83123694"/>
      </p:ext>
    </p:extLst>
  </p:cSld>
  <p:clrMapOvr>
    <a:masterClrMapping/>
  </p:clrMapOvr>
</p:notes>
</file>

<file path=ppt/notesSlides/notesSlide2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3DB260-EE60-686B-EF43-9383D5808D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493B94-675B-7619-AB3B-70B562927A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EC84B9-C23C-0963-39E2-3409AA04AE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DD0A6C-7809-8CD3-BB97-20FA290A34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C4AF9-F8A0-4E5A-9B2A-63DA093259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97972595"/>
      </p:ext>
    </p:extLst>
  </p:cSld>
  <p:clrMapOvr>
    <a:masterClrMapping/>
  </p:clrMapOvr>
</p:notes>
</file>

<file path=ppt/notesSlides/notesSlide2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89D418-C93C-DB42-54AB-05D19EA5CE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BCDB66-D731-EC4C-8F37-72E0CDEF24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CE6EA52-C77E-DAFC-AE05-D530AE323C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EB29F2-3DCA-7B1D-CF38-B9F0412A28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C4AF9-F8A0-4E5A-9B2A-63DA093259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01288912"/>
      </p:ext>
    </p:extLst>
  </p:cSld>
  <p:clrMapOvr>
    <a:masterClrMapping/>
  </p:clrMapOvr>
</p:notes>
</file>

<file path=ppt/notesSlides/notesSlide2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90D3B-EE3E-A09C-26F6-9B9AA7E6CD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95B9DA-A196-348D-2284-4DE798C6FE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1969E1-28F6-58EC-0892-213162D01E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A49969-17D2-68E2-C45F-AFE65645FD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C4AF9-F8A0-4E5A-9B2A-63DA093259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76346019"/>
      </p:ext>
    </p:extLst>
  </p:cSld>
  <p:clrMapOvr>
    <a:masterClrMapping/>
  </p:clrMapOvr>
</p:notes>
</file>

<file path=ppt/notesSlides/notesSlide2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0F1A7F-3369-B879-4229-BD53EC5DF7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8C7E8B-BE49-47F6-F5A2-11407133AB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141374B-051E-BAA1-04C6-B1A3F3FBF5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C8D94F-2574-E2F1-65F3-299BA9BF70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C4AF9-F8A0-4E5A-9B2A-63DA093259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64579793"/>
      </p:ext>
    </p:extLst>
  </p:cSld>
  <p:clrMapOvr>
    <a:masterClrMapping/>
  </p:clrMapOvr>
</p:notes>
</file>

<file path=ppt/notesSlides/notesSlide2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F82599-BC98-F8FB-F7B8-2686BBB9E4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143D89-0304-A616-B7B1-7D523201EE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2BB9B5-6CCC-D909-BAF7-2630C3A9BB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16088F-E126-7679-66E6-46E218CEC4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C4AF9-F8A0-4E5A-9B2A-63DA093259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75788568"/>
      </p:ext>
    </p:extLst>
  </p:cSld>
  <p:clrMapOvr>
    <a:masterClrMapping/>
  </p:clrMapOvr>
</p:notes>
</file>

<file path=ppt/notesSlides/notesSlide2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94A069-FBBD-9143-3C96-0208E5FD13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E20729-E94E-67A5-77B1-FEEE6EF580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5685DE4-0624-6507-2523-8E52ACA6A9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0AE7E5-3DBB-7844-CA23-3D76561A40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C4AF9-F8A0-4E5A-9B2A-63DA093259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37455191"/>
      </p:ext>
    </p:extLst>
  </p:cSld>
  <p:clrMapOvr>
    <a:masterClrMapping/>
  </p:clrMapOvr>
</p:notes>
</file>

<file path=ppt/notesSlides/notesSlide2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0555D8-9EFD-AE16-E9E1-32C40309A4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C5ABA93-2B01-4464-FDE2-04D963C050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9925E7-BB55-1618-E281-C11D3B4DA4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79418E-C26E-24B8-7387-40BA8FB249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C4AF9-F8A0-4E5A-9B2A-63DA093259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40597724"/>
      </p:ext>
    </p:extLst>
  </p:cSld>
  <p:clrMapOvr>
    <a:masterClrMapping/>
  </p:clrMapOvr>
</p:notes>
</file>

<file path=ppt/notesSlides/notesSlide2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7CFE59-D492-41F6-C9D4-3C502C8B39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80623A-D122-2685-F02A-37A8123846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C481EF-8792-0CD4-70DE-246752A696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478356-9074-7BC3-E1BF-9150886AE2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C4AF9-F8A0-4E5A-9B2A-63DA093259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36538269"/>
      </p:ext>
    </p:extLst>
  </p:cSld>
  <p:clrMapOvr>
    <a:masterClrMapping/>
  </p:clrMapOvr>
</p:notes>
</file>

<file path=ppt/notesSlides/notesSlide2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6A8B98-6D5E-6298-E32C-DD5222BF43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08B5EA4-0BC3-FD66-C99C-F0CF4E334C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B058DD-E073-5CDD-9401-70B50BD0BA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87DB1C-17C4-F3EF-1E27-1E3BA669B1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C4AF9-F8A0-4E5A-9B2A-63DA093259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31014038"/>
      </p:ext>
    </p:extLst>
  </p:cSld>
  <p:clrMapOvr>
    <a:masterClrMapping/>
  </p:clrMapOvr>
</p:notes>
</file>

<file path=ppt/notesSlides/notesSlide2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9C5511-1451-F5B6-A81A-15AB41D959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4A8C4B0-EFFF-ED02-993B-3D1B32E9BC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5682AEC-6EE7-89A5-1E95-4B9FF9BA85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3B5807-B1B9-E2DC-4E29-59823B572A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C4AF9-F8A0-4E5A-9B2A-63DA093259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65301465"/>
      </p:ext>
    </p:extLst>
  </p:cSld>
  <p:clrMapOvr>
    <a:masterClrMapping/>
  </p:clrMapOvr>
</p:notes>
</file>

<file path=ppt/notesSlides/notesSlide2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60E210-5AF0-8B74-BE80-6E876EB88E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60E117-0D0D-6CE3-C45D-11ACA77C9F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EA1249-6E07-FD9C-3630-3E982F8E35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1B891F-1A4D-748A-1662-EEB9290249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C4AF9-F8A0-4E5A-9B2A-63DA093259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42172780"/>
      </p:ext>
    </p:extLst>
  </p:cSld>
  <p:clrMapOvr>
    <a:masterClrMapping/>
  </p:clrMapOvr>
</p:notes>
</file>

<file path=ppt/notesSlides/notesSlide2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8A87B0-AD8D-77A2-4D0C-6CA2E68698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902D8A-DF94-45E2-6D46-9816EFF261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0FA024-B322-8437-9352-E6156DA65A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9E60FA-EC2C-9CCD-5426-28A242DE4D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C4AF9-F8A0-4E5A-9B2A-63DA093259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23377265"/>
      </p:ext>
    </p:extLst>
  </p:cSld>
  <p:clrMapOvr>
    <a:masterClrMapping/>
  </p:clrMapOvr>
</p:notes>
</file>

<file path=ppt/notesSlides/notesSlide2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37D9B9-0AD0-062B-5964-76B14A45EF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A77D4F-CEEC-7886-DB6B-809D7D16D5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ABF9C9-FD26-8D8B-D9A7-F14BD3A48F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04EE22-945F-CE41-B9B3-CD67280D1C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C4AF9-F8A0-4E5A-9B2A-63DA093259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75701777"/>
      </p:ext>
    </p:extLst>
  </p:cSld>
  <p:clrMapOvr>
    <a:masterClrMapping/>
  </p:clrMapOvr>
</p:notes>
</file>

<file path=ppt/notesSlides/notesSlide2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FA4FDA-1EAC-7BF1-C46D-DF7A6BCCBB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E6D17B-6E2D-E283-9C98-2D3E73FF61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1203D2D-AF7F-2110-8843-0FC2E17663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C6AA91-8964-87E5-0233-CF199A25D1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C4AF9-F8A0-4E5A-9B2A-63DA093259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39234156"/>
      </p:ext>
    </p:extLst>
  </p:cSld>
  <p:clrMapOvr>
    <a:masterClrMapping/>
  </p:clrMapOvr>
</p:notes>
</file>

<file path=ppt/notesSlides/notesSlide2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FADE7B-0D61-2F4E-E006-540FFF3092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34199B-03E5-A25D-7645-023C8693BA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1CE8C9-348B-D50E-E1CA-A2D2E945B1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779694-BAF0-A7D2-F311-E50F7B9D70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C4AF9-F8A0-4E5A-9B2A-63DA093259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49023975"/>
      </p:ext>
    </p:extLst>
  </p:cSld>
  <p:clrMapOvr>
    <a:masterClrMapping/>
  </p:clrMapOvr>
</p:notes>
</file>

<file path=ppt/notesSlides/notesSlide2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9A0877-7160-60E4-F564-14E79F476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D80E8CD-0030-A14F-237F-E614223660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B421DDB-8B16-14D4-69A6-782843AABC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0944A6-CD6B-21BF-D647-A0E17AD8F6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C4AF9-F8A0-4E5A-9B2A-63DA093259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00404404"/>
      </p:ext>
    </p:extLst>
  </p:cSld>
  <p:clrMapOvr>
    <a:masterClrMapping/>
  </p:clrMapOvr>
</p:notes>
</file>

<file path=ppt/notesSlides/notesSlide2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3E0BAF-9395-B6C4-29FF-207E504917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EE58304-A03C-B92E-D22B-AD85922BFF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D7ED1B-CE0F-4C59-6049-CB21FC364E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99EB1C-0655-C18D-E947-86A709FBCF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C4AF9-F8A0-4E5A-9B2A-63DA093259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93268142"/>
      </p:ext>
    </p:extLst>
  </p:cSld>
  <p:clrMapOvr>
    <a:masterClrMapping/>
  </p:clrMapOvr>
</p:notes>
</file>

<file path=ppt/notesSlides/notesSlide2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A0C2A6-591B-6993-D0CB-EC6B5DC6F8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9281BA-1328-00B1-4BEC-C999FB00D8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82B6ED-FB05-BCE2-56EA-D026FD1E16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95CC22-0624-217F-4A09-64742BDC7B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C4AF9-F8A0-4E5A-9B2A-63DA093259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1603929"/>
      </p:ext>
    </p:extLst>
  </p:cSld>
  <p:clrMapOvr>
    <a:masterClrMapping/>
  </p:clrMapOvr>
</p:notes>
</file>

<file path=ppt/notesSlides/notesSlide2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E76645-AB2C-B823-AFE9-EAC8C62083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67EFD6-43A3-B46E-967B-831191D1C8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F2DEDEC-23BC-9967-DBE6-E23B2FD69F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CE6F92-96B1-8FD2-0588-B1DA9741DF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C4AF9-F8A0-4E5A-9B2A-63DA093259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54637547"/>
      </p:ext>
    </p:extLst>
  </p:cSld>
  <p:clrMapOvr>
    <a:masterClrMapping/>
  </p:clrMapOvr>
</p:notes>
</file>

<file path=ppt/notesSlides/notesSlide2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F561A2-27F0-859F-20A2-98EF428B47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C1F815-1950-82F4-6276-1E8B701881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D6B7CF4-CD75-5B7F-A2FC-BF4335859D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607B77-057A-DA65-D508-CAAE5443E1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C4AF9-F8A0-4E5A-9B2A-63DA093259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34763924"/>
      </p:ext>
    </p:extLst>
  </p:cSld>
  <p:clrMapOvr>
    <a:masterClrMapping/>
  </p:clrMapOvr>
</p:notes>
</file>

<file path=ppt/notesSlides/notesSlide2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D69031-5D4B-F374-A0D7-80728EC6AE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0AF3954-B4B7-D162-4145-167CBAF910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9EFDEC-081B-3EE1-507A-3B6E813D73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CD51E1-2905-FCC1-5DA7-2C8AD51E62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C4AF9-F8A0-4E5A-9B2A-63DA093259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64155869"/>
      </p:ext>
    </p:extLst>
  </p:cSld>
  <p:clrMapOvr>
    <a:masterClrMapping/>
  </p:clrMapOvr>
</p:notes>
</file>

<file path=ppt/notesSlides/notesSlide2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8E1CEF-4705-B2F2-2041-3C417CEC0E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DE7E6D-0D49-D638-50B2-DA7371E72A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D8D3C97-D104-E67C-1E4F-3BCEB96CAA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E549FB-D3C4-A251-0E7B-71A95D83C8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C4AF9-F8A0-4E5A-9B2A-63DA093259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9157479"/>
      </p:ext>
    </p:extLst>
  </p:cSld>
  <p:clrMapOvr>
    <a:masterClrMapping/>
  </p:clrMapOvr>
</p:notes>
</file>

<file path=ppt/notesSlides/notesSlide2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E6F94F-25C8-87B7-8AF2-33D4FCA24B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95D3A9-0912-8DAD-2A16-985176D894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40F92B-48FA-6B61-61E8-8C3260EB1F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4ED808-4734-1F0B-27C0-91AF418AA6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C4AF9-F8A0-4E5A-9B2A-63DA093259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63096053"/>
      </p:ext>
    </p:extLst>
  </p:cSld>
  <p:clrMapOvr>
    <a:masterClrMapping/>
  </p:clrMapOvr>
</p:notes>
</file>

<file path=ppt/notesSlides/notesSlide2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564907-9D9F-C17A-34BE-3C7C866061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32D1AB-CA7D-B1F2-E312-14A8537315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297820-751D-D92D-BD7B-9DF368F992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C82372-A97F-73A7-3E1F-E648DDD550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C4AF9-F8A0-4E5A-9B2A-63DA093259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62849566"/>
      </p:ext>
    </p:extLst>
  </p:cSld>
  <p:clrMapOvr>
    <a:masterClrMapping/>
  </p:clrMapOvr>
</p:notes>
</file>

<file path=ppt/notesSlides/notesSlide2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433706-61FC-6D41-AA03-697C2B3EDF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1A714F-173C-1E4D-802A-B4EC8720CB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6E3709-D3C7-DC82-19CB-73FCA3E7D2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B347C0-A1E3-3584-67D4-3C2606CB7E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C4AF9-F8A0-4E5A-9B2A-63DA093259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65166927"/>
      </p:ext>
    </p:extLst>
  </p:cSld>
  <p:clrMapOvr>
    <a:masterClrMapping/>
  </p:clrMapOvr>
</p:notes>
</file>

<file path=ppt/notesSlides/notesSlide2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DFDE1B-ABFD-4D23-7526-8D8A06CC42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3556BEF-226C-2937-2638-3820461C2D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9BABBF7-7E4F-F1EE-0A90-3AB4318A7B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CDAB82-237C-225E-CAFB-3A303D9F71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C4AF9-F8A0-4E5A-9B2A-63DA093259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80566902"/>
      </p:ext>
    </p:extLst>
  </p:cSld>
  <p:clrMapOvr>
    <a:masterClrMapping/>
  </p:clrMapOvr>
</p:notes>
</file>

<file path=ppt/notesSlides/notesSlide2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E4E97-3FAC-4B8C-555A-E5F192A29A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31A30F-ECC8-36FA-2040-50E8161DB4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D4CBE5-5B8B-C604-5EDE-80FE30652A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243508-97E1-A8C5-3506-625C5DEA33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C4AF9-F8A0-4E5A-9B2A-63DA093259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92702003"/>
      </p:ext>
    </p:extLst>
  </p:cSld>
  <p:clrMapOvr>
    <a:masterClrMapping/>
  </p:clrMapOvr>
</p:notes>
</file>

<file path=ppt/notesSlides/notesSlide2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3E68C4-EF2D-6198-073B-F5FA3F1EF2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42A0D8-F1D9-BF33-68D1-C927F46F47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A56594-9D60-EA70-3B83-C84F985C9D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212456-B76A-4083-801D-7E6FF3FD3E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C4AF9-F8A0-4E5A-9B2A-63DA093259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19798443"/>
      </p:ext>
    </p:extLst>
  </p:cSld>
  <p:clrMapOvr>
    <a:masterClrMapping/>
  </p:clrMapOvr>
</p:notes>
</file>

<file path=ppt/notesSlides/notesSlide2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18994E-9B34-1A7E-FA28-4DF0E94CE5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A7E851-4552-AE13-70CB-4D67A0BCFD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06F392-9410-8CF0-69A3-A5CADB9625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90FCCD-C3E8-466E-0026-C48A6FB0FD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C4AF9-F8A0-4E5A-9B2A-63DA093259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00435961"/>
      </p:ext>
    </p:extLst>
  </p:cSld>
  <p:clrMapOvr>
    <a:masterClrMapping/>
  </p:clrMapOvr>
</p:notes>
</file>

<file path=ppt/notesSlides/notesSlide2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A909EA-846D-0C10-4D30-A3BC454851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316A28-847C-7DC7-298F-E1FA2EB0F9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D6511F-7427-A52C-811B-0550AD0283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E96F01-29F2-E945-3DD3-F5BB187209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C4AF9-F8A0-4E5A-9B2A-63DA093259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09242113"/>
      </p:ext>
    </p:extLst>
  </p:cSld>
  <p:clrMapOvr>
    <a:masterClrMapping/>
  </p:clrMapOvr>
</p:notes>
</file>

<file path=ppt/notesSlides/notesSlide2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6CFF6B-DA51-4FDC-B534-A008559CE4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853B8F-7387-A26D-E7F2-09100664CA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4B863D-330D-3304-1874-D8B4182D01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DFA7FD-BD1F-E920-B847-8806B80ED1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C4AF9-F8A0-4E5A-9B2A-63DA093259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41474876"/>
      </p:ext>
    </p:extLst>
  </p:cSld>
  <p:clrMapOvr>
    <a:masterClrMapping/>
  </p:clrMapOvr>
</p:notes>
</file>

<file path=ppt/notesSlides/notesSlide2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9205B8-0A20-1CE4-1451-826A4720FA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9533D36-9321-F22F-A235-221D7EE5C7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6FA15E-D0E4-B33F-26FE-CEF92920C7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A4666A-7DB6-9DD3-5275-81D155BA4F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C4AF9-F8A0-4E5A-9B2A-63DA093259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10982076"/>
      </p:ext>
    </p:extLst>
  </p:cSld>
  <p:clrMapOvr>
    <a:masterClrMapping/>
  </p:clrMapOvr>
</p:notes>
</file>

<file path=ppt/notesSlides/notesSlide2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B753F1-4EA8-0D63-8719-B2F1F01BFA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86E501-1BC6-8D61-E669-D06FC186A0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258697-8B3B-5FB0-CF9C-705358736D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818EA8-89AC-4810-9643-6359C9095B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C4AF9-F8A0-4E5A-9B2A-63DA093259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50462941"/>
      </p:ext>
    </p:extLst>
  </p:cSld>
  <p:clrMapOvr>
    <a:masterClrMapping/>
  </p:clrMapOvr>
</p:notes>
</file>

<file path=ppt/notesSlides/notesSlide2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C8459F-0235-3B94-879F-9FAA5E1FF8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EF4A69-AC58-E205-E4A1-9306D904AC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E9E720-5B68-224F-70A8-C6558CD5FC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9B2BB5-F970-602A-2EEA-61A1E6FD05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C4AF9-F8A0-4E5A-9B2A-63DA093259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71290825"/>
      </p:ext>
    </p:extLst>
  </p:cSld>
  <p:clrMapOvr>
    <a:masterClrMapping/>
  </p:clrMapOvr>
</p:notes>
</file>

<file path=ppt/notesSlides/notesSlide2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845451-90F9-7DE9-19CC-A4E8227821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2B31E7-719A-4E82-7F7A-5D083B7716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7EF40DF-12C2-C3EE-FF9B-D2DCC319DD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7444AE-6135-10F5-AEE5-6ACFA3E0E5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C4AF9-F8A0-4E5A-9B2A-63DA093259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04911873"/>
      </p:ext>
    </p:extLst>
  </p:cSld>
  <p:clrMapOvr>
    <a:masterClrMapping/>
  </p:clrMapOvr>
</p:notes>
</file>

<file path=ppt/notesSlides/notesSlide2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F82E00-3C84-F6F7-A99C-943CB2815E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4D045A-0CE6-D9B5-3E94-0346E0E254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A00B4D6-0446-20A7-FDFE-0DD91058D2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6557DB-FF3E-A132-A6DE-58C30F559C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C4AF9-F8A0-4E5A-9B2A-63DA093259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54243684"/>
      </p:ext>
    </p:extLst>
  </p:cSld>
  <p:clrMapOvr>
    <a:masterClrMapping/>
  </p:clrMapOvr>
</p:notes>
</file>

<file path=ppt/notesSlides/notesSlide2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E83649-0FF1-E641-3546-F6EA81BC0C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39D41E-50F4-3B81-C4FB-408FE23F8A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1EF993-A023-C90F-7086-38D608D31A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D2E7DD-B189-D781-3599-0E03B2A69B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C4AF9-F8A0-4E5A-9B2A-63DA093259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40735949"/>
      </p:ext>
    </p:extLst>
  </p:cSld>
  <p:clrMapOvr>
    <a:masterClrMapping/>
  </p:clrMapOvr>
</p:notes>
</file>

<file path=ppt/notesSlides/notesSlide2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2191AC-85F4-242E-82D7-904003B7B7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4EC07C-6775-4A11-BAA9-3BBA879656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562A15-C68A-4728-AA5C-3136E9B37D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34B43F-2D55-9F58-7806-C45CBFD22D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C4AF9-F8A0-4E5A-9B2A-63DA093259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23182291"/>
      </p:ext>
    </p:extLst>
  </p:cSld>
  <p:clrMapOvr>
    <a:masterClrMapping/>
  </p:clrMapOvr>
</p:notes>
</file>

<file path=ppt/notesSlides/notesSlide2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439FE7-A25F-65DF-42F8-2B6E34F66E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CB61A3-A179-739D-966A-D1271D42E2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7BFEDF-5FCF-B89B-5780-267426CF84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D481BA-642F-FA19-F8BC-779A4A8831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C4AF9-F8A0-4E5A-9B2A-63DA093259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40011336"/>
      </p:ext>
    </p:extLst>
  </p:cSld>
  <p:clrMapOvr>
    <a:masterClrMapping/>
  </p:clrMapOvr>
</p:notes>
</file>

<file path=ppt/notesSlides/notesSlide2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2398FB-CAA3-2D2F-E80C-ACA93D1E0D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36B78F-4995-C97A-7493-560BBF0161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6B3C24-4B28-DCA6-5601-1D4AF16599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34AC2F-6799-1D37-0F02-905C2089FE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C4AF9-F8A0-4E5A-9B2A-63DA093259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88884607"/>
      </p:ext>
    </p:extLst>
  </p:cSld>
  <p:clrMapOvr>
    <a:masterClrMapping/>
  </p:clrMapOvr>
</p:notes>
</file>

<file path=ppt/notesSlides/notesSlide2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0DB8A7-9052-56A4-B795-A77CCA5EEA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4F0E6D-061C-DF19-CAA5-63498B3A2A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FA276A-3C02-C8D7-D4A9-C936ACE732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FE9986-7941-20EB-8A41-D5C96F45DF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C4AF9-F8A0-4E5A-9B2A-63DA093259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69418458"/>
      </p:ext>
    </p:extLst>
  </p:cSld>
  <p:clrMapOvr>
    <a:masterClrMapping/>
  </p:clrMapOvr>
</p:notes>
</file>

<file path=ppt/notesSlides/notesSlide2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821128-E09D-F05C-3161-9AC4B896D0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5FB01B-EA4F-6E03-4258-AAAD25C461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7023F3-F110-21FF-4126-D0B07A2FC4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E28917-3EED-D6B4-1352-8DA1FA5E2C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C4AF9-F8A0-4E5A-9B2A-63DA093259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52463357"/>
      </p:ext>
    </p:extLst>
  </p:cSld>
  <p:clrMapOvr>
    <a:masterClrMapping/>
  </p:clrMapOvr>
</p:notes>
</file>

<file path=ppt/notesSlides/notesSlide2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4CAC57-4A0A-68E7-94B8-4CEF263FD4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2167727-0CCD-A909-4DDC-6C034561AF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5D58AC-AFDD-BE9D-CD01-A3FEA5E353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1A6426-93D7-0D31-5062-034B88B656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C4AF9-F8A0-4E5A-9B2A-63DA093259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32762709"/>
      </p:ext>
    </p:extLst>
  </p:cSld>
  <p:clrMapOvr>
    <a:masterClrMapping/>
  </p:clrMapOvr>
</p:notes>
</file>

<file path=ppt/notesSlides/notesSlide2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18AEE9-475F-9D8F-75CE-3A1E9712B8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C324E2-C331-6AAF-1040-38863CB549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619490-6114-B8CB-9407-310FF3C738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64F84F-5C47-86B9-9833-74B10B1B5E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C4AF9-F8A0-4E5A-9B2A-63DA093259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37982557"/>
      </p:ext>
    </p:extLst>
  </p:cSld>
  <p:clrMapOvr>
    <a:masterClrMapping/>
  </p:clrMapOvr>
</p:notes>
</file>

<file path=ppt/notesSlides/notesSlide2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2C517F-6922-CF64-A1E1-003334ACED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D90076F-79DE-8DD4-59B2-B9359DAD37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93EFCCA-D66C-D96C-C671-77570DD514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65EC2B-3910-59D1-B81E-9F820C0212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C4AF9-F8A0-4E5A-9B2A-63DA093259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76934690"/>
      </p:ext>
    </p:extLst>
  </p:cSld>
  <p:clrMapOvr>
    <a:masterClrMapping/>
  </p:clrMapOvr>
</p:notes>
</file>

<file path=ppt/notesSlides/notesSlide2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A7C03C-FAD2-2E9C-7642-1715844ADA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35C285-D699-371C-43E6-F4210DEF9D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59DA60-6AC5-2903-B6A6-AAE2B272C9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F7643D-7843-8A02-FFE0-7150046B33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C4AF9-F8A0-4E5A-9B2A-63DA093259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09677620"/>
      </p:ext>
    </p:extLst>
  </p:cSld>
  <p:clrMapOvr>
    <a:masterClrMapping/>
  </p:clrMapOvr>
</p:notes>
</file>

<file path=ppt/notesSlides/notesSlide2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8286FE-755D-5F04-9F94-12BD68B20E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3588A8-F9A8-059D-AE65-9D9B94F353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2D9F24-40F2-3F46-47E6-7F349E2DA8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44FC54-A7BB-A613-98AD-19569BA29D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C4AF9-F8A0-4E5A-9B2A-63DA093259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92456433"/>
      </p:ext>
    </p:extLst>
  </p:cSld>
  <p:clrMapOvr>
    <a:masterClrMapping/>
  </p:clrMapOvr>
</p:notes>
</file>

<file path=ppt/notesSlides/notesSlide2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13A811-1815-C342-08D2-96FB71A4D8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ADE142-FF16-EAA9-F047-8E77481D29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AB1CFD-569D-1651-19C9-909E579C60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CB6BF8-6B1B-0056-3496-199AE9607C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C4AF9-F8A0-4E5A-9B2A-63DA093259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38345309"/>
      </p:ext>
    </p:extLst>
  </p:cSld>
  <p:clrMapOvr>
    <a:masterClrMapping/>
  </p:clrMapOvr>
</p:notes>
</file>

<file path=ppt/notesSlides/notesSlide3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4C0830-7F74-84DC-C087-08FDA038B2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513DBD-F581-5A68-FF1C-6B7D07A6E1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0CE9E3-AE5B-BE42-24E1-A7BFE02F19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982766-3AB1-80C1-F021-D401A1094E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C4AF9-F8A0-4E5A-9B2A-63DA093259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38066842"/>
      </p:ext>
    </p:extLst>
  </p:cSld>
  <p:clrMapOvr>
    <a:masterClrMapping/>
  </p:clrMapOvr>
</p:notes>
</file>

<file path=ppt/notesSlides/notesSlide3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B349AC-8534-A25D-928A-056A550368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F3F0C4-E9FF-C93B-6A2E-AB34285226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2CB491-E883-FEFA-319A-1179133B5A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36DC3F-70D8-81AB-9549-65602760BF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C4AF9-F8A0-4E5A-9B2A-63DA093259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17066678"/>
      </p:ext>
    </p:extLst>
  </p:cSld>
  <p:clrMapOvr>
    <a:masterClrMapping/>
  </p:clrMapOvr>
</p:notes>
</file>

<file path=ppt/notesSlides/notesSlide3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746687-D9C1-18D2-A77F-A6A04372AA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61C88D-FAAD-E347-6D44-F9AD104F21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EFED9D-C153-B4C8-CD7C-8E4F93163B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7059AB-E1B1-7F46-AA0E-DCDAE37D94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C4AF9-F8A0-4E5A-9B2A-63DA093259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60470923"/>
      </p:ext>
    </p:extLst>
  </p:cSld>
  <p:clrMapOvr>
    <a:masterClrMapping/>
  </p:clrMapOvr>
</p:notes>
</file>

<file path=ppt/notesSlides/notesSlide3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FC2A09-37A9-0D02-7E66-F03ABD71E0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81B4282-0C1C-E4ED-A753-53E9038F21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138CE28-A1DF-D1A7-5A26-1B37BA6A33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10F3A8-90CF-DE85-AC36-E7766767BB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C4AF9-F8A0-4E5A-9B2A-63DA093259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29409488"/>
      </p:ext>
    </p:extLst>
  </p:cSld>
  <p:clrMapOvr>
    <a:masterClrMapping/>
  </p:clrMapOvr>
</p:notes>
</file>

<file path=ppt/notesSlides/notesSlide3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F349C7-E30F-355B-D609-B29BC047AF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5D5E35-FD35-DD93-CDD1-B5338369C2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40AF3E-A737-8A31-4935-5856D904DB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9AA661-7181-B23B-12F7-777004F3EC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C4AF9-F8A0-4E5A-9B2A-63DA093259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75484371"/>
      </p:ext>
    </p:extLst>
  </p:cSld>
  <p:clrMapOvr>
    <a:masterClrMapping/>
  </p:clrMapOvr>
</p:notes>
</file>

<file path=ppt/notesSlides/notesSlide3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879882-1B6D-5BA8-AD3D-427143FE32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D3A5AB-05C4-CE60-4662-7B934C3B00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7663AD-34DD-2C8D-C709-16FE4A0369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CE7017-69DF-2CAE-0FE1-7731E69662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C4AF9-F8A0-4E5A-9B2A-63DA093259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75969749"/>
      </p:ext>
    </p:extLst>
  </p:cSld>
  <p:clrMapOvr>
    <a:masterClrMapping/>
  </p:clrMapOvr>
</p:notes>
</file>

<file path=ppt/notesSlides/notesSlide3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FBACE4-ED5C-CC08-1782-E1C0152519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E3E5C6-EB74-13A2-C774-588B70538A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F980D8B-242F-3D31-8242-FDF5147A58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5EAF18-F524-878D-428D-FAAC1F7871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C4AF9-F8A0-4E5A-9B2A-63DA093259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05591598"/>
      </p:ext>
    </p:extLst>
  </p:cSld>
  <p:clrMapOvr>
    <a:masterClrMapping/>
  </p:clrMapOvr>
</p:notes>
</file>

<file path=ppt/notesSlides/notesSlide3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9136B2-6E51-240B-0027-F6C89FB66C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E85B1FD-BB5B-71DD-2990-493C44578A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8B8AA7-290C-34E4-F498-F95E305060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066408-835D-A407-3774-7F55379388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C4AF9-F8A0-4E5A-9B2A-63DA093259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74994798"/>
      </p:ext>
    </p:extLst>
  </p:cSld>
  <p:clrMapOvr>
    <a:masterClrMapping/>
  </p:clrMapOvr>
</p:notes>
</file>

<file path=ppt/notesSlides/notesSlide3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A5ED16-F731-D538-B557-11ACF80377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7BD5CE7-86A2-B94E-0B37-2C721134DD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356EC7-7EEC-C811-6B67-53F4F8335C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47DB20-02CA-1149-B981-2152DDD84F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C4AF9-F8A0-4E5A-9B2A-63DA093259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9230623"/>
      </p:ext>
    </p:extLst>
  </p:cSld>
  <p:clrMapOvr>
    <a:masterClrMapping/>
  </p:clrMapOvr>
</p:notes>
</file>

<file path=ppt/notesSlides/notesSlide3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D05008-4130-9A08-85D9-2234E774D4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CE60E9-A6B9-8E7C-BEC0-13237EE6FD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2B488C-FCA7-1444-35E9-638B8BBD32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A2A035-5593-2061-208D-5D493155E6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C4AF9-F8A0-4E5A-9B2A-63DA093259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30333415"/>
      </p:ext>
    </p:extLst>
  </p:cSld>
  <p:clrMapOvr>
    <a:masterClrMapping/>
  </p:clrMapOvr>
</p:notes>
</file>

<file path=ppt/notesSlides/notesSlide3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8381B3-ADED-DCCE-878C-80999D9DD2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DF8177-1DF4-20B9-87FE-6709B9F97C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DA660A-A3A2-FB8A-6AB9-2C055581DE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B2F1E7-C241-F77D-C466-776D034B5F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C4AF9-F8A0-4E5A-9B2A-63DA093259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28871108"/>
      </p:ext>
    </p:extLst>
  </p:cSld>
  <p:clrMapOvr>
    <a:masterClrMapping/>
  </p:clrMapOvr>
</p:notes>
</file>

<file path=ppt/notesSlides/notesSlide3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4359DF-0105-CD51-ADC2-C24368816C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2406889-32C3-69BE-F1F5-AF051A4D2E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BBE336-78B5-06CE-C52F-BAE0FA2C1A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1EB2B8-1D73-2C02-C6C6-BD5DDC0397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C4AF9-F8A0-4E5A-9B2A-63DA093259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90908148"/>
      </p:ext>
    </p:extLst>
  </p:cSld>
  <p:clrMapOvr>
    <a:masterClrMapping/>
  </p:clrMapOvr>
</p:notes>
</file>

<file path=ppt/notesSlides/notesSlide3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63D583-5583-2D79-6CF6-EF9DC09123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AE141B-54E5-79CE-44DC-FC4EC16E7D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5D965D-FE62-3549-B952-81A3A02D46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99C790-D620-73CD-70B2-3A64624916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C4AF9-F8A0-4E5A-9B2A-63DA093259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42826092"/>
      </p:ext>
    </p:extLst>
  </p:cSld>
  <p:clrMapOvr>
    <a:masterClrMapping/>
  </p:clrMapOvr>
</p:notes>
</file>

<file path=ppt/notesSlides/notesSlide3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AB4469-DED8-61DB-4848-FF28C8190F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60DF59-67E6-4D9E-5A7C-F5B2364D49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8EFCA2-2342-08EE-84BD-AEB2889F40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40566C-A144-28AE-69CF-CF92ACB65D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C4AF9-F8A0-4E5A-9B2A-63DA093259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9237496"/>
      </p:ext>
    </p:extLst>
  </p:cSld>
  <p:clrMapOvr>
    <a:masterClrMapping/>
  </p:clrMapOvr>
</p:notes>
</file>

<file path=ppt/notesSlides/notesSlide3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CB94F8-0C91-FA38-DB99-24B19F5D83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1DE7C3-8906-DF2E-27DB-0AC3BEF324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EDB8B4-8CEB-4AE2-8867-AAFB022B23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AC7EDA-19D0-4394-C304-C2909E63E5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C4AF9-F8A0-4E5A-9B2A-63DA093259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52366424"/>
      </p:ext>
    </p:extLst>
  </p:cSld>
  <p:clrMapOvr>
    <a:masterClrMapping/>
  </p:clrMapOvr>
</p:notes>
</file>

<file path=ppt/notesSlides/notesSlide3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DF3F6D-C9F2-B704-789E-1FBCC8BB44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9FEAF35-541C-FEC9-778C-C6B3EACA0A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014A6D-185B-36EB-8EE2-A07C1EBB83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A89AC5-2EDF-0ABA-A36D-CC7D23A613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C4AF9-F8A0-4E5A-9B2A-63DA093259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34743030"/>
      </p:ext>
    </p:extLst>
  </p:cSld>
  <p:clrMapOvr>
    <a:masterClrMapping/>
  </p:clrMapOvr>
</p:notes>
</file>

<file path=ppt/notesSlides/notesSlide3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DB7E82-13E9-30C8-8A82-A315759AFD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CD5CDE0-1AE5-FB8F-0E95-C41F152AA5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10DCEE2-4769-64D4-13C9-7B8A8C9779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F02DB1-5028-E305-A5B2-3AF231B4C0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C4AF9-F8A0-4E5A-9B2A-63DA093259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37531178"/>
      </p:ext>
    </p:extLst>
  </p:cSld>
  <p:clrMapOvr>
    <a:masterClrMapping/>
  </p:clrMapOvr>
</p:notes>
</file>

<file path=ppt/notesSlides/notesSlide3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148784-0068-DC9C-B252-B1F95435A0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828ADE-AB2C-A1BA-3735-43BBB0D7EE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0950BA8-3770-E177-1C0D-74AB913C82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5FB3F7-E9B8-4ECC-9C90-A0838D05A3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C4AF9-F8A0-4E5A-9B2A-63DA093259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58627862"/>
      </p:ext>
    </p:extLst>
  </p:cSld>
  <p:clrMapOvr>
    <a:masterClrMapping/>
  </p:clrMapOvr>
</p:notes>
</file>

<file path=ppt/notesSlides/notesSlide3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778415-B6EE-3BCB-D621-10C32725E0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BEB1E6F-2340-4F71-30D6-5C209C7ED7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46F466-3F21-1904-65CF-B75138BA59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A9FE72-0494-3B1D-DFF8-170CA4712C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C4AF9-F8A0-4E5A-9B2A-63DA093259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37642053"/>
      </p:ext>
    </p:extLst>
  </p:cSld>
  <p:clrMapOvr>
    <a:masterClrMapping/>
  </p:clrMapOvr>
</p:notes>
</file>

<file path=ppt/notesSlides/notesSlide3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918C18-92A3-250D-F963-CE378C5D48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5B8823-13A2-7BB4-63E8-DFAF49F2A5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5B688C3-0E58-2783-A362-7B242B2DF6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37FD79-D805-E86C-9EC1-01E6F88274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C4AF9-F8A0-4E5A-9B2A-63DA093259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30039106"/>
      </p:ext>
    </p:extLst>
  </p:cSld>
  <p:clrMapOvr>
    <a:masterClrMapping/>
  </p:clrMapOvr>
</p:notes>
</file>

<file path=ppt/notesSlides/notesSlide3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35BA3C-D529-01FA-DAD6-126911FB5B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5AA3434-AA89-63AD-9223-C613032019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45EE8E-5EC0-28F2-A619-0C9A949897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9D566B-67EE-C84D-31FB-89398EF7B6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C4AF9-F8A0-4E5A-9B2A-63DA093259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62833366"/>
      </p:ext>
    </p:extLst>
  </p:cSld>
  <p:clrMapOvr>
    <a:masterClrMapping/>
  </p:clrMapOvr>
</p:notes>
</file>

<file path=ppt/notesSlides/notesSlide3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51FBDC-5C5F-A38B-73D2-0D7796BEFD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31CBDCB-E9BA-DA48-B6FB-19FA80F0DC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70E33D-62E7-6A5D-3206-CECF5085D3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4405E6-CB0D-910B-69F2-B63359D2F6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C4AF9-F8A0-4E5A-9B2A-63DA093259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4952086"/>
      </p:ext>
    </p:extLst>
  </p:cSld>
  <p:clrMapOvr>
    <a:masterClrMapping/>
  </p:clrMapOvr>
</p:notes>
</file>

<file path=ppt/notesSlides/notesSlide3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249B84-F9A6-3191-1D07-21CC1A874D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19571B-5A41-8E32-396F-5BA3517BBA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4D09431-E2B5-3DC0-AF4D-206328DD43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44C166-9AC6-2D36-5151-246359DAC8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C4AF9-F8A0-4E5A-9B2A-63DA093259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95751495"/>
      </p:ext>
    </p:extLst>
  </p:cSld>
  <p:clrMapOvr>
    <a:masterClrMapping/>
  </p:clrMapOvr>
</p:notes>
</file>

<file path=ppt/notesSlides/notesSlide3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8D4050-5341-E125-976D-9CC195576A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03FF00-60F5-B575-6143-B3F3AFEFA4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1FF32A-9C5D-9296-5971-93BB402216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7FF9FE-968B-CD4B-B74F-40CA69AF2D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C4AF9-F8A0-4E5A-9B2A-63DA093259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41137266"/>
      </p:ext>
    </p:extLst>
  </p:cSld>
  <p:clrMapOvr>
    <a:masterClrMapping/>
  </p:clrMapOvr>
</p:notes>
</file>

<file path=ppt/notesSlides/notesSlide3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B559C4-78CE-6B3C-815C-C0DAB36FE4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BA69F6-C0E7-17AF-42D4-3397250E9D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DE2ECB-862C-AEC8-710E-9701146030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633E8B-4CBB-59B7-FFEC-53F25BD9ED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C4AF9-F8A0-4E5A-9B2A-63DA093259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52208458"/>
      </p:ext>
    </p:extLst>
  </p:cSld>
  <p:clrMapOvr>
    <a:masterClrMapping/>
  </p:clrMapOvr>
</p:notes>
</file>

<file path=ppt/notesSlides/notesSlide3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607E71-D387-13CE-7032-3FFBCC655A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15113A-BB12-5FE3-1428-5979FB69CD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B2E3BC-CA13-B436-DAE5-C86356B031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94D6F2-C670-917C-8505-2993D5CE0E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C4AF9-F8A0-4E5A-9B2A-63DA093259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19647427"/>
      </p:ext>
    </p:extLst>
  </p:cSld>
  <p:clrMapOvr>
    <a:masterClrMapping/>
  </p:clrMapOvr>
</p:notes>
</file>

<file path=ppt/notesSlides/notesSlide3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61E5CC-3D50-9DD2-59D1-E1A0119D12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0E3142F-72AB-9A1B-2695-F77AFCA85E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25FFD3-67C1-9D97-0E1B-20BFD24F4C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05B3E9-FA40-295D-C4F7-CB5EEAA720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C4AF9-F8A0-4E5A-9B2A-63DA093259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2973860"/>
      </p:ext>
    </p:extLst>
  </p:cSld>
  <p:clrMapOvr>
    <a:masterClrMapping/>
  </p:clrMapOvr>
</p:notes>
</file>

<file path=ppt/notesSlides/notesSlide3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A1E630-2990-91D9-5626-D4FA190AE8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DE45A86-BE4E-2839-4B73-8D6F730F9F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561586-B0C5-8E31-C1B3-6296216EA6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6AB027-CB5C-5552-5DD3-52F5560874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C4AF9-F8A0-4E5A-9B2A-63DA093259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22177751"/>
      </p:ext>
    </p:extLst>
  </p:cSld>
  <p:clrMapOvr>
    <a:masterClrMapping/>
  </p:clrMapOvr>
</p:notes>
</file>

<file path=ppt/notesSlides/notesSlide3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07DFA7-32CC-989F-824F-57D9801E3E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DFF62E-E930-1044-E40C-6C133954E6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26D930-2E06-606A-BF83-BB8580230A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7783CF-FE15-8CA0-9AB3-601F285D51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C4AF9-F8A0-4E5A-9B2A-63DA093259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350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56142972"/>
      </p:ext>
    </p:extLst>
  </p:cSld>
  <p:clrMapOvr>
    <a:masterClrMapping/>
  </p:clrMapOvr>
</p:notes>
</file>

<file path=ppt/notesSlides/notesSlide3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755D33-BD1F-E57A-353C-2FBB1DBFE5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ADE9C5E-6468-B2DD-6DFA-B0E4D4C2B0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BC7E54-3DB9-C9DC-6671-D9A54C37AF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9DC231-F32D-DFAD-239D-2B5C7A4C4A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C4AF9-F8A0-4E5A-9B2A-63DA093259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351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93556387"/>
      </p:ext>
    </p:extLst>
  </p:cSld>
  <p:clrMapOvr>
    <a:masterClrMapping/>
  </p:clrMapOvr>
</p:notes>
</file>

<file path=ppt/notesSlides/notesSlide3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A320D4-8078-58C9-C1EB-49B2DA69A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2BC6FB-E4CE-267C-F034-67CE6A7180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BEE2B7-4F65-2ED0-76D5-53D202216E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B84DF0-7919-3840-20B1-64AAE3FFDD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C4AF9-F8A0-4E5A-9B2A-63DA093259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352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45502529"/>
      </p:ext>
    </p:extLst>
  </p:cSld>
  <p:clrMapOvr>
    <a:masterClrMapping/>
  </p:clrMapOvr>
</p:notes>
</file>

<file path=ppt/notesSlides/notesSlide3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BB3FDE-7E56-21B4-18E3-30EF007717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D1C159-0430-5833-CE07-DBB45F29EA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B78C03-09AC-01E3-6467-6FA71A8642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9D089A-1768-73EF-B13F-ED7E4C4BB2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C4AF9-F8A0-4E5A-9B2A-63DA093259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353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6172721"/>
      </p:ext>
    </p:extLst>
  </p:cSld>
  <p:clrMapOvr>
    <a:masterClrMapping/>
  </p:clrMapOvr>
</p:notes>
</file>

<file path=ppt/notesSlides/notesSlide3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425195-6A04-498D-1E6D-2C6A81B6B9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4E0457B-24C9-C9D3-8E52-361723865F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4FAD1DA-BEF2-051A-D7DE-DACECBC2B8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19382B-7944-FB04-9DD3-BE788AE2BD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C4AF9-F8A0-4E5A-9B2A-63DA093259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354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11250788"/>
      </p:ext>
    </p:extLst>
  </p:cSld>
  <p:clrMapOvr>
    <a:masterClrMapping/>
  </p:clrMapOvr>
</p:notes>
</file>

<file path=ppt/notesSlides/notesSlide3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675F76-4368-93DB-99EF-2F2E95101C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C0E19C-84E9-65CB-204E-F9020F1BE3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D4322B-94A2-6DF9-1FF4-296EBC2AED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544807-C27F-4995-22A5-65C1C37E7C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C4AF9-F8A0-4E5A-9B2A-63DA093259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355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90573267"/>
      </p:ext>
    </p:extLst>
  </p:cSld>
  <p:clrMapOvr>
    <a:masterClrMapping/>
  </p:clrMapOvr>
</p:notes>
</file>

<file path=ppt/notesSlides/notesSlide3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726FB9-1746-F7B7-A679-540A1A8445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4C0A46-2787-449B-80A2-0A6B43B103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3B72B2-5F21-1EF4-EB3A-FBB7F2534D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7D3AC4-07F5-635D-B661-FED825B349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C4AF9-F8A0-4E5A-9B2A-63DA093259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356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71704698"/>
      </p:ext>
    </p:extLst>
  </p:cSld>
  <p:clrMapOvr>
    <a:masterClrMapping/>
  </p:clrMapOvr>
</p:notes>
</file>

<file path=ppt/notesSlides/notesSlide3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07D1A7-9144-F377-8D1D-A0285699A1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6D7AC02-4077-1A12-B3DF-10FEFB4CE3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C34858-6FE5-1525-34CC-627FAD2C8D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61E2E6-95A0-C384-8CDF-419A14A8A3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C4AF9-F8A0-4E5A-9B2A-63DA093259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357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17153644"/>
      </p:ext>
    </p:extLst>
  </p:cSld>
  <p:clrMapOvr>
    <a:masterClrMapping/>
  </p:clrMapOvr>
</p:notes>
</file>

<file path=ppt/notesSlides/notesSlide3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7B0929-3D6F-83C3-DC63-F5807D6CF4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F92A0C8-C377-CB16-D135-5C954BF41B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8990E4-484D-0B73-4E85-4FA9E4F44C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16B704-322A-6C34-5451-18CF97D5BC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C4AF9-F8A0-4E5A-9B2A-63DA093259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358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08465031"/>
      </p:ext>
    </p:extLst>
  </p:cSld>
  <p:clrMapOvr>
    <a:masterClrMapping/>
  </p:clrMapOvr>
</p:notes>
</file>

<file path=ppt/notesSlides/notesSlide3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FD44E6-32CD-89D4-E741-19A98FD633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C01657-F3BE-B7D6-08DC-40B9219AD5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68E0A1F-B2CA-D1CB-6B61-F83B3C0818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A41A3C-C262-F2A1-8332-55852B8F16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C4AF9-F8A0-4E5A-9B2A-63DA093259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359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28038367"/>
      </p:ext>
    </p:extLst>
  </p:cSld>
  <p:clrMapOvr>
    <a:masterClrMapping/>
  </p:clrMapOvr>
</p:notes>
</file>

<file path=ppt/notesSlides/notesSlide3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AC140A-2C58-369E-CB76-68596C6E60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0A2A1B-98A9-A770-ACFA-869ADFAE95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E940FFB-29AE-B354-DD26-9E91BBC46B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7B0CEB-DFCD-7041-FE8B-5ADBE2F1F8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C4AF9-F8A0-4E5A-9B2A-63DA093259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360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67446915"/>
      </p:ext>
    </p:extLst>
  </p:cSld>
  <p:clrMapOvr>
    <a:masterClrMapping/>
  </p:clrMapOvr>
</p:notes>
</file>

<file path=ppt/notesSlides/notesSlide3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643F43-11DE-A246-E0A1-5407D276D8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A0918A-10FB-31F5-89DA-E3889E688B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B2656A-BFEC-02AC-A865-447B47C700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A79DAE-C5F9-4C10-2E07-3BEBD3D54F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C4AF9-F8A0-4E5A-9B2A-63DA093259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361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4372802"/>
      </p:ext>
    </p:extLst>
  </p:cSld>
  <p:clrMapOvr>
    <a:masterClrMapping/>
  </p:clrMapOvr>
</p:notes>
</file>

<file path=ppt/notesSlides/notesSlide3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9FEC03-CA1D-92D1-A8A7-CCE275A585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47F9CF-BFE4-689D-DE17-74AFD89D86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16EE52-198D-B7E2-1C03-09A5B292BC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3F4EC7-2BAC-D787-2D57-AD95FAF7A5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C4AF9-F8A0-4E5A-9B2A-63DA093259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362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16696182"/>
      </p:ext>
    </p:extLst>
  </p:cSld>
  <p:clrMapOvr>
    <a:masterClrMapping/>
  </p:clrMapOvr>
</p:notes>
</file>

<file path=ppt/notesSlides/notesSlide3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E8263E-48B1-E7D5-7E85-ECBBD79F2A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C22761A-769E-0CFB-EBA0-B8735FA699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12DFC4-5EE5-C004-939F-0ED41D37A3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5361C4-98FC-6E11-0739-0EB8F600AD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C4AF9-F8A0-4E5A-9B2A-63DA093259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363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84097955"/>
      </p:ext>
    </p:extLst>
  </p:cSld>
  <p:clrMapOvr>
    <a:masterClrMapping/>
  </p:clrMapOvr>
</p:notes>
</file>

<file path=ppt/notesSlides/notesSlide3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74165C-C56F-195C-A21A-1E9BD0CE8C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29BE45-0E24-A149-923E-9015E4619A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34D1848-B527-FA04-7C58-5098034C39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ED6688-5B2B-9FDC-BB86-F9FBBC3A1A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C4AF9-F8A0-4E5A-9B2A-63DA093259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364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86714429"/>
      </p:ext>
    </p:extLst>
  </p:cSld>
  <p:clrMapOvr>
    <a:masterClrMapping/>
  </p:clrMapOvr>
</p:notes>
</file>

<file path=ppt/notesSlides/notesSlide3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215919-C7A8-E838-3928-2D3A25A82D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1B6F98-00E0-7A22-B2A2-3E1C4E7BAC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613B1A-3054-B847-9C4E-ADF7535176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0A5BE7-3D45-5069-587B-365D63EBCD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C4AF9-F8A0-4E5A-9B2A-63DA093259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365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27318592"/>
      </p:ext>
    </p:extLst>
  </p:cSld>
  <p:clrMapOvr>
    <a:masterClrMapping/>
  </p:clrMapOvr>
</p:notes>
</file>

<file path=ppt/notesSlides/notesSlide3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4F7678-C954-8FF3-625D-0EA7433BAA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BC7A92-35D2-9607-CE9F-0B9546DCD8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88C82F8-E26F-858B-FC3A-25DC799258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E9F67A-0E1A-613C-5DCB-A1DD246C51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C4AF9-F8A0-4E5A-9B2A-63DA093259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366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32511081"/>
      </p:ext>
    </p:extLst>
  </p:cSld>
  <p:clrMapOvr>
    <a:masterClrMapping/>
  </p:clrMapOvr>
</p:notes>
</file>

<file path=ppt/notesSlides/notesSlide3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A422B5-F7AA-AE1F-F78A-806A9B30BD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EE8B38-B7B9-9C35-F153-B3A5F34A63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798A6F-CB95-5A60-51B2-2044C35015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600B1C-DCCF-1BDD-F5DD-794B688956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C4AF9-F8A0-4E5A-9B2A-63DA093259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367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23642312"/>
      </p:ext>
    </p:extLst>
  </p:cSld>
  <p:clrMapOvr>
    <a:masterClrMapping/>
  </p:clrMapOvr>
</p:notes>
</file>

<file path=ppt/notesSlides/notesSlide3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8C5AEF-C3DE-62C1-F18D-3F3DC8372A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991C98-2BB3-55BE-8A4A-FEEBCE8211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1C5221-4B81-A106-CC0B-D1DD1FB521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35BC2E-AA13-A569-2B21-A68863B498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C4AF9-F8A0-4E5A-9B2A-63DA093259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368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54612406"/>
      </p:ext>
    </p:extLst>
  </p:cSld>
  <p:clrMapOvr>
    <a:masterClrMapping/>
  </p:clrMapOvr>
</p:notes>
</file>

<file path=ppt/notesSlides/notesSlide3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FF430D-6F63-4412-A083-343263BD6E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ADE582-DA8E-BA5D-879C-411CA4FB6A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9803FB-A57F-BFE0-38E1-EE0C52F31D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7CBABE-483B-89C9-062B-9AD07761E1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C4AF9-F8A0-4E5A-9B2A-63DA093259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369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82682596"/>
      </p:ext>
    </p:extLst>
  </p:cSld>
  <p:clrMapOvr>
    <a:masterClrMapping/>
  </p:clrMapOvr>
</p:notes>
</file>

<file path=ppt/notesSlides/notesSlide3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87FA78-33A9-B54E-8FD4-13127A52D6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C784AE-3EB8-CCD7-9623-8832138E6F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796E35-8453-55D9-3A04-A3E856EC2C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B16622-E795-A0F3-A06C-4FDAF9D523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C4AF9-F8A0-4E5A-9B2A-63DA093259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370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20528045"/>
      </p:ext>
    </p:extLst>
  </p:cSld>
  <p:clrMapOvr>
    <a:masterClrMapping/>
  </p:clrMapOvr>
</p:notes>
</file>

<file path=ppt/notesSlides/notesSlide3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A05FF6-D5C7-9471-A577-BCCDFED45A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B306BF-94DA-4F1A-B773-23327F20D1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2CBD61-7A01-29A8-876D-DA267587FD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00D31A-7156-3060-21D5-1F57773C7C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C4AF9-F8A0-4E5A-9B2A-63DA093259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371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07631877"/>
      </p:ext>
    </p:extLst>
  </p:cSld>
  <p:clrMapOvr>
    <a:masterClrMapping/>
  </p:clrMapOvr>
</p:notes>
</file>

<file path=ppt/notesSlides/notesSlide3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71A83E-007D-A2D3-8AAB-88691AA4E6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BC522C-CD41-B197-D1EB-97B2E2EAA9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37F049-16DC-9098-2FC1-7DBDF80AE7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EFD616-6A17-EA59-BE1A-3AE967CA43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C4AF9-F8A0-4E5A-9B2A-63DA093259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372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8433519"/>
      </p:ext>
    </p:extLst>
  </p:cSld>
  <p:clrMapOvr>
    <a:masterClrMapping/>
  </p:clrMapOvr>
</p:notes>
</file>

<file path=ppt/notesSlides/notesSlide3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2039CF-8A9D-9A67-1F02-324871BE20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A99877-E6D8-12C6-6838-605776CCC0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0B257B-D31E-4F72-4112-F576690147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D31960-6B0B-AE5D-2BFD-0E9B016F0D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C4AF9-F8A0-4E5A-9B2A-63DA093259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373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9455356"/>
      </p:ext>
    </p:extLst>
  </p:cSld>
  <p:clrMapOvr>
    <a:masterClrMapping/>
  </p:clrMapOvr>
</p:notes>
</file>

<file path=ppt/notesSlides/notesSlide3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FCB985-AF80-5C50-5B22-7CDA3FFF85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91AFDC-F9B6-3112-E82B-D128872CDB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5DD4D4-14AE-AC3F-D787-A2338C92F6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0E609C-5F99-16BB-0C7C-E8E2C7BA83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C4AF9-F8A0-4E5A-9B2A-63DA093259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374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70730577"/>
      </p:ext>
    </p:extLst>
  </p:cSld>
  <p:clrMapOvr>
    <a:masterClrMapping/>
  </p:clrMapOvr>
</p:notes>
</file>

<file path=ppt/notesSlides/notesSlide3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B66EC5-BBC5-2A7C-1A7F-55983A9C16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BACAA0-E1A6-E0B2-34D3-371B76185D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0D073A-2A15-8A1C-1644-175D95F5D5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866DEB-7B72-96E9-3F23-D114BD2295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C4AF9-F8A0-4E5A-9B2A-63DA093259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375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28146387"/>
      </p:ext>
    </p:extLst>
  </p:cSld>
  <p:clrMapOvr>
    <a:masterClrMapping/>
  </p:clrMapOvr>
</p:notes>
</file>

<file path=ppt/notesSlides/notesSlide3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EFDCAF-962F-9355-4FAD-A20F022541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8C7422-32A8-A4D8-FD49-50AC1EBE57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0BFA91-E48C-AAAC-07C0-28B82CD7A5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8A527B-81B9-1405-E919-C9A86DB3F5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C4AF9-F8A0-4E5A-9B2A-63DA093259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376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98096493"/>
      </p:ext>
    </p:extLst>
  </p:cSld>
  <p:clrMapOvr>
    <a:masterClrMapping/>
  </p:clrMapOvr>
</p:notes>
</file>

<file path=ppt/notesSlides/notesSlide3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482D87-AECB-666C-4959-C64B7CD8EE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F4F4CD-F22F-9B11-5821-6769B647C1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61FC5F-4301-2E19-29D6-BA2619D15A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C95A74-B90A-DF83-A02B-070FB94508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C4AF9-F8A0-4E5A-9B2A-63DA093259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377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19258338"/>
      </p:ext>
    </p:extLst>
  </p:cSld>
  <p:clrMapOvr>
    <a:masterClrMapping/>
  </p:clrMapOvr>
</p:notes>
</file>

<file path=ppt/notesSlides/notesSlide3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57D021-E21A-DE79-371F-0C1D785626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0ADAA2-34E9-6D78-7B72-9252164A80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A196F6-7F99-B13C-DE8E-A7CD35A281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F1E79A-EA45-D6B3-6CD5-475A72BD31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C4AF9-F8A0-4E5A-9B2A-63DA093259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378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34029733"/>
      </p:ext>
    </p:extLst>
  </p:cSld>
  <p:clrMapOvr>
    <a:masterClrMapping/>
  </p:clrMapOvr>
</p:notes>
</file>

<file path=ppt/notesSlides/notesSlide3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999799-9A18-2E8E-141F-F14EE5AEFF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A324FF2-B9FF-FBD1-2B0E-9EC5E506BB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DFA68C-2233-591C-A4BD-A2336764B5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57A150-8ECC-BF72-29A7-36DCC0E946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C4AF9-F8A0-4E5A-9B2A-63DA093259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379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43534978"/>
      </p:ext>
    </p:extLst>
  </p:cSld>
  <p:clrMapOvr>
    <a:masterClrMapping/>
  </p:clrMapOvr>
</p:notes>
</file>

<file path=ppt/notesSlides/notesSlide3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CE0C4B-0A67-72FF-9CA6-0D650F3C44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DA1E9F-BA80-B607-E493-52EFF67767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4D5363-86A3-B3D8-F968-8B1077A854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1B4747-EE6B-D17D-7B39-5D9D6F39DA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C4AF9-F8A0-4E5A-9B2A-63DA093259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380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35328439"/>
      </p:ext>
    </p:extLst>
  </p:cSld>
  <p:clrMapOvr>
    <a:masterClrMapping/>
  </p:clrMapOvr>
</p:notes>
</file>

<file path=ppt/notesSlides/notesSlide3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4BF395-BCF5-C41F-8A2D-5EE2BBE325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27FD0C4-38BC-9656-148E-094F5D17F1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1F0F07E-69EA-4616-242F-635B2F4F41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8D7882-4A8B-EBBF-F1E2-86E6ACBD5E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C4AF9-F8A0-4E5A-9B2A-63DA093259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381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0453913"/>
      </p:ext>
    </p:extLst>
  </p:cSld>
  <p:clrMapOvr>
    <a:masterClrMapping/>
  </p:clrMapOvr>
</p:notes>
</file>

<file path=ppt/notesSlides/notesSlide3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7DC1FB-DE58-49D0-1587-CBCE3C405B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ACEE5D-208D-FE94-A379-99504D4638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125C2D-7562-F15E-91E5-5E3EB59CDE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E5FED7-0EEA-7D79-C2CB-DE578BCD73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C4AF9-F8A0-4E5A-9B2A-63DA093259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382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091449"/>
      </p:ext>
    </p:extLst>
  </p:cSld>
  <p:clrMapOvr>
    <a:masterClrMapping/>
  </p:clrMapOvr>
</p:notes>
</file>

<file path=ppt/notesSlides/notesSlide3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571735-6E9D-C273-8723-4002814FFC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4D188E-5C76-2B57-4183-1205955408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7E55C8-8068-1584-E354-84BD19F93D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347EA1-E16F-9F6F-E1FB-CACB49B96A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C4AF9-F8A0-4E5A-9B2A-63DA093259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383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41992718"/>
      </p:ext>
    </p:extLst>
  </p:cSld>
  <p:clrMapOvr>
    <a:masterClrMapping/>
  </p:clrMapOvr>
</p:notes>
</file>

<file path=ppt/notesSlides/notesSlide3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6E7D80-0CF6-40CB-7939-A295B1B49B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2B9EB0-3A86-E423-D9B5-750D6E753D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4D6EBB-1762-0466-2730-557C85F020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25D06D-2870-8546-7394-1A8EB7A71E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C4AF9-F8A0-4E5A-9B2A-63DA093259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384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98642916"/>
      </p:ext>
    </p:extLst>
  </p:cSld>
  <p:clrMapOvr>
    <a:masterClrMapping/>
  </p:clrMapOvr>
</p:notes>
</file>

<file path=ppt/notesSlides/notesSlide3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7672B6-1BA0-D0B0-2F71-7942A09F80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701CD7-AAAC-0F9F-C04E-1B9BD75F04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D586EB-C905-7AD9-AEA6-1285219DF6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5338C1-0535-A73B-AC3B-839A589DF8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C4AF9-F8A0-4E5A-9B2A-63DA093259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385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37775019"/>
      </p:ext>
    </p:extLst>
  </p:cSld>
  <p:clrMapOvr>
    <a:masterClrMapping/>
  </p:clrMapOvr>
</p:notes>
</file>

<file path=ppt/notesSlides/notesSlide3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38C736-4182-6D46-4474-F1F4904069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28043EF-D58E-3176-4839-46C6258782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6FA30D-5137-0106-2CE4-1FDFB485A2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3D66C4-4A60-E998-2C3F-B62B2D2FBD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C4AF9-F8A0-4E5A-9B2A-63DA093259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386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08891982"/>
      </p:ext>
    </p:extLst>
  </p:cSld>
  <p:clrMapOvr>
    <a:masterClrMapping/>
  </p:clrMapOvr>
</p:notes>
</file>

<file path=ppt/notesSlides/notesSlide3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39DEB2-191A-F4DB-C430-7A99B7B944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6CAE13-8F6A-1B2A-DE69-B68788CEAD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153D9E-6221-A161-CACD-F56721C761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875929-B043-C538-91DB-C550B0069B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C4AF9-F8A0-4E5A-9B2A-63DA093259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387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48091489"/>
      </p:ext>
    </p:extLst>
  </p:cSld>
  <p:clrMapOvr>
    <a:masterClrMapping/>
  </p:clrMapOvr>
</p:notes>
</file>

<file path=ppt/notesSlides/notesSlide3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817552-41CB-4F43-87D9-B536EFF613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6B8DA9-A98A-21F0-14B7-29EB1056D0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3C125B-677A-9D90-70D2-FA91342D66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8EC34D-D64A-2DE1-2F9A-5E6D2A2E70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C4AF9-F8A0-4E5A-9B2A-63DA093259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388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41319648"/>
      </p:ext>
    </p:extLst>
  </p:cSld>
  <p:clrMapOvr>
    <a:masterClrMapping/>
  </p:clrMapOvr>
</p:notes>
</file>

<file path=ppt/notesSlides/notesSlide3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85A6EF-D3D4-36C1-9D9C-4B2E471A1C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235E98-038D-44D8-5CA0-B28D282CD1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43E8E6-0D27-E70C-752C-2A28786653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3F573B-A6F9-716C-3306-9EA3039508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C4AF9-F8A0-4E5A-9B2A-63DA093259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389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45464698"/>
      </p:ext>
    </p:extLst>
  </p:cSld>
  <p:clrMapOvr>
    <a:masterClrMapping/>
  </p:clrMapOvr>
</p:notes>
</file>

<file path=ppt/notesSlides/notesSlide3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8B6524-F92B-5133-BB80-90DB676178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0DB53D-94A4-2408-B511-1F94CB62CC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4EEBE0-90EE-E3BF-E681-9380612D8C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3A3A8C-C8B7-CA0F-2F8E-56A19EF733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C4AF9-F8A0-4E5A-9B2A-63DA093259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390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8064514"/>
      </p:ext>
    </p:extLst>
  </p:cSld>
  <p:clrMapOvr>
    <a:masterClrMapping/>
  </p:clrMapOvr>
</p:notes>
</file>

<file path=ppt/notesSlides/notesSlide3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D9CE3D-CD52-E370-1FAB-DD131F73E8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5F424C-13D6-AAE8-0F45-31841FCDC0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161AB8-A50B-B7FD-544B-B902176865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849F53-5288-3425-10F4-A6F0A79A85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C4AF9-F8A0-4E5A-9B2A-63DA093259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391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74361029"/>
      </p:ext>
    </p:extLst>
  </p:cSld>
  <p:clrMapOvr>
    <a:masterClrMapping/>
  </p:clrMapOvr>
</p:notes>
</file>

<file path=ppt/notesSlides/notesSlide3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87400A-C40C-F215-8769-CB18D8B1E5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EABBBD9-C48E-7EDF-E361-603700E20C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34EB83-0922-A7A9-BEBF-AE29ED1A74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D45D93-0155-783C-EC04-9BA0E84973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C4AF9-F8A0-4E5A-9B2A-63DA093259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392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16293490"/>
      </p:ext>
    </p:extLst>
  </p:cSld>
  <p:clrMapOvr>
    <a:masterClrMapping/>
  </p:clrMapOvr>
</p:notes>
</file>

<file path=ppt/notesSlides/notesSlide3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422D0E-4ACE-FAB6-0C67-63D50E763D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EF5956-1930-E414-ED8F-FC22593757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99CF55E-9BBE-2029-749A-8A6BF4DB73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362D74-05DD-519E-F5D8-CE387244DD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C4AF9-F8A0-4E5A-9B2A-63DA093259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393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85143876"/>
      </p:ext>
    </p:extLst>
  </p:cSld>
  <p:clrMapOvr>
    <a:masterClrMapping/>
  </p:clrMapOvr>
</p:notes>
</file>

<file path=ppt/notesSlides/notesSlide3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554A76-3231-37F0-BDBD-2C20CFCD63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DE61E9-AEF8-1DC2-4765-2FCE7EEF7C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59DDD5-6D0C-057A-AAEF-699930B130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9C320B-9CE2-2AF9-47DA-C7734947A7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C4AF9-F8A0-4E5A-9B2A-63DA093259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394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41815981"/>
      </p:ext>
    </p:extLst>
  </p:cSld>
  <p:clrMapOvr>
    <a:masterClrMapping/>
  </p:clrMapOvr>
</p:notes>
</file>

<file path=ppt/notesSlides/notesSlide3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1B82C2-172D-EFC0-9413-B856378CDD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342AC3F-6617-D031-8D1A-8E455B9C3B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C1D8C0-24F9-D3C3-1FB2-0C87750673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58BCA6-3BE7-341C-8F3D-1207769998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C4AF9-F8A0-4E5A-9B2A-63DA093259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395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73463303"/>
      </p:ext>
    </p:extLst>
  </p:cSld>
  <p:clrMapOvr>
    <a:masterClrMapping/>
  </p:clrMapOvr>
</p:notes>
</file>

<file path=ppt/notesSlides/notesSlide3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583E06-0D9E-0093-0103-407EBA1D5E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EB7308-8271-D64F-C0D5-112CF97FDF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EAC7CE-FBCC-AD6E-6794-202F5F3E45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93CFEA-01DB-9BAE-424A-2C7B56C43E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C4AF9-F8A0-4E5A-9B2A-63DA093259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396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25083528"/>
      </p:ext>
    </p:extLst>
  </p:cSld>
  <p:clrMapOvr>
    <a:masterClrMapping/>
  </p:clrMapOvr>
</p:notes>
</file>

<file path=ppt/notesSlides/notesSlide3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4B49F8-FD6F-DEFE-8D17-5E2F1116E4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005E20-E9A9-55C9-C1CB-6669808337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99C340-31A1-1878-4A10-E5BEE8C443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11BE8E-2E67-A397-22C9-D96B1E2BE0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C4AF9-F8A0-4E5A-9B2A-63DA093259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397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56814667"/>
      </p:ext>
    </p:extLst>
  </p:cSld>
  <p:clrMapOvr>
    <a:masterClrMapping/>
  </p:clrMapOvr>
</p:notes>
</file>

<file path=ppt/notesSlides/notesSlide3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54DE5C-7E30-772D-78E6-7AA4E37AC6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5F12E6-CF9E-987B-0944-6853B15C62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CC51CB-7E12-9D1D-250E-EE4246A5C5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6197C8-811B-4C08-4D87-081F806880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C4AF9-F8A0-4E5A-9B2A-63DA093259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398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543461"/>
      </p:ext>
    </p:extLst>
  </p:cSld>
  <p:clrMapOvr>
    <a:masterClrMapping/>
  </p:clrMapOvr>
</p:notes>
</file>

<file path=ppt/notesSlides/notesSlide3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2FCFC9-100E-3043-BB86-13A17878BC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017F82-F576-1578-72E4-C1AD3FA215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4091AC-4EC5-A815-6643-56A9D0D507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6321E4-F11E-202F-16B7-3F1632D66F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C4AF9-F8A0-4E5A-9B2A-63DA093259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399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6672654"/>
      </p:ext>
    </p:extLst>
  </p:cSld>
  <p:clrMapOvr>
    <a:masterClrMapping/>
  </p:clrMapOvr>
</p:notes>
</file>

<file path=ppt/notesSlides/notesSlide3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8A48AC-64A5-E551-0B8E-DCFB744FD4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4643F7-722C-6E23-92C8-2893465111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5842366-D0AB-4781-83DB-334EB918D6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65A4D7-9D34-F8FB-2019-B09D8B902E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C4AF9-F8A0-4E5A-9B2A-63DA093259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400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43337186"/>
      </p:ext>
    </p:extLst>
  </p:cSld>
  <p:clrMapOvr>
    <a:masterClrMapping/>
  </p:clrMapOvr>
</p:notes>
</file>

<file path=ppt/notesSlides/notesSlide3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C23E00-BC92-F754-FF0D-2302FE29A5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3F87E1-565E-5D9F-E83E-793FA3E920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6A15A17-3AD8-5DD8-D3C2-8CE31A0E4D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93D1FC-476F-787B-68F3-AFCFDC056D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C4AF9-F8A0-4E5A-9B2A-63DA093259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401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16969554"/>
      </p:ext>
    </p:extLst>
  </p:cSld>
  <p:clrMapOvr>
    <a:masterClrMapping/>
  </p:clrMapOvr>
</p:notes>
</file>

<file path=ppt/notesSlides/notesSlide3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7DF0B5-FFE1-783C-31B0-4ACD0ECB6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045513-DCC3-33AF-909E-87BCF33462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42D6EBB-B07F-B6A6-4072-F7F9F8D888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8C1921-1F2D-AA4F-2D95-8ED16241A5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C4AF9-F8A0-4E5A-9B2A-63DA093259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402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65444580"/>
      </p:ext>
    </p:extLst>
  </p:cSld>
  <p:clrMapOvr>
    <a:masterClrMapping/>
  </p:clrMapOvr>
</p:notes>
</file>

<file path=ppt/notesSlides/notesSlide3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3EA06E-12B5-CF60-44AE-FF575B4088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FEC2C6-6F2A-C438-CD5F-0069E876CF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3215D5-B1A6-EEF2-6B03-B81130252B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D6F269-D918-E102-B175-84F14C848C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C4AF9-F8A0-4E5A-9B2A-63DA093259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403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14804808"/>
      </p:ext>
    </p:extLst>
  </p:cSld>
  <p:clrMapOvr>
    <a:masterClrMapping/>
  </p:clrMapOvr>
</p:notes>
</file>

<file path=ppt/notesSlides/notesSlide3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82ECAD-E7FA-51DF-A0A4-766FBE5EAD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CF95AD5-B003-B4FC-0DA0-305A06DC9E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1D7A8B-0F98-56DE-6A3B-E4F79BAF70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C71C5E-722F-546E-45E2-ADE03EA094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C4AF9-F8A0-4E5A-9B2A-63DA093259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404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80320399"/>
      </p:ext>
    </p:extLst>
  </p:cSld>
  <p:clrMapOvr>
    <a:masterClrMapping/>
  </p:clrMapOvr>
</p:notes>
</file>

<file path=ppt/notesSlides/notesSlide3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C650F1-ADA6-97D6-DA43-8B1B84E3D6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33EC884-80DB-10A8-CB28-4DCF93C8DE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972883-2EE0-0A4B-F1F9-8A76781AEB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42BB60-4177-E20E-8779-D5446875FA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C4AF9-F8A0-4E5A-9B2A-63DA093259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405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33351303"/>
      </p:ext>
    </p:extLst>
  </p:cSld>
  <p:clrMapOvr>
    <a:masterClrMapping/>
  </p:clrMapOvr>
</p:notes>
</file>

<file path=ppt/notesSlides/notesSlide3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CF6490-EA94-4CE6-E144-8E9D04AC03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A9803E-1800-4A9A-8FC5-7DF6ED5049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1058F6-9E5B-FAC9-61DB-9308C3077A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863CEE-7055-1E02-1E5E-AC4BD837C4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C4AF9-F8A0-4E5A-9B2A-63DA093259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406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85232534"/>
      </p:ext>
    </p:extLst>
  </p:cSld>
  <p:clrMapOvr>
    <a:masterClrMapping/>
  </p:clrMapOvr>
</p:notes>
</file>

<file path=ppt/notesSlides/notesSlide3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6543DF-D7E7-E9BC-AEA1-EF4F851A5E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163D6EA-9338-E062-C059-7DCB4389C9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9D5924-976F-2794-B6CA-7A29CE9F4E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9A1B1D-8EA8-6A1A-91EA-AC1CA1E724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C4AF9-F8A0-4E5A-9B2A-63DA093259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407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70165842"/>
      </p:ext>
    </p:extLst>
  </p:cSld>
  <p:clrMapOvr>
    <a:masterClrMapping/>
  </p:clrMapOvr>
</p:notes>
</file>

<file path=ppt/notesSlides/notesSlide3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04C1DC-30AB-4433-6102-BA670ABD56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4DA25F-85CD-D2CA-F28C-3A7F9FDCE1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90DF8E-74B6-6D35-88B0-6DCD435824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052391-9AF2-2EBA-CC29-DB17360714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C4AF9-F8A0-4E5A-9B2A-63DA093259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408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55776271"/>
      </p:ext>
    </p:extLst>
  </p:cSld>
  <p:clrMapOvr>
    <a:masterClrMapping/>
  </p:clrMapOvr>
</p:notes>
</file>

<file path=ppt/notesSlides/notesSlide3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C653B9-DEA6-9934-D581-004EACDC95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577DD24-DAD3-4BB2-A6BF-4F0DB37663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465DB1-3EB1-2DAE-398A-F51C42899C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90332D-7AC6-61DE-9F89-920F5DCD8B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C4AF9-F8A0-4E5A-9B2A-63DA093259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409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31161628"/>
      </p:ext>
    </p:extLst>
  </p:cSld>
  <p:clrMapOvr>
    <a:masterClrMapping/>
  </p:clrMapOvr>
</p:notes>
</file>

<file path=ppt/notesSlides/notesSlide3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3BB8BB-DDB1-9475-80EB-A0F9369D3F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263C51-F2CC-FC5B-3FFB-A1D80D20B9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3EC25A-7660-8DAF-09D7-DE9DD28757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FBB520-E99C-ABF9-2B74-B8C4866CFE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C4AF9-F8A0-4E5A-9B2A-63DA093259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410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90421769"/>
      </p:ext>
    </p:extLst>
  </p:cSld>
  <p:clrMapOvr>
    <a:masterClrMapping/>
  </p:clrMapOvr>
</p:notes>
</file>

<file path=ppt/notesSlides/notesSlide3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BCBF33-0FFF-A63E-E25A-1E8F8DF90E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49D3CB-D3CB-2641-FD87-C41902A8D2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F9BC74-199F-F1FD-4986-35F2BD42E1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D09496-B17D-9D69-7A1F-34EAA79DB3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C4AF9-F8A0-4E5A-9B2A-63DA093259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411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21761719"/>
      </p:ext>
    </p:extLst>
  </p:cSld>
  <p:clrMapOvr>
    <a:masterClrMapping/>
  </p:clrMapOvr>
</p:notes>
</file>

<file path=ppt/notesSlides/notesSlide3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515084-5353-C96B-CB52-7AD4F60F59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12AE8D-2F65-EC79-7459-6D54F1AD60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A0F157-3A21-EAC1-05A6-62A05DCA25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433DCD-FAA3-4546-488F-0FE3D20253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C4AF9-F8A0-4E5A-9B2A-63DA093259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412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88428601"/>
      </p:ext>
    </p:extLst>
  </p:cSld>
  <p:clrMapOvr>
    <a:masterClrMapping/>
  </p:clrMapOvr>
</p:notes>
</file>

<file path=ppt/notesSlides/notesSlide3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797A0E-EA59-6443-E50C-BC850940F3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A13773-A287-AD80-5527-8C20206BEB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0F37C9-398A-ADC7-83B7-8C5FE3414C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B23442-2D93-88CA-F6B6-D0D67C6C05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C4AF9-F8A0-4E5A-9B2A-63DA093259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416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21688084"/>
      </p:ext>
    </p:extLst>
  </p:cSld>
  <p:clrMapOvr>
    <a:masterClrMapping/>
  </p:clrMapOvr>
</p:notes>
</file>

<file path=ppt/notesSlides/notesSlide3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B30091-E539-05EA-5554-39F867D74E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6291D1-4FFF-CEF1-B7DD-6B940FE1A5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8F289EE-6BE4-B6D0-4A91-A5783C3D78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A93670-0066-3F69-6B94-FEBCBA6833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C4AF9-F8A0-4E5A-9B2A-63DA093259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417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76231440"/>
      </p:ext>
    </p:extLst>
  </p:cSld>
  <p:clrMapOvr>
    <a:masterClrMapping/>
  </p:clrMapOvr>
</p:notes>
</file>

<file path=ppt/notesSlides/notesSlide3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C51222-58E6-E050-A7DD-3D66FCA79E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4CAC16-14BF-F4F3-AA31-45CBFBDBCD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FFB1FAD-E8F5-8977-A020-F08D0DB4F6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C969A8-C556-551D-EB52-84E7497B05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C4AF9-F8A0-4E5A-9B2A-63DA093259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418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87787733"/>
      </p:ext>
    </p:extLst>
  </p:cSld>
  <p:clrMapOvr>
    <a:masterClrMapping/>
  </p:clrMapOvr>
</p:notes>
</file>

<file path=ppt/notesSlides/notesSlide3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38D5A3-8722-BF0B-0157-DE69E7AA3C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7C3F30F-6797-B3BD-CACA-2802F0A367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C9B564C-693E-7B77-5611-D1D88E3F87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2B3095-211F-05E2-15C1-BE74E4E5D9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C4AF9-F8A0-4E5A-9B2A-63DA093259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419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20197360"/>
      </p:ext>
    </p:extLst>
  </p:cSld>
  <p:clrMapOvr>
    <a:masterClrMapping/>
  </p:clrMapOvr>
</p:notes>
</file>

<file path=ppt/notesSlides/notesSlide3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BD9B69-5740-7113-4162-B4487ACFBB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DB0D63-8EF7-6D41-B129-21A0635414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327ECF-98FA-65BD-AA22-46F6B896D0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B7A1E2-B145-51CF-FE7D-06D1A051D9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C4AF9-F8A0-4E5A-9B2A-63DA093259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420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29498924"/>
      </p:ext>
    </p:extLst>
  </p:cSld>
  <p:clrMapOvr>
    <a:masterClrMapping/>
  </p:clrMapOvr>
</p:notes>
</file>

<file path=ppt/notesSlides/notesSlide3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8B51E0-FA34-099C-FA05-A0FE9D7127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C9AD1A-7143-DC09-76F0-1FA586DB95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EE288E1-DAC3-E47A-A855-5E5B9885B5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10BF75-F291-91C0-5084-7016E83BAB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C4AF9-F8A0-4E5A-9B2A-63DA093259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421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87354901"/>
      </p:ext>
    </p:extLst>
  </p:cSld>
  <p:clrMapOvr>
    <a:masterClrMapping/>
  </p:clrMapOvr>
</p:notes>
</file>

<file path=ppt/notesSlides/notesSlide3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197491-F454-14F5-662F-084BB06BBC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8808EA-441A-F53E-5CC1-23ADD17DFA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A4B259-C92E-BBB5-34F2-E80F68D96A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C2782D-6FC5-DD44-9F92-44A966CE08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C4AF9-F8A0-4E5A-9B2A-63DA093259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422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72205490"/>
      </p:ext>
    </p:extLst>
  </p:cSld>
  <p:clrMapOvr>
    <a:masterClrMapping/>
  </p:clrMapOvr>
</p:notes>
</file>

<file path=ppt/notesSlides/notesSlide3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75A687-993B-C5BB-F124-C4E7C9BC5A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0FBEB01-2A11-5851-22BE-D527D4D44A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2E968C-C875-D4D6-1D0A-C81C309A1A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D98FA0-E194-1C1F-D3D8-CF26BB5F9A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C4AF9-F8A0-4E5A-9B2A-63DA093259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423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42488565"/>
      </p:ext>
    </p:extLst>
  </p:cSld>
  <p:clrMapOvr>
    <a:masterClrMapping/>
  </p:clrMapOvr>
</p:notes>
</file>

<file path=ppt/notesSlides/notesSlide3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EED63A-9D06-1A40-0162-A535AD2B15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CBD6A9-D6F7-9BAD-211B-9DCB0495F4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FEF85F3-7370-6F0A-A415-17F193ED1E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A09825-17B7-FDD5-DE3B-87D0E44463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C4AF9-F8A0-4E5A-9B2A-63DA093259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424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2371720"/>
      </p:ext>
    </p:extLst>
  </p:cSld>
  <p:clrMapOvr>
    <a:masterClrMapping/>
  </p:clrMapOvr>
</p:notes>
</file>

<file path=ppt/notesSlides/notesSlide4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1221F1-D622-712A-0EC3-715AA681DA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0A8465-2127-97E0-9609-570849CBF3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E1FEAA-DA3F-C6A8-6EA3-31DD5BA994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6C7BF4-6680-DA21-7331-0016ECE703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C4AF9-F8A0-4E5A-9B2A-63DA093259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31965978"/>
      </p:ext>
    </p:extLst>
  </p:cSld>
  <p:clrMapOvr>
    <a:masterClrMapping/>
  </p:clrMapOvr>
</p:notes>
</file>

<file path=ppt/notesSlides/notesSlide4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F1C634-A6F5-2314-F9C7-E69041F600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59C9537-6595-D84F-4B36-E93E85978A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3D2576-B55B-11FD-0AA6-075F6D6183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C2373E-B18B-EBCE-2CE0-12D0E001D9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C4AF9-F8A0-4E5A-9B2A-63DA093259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75076979"/>
      </p:ext>
    </p:extLst>
  </p:cSld>
  <p:clrMapOvr>
    <a:masterClrMapping/>
  </p:clrMapOvr>
</p:notes>
</file>

<file path=ppt/notesSlides/notesSlide4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68ABB2-A98C-0CC1-208D-1038734D57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5FC128-9D95-E98F-CF22-28F50EB468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3A59C3-6628-C62F-969D-B47CD954E1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607703-05A6-4311-088F-06134DC596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C4AF9-F8A0-4E5A-9B2A-63DA093259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427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30781860"/>
      </p:ext>
    </p:extLst>
  </p:cSld>
  <p:clrMapOvr>
    <a:masterClrMapping/>
  </p:clrMapOvr>
</p:notes>
</file>

<file path=ppt/notesSlides/notesSlide4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0B7A77-B5EA-303F-0CEB-093AA5DD7A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040A3E-CCD7-655B-8BA4-E9282656A7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F24CA0-9860-A17C-4B35-D37106487C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EEDEFF-3E2A-2341-B158-C3740ACA51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C4AF9-F8A0-4E5A-9B2A-63DA093259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428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21502269"/>
      </p:ext>
    </p:extLst>
  </p:cSld>
  <p:clrMapOvr>
    <a:masterClrMapping/>
  </p:clrMapOvr>
</p:notes>
</file>

<file path=ppt/notesSlides/notesSlide4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2D6AD5-408D-D9A8-CFBE-5EC51AD9FC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62F56B-203F-54AF-29E5-64B9E138E1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215CC6-EC41-6FD7-616D-387FA65B78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2973BA-7008-91F4-D32D-03196AA2F3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C4AF9-F8A0-4E5A-9B2A-63DA093259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429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26629896"/>
      </p:ext>
    </p:extLst>
  </p:cSld>
  <p:clrMapOvr>
    <a:masterClrMapping/>
  </p:clrMapOvr>
</p:notes>
</file>

<file path=ppt/notesSlides/notesSlide4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B173AD-7905-94A9-6A32-D00E011EC5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D2FB9A-0F25-5690-BC84-EC2366ABC8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487843-0496-75DC-C049-57F580E0C4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819A79-F896-1DDD-CFA0-EDAF94E825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C4AF9-F8A0-4E5A-9B2A-63DA093259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430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66220397"/>
      </p:ext>
    </p:extLst>
  </p:cSld>
  <p:clrMapOvr>
    <a:masterClrMapping/>
  </p:clrMapOvr>
</p:notes>
</file>

<file path=ppt/notesSlides/notesSlide4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678FA2-2307-FD24-95C7-C67A97DFA7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27113F-5C19-FDCC-EADD-4ECBE8D214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4C13CE7-9B03-4EFC-B740-7802D755C1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D20F86-37CB-796E-880D-A073E2A0E4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C4AF9-F8A0-4E5A-9B2A-63DA093259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431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84770552"/>
      </p:ext>
    </p:extLst>
  </p:cSld>
  <p:clrMapOvr>
    <a:masterClrMapping/>
  </p:clrMapOvr>
</p:notes>
</file>

<file path=ppt/notesSlides/notesSlide4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B2F79C-C7CC-AC74-ACF0-D0615AD4E2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73237C3-A3CB-AA3C-0E0B-9230CC3721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FAC696-B17F-89F7-7277-95D32390EE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367E04-0B02-C6E8-60A0-56BA231DB2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C4AF9-F8A0-4E5A-9B2A-63DA093259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432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02619660"/>
      </p:ext>
    </p:extLst>
  </p:cSld>
  <p:clrMapOvr>
    <a:masterClrMapping/>
  </p:clrMapOvr>
</p:notes>
</file>

<file path=ppt/notesSlides/notesSlide4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DB4F0E-944B-06C1-A035-E6DB290F15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9F3CE6-6B2D-D5F5-FF86-8824065B16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F6451B-0D76-A1A5-447B-C1B35603AF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7D48BC-45F1-E7B6-810B-A317EE09A8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C4AF9-F8A0-4E5A-9B2A-63DA093259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433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08559505"/>
      </p:ext>
    </p:extLst>
  </p:cSld>
  <p:clrMapOvr>
    <a:masterClrMapping/>
  </p:clrMapOvr>
</p:notes>
</file>

<file path=ppt/notesSlides/notesSlide4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E23546-0F24-42F5-C525-8333559349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B1E19E-4666-0772-BFA5-7AA7CAD848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09295F7-3E1B-89E7-A730-A8256B7A6C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521D96-0C06-84F1-B03C-AEC5E71EE1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C4AF9-F8A0-4E5A-9B2A-63DA093259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434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28895034"/>
      </p:ext>
    </p:extLst>
  </p:cSld>
  <p:clrMapOvr>
    <a:masterClrMapping/>
  </p:clrMapOvr>
</p:notes>
</file>

<file path=ppt/notesSlides/notesSlide4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367CE0-2CCB-DFAA-D9D6-0FC81C77CA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825BEA5-B4A2-DDFA-82F1-F4403F0A1C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2E4192-E24D-341F-097F-677B0F0665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F740FF-C814-0111-FA4C-9978169AC8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C4AF9-F8A0-4E5A-9B2A-63DA093259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435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1672608"/>
      </p:ext>
    </p:extLst>
  </p:cSld>
  <p:clrMapOvr>
    <a:masterClrMapping/>
  </p:clrMapOvr>
</p:notes>
</file>

<file path=ppt/notesSlides/notesSlide4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14DE76-AC26-13A6-F12F-73577E5244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B98C8C-D546-FDF9-A5F2-38A33EF2CF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E5A107-D21C-DE6C-9E9E-2225AAF32B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5EE57E-F9A5-A73D-5868-2EA4888F3D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C4AF9-F8A0-4E5A-9B2A-63DA093259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436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41918762"/>
      </p:ext>
    </p:extLst>
  </p:cSld>
  <p:clrMapOvr>
    <a:masterClrMapping/>
  </p:clrMapOvr>
</p:notes>
</file>

<file path=ppt/notesSlides/notesSlide4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D364B3-72ED-5F7B-C078-2A24755471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6EB6633-8EDB-9188-50DB-54AF057B7C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06C331-3603-C7B3-3B94-EBB1860154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C3568F-DC4E-1326-43B2-CECD707696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C4AF9-F8A0-4E5A-9B2A-63DA093259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437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19023928"/>
      </p:ext>
    </p:extLst>
  </p:cSld>
  <p:clrMapOvr>
    <a:masterClrMapping/>
  </p:clrMapOvr>
</p:notes>
</file>

<file path=ppt/notesSlides/notesSlide4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0F7449-7F8F-1A29-1C49-B55D83DC41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497096-B0A3-1059-6BAF-36AB616E79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72D73C6-6DC7-266F-BA2C-E1FEAB0B95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2721F4-009C-CF88-7724-0008E8B9CA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C4AF9-F8A0-4E5A-9B2A-63DA093259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438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51694430"/>
      </p:ext>
    </p:extLst>
  </p:cSld>
  <p:clrMapOvr>
    <a:masterClrMapping/>
  </p:clrMapOvr>
</p:notes>
</file>

<file path=ppt/notesSlides/notesSlide4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6F2BAA-DA6A-1656-BB3B-B4F9ECEBA7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8FA076-BE9D-33F0-1695-D95CDA3882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84B646-8011-B49D-B3E3-BF91BEC1B1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36409B-38C0-6076-9E0E-50BE68145D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C4AF9-F8A0-4E5A-9B2A-63DA093259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439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46917168"/>
      </p:ext>
    </p:extLst>
  </p:cSld>
  <p:clrMapOvr>
    <a:masterClrMapping/>
  </p:clrMapOvr>
</p:notes>
</file>

<file path=ppt/notesSlides/notesSlide4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6AD435-61C9-FF91-3818-8683753D39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91C5AE-CA48-7171-53EE-CC837970E4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BC8BC9-EE4D-28D2-B2C7-57D4AA7C97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1B3336-24AE-8A0E-C540-ECAE4A92B9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C4AF9-F8A0-4E5A-9B2A-63DA093259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440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22858547"/>
      </p:ext>
    </p:extLst>
  </p:cSld>
  <p:clrMapOvr>
    <a:masterClrMapping/>
  </p:clrMapOvr>
</p:notes>
</file>

<file path=ppt/notesSlides/notesSlide4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1ED4A2-B7A4-1ABF-FBAF-AD4658DAC0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E8ECF2-00E9-5AAD-994A-FAB3A028E3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B217E8E-CF9F-5499-705A-86D0B84606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B07B89-DEA2-EEC5-287B-667C221E1A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C4AF9-F8A0-4E5A-9B2A-63DA093259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441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04288015"/>
      </p:ext>
    </p:extLst>
  </p:cSld>
  <p:clrMapOvr>
    <a:masterClrMapping/>
  </p:clrMapOvr>
</p:notes>
</file>

<file path=ppt/notesSlides/notesSlide4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713DB7-8415-E338-7AFB-7DED3536E8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27B50D-D929-5219-A164-4EB676716E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8D173B-F250-7489-2B84-F37E4DE132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8341E4-128A-BFFB-EE5C-958288F428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C4AF9-F8A0-4E5A-9B2A-63DA093259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442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53880769"/>
      </p:ext>
    </p:extLst>
  </p:cSld>
  <p:clrMapOvr>
    <a:masterClrMapping/>
  </p:clrMapOvr>
</p:notes>
</file>

<file path=ppt/notesSlides/notesSlide4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F8D039-B177-86F4-540C-80703EA70C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0DA5FF-5DAC-DE6F-42D5-130A38CB39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42DE59-94F9-18E0-63CA-DF3C94C64D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6D5B97-1705-E3D9-3972-A92BC6738D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C4AF9-F8A0-4E5A-9B2A-63DA093259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443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97194345"/>
      </p:ext>
    </p:extLst>
  </p:cSld>
  <p:clrMapOvr>
    <a:masterClrMapping/>
  </p:clrMapOvr>
</p:notes>
</file>

<file path=ppt/notesSlides/notesSlide4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CEA4CF-0585-10E2-C16E-A096B1D00C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E43924-4063-43B0-1501-7907C3E03D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8369DA-F5A4-97AE-5F26-FF8D2D4CF0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01C647-DBC0-7BD6-3C35-2870D14029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C4AF9-F8A0-4E5A-9B2A-63DA093259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444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11279232"/>
      </p:ext>
    </p:extLst>
  </p:cSld>
  <p:clrMapOvr>
    <a:masterClrMapping/>
  </p:clrMapOvr>
</p:notes>
</file>

<file path=ppt/notesSlides/notesSlide4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E192AC-B97F-4B7C-29EA-6955BA6901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B11BF9-FFF4-A775-35FC-C96F7B1B97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1D7256-3A6B-26B9-1B86-5C8C2453C4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79A3D8-B302-8FD6-D9EC-3A07273F88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C4AF9-F8A0-4E5A-9B2A-63DA093259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445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81059592"/>
      </p:ext>
    </p:extLst>
  </p:cSld>
  <p:clrMapOvr>
    <a:masterClrMapping/>
  </p:clrMapOvr>
</p:notes>
</file>

<file path=ppt/notesSlides/notesSlide4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81BBA0-2760-8752-D087-20CFB11FE1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53C676-3D91-F554-985B-FDB800BA39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8B92D6-ED68-3455-FC57-8A6D88E44F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1EDBF2-5FD6-BC17-A17F-5F859F46B7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C4AF9-F8A0-4E5A-9B2A-63DA093259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446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33520085"/>
      </p:ext>
    </p:extLst>
  </p:cSld>
  <p:clrMapOvr>
    <a:masterClrMapping/>
  </p:clrMapOvr>
</p:notes>
</file>

<file path=ppt/notesSlides/notesSlide4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8EE11D-8BF1-4FDC-CEE7-05570E06B4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AD0E43-4B18-F4F3-2F18-CA114FBA5E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B404CA-2250-DF26-0B9C-5F7F0A4D94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F6199A-E142-458E-9D25-DB8668FCE5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C4AF9-F8A0-4E5A-9B2A-63DA093259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447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27870248"/>
      </p:ext>
    </p:extLst>
  </p:cSld>
  <p:clrMapOvr>
    <a:masterClrMapping/>
  </p:clrMapOvr>
</p:notes>
</file>

<file path=ppt/notesSlides/notesSlide4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3B3EB1-E39C-0560-B845-6955E4CFB9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DB2422B-5449-0FC1-9157-02AA29856B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6CF9CCF-96BA-5C65-1E54-216E2D1103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2F1B52-230A-1595-2C00-AE9F7800FA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C4AF9-F8A0-4E5A-9B2A-63DA093259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448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63389755"/>
      </p:ext>
    </p:extLst>
  </p:cSld>
  <p:clrMapOvr>
    <a:masterClrMapping/>
  </p:clrMapOvr>
</p:notes>
</file>

<file path=ppt/notesSlides/notesSlide4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1E9B27-F94E-0929-9D63-2F2721DE1C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482AAD-DC33-7B28-A3B6-8C8F90DD40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02AC10B-4784-4E56-7A42-D5806C1F8F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2EDE7C-761D-CA54-222E-820DC04D81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C4AF9-F8A0-4E5A-9B2A-63DA093259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449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09256382"/>
      </p:ext>
    </p:extLst>
  </p:cSld>
  <p:clrMapOvr>
    <a:masterClrMapping/>
  </p:clrMapOvr>
</p:notes>
</file>

<file path=ppt/notesSlides/notesSlide4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52C500-1ACE-101F-994B-F222014537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907FA2-4C8F-A767-A92B-539CB85B95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0A224F6-04DC-FA85-E76A-24DBC715B2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66C69E-7381-5120-9440-F68445E29A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C4AF9-F8A0-4E5A-9B2A-63DA093259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450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72297899"/>
      </p:ext>
    </p:extLst>
  </p:cSld>
  <p:clrMapOvr>
    <a:masterClrMapping/>
  </p:clrMapOvr>
</p:notes>
</file>

<file path=ppt/notesSlides/notesSlide4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9419C6-A20A-819F-9646-9E95EA77F6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28603F-821C-5C59-7C85-E62B2D2469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C5227F2-07BA-C0F7-9FA1-A209D11BAF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63A634-9427-2366-E546-E8CBACBA9B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C4AF9-F8A0-4E5A-9B2A-63DA093259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451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0061833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63FD601-CCE0-77AA-648A-9E6B0EC8BBC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3048425" cy="1505160"/>
          </a:xfrm>
          <a:prstGeom prst="rect">
            <a:avLst/>
          </a:prstGeom>
        </p:spPr>
      </p:pic>
      <p:grpSp>
        <p:nvGrpSpPr>
          <p:cNvPr id="2" name="Group 10">
            <a:extLst>
              <a:ext uri="{FF2B5EF4-FFF2-40B4-BE49-F238E27FC236}">
                <a16:creationId xmlns:a16="http://schemas.microsoft.com/office/drawing/2014/main" id="{74107015-521A-3325-6D8E-31F20B4927EB}"/>
              </a:ext>
            </a:extLst>
          </p:cNvPr>
          <p:cNvGrpSpPr/>
          <p:nvPr userDrawn="1"/>
        </p:nvGrpSpPr>
        <p:grpSpPr>
          <a:xfrm rot="-5400000">
            <a:off x="8462597" y="461597"/>
            <a:ext cx="1362805" cy="18288000"/>
            <a:chOff x="0" y="0"/>
            <a:chExt cx="358928" cy="4840325"/>
          </a:xfrm>
        </p:grpSpPr>
        <p:sp>
          <p:nvSpPr>
            <p:cNvPr id="3" name="Freeform 11">
              <a:extLst>
                <a:ext uri="{FF2B5EF4-FFF2-40B4-BE49-F238E27FC236}">
                  <a16:creationId xmlns:a16="http://schemas.microsoft.com/office/drawing/2014/main" id="{53C591E2-6210-4050-356A-CA9CC35113B5}"/>
                </a:ext>
              </a:extLst>
            </p:cNvPr>
            <p:cNvSpPr/>
            <p:nvPr/>
          </p:nvSpPr>
          <p:spPr>
            <a:xfrm>
              <a:off x="0" y="0"/>
              <a:ext cx="358928" cy="4840325"/>
            </a:xfrm>
            <a:custGeom>
              <a:avLst/>
              <a:gdLst/>
              <a:ahLst/>
              <a:cxnLst/>
              <a:rect l="l" t="t" r="r" b="b"/>
              <a:pathLst>
                <a:path w="358928" h="4840325">
                  <a:moveTo>
                    <a:pt x="0" y="0"/>
                  </a:moveTo>
                  <a:lnTo>
                    <a:pt x="358928" y="0"/>
                  </a:lnTo>
                  <a:lnTo>
                    <a:pt x="358928" y="4840325"/>
                  </a:lnTo>
                  <a:lnTo>
                    <a:pt x="0" y="4840325"/>
                  </a:lnTo>
                  <a:close/>
                </a:path>
              </a:pathLst>
            </a:custGeom>
            <a:solidFill>
              <a:srgbClr val="1A377E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12">
              <a:extLst>
                <a:ext uri="{FF2B5EF4-FFF2-40B4-BE49-F238E27FC236}">
                  <a16:creationId xmlns:a16="http://schemas.microsoft.com/office/drawing/2014/main" id="{73B3B2B7-064A-BD79-2E49-89F7583A3749}"/>
                </a:ext>
              </a:extLst>
            </p:cNvPr>
            <p:cNvSpPr txBox="1"/>
            <p:nvPr/>
          </p:nvSpPr>
          <p:spPr>
            <a:xfrm>
              <a:off x="0" y="-66675"/>
              <a:ext cx="358928" cy="49070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24"/>
                </a:lnSpc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Pr>
        <a:solidFill>
          <a:srgbClr val="1A377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B94080B7-2485-9628-20D4-E7386D263F3D}"/>
              </a:ext>
            </a:extLst>
          </p:cNvPr>
          <p:cNvGrpSpPr/>
          <p:nvPr userDrawn="1"/>
        </p:nvGrpSpPr>
        <p:grpSpPr>
          <a:xfrm>
            <a:off x="0" y="0"/>
            <a:ext cx="4624357" cy="10287000"/>
            <a:chOff x="0" y="0"/>
            <a:chExt cx="1217938" cy="2709333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B74831A4-EECA-84EF-D5E5-483512712DBD}"/>
                </a:ext>
              </a:extLst>
            </p:cNvPr>
            <p:cNvSpPr/>
            <p:nvPr/>
          </p:nvSpPr>
          <p:spPr>
            <a:xfrm>
              <a:off x="0" y="0"/>
              <a:ext cx="1217938" cy="2709333"/>
            </a:xfrm>
            <a:custGeom>
              <a:avLst/>
              <a:gdLst/>
              <a:ahLst/>
              <a:cxnLst/>
              <a:rect l="l" t="t" r="r" b="b"/>
              <a:pathLst>
                <a:path w="1217938" h="2709333">
                  <a:moveTo>
                    <a:pt x="0" y="0"/>
                  </a:moveTo>
                  <a:lnTo>
                    <a:pt x="1217938" y="0"/>
                  </a:lnTo>
                  <a:lnTo>
                    <a:pt x="121793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4F6FB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D514AEBB-5055-17B7-D232-148DDB3464A4}"/>
                </a:ext>
              </a:extLst>
            </p:cNvPr>
            <p:cNvSpPr txBox="1"/>
            <p:nvPr/>
          </p:nvSpPr>
          <p:spPr>
            <a:xfrm>
              <a:off x="0" y="0"/>
              <a:ext cx="1217938" cy="27093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E63FD601-CCE0-77AA-648A-9E6B0EC8BBC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3048425" cy="1505160"/>
          </a:xfrm>
          <a:prstGeom prst="rect">
            <a:avLst/>
          </a:prstGeom>
        </p:spPr>
      </p:pic>
      <p:sp>
        <p:nvSpPr>
          <p:cNvPr id="6" name="TextBox 13">
            <a:extLst>
              <a:ext uri="{FF2B5EF4-FFF2-40B4-BE49-F238E27FC236}">
                <a16:creationId xmlns:a16="http://schemas.microsoft.com/office/drawing/2014/main" id="{91081293-466A-CF87-6C01-84ACF3BECD9E}"/>
              </a:ext>
            </a:extLst>
          </p:cNvPr>
          <p:cNvSpPr txBox="1"/>
          <p:nvPr userDrawn="1"/>
        </p:nvSpPr>
        <p:spPr>
          <a:xfrm>
            <a:off x="769978" y="4220170"/>
            <a:ext cx="3084399" cy="18466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06"/>
              </a:lnSpc>
            </a:pPr>
            <a:r>
              <a:rPr lang="en-US" sz="6000" b="1" dirty="0">
                <a:solidFill>
                  <a:srgbClr val="252525"/>
                </a:solidFill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Lecture</a:t>
            </a:r>
          </a:p>
          <a:p>
            <a:pPr algn="ctr">
              <a:lnSpc>
                <a:spcPts val="7206"/>
              </a:lnSpc>
            </a:pPr>
            <a:r>
              <a:rPr lang="en-US" sz="6000" b="1" dirty="0">
                <a:solidFill>
                  <a:srgbClr val="252525"/>
                </a:solidFill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Agenda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3F0D6AD-AB4E-8D56-F56D-684CA09EC85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791200" y="952500"/>
            <a:ext cx="9601200" cy="8572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[LECTURE TITLE]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5EC73B0-DA79-982C-2FD5-0DD962F489C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791200" y="2781300"/>
            <a:ext cx="11430000" cy="60198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[Topic]</a:t>
            </a:r>
          </a:p>
          <a:p>
            <a:pPr lvl="0"/>
            <a:r>
              <a:rPr lang="en-US" dirty="0"/>
              <a:t>[Topic]</a:t>
            </a:r>
          </a:p>
          <a:p>
            <a:pPr lvl="0"/>
            <a:r>
              <a:rPr lang="en-US" dirty="0"/>
              <a:t>[Topic]</a:t>
            </a:r>
          </a:p>
        </p:txBody>
      </p:sp>
    </p:spTree>
    <p:extLst>
      <p:ext uri="{BB962C8B-B14F-4D97-AF65-F5344CB8AC3E}">
        <p14:creationId xmlns:p14="http://schemas.microsoft.com/office/powerpoint/2010/main" val="26508697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st Session Reca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10">
            <a:extLst>
              <a:ext uri="{FF2B5EF4-FFF2-40B4-BE49-F238E27FC236}">
                <a16:creationId xmlns:a16="http://schemas.microsoft.com/office/drawing/2014/main" id="{5D834A50-6231-626C-B21C-E654F0AF9C9E}"/>
              </a:ext>
            </a:extLst>
          </p:cNvPr>
          <p:cNvGrpSpPr/>
          <p:nvPr userDrawn="1"/>
        </p:nvGrpSpPr>
        <p:grpSpPr>
          <a:xfrm rot="-5400000">
            <a:off x="8462597" y="461597"/>
            <a:ext cx="1362805" cy="18288000"/>
            <a:chOff x="0" y="0"/>
            <a:chExt cx="358928" cy="4840325"/>
          </a:xfrm>
        </p:grpSpPr>
        <p:sp>
          <p:nvSpPr>
            <p:cNvPr id="10" name="Freeform 11">
              <a:extLst>
                <a:ext uri="{FF2B5EF4-FFF2-40B4-BE49-F238E27FC236}">
                  <a16:creationId xmlns:a16="http://schemas.microsoft.com/office/drawing/2014/main" id="{E0D6383D-A0A9-FA9C-6E1B-D593C738D727}"/>
                </a:ext>
              </a:extLst>
            </p:cNvPr>
            <p:cNvSpPr/>
            <p:nvPr/>
          </p:nvSpPr>
          <p:spPr>
            <a:xfrm>
              <a:off x="0" y="0"/>
              <a:ext cx="358928" cy="4840325"/>
            </a:xfrm>
            <a:custGeom>
              <a:avLst/>
              <a:gdLst/>
              <a:ahLst/>
              <a:cxnLst/>
              <a:rect l="l" t="t" r="r" b="b"/>
              <a:pathLst>
                <a:path w="358928" h="4840325">
                  <a:moveTo>
                    <a:pt x="0" y="0"/>
                  </a:moveTo>
                  <a:lnTo>
                    <a:pt x="358928" y="0"/>
                  </a:lnTo>
                  <a:lnTo>
                    <a:pt x="358928" y="4840325"/>
                  </a:lnTo>
                  <a:lnTo>
                    <a:pt x="0" y="4840325"/>
                  </a:lnTo>
                  <a:close/>
                </a:path>
              </a:pathLst>
            </a:custGeom>
            <a:solidFill>
              <a:srgbClr val="1A377E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E12E6E57-1092-3BD8-B4C7-31850016D331}"/>
                </a:ext>
              </a:extLst>
            </p:cNvPr>
            <p:cNvSpPr txBox="1"/>
            <p:nvPr/>
          </p:nvSpPr>
          <p:spPr>
            <a:xfrm>
              <a:off x="0" y="-66675"/>
              <a:ext cx="358928" cy="49070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24"/>
                </a:lnSpc>
              </a:pPr>
              <a:endParaRPr/>
            </a:p>
          </p:txBody>
        </p: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E63FD601-CCE0-77AA-648A-9E6B0EC8BBC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3048425" cy="1505160"/>
          </a:xfrm>
          <a:prstGeom prst="rect">
            <a:avLst/>
          </a:prstGeom>
        </p:spPr>
      </p:pic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316F19E6-C3EE-8261-789F-C909DA1C33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57200" y="9331752"/>
            <a:ext cx="4114800" cy="547688"/>
          </a:xfrm>
          <a:prstGeom prst="rect">
            <a:avLst/>
          </a:prstGeom>
        </p:spPr>
        <p:txBody>
          <a:bodyPr/>
          <a:lstStyle>
            <a:lvl1pPr>
              <a:defRPr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Slide </a:t>
            </a:r>
            <a:fld id="{4CA2B2DB-B91D-4166-98BF-65A0DA7EEE6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E91370AC-4856-53DE-1C6E-816C015D077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8200" y="2603500"/>
            <a:ext cx="7194550" cy="495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ts val="351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52525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From Week #</a:t>
            </a:r>
          </a:p>
        </p:txBody>
      </p:sp>
      <p:sp>
        <p:nvSpPr>
          <p:cNvPr id="6" name="Content Placeholder 19">
            <a:extLst>
              <a:ext uri="{FF2B5EF4-FFF2-40B4-BE49-F238E27FC236}">
                <a16:creationId xmlns:a16="http://schemas.microsoft.com/office/drawing/2014/main" id="{853EF4A4-0453-7819-29C2-73F8C98A6D74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838200" y="3200400"/>
            <a:ext cx="16840200" cy="5456238"/>
          </a:xfrm>
          <a:prstGeom prst="rect">
            <a:avLst/>
          </a:prstGeom>
        </p:spPr>
        <p:txBody>
          <a:bodyPr/>
          <a:lstStyle>
            <a:lvl2pPr marL="0" indent="0">
              <a:buNone/>
              <a:defRPr sz="2800"/>
            </a:lvl2pPr>
          </a:lstStyle>
          <a:p>
            <a:pPr marL="344805" lvl="1" indent="-172720">
              <a:lnSpc>
                <a:spcPct val="150000"/>
              </a:lnSpc>
              <a:buFont typeface="Arial"/>
              <a:buChar char="•"/>
            </a:pPr>
            <a:r>
              <a:rPr lang="en-US" sz="3200" dirty="0">
                <a:solidFill>
                  <a:srgbClr val="252525"/>
                </a:solidFill>
                <a:latin typeface="Arial"/>
                <a:ea typeface="Arial"/>
                <a:cs typeface="Arial"/>
              </a:rPr>
              <a:t>[Topic]</a:t>
            </a:r>
          </a:p>
          <a:p>
            <a:pPr marL="344805" lvl="1" indent="-172720">
              <a:lnSpc>
                <a:spcPct val="150000"/>
              </a:lnSpc>
              <a:buFont typeface="Arial"/>
              <a:buChar char="•"/>
            </a:pPr>
            <a:r>
              <a:rPr lang="en-US" sz="3200" dirty="0">
                <a:solidFill>
                  <a:srgbClr val="252525"/>
                </a:solidFill>
                <a:latin typeface="Arial"/>
                <a:ea typeface="Arial"/>
                <a:cs typeface="Arial"/>
              </a:rPr>
              <a:t>[Topic]</a:t>
            </a:r>
          </a:p>
          <a:p>
            <a:pPr marL="344805" lvl="1" indent="-172720">
              <a:lnSpc>
                <a:spcPct val="150000"/>
              </a:lnSpc>
              <a:buFont typeface="Arial"/>
              <a:buChar char="•"/>
            </a:pPr>
            <a:r>
              <a:rPr lang="en-US" sz="3200" dirty="0">
                <a:solidFill>
                  <a:srgbClr val="252525"/>
                </a:solidFill>
                <a:latin typeface="Arial"/>
                <a:ea typeface="Arial"/>
                <a:cs typeface="Arial"/>
              </a:rPr>
              <a:t>[Topic]</a:t>
            </a:r>
            <a:endParaRPr lang="en-US" sz="3200" b="1" dirty="0">
              <a:solidFill>
                <a:srgbClr val="252525"/>
              </a:solidFill>
              <a:latin typeface="Arial"/>
              <a:ea typeface="Arial"/>
              <a:cs typeface="Arial"/>
            </a:endParaRPr>
          </a:p>
          <a:p>
            <a:pPr marL="344805" lvl="1" indent="-172720">
              <a:lnSpc>
                <a:spcPct val="150000"/>
              </a:lnSpc>
              <a:buFont typeface="Arial"/>
              <a:buChar char="•"/>
            </a:pPr>
            <a:endParaRPr lang="en-US" sz="3200" dirty="0">
              <a:solidFill>
                <a:srgbClr val="252525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" name="TextBox 14">
            <a:extLst>
              <a:ext uri="{FF2B5EF4-FFF2-40B4-BE49-F238E27FC236}">
                <a16:creationId xmlns:a16="http://schemas.microsoft.com/office/drawing/2014/main" id="{3568A479-89FB-FFBD-29B8-18B88C900094}"/>
              </a:ext>
            </a:extLst>
          </p:cNvPr>
          <p:cNvSpPr txBox="1"/>
          <p:nvPr userDrawn="1"/>
        </p:nvSpPr>
        <p:spPr>
          <a:xfrm>
            <a:off x="838200" y="1559327"/>
            <a:ext cx="8197850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206"/>
              </a:lnSpc>
            </a:pPr>
            <a:r>
              <a:rPr lang="en-US" sz="6600" b="1" dirty="0">
                <a:solidFill>
                  <a:srgbClr val="252525"/>
                </a:solidFill>
                <a:latin typeface="+mj-lt"/>
                <a:ea typeface="Arial Bold"/>
                <a:cs typeface="Arial" panose="020B0604020202020204" pitchFamily="34" charset="0"/>
                <a:sym typeface="Arial Bold"/>
              </a:rPr>
              <a:t>Last Session Recap</a:t>
            </a:r>
          </a:p>
        </p:txBody>
      </p:sp>
    </p:spTree>
    <p:extLst>
      <p:ext uri="{BB962C8B-B14F-4D97-AF65-F5344CB8AC3E}">
        <p14:creationId xmlns:p14="http://schemas.microsoft.com/office/powerpoint/2010/main" val="9730481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10">
            <a:extLst>
              <a:ext uri="{FF2B5EF4-FFF2-40B4-BE49-F238E27FC236}">
                <a16:creationId xmlns:a16="http://schemas.microsoft.com/office/drawing/2014/main" id="{5D834A50-6231-626C-B21C-E654F0AF9C9E}"/>
              </a:ext>
            </a:extLst>
          </p:cNvPr>
          <p:cNvGrpSpPr/>
          <p:nvPr userDrawn="1"/>
        </p:nvGrpSpPr>
        <p:grpSpPr>
          <a:xfrm rot="-5400000">
            <a:off x="8462597" y="461597"/>
            <a:ext cx="1362805" cy="18288000"/>
            <a:chOff x="0" y="0"/>
            <a:chExt cx="358928" cy="4840325"/>
          </a:xfrm>
        </p:grpSpPr>
        <p:sp>
          <p:nvSpPr>
            <p:cNvPr id="10" name="Freeform 11">
              <a:extLst>
                <a:ext uri="{FF2B5EF4-FFF2-40B4-BE49-F238E27FC236}">
                  <a16:creationId xmlns:a16="http://schemas.microsoft.com/office/drawing/2014/main" id="{E0D6383D-A0A9-FA9C-6E1B-D593C738D727}"/>
                </a:ext>
              </a:extLst>
            </p:cNvPr>
            <p:cNvSpPr/>
            <p:nvPr/>
          </p:nvSpPr>
          <p:spPr>
            <a:xfrm>
              <a:off x="0" y="0"/>
              <a:ext cx="358928" cy="4840325"/>
            </a:xfrm>
            <a:custGeom>
              <a:avLst/>
              <a:gdLst/>
              <a:ahLst/>
              <a:cxnLst/>
              <a:rect l="l" t="t" r="r" b="b"/>
              <a:pathLst>
                <a:path w="358928" h="4840325">
                  <a:moveTo>
                    <a:pt x="0" y="0"/>
                  </a:moveTo>
                  <a:lnTo>
                    <a:pt x="358928" y="0"/>
                  </a:lnTo>
                  <a:lnTo>
                    <a:pt x="358928" y="4840325"/>
                  </a:lnTo>
                  <a:lnTo>
                    <a:pt x="0" y="4840325"/>
                  </a:lnTo>
                  <a:close/>
                </a:path>
              </a:pathLst>
            </a:custGeom>
            <a:solidFill>
              <a:srgbClr val="1A377E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E12E6E57-1092-3BD8-B4C7-31850016D331}"/>
                </a:ext>
              </a:extLst>
            </p:cNvPr>
            <p:cNvSpPr txBox="1"/>
            <p:nvPr/>
          </p:nvSpPr>
          <p:spPr>
            <a:xfrm>
              <a:off x="0" y="-66675"/>
              <a:ext cx="358928" cy="49070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24"/>
                </a:lnSpc>
              </a:pPr>
              <a:endParaRPr/>
            </a:p>
          </p:txBody>
        </p: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E63FD601-CCE0-77AA-648A-9E6B0EC8BBC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3048425" cy="1505160"/>
          </a:xfrm>
          <a:prstGeom prst="rect">
            <a:avLst/>
          </a:prstGeom>
        </p:spPr>
      </p:pic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316F19E6-C3EE-8261-789F-C909DA1C33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57200" y="9331752"/>
            <a:ext cx="4114800" cy="547688"/>
          </a:xfrm>
          <a:prstGeom prst="rect">
            <a:avLst/>
          </a:prstGeom>
        </p:spPr>
        <p:txBody>
          <a:bodyPr/>
          <a:lstStyle>
            <a:lvl1pPr>
              <a:defRPr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Slide </a:t>
            </a:r>
            <a:fld id="{4CA2B2DB-B91D-4166-98BF-65A0DA7EEE6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E91370AC-4856-53DE-1C6E-816C015D077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8200" y="2603500"/>
            <a:ext cx="7194550" cy="495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ts val="351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52525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[Content Slide Subtitle]</a:t>
            </a:r>
          </a:p>
        </p:txBody>
      </p:sp>
      <p:sp>
        <p:nvSpPr>
          <p:cNvPr id="6" name="Content Placeholder 19">
            <a:extLst>
              <a:ext uri="{FF2B5EF4-FFF2-40B4-BE49-F238E27FC236}">
                <a16:creationId xmlns:a16="http://schemas.microsoft.com/office/drawing/2014/main" id="{853EF4A4-0453-7819-29C2-73F8C98A6D74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838200" y="3200400"/>
            <a:ext cx="16840200" cy="5456238"/>
          </a:xfrm>
          <a:prstGeom prst="rect">
            <a:avLst/>
          </a:prstGeom>
        </p:spPr>
        <p:txBody>
          <a:bodyPr/>
          <a:lstStyle>
            <a:lvl2pPr marL="172085" indent="0">
              <a:buNone/>
              <a:defRPr sz="2800"/>
            </a:lvl2pPr>
          </a:lstStyle>
          <a:p>
            <a:pPr marL="344805" lvl="1" indent="-172720">
              <a:lnSpc>
                <a:spcPct val="150000"/>
              </a:lnSpc>
              <a:buFont typeface="Arial"/>
              <a:buChar char="•"/>
            </a:pPr>
            <a:r>
              <a:rPr lang="en-US" sz="3200" dirty="0">
                <a:solidFill>
                  <a:srgbClr val="252525"/>
                </a:solidFill>
                <a:latin typeface="Arial"/>
                <a:ea typeface="Arial"/>
                <a:cs typeface="Arial"/>
              </a:rPr>
              <a:t>[Topic]</a:t>
            </a:r>
          </a:p>
          <a:p>
            <a:pPr marL="344805" lvl="1" indent="-172720">
              <a:lnSpc>
                <a:spcPct val="150000"/>
              </a:lnSpc>
              <a:buFont typeface="Arial"/>
              <a:buChar char="•"/>
            </a:pPr>
            <a:r>
              <a:rPr lang="en-US" sz="3200" dirty="0">
                <a:solidFill>
                  <a:srgbClr val="252525"/>
                </a:solidFill>
                <a:latin typeface="Arial"/>
                <a:ea typeface="Arial"/>
                <a:cs typeface="Arial"/>
              </a:rPr>
              <a:t>[Topic]</a:t>
            </a:r>
          </a:p>
          <a:p>
            <a:pPr marL="344805" lvl="1" indent="-172720">
              <a:lnSpc>
                <a:spcPct val="150000"/>
              </a:lnSpc>
              <a:buFont typeface="Arial"/>
              <a:buChar char="•"/>
            </a:pPr>
            <a:r>
              <a:rPr lang="en-US" sz="3200" dirty="0">
                <a:solidFill>
                  <a:srgbClr val="252525"/>
                </a:solidFill>
                <a:latin typeface="Arial"/>
                <a:ea typeface="Arial"/>
                <a:cs typeface="Arial"/>
              </a:rPr>
              <a:t>[Topic]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F72B49A-265C-5E67-24A4-981BEF6992D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077200" y="9331325"/>
            <a:ext cx="9982200" cy="547688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600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Image Source: &lt;Insert APA Formatted reference for any images taken from copywritten material&gt;</a:t>
            </a:r>
          </a:p>
          <a:p>
            <a:pPr lvl="0"/>
            <a:endParaRPr lang="en-US" dirty="0"/>
          </a:p>
        </p:txBody>
      </p:sp>
      <p:sp>
        <p:nvSpPr>
          <p:cNvPr id="14" name="Title 13">
            <a:extLst>
              <a:ext uri="{FF2B5EF4-FFF2-40B4-BE49-F238E27FC236}">
                <a16:creationId xmlns:a16="http://schemas.microsoft.com/office/drawing/2014/main" id="{C180259A-72EC-03C1-D23B-2B9100C0BF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1409700"/>
            <a:ext cx="16192500" cy="1127125"/>
          </a:xfrm>
          <a:prstGeom prst="rect">
            <a:avLst/>
          </a:prstGeom>
        </p:spPr>
        <p:txBody>
          <a:bodyPr/>
          <a:lstStyle>
            <a:lvl1pPr algn="l">
              <a:defRPr sz="6600" b="1"/>
            </a:lvl1pPr>
          </a:lstStyle>
          <a:p>
            <a:r>
              <a:rPr lang="en-US" dirty="0"/>
              <a:t>[Content Title]</a:t>
            </a:r>
          </a:p>
        </p:txBody>
      </p:sp>
    </p:spTree>
    <p:extLst>
      <p:ext uri="{BB962C8B-B14F-4D97-AF65-F5344CB8AC3E}">
        <p14:creationId xmlns:p14="http://schemas.microsoft.com/office/powerpoint/2010/main" val="10572554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nowledge Che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10">
            <a:extLst>
              <a:ext uri="{FF2B5EF4-FFF2-40B4-BE49-F238E27FC236}">
                <a16:creationId xmlns:a16="http://schemas.microsoft.com/office/drawing/2014/main" id="{5D834A50-6231-626C-B21C-E654F0AF9C9E}"/>
              </a:ext>
            </a:extLst>
          </p:cNvPr>
          <p:cNvGrpSpPr/>
          <p:nvPr userDrawn="1"/>
        </p:nvGrpSpPr>
        <p:grpSpPr>
          <a:xfrm rot="-5400000">
            <a:off x="8462597" y="461597"/>
            <a:ext cx="1362805" cy="18288000"/>
            <a:chOff x="0" y="0"/>
            <a:chExt cx="358928" cy="4840325"/>
          </a:xfrm>
        </p:grpSpPr>
        <p:sp>
          <p:nvSpPr>
            <p:cNvPr id="10" name="Freeform 11">
              <a:extLst>
                <a:ext uri="{FF2B5EF4-FFF2-40B4-BE49-F238E27FC236}">
                  <a16:creationId xmlns:a16="http://schemas.microsoft.com/office/drawing/2014/main" id="{E0D6383D-A0A9-FA9C-6E1B-D593C738D727}"/>
                </a:ext>
              </a:extLst>
            </p:cNvPr>
            <p:cNvSpPr/>
            <p:nvPr/>
          </p:nvSpPr>
          <p:spPr>
            <a:xfrm>
              <a:off x="0" y="0"/>
              <a:ext cx="358928" cy="4840325"/>
            </a:xfrm>
            <a:custGeom>
              <a:avLst/>
              <a:gdLst/>
              <a:ahLst/>
              <a:cxnLst/>
              <a:rect l="l" t="t" r="r" b="b"/>
              <a:pathLst>
                <a:path w="358928" h="4840325">
                  <a:moveTo>
                    <a:pt x="0" y="0"/>
                  </a:moveTo>
                  <a:lnTo>
                    <a:pt x="358928" y="0"/>
                  </a:lnTo>
                  <a:lnTo>
                    <a:pt x="358928" y="4840325"/>
                  </a:lnTo>
                  <a:lnTo>
                    <a:pt x="0" y="4840325"/>
                  </a:lnTo>
                  <a:close/>
                </a:path>
              </a:pathLst>
            </a:custGeom>
            <a:solidFill>
              <a:srgbClr val="1A377E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E12E6E57-1092-3BD8-B4C7-31850016D331}"/>
                </a:ext>
              </a:extLst>
            </p:cNvPr>
            <p:cNvSpPr txBox="1"/>
            <p:nvPr/>
          </p:nvSpPr>
          <p:spPr>
            <a:xfrm>
              <a:off x="0" y="-66675"/>
              <a:ext cx="358928" cy="49070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24"/>
                </a:lnSpc>
              </a:pPr>
              <a:endParaRPr/>
            </a:p>
          </p:txBody>
        </p: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E63FD601-CCE0-77AA-648A-9E6B0EC8BBC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3048425" cy="1505160"/>
          </a:xfrm>
          <a:prstGeom prst="rect">
            <a:avLst/>
          </a:prstGeom>
        </p:spPr>
      </p:pic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316F19E6-C3EE-8261-789F-C909DA1C33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57200" y="9331752"/>
            <a:ext cx="4114800" cy="547688"/>
          </a:xfrm>
          <a:prstGeom prst="rect">
            <a:avLst/>
          </a:prstGeom>
        </p:spPr>
        <p:txBody>
          <a:bodyPr/>
          <a:lstStyle>
            <a:lvl1pPr>
              <a:defRPr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Slide </a:t>
            </a:r>
            <a:fld id="{4CA2B2DB-B91D-4166-98BF-65A0DA7EEE6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A8D2A1F-FD5A-42C2-27E0-856018C538F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219200" y="2877342"/>
            <a:ext cx="16306800" cy="923330"/>
          </a:xfrm>
          <a:prstGeom prst="rect">
            <a:avLst/>
          </a:prstGeom>
        </p:spPr>
        <p:txBody>
          <a:bodyPr/>
          <a:lstStyle>
            <a:lvl1pPr marL="742950" indent="-742950">
              <a:buClr>
                <a:srgbClr val="1A377E"/>
              </a:buClr>
              <a:buFont typeface="+mj-lt"/>
              <a:buAutoNum type="arabicPeriod"/>
              <a:defRPr sz="3600"/>
            </a:lvl1pPr>
            <a:lvl2pPr marL="457200" indent="0">
              <a:buClr>
                <a:srgbClr val="1A377E"/>
              </a:buClr>
              <a:buFont typeface="+mj-lt"/>
              <a:buNone/>
              <a:defRPr sz="3600"/>
            </a:lvl2pPr>
          </a:lstStyle>
          <a:p>
            <a:pPr lvl="0"/>
            <a:r>
              <a:rPr lang="pt-BR" dirty="0"/>
              <a:t>[Question Stem]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6676930-718E-120F-1026-998D32DA822A}"/>
              </a:ext>
            </a:extLst>
          </p:cNvPr>
          <p:cNvSpPr txBox="1"/>
          <p:nvPr userDrawn="1"/>
        </p:nvSpPr>
        <p:spPr>
          <a:xfrm>
            <a:off x="838200" y="1559327"/>
            <a:ext cx="8197850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206"/>
              </a:lnSpc>
            </a:pPr>
            <a:r>
              <a:rPr lang="en-US" sz="6600" b="1" dirty="0">
                <a:solidFill>
                  <a:srgbClr val="252525"/>
                </a:solidFill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Knowledge Check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4F2D6F7-C25A-0969-7DD4-958EE458AD1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083841" y="4228478"/>
            <a:ext cx="13868400" cy="923330"/>
          </a:xfrm>
          <a:prstGeom prst="rect">
            <a:avLst/>
          </a:prstGeom>
        </p:spPr>
        <p:txBody>
          <a:bodyPr/>
          <a:lstStyle>
            <a:lvl1pPr marL="742950" indent="-742950">
              <a:buClr>
                <a:srgbClr val="1A377E"/>
              </a:buClr>
              <a:buFont typeface="+mj-lt"/>
              <a:buAutoNum type="alphaUcPeriod"/>
              <a:defRPr sz="3600"/>
            </a:lvl1pPr>
            <a:lvl2pPr marL="457200" indent="0">
              <a:buClr>
                <a:srgbClr val="1A377E"/>
              </a:buClr>
              <a:buFont typeface="+mj-lt"/>
              <a:buNone/>
              <a:defRPr sz="3600"/>
            </a:lvl2pPr>
          </a:lstStyle>
          <a:p>
            <a:pPr lvl="0"/>
            <a:r>
              <a:rPr lang="pt-BR" dirty="0"/>
              <a:t>[Option 1]</a:t>
            </a:r>
          </a:p>
        </p:txBody>
      </p:sp>
    </p:spTree>
    <p:extLst>
      <p:ext uri="{BB962C8B-B14F-4D97-AF65-F5344CB8AC3E}">
        <p14:creationId xmlns:p14="http://schemas.microsoft.com/office/powerpoint/2010/main" val="26149916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nds-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10">
            <a:extLst>
              <a:ext uri="{FF2B5EF4-FFF2-40B4-BE49-F238E27FC236}">
                <a16:creationId xmlns:a16="http://schemas.microsoft.com/office/drawing/2014/main" id="{5D834A50-6231-626C-B21C-E654F0AF9C9E}"/>
              </a:ext>
            </a:extLst>
          </p:cNvPr>
          <p:cNvGrpSpPr/>
          <p:nvPr userDrawn="1"/>
        </p:nvGrpSpPr>
        <p:grpSpPr>
          <a:xfrm rot="-5400000">
            <a:off x="8462597" y="461597"/>
            <a:ext cx="1362805" cy="18288000"/>
            <a:chOff x="0" y="0"/>
            <a:chExt cx="358928" cy="4840325"/>
          </a:xfrm>
        </p:grpSpPr>
        <p:sp>
          <p:nvSpPr>
            <p:cNvPr id="10" name="Freeform 11">
              <a:extLst>
                <a:ext uri="{FF2B5EF4-FFF2-40B4-BE49-F238E27FC236}">
                  <a16:creationId xmlns:a16="http://schemas.microsoft.com/office/drawing/2014/main" id="{E0D6383D-A0A9-FA9C-6E1B-D593C738D727}"/>
                </a:ext>
              </a:extLst>
            </p:cNvPr>
            <p:cNvSpPr/>
            <p:nvPr/>
          </p:nvSpPr>
          <p:spPr>
            <a:xfrm>
              <a:off x="0" y="0"/>
              <a:ext cx="358928" cy="4840325"/>
            </a:xfrm>
            <a:custGeom>
              <a:avLst/>
              <a:gdLst/>
              <a:ahLst/>
              <a:cxnLst/>
              <a:rect l="l" t="t" r="r" b="b"/>
              <a:pathLst>
                <a:path w="358928" h="4840325">
                  <a:moveTo>
                    <a:pt x="0" y="0"/>
                  </a:moveTo>
                  <a:lnTo>
                    <a:pt x="358928" y="0"/>
                  </a:lnTo>
                  <a:lnTo>
                    <a:pt x="358928" y="4840325"/>
                  </a:lnTo>
                  <a:lnTo>
                    <a:pt x="0" y="4840325"/>
                  </a:lnTo>
                  <a:close/>
                </a:path>
              </a:pathLst>
            </a:custGeom>
            <a:solidFill>
              <a:srgbClr val="1A377E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E12E6E57-1092-3BD8-B4C7-31850016D331}"/>
                </a:ext>
              </a:extLst>
            </p:cNvPr>
            <p:cNvSpPr txBox="1"/>
            <p:nvPr/>
          </p:nvSpPr>
          <p:spPr>
            <a:xfrm>
              <a:off x="0" y="-66675"/>
              <a:ext cx="358928" cy="49070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24"/>
                </a:lnSpc>
              </a:pPr>
              <a:endParaRPr/>
            </a:p>
          </p:txBody>
        </p: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E63FD601-CCE0-77AA-648A-9E6B0EC8BBC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3048425" cy="1505160"/>
          </a:xfrm>
          <a:prstGeom prst="rect">
            <a:avLst/>
          </a:prstGeom>
        </p:spPr>
      </p:pic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316F19E6-C3EE-8261-789F-C909DA1C33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57200" y="9331752"/>
            <a:ext cx="4114800" cy="547688"/>
          </a:xfrm>
          <a:prstGeom prst="rect">
            <a:avLst/>
          </a:prstGeom>
        </p:spPr>
        <p:txBody>
          <a:bodyPr/>
          <a:lstStyle>
            <a:lvl1pPr>
              <a:defRPr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Slide </a:t>
            </a:r>
            <a:fld id="{4CA2B2DB-B91D-4166-98BF-65A0DA7EEE6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Content Placeholder 19">
            <a:extLst>
              <a:ext uri="{FF2B5EF4-FFF2-40B4-BE49-F238E27FC236}">
                <a16:creationId xmlns:a16="http://schemas.microsoft.com/office/drawing/2014/main" id="{853EF4A4-0453-7819-29C2-73F8C98A6D74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838200" y="3200400"/>
            <a:ext cx="16840200" cy="5456238"/>
          </a:xfrm>
          <a:prstGeom prst="rect">
            <a:avLst/>
          </a:prstGeom>
        </p:spPr>
        <p:txBody>
          <a:bodyPr/>
          <a:lstStyle>
            <a:lvl2pPr marL="0" indent="0">
              <a:buNone/>
              <a:defRPr sz="2800"/>
            </a:lvl2pPr>
          </a:lstStyle>
          <a:p>
            <a:pPr marL="344805" lvl="1" indent="-172720">
              <a:lnSpc>
                <a:spcPct val="150000"/>
              </a:lnSpc>
              <a:buFont typeface="Arial"/>
              <a:buChar char="•"/>
            </a:pPr>
            <a:r>
              <a:rPr lang="en-US" sz="3200" dirty="0">
                <a:solidFill>
                  <a:srgbClr val="252525"/>
                </a:solidFill>
                <a:latin typeface="Arial"/>
                <a:ea typeface="Arial"/>
                <a:cs typeface="Arial"/>
              </a:rPr>
              <a:t>[Topic]</a:t>
            </a:r>
          </a:p>
          <a:p>
            <a:pPr marL="344805" lvl="1" indent="-172720">
              <a:lnSpc>
                <a:spcPct val="150000"/>
              </a:lnSpc>
              <a:buFont typeface="Arial"/>
              <a:buChar char="•"/>
            </a:pPr>
            <a:r>
              <a:rPr lang="en-US" sz="3200" dirty="0">
                <a:solidFill>
                  <a:srgbClr val="252525"/>
                </a:solidFill>
                <a:latin typeface="Arial"/>
                <a:ea typeface="Arial"/>
                <a:cs typeface="Arial"/>
              </a:rPr>
              <a:t>[Topic]</a:t>
            </a:r>
          </a:p>
          <a:p>
            <a:pPr marL="344805" lvl="1" indent="-172720">
              <a:lnSpc>
                <a:spcPct val="150000"/>
              </a:lnSpc>
              <a:buFont typeface="Arial"/>
              <a:buChar char="•"/>
            </a:pPr>
            <a:r>
              <a:rPr lang="en-US" sz="3200" dirty="0">
                <a:solidFill>
                  <a:srgbClr val="252525"/>
                </a:solidFill>
                <a:latin typeface="Arial"/>
                <a:ea typeface="Arial"/>
                <a:cs typeface="Arial"/>
              </a:rPr>
              <a:t>[Topic]</a:t>
            </a:r>
            <a:endParaRPr lang="en-US" sz="3200" b="1" dirty="0">
              <a:solidFill>
                <a:srgbClr val="252525"/>
              </a:solidFill>
              <a:latin typeface="Arial"/>
              <a:ea typeface="Arial"/>
              <a:cs typeface="Arial"/>
            </a:endParaRPr>
          </a:p>
          <a:p>
            <a:pPr marL="344805" lvl="1" indent="-172720">
              <a:lnSpc>
                <a:spcPct val="150000"/>
              </a:lnSpc>
              <a:buFont typeface="Arial"/>
              <a:buChar char="•"/>
            </a:pPr>
            <a:endParaRPr lang="en-US" sz="3200" dirty="0">
              <a:solidFill>
                <a:srgbClr val="252525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0D70CEC-835C-9348-F769-21BB0741658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1409700"/>
            <a:ext cx="16192500" cy="1127125"/>
          </a:xfrm>
          <a:prstGeom prst="rect">
            <a:avLst/>
          </a:prstGeom>
        </p:spPr>
        <p:txBody>
          <a:bodyPr/>
          <a:lstStyle>
            <a:lvl1pPr algn="l">
              <a:defRPr sz="6600" b="1">
                <a:latin typeface="+mj-lt"/>
              </a:defRPr>
            </a:lvl1pPr>
          </a:lstStyle>
          <a:p>
            <a:r>
              <a:rPr lang="en-US" dirty="0"/>
              <a:t>Hands-on Exercise [#]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2966E493-7DA3-464F-D494-26D7CDCDA63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8200" y="2603500"/>
            <a:ext cx="7194550" cy="495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ts val="351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52525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[Slide Subtitle]</a:t>
            </a:r>
          </a:p>
        </p:txBody>
      </p:sp>
    </p:spTree>
    <p:extLst>
      <p:ext uri="{BB962C8B-B14F-4D97-AF65-F5344CB8AC3E}">
        <p14:creationId xmlns:p14="http://schemas.microsoft.com/office/powerpoint/2010/main" val="28124244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10">
            <a:extLst>
              <a:ext uri="{FF2B5EF4-FFF2-40B4-BE49-F238E27FC236}">
                <a16:creationId xmlns:a16="http://schemas.microsoft.com/office/drawing/2014/main" id="{5D834A50-6231-626C-B21C-E654F0AF9C9E}"/>
              </a:ext>
            </a:extLst>
          </p:cNvPr>
          <p:cNvGrpSpPr/>
          <p:nvPr userDrawn="1"/>
        </p:nvGrpSpPr>
        <p:grpSpPr>
          <a:xfrm rot="-5400000">
            <a:off x="8462597" y="461597"/>
            <a:ext cx="1362805" cy="18288000"/>
            <a:chOff x="0" y="0"/>
            <a:chExt cx="358928" cy="4840325"/>
          </a:xfrm>
        </p:grpSpPr>
        <p:sp>
          <p:nvSpPr>
            <p:cNvPr id="10" name="Freeform 11">
              <a:extLst>
                <a:ext uri="{FF2B5EF4-FFF2-40B4-BE49-F238E27FC236}">
                  <a16:creationId xmlns:a16="http://schemas.microsoft.com/office/drawing/2014/main" id="{E0D6383D-A0A9-FA9C-6E1B-D593C738D727}"/>
                </a:ext>
              </a:extLst>
            </p:cNvPr>
            <p:cNvSpPr/>
            <p:nvPr/>
          </p:nvSpPr>
          <p:spPr>
            <a:xfrm>
              <a:off x="0" y="0"/>
              <a:ext cx="358928" cy="4840325"/>
            </a:xfrm>
            <a:custGeom>
              <a:avLst/>
              <a:gdLst/>
              <a:ahLst/>
              <a:cxnLst/>
              <a:rect l="l" t="t" r="r" b="b"/>
              <a:pathLst>
                <a:path w="358928" h="4840325">
                  <a:moveTo>
                    <a:pt x="0" y="0"/>
                  </a:moveTo>
                  <a:lnTo>
                    <a:pt x="358928" y="0"/>
                  </a:lnTo>
                  <a:lnTo>
                    <a:pt x="358928" y="4840325"/>
                  </a:lnTo>
                  <a:lnTo>
                    <a:pt x="0" y="4840325"/>
                  </a:lnTo>
                  <a:close/>
                </a:path>
              </a:pathLst>
            </a:custGeom>
            <a:solidFill>
              <a:srgbClr val="1A377E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E12E6E57-1092-3BD8-B4C7-31850016D331}"/>
                </a:ext>
              </a:extLst>
            </p:cNvPr>
            <p:cNvSpPr txBox="1"/>
            <p:nvPr/>
          </p:nvSpPr>
          <p:spPr>
            <a:xfrm>
              <a:off x="0" y="-66675"/>
              <a:ext cx="358928" cy="49070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24"/>
                </a:lnSpc>
              </a:pPr>
              <a:endParaRPr/>
            </a:p>
          </p:txBody>
        </p: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E63FD601-CCE0-77AA-648A-9E6B0EC8BBC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3048425" cy="1505160"/>
          </a:xfrm>
          <a:prstGeom prst="rect">
            <a:avLst/>
          </a:prstGeom>
        </p:spPr>
      </p:pic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316F19E6-C3EE-8261-789F-C909DA1C33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57200" y="9331752"/>
            <a:ext cx="4114800" cy="547688"/>
          </a:xfrm>
          <a:prstGeom prst="rect">
            <a:avLst/>
          </a:prstGeom>
        </p:spPr>
        <p:txBody>
          <a:bodyPr/>
          <a:lstStyle>
            <a:lvl1pPr>
              <a:defRPr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Slide </a:t>
            </a:r>
            <a:fld id="{4CA2B2DB-B91D-4166-98BF-65A0DA7EEE6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E91370AC-4856-53DE-1C6E-816C015D077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8200" y="2603500"/>
            <a:ext cx="7194550" cy="495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ts val="351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52525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[Slide Subtitle]</a:t>
            </a:r>
          </a:p>
        </p:txBody>
      </p:sp>
      <p:sp>
        <p:nvSpPr>
          <p:cNvPr id="6" name="Content Placeholder 19">
            <a:extLst>
              <a:ext uri="{FF2B5EF4-FFF2-40B4-BE49-F238E27FC236}">
                <a16:creationId xmlns:a16="http://schemas.microsoft.com/office/drawing/2014/main" id="{853EF4A4-0453-7819-29C2-73F8C98A6D74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838200" y="3200400"/>
            <a:ext cx="16840200" cy="5456238"/>
          </a:xfrm>
          <a:prstGeom prst="rect">
            <a:avLst/>
          </a:prstGeom>
        </p:spPr>
        <p:txBody>
          <a:bodyPr/>
          <a:lstStyle>
            <a:lvl2pPr marL="0" indent="0">
              <a:buNone/>
              <a:defRPr sz="2800"/>
            </a:lvl2pPr>
          </a:lstStyle>
          <a:p>
            <a:pPr marL="344805" lvl="1" indent="-172720">
              <a:lnSpc>
                <a:spcPct val="150000"/>
              </a:lnSpc>
              <a:buFont typeface="Arial"/>
              <a:buChar char="•"/>
            </a:pPr>
            <a:r>
              <a:rPr lang="en-US" sz="3200" dirty="0">
                <a:solidFill>
                  <a:srgbClr val="252525"/>
                </a:solidFill>
                <a:latin typeface="Arial"/>
                <a:ea typeface="Arial"/>
                <a:cs typeface="Arial"/>
              </a:rPr>
              <a:t>[Topic]</a:t>
            </a:r>
          </a:p>
          <a:p>
            <a:pPr marL="344805" lvl="1" indent="-172720">
              <a:lnSpc>
                <a:spcPct val="150000"/>
              </a:lnSpc>
              <a:buFont typeface="Arial"/>
              <a:buChar char="•"/>
            </a:pPr>
            <a:r>
              <a:rPr lang="en-US" sz="3200" dirty="0">
                <a:solidFill>
                  <a:srgbClr val="252525"/>
                </a:solidFill>
                <a:latin typeface="Arial"/>
                <a:ea typeface="Arial"/>
                <a:cs typeface="Arial"/>
              </a:rPr>
              <a:t>[Topic]</a:t>
            </a:r>
          </a:p>
          <a:p>
            <a:pPr marL="344805" lvl="1" indent="-172720">
              <a:lnSpc>
                <a:spcPct val="150000"/>
              </a:lnSpc>
              <a:buFont typeface="Arial"/>
              <a:buChar char="•"/>
            </a:pPr>
            <a:r>
              <a:rPr lang="en-US" sz="3200" dirty="0">
                <a:solidFill>
                  <a:srgbClr val="252525"/>
                </a:solidFill>
                <a:latin typeface="Arial"/>
                <a:ea typeface="Arial"/>
                <a:cs typeface="Arial"/>
              </a:rPr>
              <a:t>[Topic]</a:t>
            </a:r>
            <a:endParaRPr lang="en-US" sz="3200" b="1" dirty="0">
              <a:solidFill>
                <a:srgbClr val="252525"/>
              </a:solidFill>
              <a:latin typeface="Arial"/>
              <a:ea typeface="Arial"/>
              <a:cs typeface="Arial"/>
            </a:endParaRPr>
          </a:p>
          <a:p>
            <a:pPr marL="344805" lvl="1" indent="-172720">
              <a:lnSpc>
                <a:spcPct val="150000"/>
              </a:lnSpc>
              <a:buFont typeface="Arial"/>
              <a:buChar char="•"/>
            </a:pPr>
            <a:endParaRPr lang="en-US" sz="3200" dirty="0">
              <a:solidFill>
                <a:srgbClr val="252525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TextBox 14">
            <a:extLst>
              <a:ext uri="{FF2B5EF4-FFF2-40B4-BE49-F238E27FC236}">
                <a16:creationId xmlns:a16="http://schemas.microsoft.com/office/drawing/2014/main" id="{BDBC1459-3564-BF96-E3A8-ED9CC8B31B22}"/>
              </a:ext>
            </a:extLst>
          </p:cNvPr>
          <p:cNvSpPr txBox="1"/>
          <p:nvPr userDrawn="1"/>
        </p:nvSpPr>
        <p:spPr>
          <a:xfrm>
            <a:off x="838200" y="1559327"/>
            <a:ext cx="8197850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206"/>
              </a:lnSpc>
            </a:pPr>
            <a:r>
              <a:rPr lang="en-US" sz="6600" b="1" dirty="0">
                <a:solidFill>
                  <a:srgbClr val="252525"/>
                </a:solidFill>
                <a:latin typeface="+mj-lt"/>
                <a:ea typeface="Arial Bold"/>
                <a:cs typeface="Arial Bold"/>
                <a:sym typeface="Arial Bold"/>
              </a:rPr>
              <a:t>Summary</a:t>
            </a:r>
          </a:p>
        </p:txBody>
      </p:sp>
    </p:spTree>
    <p:extLst>
      <p:ext uri="{BB962C8B-B14F-4D97-AF65-F5344CB8AC3E}">
        <p14:creationId xmlns:p14="http://schemas.microsoft.com/office/powerpoint/2010/main" val="161097431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65" r:id="rId3"/>
    <p:sldLayoutId id="2147483663" r:id="rId4"/>
    <p:sldLayoutId id="2147483669" r:id="rId5"/>
    <p:sldLayoutId id="2147483667" r:id="rId6"/>
    <p:sldLayoutId id="2147483668" r:id="rId7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9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0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1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3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5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6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8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0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1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2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9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4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5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6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8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9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10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2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3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4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5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6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8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11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0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1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2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3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4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5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13.pn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8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14.pn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0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1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2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3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4.xml"/><Relationship Id="rId3" Type="http://schemas.openxmlformats.org/officeDocument/2006/relationships/image" Target="../media/image15.pn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6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7.xml"/><Relationship Id="rId3" Type="http://schemas.openxmlformats.org/officeDocument/2006/relationships/image" Target="../media/image16.pn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8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9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0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1.xml"/><Relationship Id="rId3" Type="http://schemas.openxmlformats.org/officeDocument/2006/relationships/image" Target="../media/image17.pn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Relationship Id="rId3" Type="http://schemas.openxmlformats.org/officeDocument/2006/relationships/image" Target="../media/image2.pn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Relationship Id="rId3" Type="http://schemas.openxmlformats.org/officeDocument/2006/relationships/image" Target="../media/image2.pn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Relationship Id="rId3" Type="http://schemas.openxmlformats.org/officeDocument/2006/relationships/image" Target="../media/image2.png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5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6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8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9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0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1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2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3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4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5.xml"/><Relationship Id="rId3" Type="http://schemas.openxmlformats.org/officeDocument/2006/relationships/image" Target="../media/image2.png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6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7.xml"/><Relationship Id="rId3" Type="http://schemas.openxmlformats.org/officeDocument/2006/relationships/image" Target="../media/image18.png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8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9.xml"/><Relationship Id="rId3" Type="http://schemas.openxmlformats.org/officeDocument/2006/relationships/image" Target="../media/image19.png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0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1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2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3.xml"/><Relationship Id="rId3" Type="http://schemas.openxmlformats.org/officeDocument/2006/relationships/image" Target="../media/image2.png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4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5.xml"/><Relationship Id="rId3" Type="http://schemas.openxmlformats.org/officeDocument/2006/relationships/image" Target="../media/image20.png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6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8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9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0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1.xml"/><Relationship Id="rId3" Type="http://schemas.openxmlformats.org/officeDocument/2006/relationships/image" Target="../media/image2.png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2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3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4.xml"/><Relationship Id="rId3" Type="http://schemas.openxmlformats.org/officeDocument/2006/relationships/image" Target="../media/image21.png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5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6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8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9.xml"/><Relationship Id="rId3" Type="http://schemas.openxmlformats.org/officeDocument/2006/relationships/image" Target="../media/image22.png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0.xml"/><Relationship Id="rId3" Type="http://schemas.openxmlformats.org/officeDocument/2006/relationships/image" Target="../media/image23.png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1.xml"/><Relationship Id="rId3" Type="http://schemas.openxmlformats.org/officeDocument/2006/relationships/image" Target="../media/image24.png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2.xml"/><Relationship Id="rId3" Type="http://schemas.openxmlformats.org/officeDocument/2006/relationships/image" Target="../media/image2.png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3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4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5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6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7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8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9.xml"/><Relationship Id="rId3" Type="http://schemas.openxmlformats.org/officeDocument/2006/relationships/image" Target="../media/image25.png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0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1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2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3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4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5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6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7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8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9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0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1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2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3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4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5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6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7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8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9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0.xml"/><Relationship Id="rId3" Type="http://schemas.openxmlformats.org/officeDocument/2006/relationships/image" Target="../media/image2.png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1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2.xml"/><Relationship Id="rId3" Type="http://schemas.openxmlformats.org/officeDocument/2006/relationships/image" Target="../media/image26.png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3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4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5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6.xm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7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8.xml"/><Relationship Id="rId3" Type="http://schemas.openxmlformats.org/officeDocument/2006/relationships/image" Target="../media/image2.png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9.xml"/><Relationship Id="rId3" Type="http://schemas.openxmlformats.org/officeDocument/2006/relationships/image" Target="../media/image2.png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0.xml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1.xml"/><Relationship Id="rId3" Type="http://schemas.openxmlformats.org/officeDocument/2006/relationships/image" Target="../media/image2.png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2.xml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3.xml"/><Relationship Id="rId3" Type="http://schemas.openxmlformats.org/officeDocument/2006/relationships/image" Target="../media/image27.png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4.xml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5.xml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6.xml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7.xml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8.xml"/><Relationship Id="rId3" Type="http://schemas.openxmlformats.org/officeDocument/2006/relationships/image" Target="../media/image15.png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9.xml"/><Relationship Id="rId3" Type="http://schemas.openxmlformats.org/officeDocument/2006/relationships/image" Target="../media/image10.png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0.xml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1.xml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2.xml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3.xml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4.xml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5.xml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6.xml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7.xml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8.xml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9.xml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0.xml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1.xml"/><Relationship Id="rId3" Type="http://schemas.openxmlformats.org/officeDocument/2006/relationships/image" Target="../media/image2.png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2.xml"/><Relationship Id="rId3" Type="http://schemas.openxmlformats.org/officeDocument/2006/relationships/image" Target="../media/image28.png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3.xml"/><Relationship Id="rId3" Type="http://schemas.openxmlformats.org/officeDocument/2006/relationships/image" Target="../media/image29.png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4.xml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5.xml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6.xml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7.xml"/><Relationship Id="rId3" Type="http://schemas.openxmlformats.org/officeDocument/2006/relationships/image" Target="../media/image30.png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8.xml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9.xml"/><Relationship Id="rId3" Type="http://schemas.openxmlformats.org/officeDocument/2006/relationships/image" Target="../media/image2.png"/></Relationships>
</file>

<file path=ppt/slides/_rels/slide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0.xml"/></Relationships>
</file>

<file path=ppt/slides/_rels/slide2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1.xml"/></Relationships>
</file>

<file path=ppt/slides/_rels/slide2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2.xml"/><Relationship Id="rId3" Type="http://schemas.openxmlformats.org/officeDocument/2006/relationships/image" Target="../media/image5.png"/></Relationships>
</file>

<file path=ppt/slides/_rels/slide2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3.xml"/></Relationships>
</file>

<file path=ppt/slides/_rels/slide2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4.xml"/></Relationships>
</file>

<file path=ppt/slides/_rels/slide2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5.xml"/><Relationship Id="rId3" Type="http://schemas.openxmlformats.org/officeDocument/2006/relationships/image" Target="../media/image31.png"/></Relationships>
</file>

<file path=ppt/slides/_rels/slide2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6.xml"/><Relationship Id="rId3" Type="http://schemas.openxmlformats.org/officeDocument/2006/relationships/image" Target="../media/image2.png"/></Relationships>
</file>

<file path=ppt/slides/_rels/slide2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7.xml"/></Relationships>
</file>

<file path=ppt/slides/_rels/slide2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8.xml"/></Relationships>
</file>

<file path=ppt/slides/_rels/slide2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9.xml"/></Relationships>
</file>

<file path=ppt/slides/_rels/slide2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0.xml"/></Relationships>
</file>

<file path=ppt/slides/_rels/slide2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1.xml"/></Relationships>
</file>

<file path=ppt/slides/_rels/slide2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2.xml"/></Relationships>
</file>

<file path=ppt/slides/_rels/slide2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3.xml"/></Relationships>
</file>

<file path=ppt/slides/_rels/slide2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4.xml"/></Relationships>
</file>

<file path=ppt/slides/_rels/slide2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5.xml"/></Relationships>
</file>

<file path=ppt/slides/_rels/slide2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6.xml"/><Relationship Id="rId3" Type="http://schemas.openxmlformats.org/officeDocument/2006/relationships/image" Target="../media/image32.png"/></Relationships>
</file>

<file path=ppt/slides/_rels/slide2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7.xml"/><Relationship Id="rId3" Type="http://schemas.openxmlformats.org/officeDocument/2006/relationships/image" Target="../media/image33.png"/></Relationships>
</file>

<file path=ppt/slides/_rels/slide2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8.xml"/><Relationship Id="rId3" Type="http://schemas.openxmlformats.org/officeDocument/2006/relationships/image" Target="../media/image2.png"/></Relationships>
</file>

<file path=ppt/slides/_rels/slide2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9.xml"/><Relationship Id="rId3" Type="http://schemas.openxmlformats.org/officeDocument/2006/relationships/image" Target="../media/image28.png"/></Relationships>
</file>

<file path=ppt/slides/_rels/slide2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0.xml"/></Relationships>
</file>

<file path=ppt/slides/_rels/slide2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1.xml"/></Relationships>
</file>

<file path=ppt/slides/_rels/slide2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2.xml"/></Relationships>
</file>

<file path=ppt/slides/_rels/slide2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3.xml"/><Relationship Id="rId3" Type="http://schemas.openxmlformats.org/officeDocument/2006/relationships/image" Target="../media/image34.png"/></Relationships>
</file>

<file path=ppt/slides/_rels/slide2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4.xml"/></Relationships>
</file>

<file path=ppt/slides/_rels/slide2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5.xml"/></Relationships>
</file>

<file path=ppt/slides/_rels/slide2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6.xml"/><Relationship Id="rId3" Type="http://schemas.openxmlformats.org/officeDocument/2006/relationships/image" Target="../media/image6.png"/></Relationships>
</file>

<file path=ppt/slides/_rels/slide2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7.xml"/></Relationships>
</file>

<file path=ppt/slides/_rels/slide2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8.xml"/><Relationship Id="rId3" Type="http://schemas.openxmlformats.org/officeDocument/2006/relationships/image" Target="../media/image2.png"/></Relationships>
</file>

<file path=ppt/slides/_rels/slide2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9.xml"/></Relationships>
</file>

<file path=ppt/slides/_rels/slide2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0.xml"/></Relationships>
</file>

<file path=ppt/slides/_rels/slide2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1.xml"/></Relationships>
</file>

<file path=ppt/slides/_rels/slide2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2.xml"/></Relationships>
</file>

<file path=ppt/slides/_rels/slide2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3.xml"/></Relationships>
</file>

<file path=ppt/slides/_rels/slide2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4.xml"/></Relationships>
</file>

<file path=ppt/slides/_rels/slide2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5.xml"/></Relationships>
</file>

<file path=ppt/slides/_rels/slide2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6.xml"/></Relationships>
</file>

<file path=ppt/slides/_rels/slide2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7.xml"/></Relationships>
</file>

<file path=ppt/slides/_rels/slide2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8.xml"/><Relationship Id="rId3" Type="http://schemas.openxmlformats.org/officeDocument/2006/relationships/image" Target="../media/image35.png"/></Relationships>
</file>

<file path=ppt/slides/_rels/slide2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9.xml"/><Relationship Id="rId3" Type="http://schemas.openxmlformats.org/officeDocument/2006/relationships/image" Target="../media/image2.png"/></Relationships>
</file>

<file path=ppt/slides/_rels/slide2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0.xml"/><Relationship Id="rId3" Type="http://schemas.openxmlformats.org/officeDocument/2006/relationships/image" Target="../media/image2.png"/></Relationships>
</file>

<file path=ppt/slides/_rels/slide2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1.xml"/><Relationship Id="rId3" Type="http://schemas.openxmlformats.org/officeDocument/2006/relationships/image" Target="../media/image2.png"/></Relationships>
</file>

<file path=ppt/slides/_rels/slide2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2.xml"/></Relationships>
</file>

<file path=ppt/slides/_rels/slide2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3.xml"/></Relationships>
</file>

<file path=ppt/slides/_rels/slide2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4.xml"/></Relationships>
</file>

<file path=ppt/slides/_rels/slide2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5.xml"/></Relationships>
</file>

<file path=ppt/slides/_rels/slide2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6.xml"/></Relationships>
</file>

<file path=ppt/slides/_rels/slide2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7.xml"/></Relationships>
</file>

<file path=ppt/slides/_rels/slide2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8.xml"/></Relationships>
</file>

<file path=ppt/slides/_rels/slide2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9.xml"/></Relationships>
</file>

<file path=ppt/slides/_rels/slide2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0.xml"/></Relationships>
</file>

<file path=ppt/slides/_rels/slide2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1.xml"/></Relationships>
</file>

<file path=ppt/slides/_rels/slide2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2.xml"/></Relationships>
</file>

<file path=ppt/slides/_rels/slide2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3.xml"/></Relationships>
</file>

<file path=ppt/slides/_rels/slide2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4.xml"/></Relationships>
</file>

<file path=ppt/slides/_rels/slide2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5.xml"/></Relationships>
</file>

<file path=ppt/slides/_rels/slide2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6.xml"/><Relationship Id="rId3" Type="http://schemas.openxmlformats.org/officeDocument/2006/relationships/image" Target="../media/image2.png"/></Relationships>
</file>

<file path=ppt/slides/_rels/slide2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7.xml"/><Relationship Id="rId3" Type="http://schemas.openxmlformats.org/officeDocument/2006/relationships/image" Target="../media/image36.png"/></Relationships>
</file>

<file path=ppt/slides/_rels/slide2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8.xml"/></Relationships>
</file>

<file path=ppt/slides/_rels/slide2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9.xml"/></Relationships>
</file>

<file path=ppt/slides/_rels/slide2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0.xml"/></Relationships>
</file>

<file path=ppt/slides/_rels/slide2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1.xml"/></Relationships>
</file>

<file path=ppt/slides/_rels/slide2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2.xml"/></Relationships>
</file>

<file path=ppt/slides/_rels/slide2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3.xml"/></Relationships>
</file>

<file path=ppt/slides/_rels/slide2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4.xml"/></Relationships>
</file>

<file path=ppt/slides/_rels/slide2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5.xml"/></Relationships>
</file>

<file path=ppt/slides/_rels/slide2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6.xml"/></Relationships>
</file>

<file path=ppt/slides/_rels/slide2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7.xml"/></Relationships>
</file>

<file path=ppt/slides/_rels/slide2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8.xml"/><Relationship Id="rId3" Type="http://schemas.openxmlformats.org/officeDocument/2006/relationships/image" Target="../media/image2.png"/></Relationships>
</file>

<file path=ppt/slides/_rels/slide2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9.xml"/></Relationships>
</file>

<file path=ppt/slides/_rels/slide2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0.xml"/></Relationships>
</file>

<file path=ppt/slides/_rels/slide2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1.xml"/></Relationships>
</file>

<file path=ppt/slides/_rels/slide2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2.xml"/></Relationships>
</file>

<file path=ppt/slides/_rels/slide2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3.xml"/></Relationships>
</file>

<file path=ppt/slides/_rels/slide2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4.xml"/></Relationships>
</file>

<file path=ppt/slides/_rels/slide2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5.xml"/></Relationships>
</file>

<file path=ppt/slides/_rels/slide2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6.xml"/></Relationships>
</file>

<file path=ppt/slides/_rels/slide2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7.xml"/></Relationships>
</file>

<file path=ppt/slides/_rels/slide2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8.xml"/></Relationships>
</file>

<file path=ppt/slides/_rels/slide2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9.xml"/></Relationships>
</file>

<file path=ppt/slides/_rels/slide2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0.xml"/></Relationships>
</file>

<file path=ppt/slides/_rels/slide2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1.xml"/></Relationships>
</file>

<file path=ppt/slides/_rels/slide2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2.xml"/></Relationships>
</file>

<file path=ppt/slides/_rels/slide2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3.xml"/></Relationships>
</file>

<file path=ppt/slides/_rels/slide2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4.xml"/><Relationship Id="rId3" Type="http://schemas.openxmlformats.org/officeDocument/2006/relationships/image" Target="../media/image2.png"/></Relationships>
</file>

<file path=ppt/slides/_rels/slide2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5.xml"/></Relationships>
</file>

<file path=ppt/slides/_rels/slide2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6.xml"/></Relationships>
</file>

<file path=ppt/slides/_rels/slide2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7.xml"/></Relationships>
</file>

<file path=ppt/slides/_rels/slide2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8.xml"/></Relationships>
</file>

<file path=ppt/slides/_rels/slide2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9.xml"/></Relationships>
</file>

<file path=ppt/slides/_rels/slide2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0.xml"/></Relationships>
</file>

<file path=ppt/slides/_rels/slide2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1.xml"/></Relationships>
</file>

<file path=ppt/slides/_rels/slide2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2.xml"/></Relationships>
</file>

<file path=ppt/slides/_rels/slide3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3.xml"/></Relationships>
</file>

<file path=ppt/slides/_rels/slide3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4.xml"/></Relationships>
</file>

<file path=ppt/slides/_rels/slide3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5.xml"/></Relationships>
</file>

<file path=ppt/slides/_rels/slide3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6.xml"/><Relationship Id="rId3" Type="http://schemas.openxmlformats.org/officeDocument/2006/relationships/image" Target="../media/image37.png"/></Relationships>
</file>

<file path=ppt/slides/_rels/slide3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7.xml"/><Relationship Id="rId3" Type="http://schemas.openxmlformats.org/officeDocument/2006/relationships/image" Target="../media/image2.png"/></Relationships>
</file>

<file path=ppt/slides/_rels/slide3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8.xml"/></Relationships>
</file>

<file path=ppt/slides/_rels/slide3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9.xml"/></Relationships>
</file>

<file path=ppt/slides/_rels/slide3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90.xml"/></Relationships>
</file>

<file path=ppt/slides/_rels/slide3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91.xml"/></Relationships>
</file>

<file path=ppt/slides/_rels/slide3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92.xml"/></Relationships>
</file>

<file path=ppt/slides/_rels/slide3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93.xml"/></Relationships>
</file>

<file path=ppt/slides/_rels/slide3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94.xml"/></Relationships>
</file>

<file path=ppt/slides/_rels/slide3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95.xml"/></Relationships>
</file>

<file path=ppt/slides/_rels/slide3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96.xml"/></Relationships>
</file>

<file path=ppt/slides/_rels/slide3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97.xml"/></Relationships>
</file>

<file path=ppt/slides/_rels/slide3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8.xml"/><Relationship Id="rId3" Type="http://schemas.openxmlformats.org/officeDocument/2006/relationships/image" Target="../media/image2.png"/></Relationships>
</file>

<file path=ppt/slides/_rels/slide3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99.xml"/></Relationships>
</file>

<file path=ppt/slides/_rels/slide3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00.xml"/></Relationships>
</file>

<file path=ppt/slides/_rels/slide3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01.xml"/></Relationships>
</file>

<file path=ppt/slides/_rels/slide3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02.xml"/></Relationships>
</file>

<file path=ppt/slides/_rels/slide3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03.xml"/></Relationships>
</file>

<file path=ppt/slides/_rels/slide3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04.xml"/></Relationships>
</file>

<file path=ppt/slides/_rels/slide3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05.xml"/></Relationships>
</file>

<file path=ppt/slides/_rels/slide3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06.xml"/></Relationships>
</file>

<file path=ppt/slides/_rels/slide3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7.xml"/><Relationship Id="rId3" Type="http://schemas.openxmlformats.org/officeDocument/2006/relationships/image" Target="../media/image2.png"/></Relationships>
</file>

<file path=ppt/slides/_rels/slide3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8.xml"/><Relationship Id="rId3" Type="http://schemas.openxmlformats.org/officeDocument/2006/relationships/image" Target="../media/image2.png"/></Relationships>
</file>

<file path=ppt/slides/_rels/slide3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9.xml"/><Relationship Id="rId3" Type="http://schemas.openxmlformats.org/officeDocument/2006/relationships/image" Target="../media/image2.png"/></Relationships>
</file>

<file path=ppt/slides/_rels/slide3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10.xml"/></Relationships>
</file>

<file path=ppt/slides/_rels/slide3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11.xml"/></Relationships>
</file>

<file path=ppt/slides/_rels/slide3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12.xml"/></Relationships>
</file>

<file path=ppt/slides/_rels/slide3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13.xml"/><Relationship Id="rId3" Type="http://schemas.openxmlformats.org/officeDocument/2006/relationships/image" Target="../media/image38.png"/></Relationships>
</file>

<file path=ppt/slides/_rels/slide3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14.xml"/></Relationships>
</file>

<file path=ppt/slides/_rels/slide3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15.xml"/></Relationships>
</file>

<file path=ppt/slides/_rels/slide3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16.xml"/></Relationships>
</file>

<file path=ppt/slides/_rels/slide3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17.xml"/></Relationships>
</file>

<file path=ppt/slides/_rels/slide3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18.xml"/></Relationships>
</file>

<file path=ppt/slides/_rels/slide3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19.xml"/></Relationships>
</file>

<file path=ppt/slides/_rels/slide3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20.xml"/></Relationships>
</file>

<file path=ppt/slides/_rels/slide3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21.xml"/></Relationships>
</file>

<file path=ppt/slides/_rels/slide3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22.xml"/></Relationships>
</file>

<file path=ppt/slides/_rels/slide3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23.xml"/></Relationships>
</file>

<file path=ppt/slides/_rels/slide3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24.xml"/></Relationships>
</file>

<file path=ppt/slides/_rels/slide3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25.xml"/></Relationships>
</file>

<file path=ppt/slides/_rels/slide3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26.xml"/></Relationships>
</file>

<file path=ppt/slides/_rels/slide3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27.xml"/></Relationships>
</file>

<file path=ppt/slides/_rels/slide3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28.xml"/></Relationships>
</file>

<file path=ppt/slides/_rels/slide3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29.xml"/></Relationships>
</file>

<file path=ppt/slides/_rels/slide3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30.xml"/></Relationships>
</file>

<file path=ppt/slides/_rels/slide3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31.xml"/></Relationships>
</file>

<file path=ppt/slides/_rels/slide3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32.xml"/></Relationships>
</file>

<file path=ppt/slides/_rels/slide3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33.xml"/></Relationships>
</file>

<file path=ppt/slides/_rels/slide3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34.xml"/></Relationships>
</file>

<file path=ppt/slides/_rels/slide3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35.xml"/></Relationships>
</file>

<file path=ppt/slides/_rels/slide3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6.xml"/><Relationship Id="rId3" Type="http://schemas.openxmlformats.org/officeDocument/2006/relationships/image" Target="../media/image2.png"/></Relationships>
</file>

<file path=ppt/slides/_rels/slide3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37.xml"/></Relationships>
</file>

<file path=ppt/slides/_rels/slide3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38.xml"/></Relationships>
</file>

<file path=ppt/slides/_rels/slide3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39.xml"/></Relationships>
</file>

<file path=ppt/slides/_rels/slide3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40.xml"/></Relationships>
</file>

<file path=ppt/slides/_rels/slide3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41.xml"/></Relationships>
</file>

<file path=ppt/slides/_rels/slide3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42.xml"/></Relationships>
</file>

<file path=ppt/slides/_rels/slide3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43.xml"/></Relationships>
</file>

<file path=ppt/slides/_rels/slide3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44.xml"/></Relationships>
</file>

<file path=ppt/slides/_rels/slide3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45.xml"/></Relationships>
</file>

<file path=ppt/slides/_rels/slide3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46.xml"/></Relationships>
</file>

<file path=ppt/slides/_rels/slide3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47.xml"/></Relationships>
</file>

<file path=ppt/slides/_rels/slide3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48.xml"/></Relationships>
</file>

<file path=ppt/slides/_rels/slide3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49.xml"/></Relationships>
</file>

<file path=ppt/slides/_rels/slide3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50.xml"/></Relationships>
</file>

<file path=ppt/slides/_rels/slide3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51.xml"/></Relationships>
</file>

<file path=ppt/slides/_rels/slide3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52.xml"/></Relationships>
</file>

<file path=ppt/slides/_rels/slide3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53.xml"/></Relationships>
</file>

<file path=ppt/slides/_rels/slide3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54.xml"/></Relationships>
</file>

<file path=ppt/slides/_rels/slide3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55.xml"/></Relationships>
</file>

<file path=ppt/slides/_rels/slide3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56.xml"/></Relationships>
</file>

<file path=ppt/slides/_rels/slide3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57.xml"/></Relationships>
</file>

<file path=ppt/slides/_rels/slide3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58.xml"/></Relationships>
</file>

<file path=ppt/slides/_rels/slide3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59.xml"/></Relationships>
</file>

<file path=ppt/slides/_rels/slide3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0.xml"/><Relationship Id="rId3" Type="http://schemas.openxmlformats.org/officeDocument/2006/relationships/image" Target="../media/image2.png"/></Relationships>
</file>

<file path=ppt/slides/_rels/slide3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61.xml"/></Relationships>
</file>

<file path=ppt/slides/_rels/slide3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62.xml"/></Relationships>
</file>

<file path=ppt/slides/_rels/slide3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63.xml"/></Relationships>
</file>

<file path=ppt/slides/_rels/slide3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64.xml"/></Relationships>
</file>

<file path=ppt/slides/_rels/slide3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65.xml"/></Relationships>
</file>

<file path=ppt/slides/_rels/slide3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66.xml"/><Relationship Id="rId3" Type="http://schemas.openxmlformats.org/officeDocument/2006/relationships/image" Target="../media/image39.png"/></Relationships>
</file>

<file path=ppt/slides/_rels/slide3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67.xml"/></Relationships>
</file>

<file path=ppt/slides/_rels/slide3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68.xml"/></Relationships>
</file>

<file path=ppt/slides/_rels/slide3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69.xml"/></Relationships>
</file>

<file path=ppt/slides/_rels/slide3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70.xml"/></Relationships>
</file>

<file path=ppt/slides/_rels/slide3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71.xml"/></Relationships>
</file>

<file path=ppt/slides/_rels/slide3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72.xml"/></Relationships>
</file>

<file path=ppt/slides/_rels/slide3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73.xml"/></Relationships>
</file>

<file path=ppt/slides/_rels/slide3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74.xml"/></Relationships>
</file>

<file path=ppt/slides/_rels/slide3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75.xml"/></Relationships>
</file>

<file path=ppt/slides/_rels/slide3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6.xml"/><Relationship Id="rId3" Type="http://schemas.openxmlformats.org/officeDocument/2006/relationships/image" Target="../media/image2.png"/></Relationships>
</file>

<file path=ppt/slides/_rels/slide3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77.xml"/></Relationships>
</file>

<file path=ppt/slides/_rels/slide4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78.xml"/></Relationships>
</file>

<file path=ppt/slides/_rels/slide4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79.xml"/></Relationships>
</file>

<file path=ppt/slides/_rels/slide4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80.xml"/></Relationships>
</file>

<file path=ppt/slides/_rels/slide4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81.xml"/></Relationships>
</file>

<file path=ppt/slides/_rels/slide4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82.xml"/></Relationships>
</file>

<file path=ppt/slides/_rels/slide4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83.xml"/></Relationships>
</file>

<file path=ppt/slides/_rels/slide4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84.xml"/></Relationships>
</file>

<file path=ppt/slides/_rels/slide4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85.xml"/></Relationships>
</file>

<file path=ppt/slides/_rels/slide4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86.xml"/><Relationship Id="rId3" Type="http://schemas.openxmlformats.org/officeDocument/2006/relationships/image" Target="../media/image40.jpeg"/></Relationships>
</file>

<file path=ppt/slides/_rels/slide4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7.xml"/><Relationship Id="rId3" Type="http://schemas.openxmlformats.org/officeDocument/2006/relationships/image" Target="../media/image2.png"/></Relationships>
</file>

<file path=ppt/slides/_rels/slide4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8.xml"/><Relationship Id="rId3" Type="http://schemas.openxmlformats.org/officeDocument/2006/relationships/image" Target="../media/image2.png"/></Relationships>
</file>

<file path=ppt/slides/_rels/slide4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9.xml"/><Relationship Id="rId3" Type="http://schemas.openxmlformats.org/officeDocument/2006/relationships/image" Target="../media/image2.png"/><Relationship Id="rId4" Type="http://schemas.openxmlformats.org/officeDocument/2006/relationships/hyperlink" Target="https://crucialexams.com/study/tests/comptia/sy0-701/auto?ShowTest=true&amp;QuestionCount=90&amp;__Invariant=QuestionCount&amp;TestTimerEnabled=true&amp;SecondsPerQuestion=60&amp;__Invariant=SecondsPerQuestion&amp;IncludedObjectives=1692&amp;IncludedObjectives=1697&amp;IncludedObjectives=1698&amp;IncludedObjectives=1699&amp;IncludedObjectives=1700&amp;TestTimerEnabled=false" TargetMode="External"/></Relationships>
</file>

<file path=ppt/slides/_rels/slide4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0.xml"/><Relationship Id="rId3" Type="http://schemas.openxmlformats.org/officeDocument/2006/relationships/image" Target="../media/image2.png"/></Relationships>
</file>

<file path=ppt/slides/_rels/slide4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91.xml"/></Relationships>
</file>

<file path=ppt/slides/_rels/slide4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92.xml"/></Relationships>
</file>

<file path=ppt/slides/_rels/slide4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93.xml"/></Relationships>
</file>

<file path=ppt/slides/_rels/slide4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94.xml"/></Relationships>
</file>

<file path=ppt/slides/_rels/slide4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95.xml"/></Relationships>
</file>

<file path=ppt/slides/_rels/slide4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96.xml"/></Relationships>
</file>

<file path=ppt/slides/_rels/slide4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97.xml"/></Relationships>
</file>

<file path=ppt/slides/_rels/slide4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98.xml"/></Relationships>
</file>

<file path=ppt/slides/_rels/slide4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99.xml"/></Relationships>
</file>

<file path=ppt/slides/_rels/slide4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00.xml"/></Relationships>
</file>

<file path=ppt/slides/_rels/slide4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01.xml"/></Relationships>
</file>

<file path=ppt/slides/_rels/slide4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02.xml"/></Relationships>
</file>

<file path=ppt/slides/_rels/slide4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03.xml"/></Relationships>
</file>

<file path=ppt/slides/_rels/slide4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04.xml"/></Relationships>
</file>

<file path=ppt/slides/_rels/slide4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05.xml"/></Relationships>
</file>

<file path=ppt/slides/_rels/slide4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06.xml"/></Relationships>
</file>

<file path=ppt/slides/_rels/slide4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07.xml"/></Relationships>
</file>

<file path=ppt/slides/_rels/slide4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08.xml"/></Relationships>
</file>

<file path=ppt/slides/_rels/slide4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09.xml"/></Relationships>
</file>

<file path=ppt/slides/_rels/slide4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10.xml"/></Relationships>
</file>

<file path=ppt/slides/_rels/slide4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11.xml"/></Relationships>
</file>

<file path=ppt/slides/_rels/slide4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12.xml"/></Relationships>
</file>

<file path=ppt/slides/_rels/slide4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13.xml"/></Relationships>
</file>

<file path=ppt/slides/_rels/slide4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14.xml"/></Relationships>
</file>

<file path=ppt/slides/_rels/slide4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15.xml"/></Relationships>
</file>

<file path=ppt/slides/_rels/slide4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16.xml"/></Relationships>
</file>

<file path=ppt/slides/_rels/slide4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17.xml"/></Relationships>
</file>

<file path=ppt/slides/_rels/slide4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18.xml"/></Relationships>
</file>

<file path=ppt/slides/_rels/slide4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19.xml"/></Relationships>
</file>

<file path=ppt/slides/_rels/slide4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20.xml"/></Relationships>
</file>

<file path=ppt/slides/_rels/slide4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21.xml"/></Relationships>
</file>

<file path=ppt/slides/_rels/slide4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22.xml"/></Relationships>
</file>

<file path=ppt/slides/_rels/slide4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23.xml"/></Relationships>
</file>

<file path=ppt/slides/_rels/slide4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24.xml"/></Relationships>
</file>

<file path=ppt/slides/_rels/slide4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25.xml"/></Relationships>
</file>

<file path=ppt/slides/_rels/slide4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1519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5400000">
            <a:off x="12015831" y="4014831"/>
            <a:ext cx="10287000" cy="2257339"/>
            <a:chOff x="0" y="0"/>
            <a:chExt cx="2709333" cy="5945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709333" cy="594525"/>
            </a:xfrm>
            <a:custGeom>
              <a:avLst/>
              <a:gdLst/>
              <a:ahLst/>
              <a:cxnLst/>
              <a:rect l="l" t="t" r="r" b="b"/>
              <a:pathLst>
                <a:path w="2709333" h="594525">
                  <a:moveTo>
                    <a:pt x="0" y="0"/>
                  </a:moveTo>
                  <a:lnTo>
                    <a:pt x="2709333" y="0"/>
                  </a:lnTo>
                  <a:lnTo>
                    <a:pt x="2709333" y="594525"/>
                  </a:lnTo>
                  <a:lnTo>
                    <a:pt x="0" y="594525"/>
                  </a:lnTo>
                  <a:close/>
                </a:path>
              </a:pathLst>
            </a:custGeom>
            <a:solidFill>
              <a:srgbClr val="0283F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66675"/>
              <a:ext cx="2709333" cy="6612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24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79467" y="6643814"/>
            <a:ext cx="8126333" cy="3488267"/>
            <a:chOff x="0" y="0"/>
            <a:chExt cx="844714" cy="36259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44714" cy="362598"/>
            </a:xfrm>
            <a:custGeom>
              <a:avLst/>
              <a:gdLst/>
              <a:ahLst/>
              <a:cxnLst/>
              <a:rect l="l" t="t" r="r" b="b"/>
              <a:pathLst>
                <a:path w="844714" h="362598">
                  <a:moveTo>
                    <a:pt x="203200" y="0"/>
                  </a:moveTo>
                  <a:lnTo>
                    <a:pt x="844714" y="0"/>
                  </a:lnTo>
                  <a:lnTo>
                    <a:pt x="641514" y="362598"/>
                  </a:lnTo>
                  <a:lnTo>
                    <a:pt x="0" y="362598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283FD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1600" y="-28575"/>
              <a:ext cx="641514" cy="391173"/>
            </a:xfrm>
            <a:prstGeom prst="rect">
              <a:avLst/>
            </a:prstGeom>
          </p:spPr>
          <p:txBody>
            <a:bodyPr lIns="47790" tIns="47790" rIns="47790" bIns="47790" rtlCol="0" anchor="ctr"/>
            <a:lstStyle/>
            <a:p>
              <a:pPr algn="ctr">
                <a:lnSpc>
                  <a:spcPts val="1843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0" y="6950004"/>
            <a:ext cx="16030661" cy="3336996"/>
            <a:chOff x="0" y="0"/>
            <a:chExt cx="6165409" cy="1271237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165409" cy="1271237"/>
            </a:xfrm>
            <a:custGeom>
              <a:avLst/>
              <a:gdLst/>
              <a:ahLst/>
              <a:cxnLst/>
              <a:rect l="l" t="t" r="r" b="b"/>
              <a:pathLst>
                <a:path w="6165409" h="1271237">
                  <a:moveTo>
                    <a:pt x="0" y="0"/>
                  </a:moveTo>
                  <a:lnTo>
                    <a:pt x="6165409" y="0"/>
                  </a:lnTo>
                  <a:lnTo>
                    <a:pt x="6165409" y="1271237"/>
                  </a:lnTo>
                  <a:lnTo>
                    <a:pt x="0" y="127123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28575"/>
              <a:ext cx="6165409" cy="1299812"/>
            </a:xfrm>
            <a:prstGeom prst="rect">
              <a:avLst/>
            </a:prstGeom>
          </p:spPr>
          <p:txBody>
            <a:bodyPr lIns="47790" tIns="47790" rIns="47790" bIns="47790" rtlCol="0" anchor="ctr"/>
            <a:lstStyle/>
            <a:p>
              <a:pPr algn="ctr">
                <a:lnSpc>
                  <a:spcPts val="1843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111666" y="3432993"/>
            <a:ext cx="14771892" cy="598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400"/>
              </a:lnSpc>
            </a:pPr>
            <a:r>
              <a:rPr lang="en-US" sz="6000" b="1" dirty="0">
                <a:solidFill>
                  <a:srgbClr val="FFFFFF"/>
                </a:solidFill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SY0-701 – CompTIA Security+ Bootcamp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11666" y="4453765"/>
            <a:ext cx="11390186" cy="4924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US" sz="3200" b="1" dirty="0">
                <a:solidFill>
                  <a:srgbClr val="FFFFFF"/>
                </a:solidFill>
                <a:latin typeface="Arial"/>
                <a:ea typeface="+mn-lt"/>
                <a:cs typeface="Arial"/>
                <a:sym typeface="Arial"/>
              </a:rPr>
              <a:t>Content Creator - Instructor</a:t>
            </a:r>
            <a:endParaRPr lang="en-US" sz="3200" dirty="0">
              <a:solidFill>
                <a:srgbClr val="000000"/>
              </a:solidFill>
              <a:latin typeface="Calibri"/>
              <a:ea typeface="+mn-lt"/>
              <a:cs typeface="Calibri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111666" y="9653992"/>
            <a:ext cx="12263263" cy="3619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CALIFORNIA INSTITUTE OF APPLIED TECHNOLOGY</a:t>
            </a:r>
          </a:p>
        </p:txBody>
      </p:sp>
      <p:sp>
        <p:nvSpPr>
          <p:cNvPr id="15" name="AutoShape 15"/>
          <p:cNvSpPr/>
          <p:nvPr/>
        </p:nvSpPr>
        <p:spPr>
          <a:xfrm>
            <a:off x="8010568" y="9858838"/>
            <a:ext cx="7625672" cy="0"/>
          </a:xfrm>
          <a:prstGeom prst="line">
            <a:avLst/>
          </a:prstGeom>
          <a:ln w="19050" cap="flat">
            <a:solidFill>
              <a:srgbClr val="0283F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7" name="Freeform 5"/>
          <p:cNvSpPr/>
          <p:nvPr/>
        </p:nvSpPr>
        <p:spPr>
          <a:xfrm>
            <a:off x="1111666" y="355081"/>
            <a:ext cx="4247850" cy="631936"/>
          </a:xfrm>
          <a:custGeom>
            <a:avLst/>
            <a:gdLst/>
            <a:ahLst/>
            <a:cxnLst/>
            <a:rect l="l" t="t" r="r" b="b"/>
            <a:pathLst>
              <a:path w="4247850" h="631936">
                <a:moveTo>
                  <a:pt x="0" y="0"/>
                </a:moveTo>
                <a:lnTo>
                  <a:pt x="4247850" y="0"/>
                </a:lnTo>
                <a:lnTo>
                  <a:pt x="4247850" y="631935"/>
                </a:lnTo>
                <a:lnTo>
                  <a:pt x="0" y="63193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5" r="-5"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D50C9583-D9D5-13C2-709E-DEE1D92465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25308" y="8269924"/>
            <a:ext cx="1573291" cy="155140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377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B170535-F2BF-1F77-C423-D294DC62B6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0">
            <a:extLst>
              <a:ext uri="{FF2B5EF4-FFF2-40B4-BE49-F238E27FC236}">
                <a16:creationId xmlns:a16="http://schemas.microsoft.com/office/drawing/2014/main" id="{23DE5FB6-F65A-5CDE-EF18-30A347A7E894}"/>
              </a:ext>
            </a:extLst>
          </p:cNvPr>
          <p:cNvGrpSpPr/>
          <p:nvPr/>
        </p:nvGrpSpPr>
        <p:grpSpPr>
          <a:xfrm rot="-5400000">
            <a:off x="8462598" y="461598"/>
            <a:ext cx="1362805" cy="18287998"/>
            <a:chOff x="0" y="0"/>
            <a:chExt cx="358928" cy="4840325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000F3156-273A-725B-8983-3108A508CC83}"/>
                </a:ext>
              </a:extLst>
            </p:cNvPr>
            <p:cNvSpPr/>
            <p:nvPr/>
          </p:nvSpPr>
          <p:spPr>
            <a:xfrm>
              <a:off x="0" y="0"/>
              <a:ext cx="358928" cy="4840325"/>
            </a:xfrm>
            <a:custGeom>
              <a:avLst/>
              <a:gdLst/>
              <a:ahLst/>
              <a:cxnLst/>
              <a:rect l="l" t="t" r="r" b="b"/>
              <a:pathLst>
                <a:path w="358928" h="4840325">
                  <a:moveTo>
                    <a:pt x="0" y="0"/>
                  </a:moveTo>
                  <a:lnTo>
                    <a:pt x="358928" y="0"/>
                  </a:lnTo>
                  <a:lnTo>
                    <a:pt x="358928" y="4840325"/>
                  </a:lnTo>
                  <a:lnTo>
                    <a:pt x="0" y="4840325"/>
                  </a:lnTo>
                  <a:close/>
                </a:path>
              </a:pathLst>
            </a:custGeom>
            <a:solidFill>
              <a:srgbClr val="F5C46E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6DEC24DF-FAFD-57A3-5658-12F3A6D61F10}"/>
                </a:ext>
              </a:extLst>
            </p:cNvPr>
            <p:cNvSpPr txBox="1"/>
            <p:nvPr/>
          </p:nvSpPr>
          <p:spPr>
            <a:xfrm>
              <a:off x="0" y="-66675"/>
              <a:ext cx="358928" cy="49070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3024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sp>
        <p:nvSpPr>
          <p:cNvPr id="13" name="TextBox 13">
            <a:extLst>
              <a:ext uri="{FF2B5EF4-FFF2-40B4-BE49-F238E27FC236}">
                <a16:creationId xmlns:a16="http://schemas.microsoft.com/office/drawing/2014/main" id="{AE3C7AB2-3CA4-9775-C8A7-5425DA988849}"/>
              </a:ext>
            </a:extLst>
          </p:cNvPr>
          <p:cNvSpPr txBox="1"/>
          <p:nvPr/>
        </p:nvSpPr>
        <p:spPr>
          <a:xfrm>
            <a:off x="3502264" y="4567400"/>
            <a:ext cx="11283472" cy="9489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739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721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Bold"/>
                <a:ea typeface="Arial Bold"/>
                <a:cs typeface="Arial Bold"/>
                <a:sym typeface="Arial Bold"/>
              </a:rPr>
              <a:t>Welcome to </a:t>
            </a:r>
            <a:r>
              <a:rPr kumimoji="0" lang="en-US" sz="6721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Bold"/>
                <a:ea typeface="Arial Bold"/>
                <a:cs typeface="Arial Bold"/>
                <a:sym typeface="Arial Bold"/>
              </a:rPr>
              <a:t>Day 1!</a:t>
            </a:r>
            <a:endParaRPr kumimoji="0" lang="en-US" sz="6721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Bold"/>
              <a:ea typeface="Arial Bold"/>
              <a:cs typeface="Arial Bold"/>
              <a:sym typeface="Arial Bold"/>
            </a:endParaRPr>
          </a:p>
        </p:txBody>
      </p:sp>
    </p:spTree>
    <p:extLst>
      <p:ext uri="{BB962C8B-B14F-4D97-AF65-F5344CB8AC3E}">
        <p14:creationId xmlns:p14="http://schemas.microsoft.com/office/powerpoint/2010/main" val="16225941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7808561-BEBD-6DD4-DD15-271E91A42CA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Day 1 Topics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E4F6FB-D651-D018-8BE6-6FFC7FED4C6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en-US" dirty="0"/>
              <a:t>Block 1 - Security Fundamentals &amp; CIA Triad</a:t>
            </a:r>
          </a:p>
          <a:p>
            <a:r>
              <a:rPr lang="en-US" altLang="en-US" dirty="0"/>
              <a:t>Block 2 - Authentication &amp; Access Controls</a:t>
            </a:r>
          </a:p>
          <a:p>
            <a:r>
              <a:rPr lang="en-US" altLang="en-US" dirty="0"/>
              <a:t>Block 3 - Cryptography Deep Dive</a:t>
            </a:r>
          </a:p>
          <a:p>
            <a:r>
              <a:rPr lang="en-US" altLang="en-US" dirty="0"/>
              <a:t>Block 4 - Network Security Architecture</a:t>
            </a:r>
          </a:p>
          <a:p>
            <a:r>
              <a:rPr lang="en-US" altLang="en-US" dirty="0"/>
              <a:t>LUNCH	</a:t>
            </a:r>
          </a:p>
          <a:p>
            <a:r>
              <a:rPr lang="en-US" altLang="en-US" dirty="0"/>
              <a:t>Block 5 - Cloud Security Fundamentals</a:t>
            </a:r>
          </a:p>
          <a:p>
            <a:r>
              <a:rPr lang="en-US" altLang="en-US" dirty="0"/>
              <a:t>Block 6 - Physical &amp; Environmental Security</a:t>
            </a:r>
          </a:p>
          <a:p>
            <a:r>
              <a:rPr lang="en-US" altLang="en-US" dirty="0"/>
              <a:t>Block 7 - Domain 1 PBQ Workshop</a:t>
            </a:r>
          </a:p>
          <a:p>
            <a:r>
              <a:rPr lang="en-US" altLang="en-US" dirty="0"/>
              <a:t>Block 8 - Day 1 Review &amp; Test Prep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0878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15194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3C4299D-B2AB-724C-DC1F-EDDC00BF88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837B5DCC-895D-358B-A5AA-734D21564F86}"/>
              </a:ext>
            </a:extLst>
          </p:cNvPr>
          <p:cNvGrpSpPr/>
          <p:nvPr/>
        </p:nvGrpSpPr>
        <p:grpSpPr>
          <a:xfrm rot="-5400000">
            <a:off x="12015831" y="4014831"/>
            <a:ext cx="10287000" cy="2257339"/>
            <a:chOff x="0" y="0"/>
            <a:chExt cx="2709333" cy="59452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41F2F1DC-DC38-8A26-C516-A8BBFB7BACFB}"/>
                </a:ext>
              </a:extLst>
            </p:cNvPr>
            <p:cNvSpPr/>
            <p:nvPr/>
          </p:nvSpPr>
          <p:spPr>
            <a:xfrm>
              <a:off x="0" y="0"/>
              <a:ext cx="2709333" cy="594525"/>
            </a:xfrm>
            <a:custGeom>
              <a:avLst/>
              <a:gdLst/>
              <a:ahLst/>
              <a:cxnLst/>
              <a:rect l="l" t="t" r="r" b="b"/>
              <a:pathLst>
                <a:path w="2709333" h="594525">
                  <a:moveTo>
                    <a:pt x="0" y="0"/>
                  </a:moveTo>
                  <a:lnTo>
                    <a:pt x="2709333" y="0"/>
                  </a:lnTo>
                  <a:lnTo>
                    <a:pt x="2709333" y="594525"/>
                  </a:lnTo>
                  <a:lnTo>
                    <a:pt x="0" y="594525"/>
                  </a:lnTo>
                  <a:close/>
                </a:path>
              </a:pathLst>
            </a:custGeom>
            <a:solidFill>
              <a:srgbClr val="0283F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49E47B1-A022-2A94-9D3B-DCBFEA37C813}"/>
                </a:ext>
              </a:extLst>
            </p:cNvPr>
            <p:cNvSpPr txBox="1"/>
            <p:nvPr/>
          </p:nvSpPr>
          <p:spPr>
            <a:xfrm>
              <a:off x="0" y="-66675"/>
              <a:ext cx="2709333" cy="6612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24"/>
                </a:lnSpc>
              </a:pPr>
              <a:endParaRPr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C06A9017-94F0-1350-1F80-139FC5892022}"/>
              </a:ext>
            </a:extLst>
          </p:cNvPr>
          <p:cNvGrpSpPr/>
          <p:nvPr/>
        </p:nvGrpSpPr>
        <p:grpSpPr>
          <a:xfrm>
            <a:off x="179467" y="6643814"/>
            <a:ext cx="8126333" cy="3488267"/>
            <a:chOff x="0" y="0"/>
            <a:chExt cx="844714" cy="36259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F1FA1F1F-ADE4-E3EC-A02E-686BFD7D72F3}"/>
                </a:ext>
              </a:extLst>
            </p:cNvPr>
            <p:cNvSpPr/>
            <p:nvPr/>
          </p:nvSpPr>
          <p:spPr>
            <a:xfrm>
              <a:off x="0" y="0"/>
              <a:ext cx="844714" cy="362598"/>
            </a:xfrm>
            <a:custGeom>
              <a:avLst/>
              <a:gdLst/>
              <a:ahLst/>
              <a:cxnLst/>
              <a:rect l="l" t="t" r="r" b="b"/>
              <a:pathLst>
                <a:path w="844714" h="362598">
                  <a:moveTo>
                    <a:pt x="203200" y="0"/>
                  </a:moveTo>
                  <a:lnTo>
                    <a:pt x="844714" y="0"/>
                  </a:lnTo>
                  <a:lnTo>
                    <a:pt x="641514" y="362598"/>
                  </a:lnTo>
                  <a:lnTo>
                    <a:pt x="0" y="362598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283FD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6A93E6A6-4069-7F58-AE6F-6650EFF3ADCA}"/>
                </a:ext>
              </a:extLst>
            </p:cNvPr>
            <p:cNvSpPr txBox="1"/>
            <p:nvPr/>
          </p:nvSpPr>
          <p:spPr>
            <a:xfrm>
              <a:off x="101600" y="-28575"/>
              <a:ext cx="641514" cy="391173"/>
            </a:xfrm>
            <a:prstGeom prst="rect">
              <a:avLst/>
            </a:prstGeom>
          </p:spPr>
          <p:txBody>
            <a:bodyPr lIns="47790" tIns="47790" rIns="47790" bIns="47790" rtlCol="0" anchor="ctr"/>
            <a:lstStyle/>
            <a:p>
              <a:pPr algn="ctr">
                <a:lnSpc>
                  <a:spcPts val="1843"/>
                </a:lnSpc>
              </a:pPr>
              <a:endParaRPr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17C108CB-2D71-A71A-DC2A-B99362FFBB25}"/>
              </a:ext>
            </a:extLst>
          </p:cNvPr>
          <p:cNvGrpSpPr/>
          <p:nvPr/>
        </p:nvGrpSpPr>
        <p:grpSpPr>
          <a:xfrm>
            <a:off x="0" y="6950004"/>
            <a:ext cx="16030661" cy="3336996"/>
            <a:chOff x="0" y="0"/>
            <a:chExt cx="6165409" cy="1271237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7A3DC521-D8FC-6CA1-BC02-3E24AC20B37E}"/>
                </a:ext>
              </a:extLst>
            </p:cNvPr>
            <p:cNvSpPr/>
            <p:nvPr/>
          </p:nvSpPr>
          <p:spPr>
            <a:xfrm>
              <a:off x="0" y="0"/>
              <a:ext cx="6165409" cy="1271237"/>
            </a:xfrm>
            <a:custGeom>
              <a:avLst/>
              <a:gdLst/>
              <a:ahLst/>
              <a:cxnLst/>
              <a:rect l="l" t="t" r="r" b="b"/>
              <a:pathLst>
                <a:path w="6165409" h="1271237">
                  <a:moveTo>
                    <a:pt x="0" y="0"/>
                  </a:moveTo>
                  <a:lnTo>
                    <a:pt x="6165409" y="0"/>
                  </a:lnTo>
                  <a:lnTo>
                    <a:pt x="6165409" y="1271237"/>
                  </a:lnTo>
                  <a:lnTo>
                    <a:pt x="0" y="127123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79CC21D0-3327-EC28-77FE-3B51E7811603}"/>
                </a:ext>
              </a:extLst>
            </p:cNvPr>
            <p:cNvSpPr txBox="1"/>
            <p:nvPr/>
          </p:nvSpPr>
          <p:spPr>
            <a:xfrm>
              <a:off x="0" y="-28575"/>
              <a:ext cx="6165409" cy="1299812"/>
            </a:xfrm>
            <a:prstGeom prst="rect">
              <a:avLst/>
            </a:prstGeom>
          </p:spPr>
          <p:txBody>
            <a:bodyPr lIns="47790" tIns="47790" rIns="47790" bIns="47790" rtlCol="0" anchor="ctr"/>
            <a:lstStyle/>
            <a:p>
              <a:pPr algn="ctr">
                <a:lnSpc>
                  <a:spcPts val="1843"/>
                </a:lnSpc>
              </a:pPr>
              <a:endParaRPr/>
            </a:p>
          </p:txBody>
        </p:sp>
      </p:grpSp>
      <p:sp>
        <p:nvSpPr>
          <p:cNvPr id="12" name="TextBox 12">
            <a:extLst>
              <a:ext uri="{FF2B5EF4-FFF2-40B4-BE49-F238E27FC236}">
                <a16:creationId xmlns:a16="http://schemas.microsoft.com/office/drawing/2014/main" id="{98CB7FE7-88A2-C891-5E73-461977265609}"/>
              </a:ext>
            </a:extLst>
          </p:cNvPr>
          <p:cNvSpPr txBox="1"/>
          <p:nvPr/>
        </p:nvSpPr>
        <p:spPr>
          <a:xfrm>
            <a:off x="1111666" y="3432993"/>
            <a:ext cx="14771892" cy="598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400"/>
              </a:lnSpc>
            </a:pPr>
            <a:r>
              <a:rPr lang="en-US" sz="6000" b="1" dirty="0">
                <a:solidFill>
                  <a:srgbClr val="FFFFFF"/>
                </a:solidFill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Day 1 – Block 1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861D72E6-B50A-379C-E148-5A55FF2BA745}"/>
              </a:ext>
            </a:extLst>
          </p:cNvPr>
          <p:cNvSpPr txBox="1"/>
          <p:nvPr/>
        </p:nvSpPr>
        <p:spPr>
          <a:xfrm>
            <a:off x="1111666" y="9653992"/>
            <a:ext cx="12263263" cy="3619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CALIFORNIA INSTITUTE OF APPLIED TECHNOLOGY</a:t>
            </a:r>
          </a:p>
        </p:txBody>
      </p:sp>
      <p:sp>
        <p:nvSpPr>
          <p:cNvPr id="15" name="AutoShape 15">
            <a:extLst>
              <a:ext uri="{FF2B5EF4-FFF2-40B4-BE49-F238E27FC236}">
                <a16:creationId xmlns:a16="http://schemas.microsoft.com/office/drawing/2014/main" id="{ACE3B979-D290-DACE-046D-D7F34EE4C1CA}"/>
              </a:ext>
            </a:extLst>
          </p:cNvPr>
          <p:cNvSpPr/>
          <p:nvPr/>
        </p:nvSpPr>
        <p:spPr>
          <a:xfrm>
            <a:off x="8010568" y="9858838"/>
            <a:ext cx="7625672" cy="0"/>
          </a:xfrm>
          <a:prstGeom prst="line">
            <a:avLst/>
          </a:prstGeom>
          <a:ln w="19050" cap="flat">
            <a:solidFill>
              <a:srgbClr val="0283F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7" name="Freeform 5">
            <a:extLst>
              <a:ext uri="{FF2B5EF4-FFF2-40B4-BE49-F238E27FC236}">
                <a16:creationId xmlns:a16="http://schemas.microsoft.com/office/drawing/2014/main" id="{D7EC6382-A48E-745E-6A79-055F05BD0CEE}"/>
              </a:ext>
            </a:extLst>
          </p:cNvPr>
          <p:cNvSpPr/>
          <p:nvPr/>
        </p:nvSpPr>
        <p:spPr>
          <a:xfrm>
            <a:off x="1111666" y="355081"/>
            <a:ext cx="4247850" cy="631936"/>
          </a:xfrm>
          <a:custGeom>
            <a:avLst/>
            <a:gdLst/>
            <a:ahLst/>
            <a:cxnLst/>
            <a:rect l="l" t="t" r="r" b="b"/>
            <a:pathLst>
              <a:path w="4247850" h="631936">
                <a:moveTo>
                  <a:pt x="0" y="0"/>
                </a:moveTo>
                <a:lnTo>
                  <a:pt x="4247850" y="0"/>
                </a:lnTo>
                <a:lnTo>
                  <a:pt x="4247850" y="631935"/>
                </a:lnTo>
                <a:lnTo>
                  <a:pt x="0" y="63193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5" r="-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5C62A1C-D121-BBA0-D665-0A064900E304}"/>
              </a:ext>
            </a:extLst>
          </p:cNvPr>
          <p:cNvSpPr txBox="1"/>
          <p:nvPr/>
        </p:nvSpPr>
        <p:spPr>
          <a:xfrm>
            <a:off x="1111666" y="7106062"/>
            <a:ext cx="9144000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/>
            <a:r>
              <a:rPr lang="en-US" altLang="en-US" sz="2000" dirty="0"/>
              <a:t>Introduction to Security Fundamentals &amp; CIA Triad</a:t>
            </a:r>
          </a:p>
          <a:p>
            <a:pPr lvl="1" eaLnBrk="1" hangingPunct="1"/>
            <a:r>
              <a:rPr lang="en-US" altLang="en-US" sz="1600" dirty="0"/>
              <a:t>Confidentiality, Integrity, Availability </a:t>
            </a:r>
          </a:p>
          <a:p>
            <a:pPr lvl="1" eaLnBrk="1" hangingPunct="1"/>
            <a:r>
              <a:rPr lang="en-US" altLang="en-US" sz="1600" dirty="0"/>
              <a:t>Security Controls Framework</a:t>
            </a:r>
          </a:p>
        </p:txBody>
      </p:sp>
    </p:spTree>
    <p:extLst>
      <p:ext uri="{BB962C8B-B14F-4D97-AF65-F5344CB8AC3E}">
        <p14:creationId xmlns:p14="http://schemas.microsoft.com/office/powerpoint/2010/main" val="40768826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BA670B-073F-1C63-7027-1C89E55166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222414F-B44E-BD53-0ECA-4A18A00221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Slide </a:t>
            </a:r>
            <a:fld id="{4CA2B2DB-B91D-4166-98BF-65A0DA7EEE6D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511281-E346-5DB9-DEE8-013ED2458FB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CIA Triad -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4F1732-46C9-FD87-BB4F-AFA8BBA5BA7B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3200400"/>
            <a:ext cx="10744200" cy="4038766"/>
          </a:xfrm>
        </p:spPr>
        <p:txBody>
          <a:bodyPr/>
          <a:lstStyle/>
          <a:p>
            <a:r>
              <a:rPr lang="en-US" b="1" dirty="0"/>
              <a:t>Confidentiality</a:t>
            </a:r>
            <a:r>
              <a:rPr lang="en-US" dirty="0"/>
              <a:t> safeguards information from unauthorized access and disclosure.</a:t>
            </a:r>
          </a:p>
          <a:p>
            <a:r>
              <a:rPr lang="en-US" b="1" dirty="0"/>
              <a:t>Integrity</a:t>
            </a:r>
            <a:r>
              <a:rPr lang="en-US" dirty="0"/>
              <a:t> ensures data remains accurate and trustworthy throughout its lifecycle.</a:t>
            </a:r>
            <a:endParaRPr lang="en-US" sz="2800" dirty="0"/>
          </a:p>
          <a:p>
            <a:r>
              <a:rPr lang="en-US" b="1" dirty="0"/>
              <a:t>Availability </a:t>
            </a:r>
            <a:r>
              <a:rPr lang="en-US" dirty="0"/>
              <a:t>ensures systems and data are accessible and usable when needed by authorized users.</a:t>
            </a:r>
          </a:p>
          <a:p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27B007C-3970-4ED5-1E0F-A945C273A39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1A881AF1-9A0D-7034-8146-841D027F7A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60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Confidentiality, Integrity, and Availability (CIA)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B8FA15B-D890-9854-31ED-765782DAE1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82400" y="3047834"/>
            <a:ext cx="5526806" cy="4191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51952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E85F27-D555-9B06-C454-48A5911889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274C9AF-0AA4-9ECF-3A26-FFC9C19811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Slide </a:t>
            </a:r>
            <a:fld id="{4CA2B2DB-B91D-4166-98BF-65A0DA7EEE6D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570B70-02C6-DCE4-EFA8-E430BE2289AC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2536825"/>
            <a:ext cx="10744200" cy="4038766"/>
          </a:xfrm>
        </p:spPr>
        <p:txBody>
          <a:bodyPr/>
          <a:lstStyle/>
          <a:p>
            <a:pPr marL="0" indent="0">
              <a:buNone/>
            </a:pPr>
            <a:r>
              <a:rPr lang="en-US" sz="3600" b="1" dirty="0"/>
              <a:t>Non-repudiation</a:t>
            </a:r>
            <a:r>
              <a:rPr lang="en-US" sz="3600" dirty="0"/>
              <a:t> ensures that someone cannot deny the validity of something, such as authorship of a statement.</a:t>
            </a:r>
          </a:p>
          <a:p>
            <a:r>
              <a:rPr lang="en-US" dirty="0"/>
              <a:t>A legal concept widely used in information security to provide proof of the origin and integrity of data</a:t>
            </a:r>
          </a:p>
          <a:p>
            <a:r>
              <a:rPr lang="en-US" dirty="0"/>
              <a:t>Digital signatures are commonly used to provide non-repudiation in digital communications or storage.</a:t>
            </a:r>
          </a:p>
          <a:p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4F0FB20-8F64-771A-D568-EA69C2B2A09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0EB3A2CE-1DE0-8BE6-71AA-3FEAFC1151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60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Non-Repudiation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43470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354AFF-F596-265E-DCDC-ABD410F873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7771393-2409-2516-B43A-71E41390EC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Slide </a:t>
            </a:r>
            <a:fld id="{4CA2B2DB-B91D-4166-98BF-65A0DA7EEE6D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1DA20A-76DB-8CEF-B32A-DA8072B1C53B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3200400"/>
            <a:ext cx="10744200" cy="4038766"/>
          </a:xfrm>
        </p:spPr>
        <p:txBody>
          <a:bodyPr/>
          <a:lstStyle/>
          <a:p>
            <a:r>
              <a:rPr lang="en-US" b="1" dirty="0"/>
              <a:t>Authentication</a:t>
            </a:r>
            <a:r>
              <a:rPr lang="en-US" dirty="0"/>
              <a:t> ensures the validity of someone's identity and prevents unauthorized access.</a:t>
            </a:r>
          </a:p>
          <a:p>
            <a:r>
              <a:rPr lang="en-US" b="1" dirty="0"/>
              <a:t>Authorization</a:t>
            </a:r>
            <a:r>
              <a:rPr lang="en-US" dirty="0"/>
              <a:t> determines what actions users are allowed to perform after they have been authenticated.</a:t>
            </a:r>
          </a:p>
          <a:p>
            <a:r>
              <a:rPr lang="en-US" b="1" dirty="0"/>
              <a:t>Accounting</a:t>
            </a:r>
            <a:r>
              <a:rPr lang="en-US" dirty="0"/>
              <a:t> involves tracking and recording users' activities and resource use.</a:t>
            </a:r>
          </a:p>
          <a:p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1630681-379B-EE16-98C0-82848520498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2DFC6874-6C21-1BEE-1329-F4F6D702ED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60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Authentication, Authorization, and Accounting 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572A98-B20E-D808-3861-BDBC00B00CA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200" y="2603500"/>
            <a:ext cx="7194550" cy="495300"/>
          </a:xfrm>
        </p:spPr>
        <p:txBody>
          <a:bodyPr/>
          <a:lstStyle/>
          <a:p>
            <a:r>
              <a:rPr lang="en-US" dirty="0"/>
              <a:t>AAA Framework - </a:t>
            </a:r>
          </a:p>
        </p:txBody>
      </p:sp>
    </p:spTree>
    <p:extLst>
      <p:ext uri="{BB962C8B-B14F-4D97-AF65-F5344CB8AC3E}">
        <p14:creationId xmlns:p14="http://schemas.microsoft.com/office/powerpoint/2010/main" val="42660061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432E98-679D-365D-27A2-F222506CCB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CCAB48F-DE8D-B317-7163-4494524462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Slide </a:t>
            </a:r>
            <a:fld id="{4CA2B2DB-B91D-4166-98BF-65A0DA7EEE6D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270FB4-629D-BA7C-9177-5AD150749D3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28261" y="2538482"/>
            <a:ext cx="10744200" cy="4457700"/>
          </a:xfrm>
        </p:spPr>
        <p:txBody>
          <a:bodyPr/>
          <a:lstStyle/>
          <a:p>
            <a:pPr marL="0" indent="0">
              <a:buNone/>
            </a:pPr>
            <a:r>
              <a:rPr lang="en-US" sz="3600" b="1" dirty="0"/>
              <a:t>Gap analysis </a:t>
            </a:r>
            <a:r>
              <a:rPr lang="en-US" sz="3600" dirty="0"/>
              <a:t>is a strategic planning tool used to evaluate differences between the current state and an ideal/desired state.</a:t>
            </a:r>
          </a:p>
          <a:p>
            <a:r>
              <a:rPr lang="en-US" dirty="0"/>
              <a:t>Helps pinpoint deficiencies in cybersecurity measures, whether in technology, software, personnel training, or policy enforcement</a:t>
            </a:r>
          </a:p>
          <a:p>
            <a:r>
              <a:rPr lang="en-US" dirty="0"/>
              <a:t>Enables organizations to address and close these gaps effectively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01ECDC-8ABA-F2C7-CCFF-44CE8EF5431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F41555E-35A5-1FB6-5643-7A70A04CE4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60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Gap Analysis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52889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A16C1D-A357-36AA-9FB2-819442C484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A46361A-8794-B2C2-7434-DEA6B2E926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Slide </a:t>
            </a:r>
            <a:fld id="{4CA2B2DB-B91D-4166-98BF-65A0DA7EEE6D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E42FF-2248-014A-5D6B-C1B29801760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2536825"/>
            <a:ext cx="10744200" cy="2552700"/>
          </a:xfrm>
        </p:spPr>
        <p:txBody>
          <a:bodyPr/>
          <a:lstStyle/>
          <a:p>
            <a:r>
              <a:rPr lang="en-US" altLang="en-US" dirty="0"/>
              <a:t>Technical Controls</a:t>
            </a:r>
          </a:p>
          <a:p>
            <a:r>
              <a:rPr lang="en-US" altLang="en-US" dirty="0"/>
              <a:t>Managerial Controls</a:t>
            </a:r>
          </a:p>
          <a:p>
            <a:r>
              <a:rPr lang="en-US" altLang="en-US" dirty="0"/>
              <a:t>Operational Controls</a:t>
            </a:r>
          </a:p>
          <a:p>
            <a:r>
              <a:rPr lang="en-US" altLang="en-US" dirty="0"/>
              <a:t>Physical Controls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A791F7C-4250-87BA-3CEB-736D5B52C3F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2073E986-15DB-AA9F-6088-B005AD09D2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60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Control Categories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69360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79B46D-FBBC-7644-4E29-C0777BE46B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9265305-A1C0-1E76-7D0F-0989AE5178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Slide </a:t>
            </a:r>
            <a:fld id="{4CA2B2DB-B91D-4166-98BF-65A0DA7EEE6D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AC4CE3-B760-8644-9EE8-C15880AED3EA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3200400"/>
            <a:ext cx="10744200" cy="2019300"/>
          </a:xfrm>
        </p:spPr>
        <p:txBody>
          <a:bodyPr/>
          <a:lstStyle/>
          <a:p>
            <a:pPr marL="0" indent="0">
              <a:buNone/>
            </a:pPr>
            <a:r>
              <a:rPr lang="en-US" altLang="en-US" b="1" dirty="0"/>
              <a:t>Technical controls </a:t>
            </a:r>
            <a:r>
              <a:rPr lang="en-US" altLang="en-US" dirty="0"/>
              <a:t>are logical controls implemented by a computer, i.e., a technical system. </a:t>
            </a:r>
          </a:p>
          <a:p>
            <a:r>
              <a:rPr lang="en-US" altLang="en-US" dirty="0"/>
              <a:t>Examples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52284A-4657-D3EE-0606-1FFFD0E186B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B3F24E4-253E-2050-5E92-716CB6EC23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60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Technical Controls </a:t>
            </a:r>
            <a:endParaRPr lang="en-US" dirty="0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65AD901B-D397-4F4A-CD78-2B80BF1D9A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5000" y="5143500"/>
            <a:ext cx="12344400" cy="25979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37160" tIns="68580" rIns="137160" bIns="68580" numCol="2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ts val="9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669925" indent="-3254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accent1"/>
                </a:solidFill>
                <a:latin typeface="+mn-lt"/>
              </a:defRPr>
            </a:lvl2pPr>
            <a:lvl3pPr marL="1022350" indent="-3508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accent1"/>
                </a:solidFill>
                <a:latin typeface="+mn-lt"/>
              </a:defRPr>
            </a:lvl3pPr>
            <a:lvl4pPr marL="1339850" indent="-3159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accent1"/>
                </a:solidFill>
                <a:latin typeface="+mn-lt"/>
              </a:defRPr>
            </a:lvl4pPr>
            <a:lvl5pPr marL="1681163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accent1"/>
                </a:solidFill>
                <a:latin typeface="+mn-lt"/>
              </a:defRPr>
            </a:lvl5pPr>
            <a:lvl6pPr marL="21383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accent1"/>
                </a:solidFill>
                <a:latin typeface="+mn-lt"/>
              </a:defRPr>
            </a:lvl6pPr>
            <a:lvl7pPr marL="25955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accent1"/>
                </a:solidFill>
                <a:latin typeface="+mn-lt"/>
              </a:defRPr>
            </a:lvl7pPr>
            <a:lvl8pPr marL="30527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accent1"/>
                </a:solidFill>
                <a:latin typeface="+mn-lt"/>
              </a:defRPr>
            </a:lvl8pPr>
            <a:lvl9pPr marL="35099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accent1"/>
                </a:solidFill>
                <a:latin typeface="+mn-lt"/>
              </a:defRPr>
            </a:lvl9pPr>
          </a:lstStyle>
          <a:p>
            <a:pPr marL="342900" lvl="1" indent="-342900" eaLnBrk="1" hangingPunct="1">
              <a:buClrTx/>
              <a:buFont typeface="Arial" pitchFamily="34" charset="0"/>
              <a:buChar char="•"/>
            </a:pPr>
            <a:r>
              <a:rPr lang="en-US" altLang="en-US" sz="3200" dirty="0">
                <a:solidFill>
                  <a:schemeClr val="tx1"/>
                </a:solidFill>
              </a:rPr>
              <a:t>Authentication</a:t>
            </a:r>
          </a:p>
          <a:p>
            <a:pPr marL="342900" lvl="1" indent="-342900" eaLnBrk="1" hangingPunct="1">
              <a:buClrTx/>
              <a:buFont typeface="Arial" pitchFamily="34" charset="0"/>
              <a:buChar char="•"/>
            </a:pPr>
            <a:r>
              <a:rPr lang="en-US" altLang="en-US" sz="3200" dirty="0">
                <a:solidFill>
                  <a:schemeClr val="tx1"/>
                </a:solidFill>
              </a:rPr>
              <a:t>Access control</a:t>
            </a:r>
          </a:p>
          <a:p>
            <a:pPr marL="342900" lvl="1" indent="-342900" eaLnBrk="1" hangingPunct="1">
              <a:buClrTx/>
              <a:buFont typeface="Arial" pitchFamily="34" charset="0"/>
              <a:buChar char="•"/>
            </a:pPr>
            <a:r>
              <a:rPr lang="en-US" altLang="en-US" sz="3200" dirty="0">
                <a:solidFill>
                  <a:schemeClr val="tx1"/>
                </a:solidFill>
              </a:rPr>
              <a:t>Auditing</a:t>
            </a:r>
          </a:p>
          <a:p>
            <a:pPr marL="342900" lvl="1" indent="-342900" eaLnBrk="1" hangingPunct="1">
              <a:buClrTx/>
              <a:buFont typeface="Arial" pitchFamily="34" charset="0"/>
              <a:buChar char="•"/>
            </a:pPr>
            <a:r>
              <a:rPr lang="en-US" altLang="en-US" sz="3200" dirty="0">
                <a:solidFill>
                  <a:schemeClr val="tx1"/>
                </a:solidFill>
              </a:rPr>
              <a:t>Cryptography</a:t>
            </a:r>
          </a:p>
          <a:p>
            <a:pPr marL="342900" lvl="1" indent="-342900" eaLnBrk="1" hangingPunct="1">
              <a:buClrTx/>
              <a:buFont typeface="Arial" pitchFamily="34" charset="0"/>
              <a:buChar char="•"/>
            </a:pPr>
            <a:r>
              <a:rPr lang="en-US" altLang="en-US" sz="3200" dirty="0">
                <a:solidFill>
                  <a:schemeClr val="tx1"/>
                </a:solidFill>
              </a:rPr>
              <a:t>Firewalls</a:t>
            </a:r>
          </a:p>
          <a:p>
            <a:pPr marL="342900" lvl="1" indent="-342900" eaLnBrk="1" hangingPunct="1">
              <a:buClrTx/>
              <a:buFont typeface="Arial" pitchFamily="34" charset="0"/>
              <a:buChar char="•"/>
            </a:pPr>
            <a:r>
              <a:rPr lang="en-US" altLang="en-US" sz="3200" dirty="0">
                <a:solidFill>
                  <a:schemeClr val="tx1"/>
                </a:solidFill>
              </a:rPr>
              <a:t>Session locks</a:t>
            </a:r>
          </a:p>
          <a:p>
            <a:pPr marL="342900" lvl="1" indent="-342900" eaLnBrk="1" hangingPunct="1">
              <a:buClrTx/>
              <a:buFont typeface="Arial" pitchFamily="34" charset="0"/>
              <a:buChar char="•"/>
            </a:pPr>
            <a:r>
              <a:rPr lang="en-US" altLang="en-US" sz="3200" dirty="0">
                <a:solidFill>
                  <a:schemeClr val="tx1"/>
                </a:solidFill>
              </a:rPr>
              <a:t>Radius servers</a:t>
            </a:r>
          </a:p>
          <a:p>
            <a:pPr marL="342900" lvl="1" indent="-342900" eaLnBrk="1" hangingPunct="1">
              <a:buClrTx/>
              <a:buFont typeface="Arial" pitchFamily="34" charset="0"/>
              <a:buChar char="•"/>
            </a:pPr>
            <a:r>
              <a:rPr lang="en-US" altLang="en-US" sz="3200" dirty="0">
                <a:solidFill>
                  <a:schemeClr val="tx1"/>
                </a:solidFill>
              </a:rPr>
              <a:t>RAID 5</a:t>
            </a:r>
          </a:p>
        </p:txBody>
      </p:sp>
    </p:spTree>
    <p:extLst>
      <p:ext uri="{BB962C8B-B14F-4D97-AF65-F5344CB8AC3E}">
        <p14:creationId xmlns:p14="http://schemas.microsoft.com/office/powerpoint/2010/main" val="6175986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7D10B8-5D80-37E8-7FB6-CD9FFDF272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792A57B-B66D-2846-524B-E38AEDD5C6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Slide </a:t>
            </a:r>
            <a:fld id="{4CA2B2DB-B91D-4166-98BF-65A0DA7EEE6D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60931B-0C5F-B738-4AC8-F0ABD1892FD8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2617301"/>
            <a:ext cx="16192500" cy="2324100"/>
          </a:xfrm>
        </p:spPr>
        <p:txBody>
          <a:bodyPr/>
          <a:lstStyle/>
          <a:p>
            <a:pPr marL="0" indent="0">
              <a:buNone/>
            </a:pPr>
            <a:r>
              <a:rPr lang="en-US" altLang="en-US" b="1" dirty="0"/>
              <a:t>Managerial controls </a:t>
            </a:r>
            <a:r>
              <a:rPr lang="en-US" altLang="en-US" dirty="0"/>
              <a:t>reflect decisions made by an organization’s managers and executives. </a:t>
            </a:r>
          </a:p>
          <a:p>
            <a:pPr marL="0" indent="0">
              <a:buNone/>
            </a:pPr>
            <a:r>
              <a:rPr lang="en-US" altLang="en-US" dirty="0"/>
              <a:t>These controls focus on risk management and how data security is administered. </a:t>
            </a:r>
          </a:p>
          <a:p>
            <a:r>
              <a:rPr lang="en-US" altLang="en-US" dirty="0"/>
              <a:t>Examples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6D1B588-B538-A5CC-7706-96E0E43B68E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1B6C5EF7-51DA-5F65-6748-8680B2DBE2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60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Managerial Controls 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F596F88-F2D6-428F-3567-B7439B60C010}"/>
              </a:ext>
            </a:extLst>
          </p:cNvPr>
          <p:cNvSpPr txBox="1"/>
          <p:nvPr/>
        </p:nvSpPr>
        <p:spPr>
          <a:xfrm>
            <a:off x="1524000" y="5021877"/>
            <a:ext cx="9270694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004888" lvl="1" indent="-488157" defTabSz="1371600" eaLnBrk="1" hangingPunct="1">
              <a:buFont typeface="Arial" panose="020B0604020202020204" pitchFamily="34" charset="0"/>
              <a:buChar char="•"/>
            </a:pPr>
            <a:r>
              <a:rPr lang="en-US" altLang="en-US" sz="3200" dirty="0"/>
              <a:t>Security policies and procedures</a:t>
            </a:r>
          </a:p>
          <a:p>
            <a:pPr marL="1004888" lvl="1" indent="-488157" defTabSz="1371600" eaLnBrk="1" hangingPunct="1">
              <a:buFont typeface="Arial" panose="020B0604020202020204" pitchFamily="34" charset="0"/>
              <a:buChar char="•"/>
            </a:pPr>
            <a:r>
              <a:rPr lang="en-US" altLang="en-US" sz="3200" dirty="0"/>
              <a:t>Personnel background checks</a:t>
            </a:r>
          </a:p>
          <a:p>
            <a:pPr marL="1004888" lvl="1" indent="-488157" defTabSz="1371600" eaLnBrk="1" hangingPunct="1">
              <a:buFont typeface="Arial" panose="020B0604020202020204" pitchFamily="34" charset="0"/>
              <a:buChar char="•"/>
            </a:pPr>
            <a:r>
              <a:rPr lang="en-US" altLang="en-US" sz="3200" dirty="0"/>
              <a:t>Security awareness training</a:t>
            </a:r>
          </a:p>
          <a:p>
            <a:pPr marL="1004888" lvl="1" indent="-488157" defTabSz="1371600" eaLnBrk="1" hangingPunct="1">
              <a:buFont typeface="Arial" panose="020B0604020202020204" pitchFamily="34" charset="0"/>
              <a:buChar char="•"/>
            </a:pPr>
            <a:r>
              <a:rPr lang="en-US" altLang="en-US" sz="3200" dirty="0"/>
              <a:t>Formal change-management procedures</a:t>
            </a:r>
          </a:p>
        </p:txBody>
      </p:sp>
    </p:spTree>
    <p:extLst>
      <p:ext uri="{BB962C8B-B14F-4D97-AF65-F5344CB8AC3E}">
        <p14:creationId xmlns:p14="http://schemas.microsoft.com/office/powerpoint/2010/main" val="12688108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38A062-7CFE-05EE-04A2-B8396C114D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9F076CD-6C3F-BBC6-DE6D-4B5EF793FD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Slide </a:t>
            </a:r>
            <a:fld id="{4CA2B2DB-B91D-4166-98BF-65A0DA7EEE6D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C7C147-BA33-790E-49B6-EF37BA69B626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2646892"/>
            <a:ext cx="16192500" cy="2019300"/>
          </a:xfrm>
        </p:spPr>
        <p:txBody>
          <a:bodyPr/>
          <a:lstStyle/>
          <a:p>
            <a:pPr marL="0" indent="0">
              <a:buNone/>
            </a:pPr>
            <a:r>
              <a:rPr lang="en-US" altLang="en-US" b="1" dirty="0"/>
              <a:t>Operational controls </a:t>
            </a:r>
            <a:r>
              <a:rPr lang="en-US" altLang="en-US" dirty="0"/>
              <a:t>are carried out by people (rather than technical systems) to enhance individual and group system security.</a:t>
            </a:r>
          </a:p>
          <a:p>
            <a:r>
              <a:rPr lang="en-US" altLang="en-US" dirty="0"/>
              <a:t>Examples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6743DAC-D831-346F-C216-973EA0E9939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13A14638-6D24-2428-CC66-C020E612C1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60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Operational Controls </a:t>
            </a:r>
            <a:endParaRPr lang="en-US" dirty="0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341E407A-5F1E-D6C9-7C03-AB217A6201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4399808"/>
            <a:ext cx="12344400" cy="30681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37160" tIns="68580" rIns="137160" bIns="68580" numCol="2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ts val="9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669925" indent="-3254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accent1"/>
                </a:solidFill>
                <a:latin typeface="+mn-lt"/>
              </a:defRPr>
            </a:lvl2pPr>
            <a:lvl3pPr marL="1022350" indent="-3508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accent1"/>
                </a:solidFill>
                <a:latin typeface="+mn-lt"/>
              </a:defRPr>
            </a:lvl3pPr>
            <a:lvl4pPr marL="1339850" indent="-3159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accent1"/>
                </a:solidFill>
                <a:latin typeface="+mn-lt"/>
              </a:defRPr>
            </a:lvl4pPr>
            <a:lvl5pPr marL="1681163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accent1"/>
                </a:solidFill>
                <a:latin typeface="+mn-lt"/>
              </a:defRPr>
            </a:lvl5pPr>
            <a:lvl6pPr marL="21383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accent1"/>
                </a:solidFill>
                <a:latin typeface="+mn-lt"/>
              </a:defRPr>
            </a:lvl6pPr>
            <a:lvl7pPr marL="25955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accent1"/>
                </a:solidFill>
                <a:latin typeface="+mn-lt"/>
              </a:defRPr>
            </a:lvl7pPr>
            <a:lvl8pPr marL="30527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accent1"/>
                </a:solidFill>
                <a:latin typeface="+mn-lt"/>
              </a:defRPr>
            </a:lvl8pPr>
            <a:lvl9pPr marL="35099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accent1"/>
                </a:solidFill>
                <a:latin typeface="+mn-lt"/>
              </a:defRPr>
            </a:lvl9pPr>
          </a:lstStyle>
          <a:p>
            <a:pPr marL="1004888" lvl="1" indent="-488157" defTabSz="1371600" eaLnBrk="1" hangingPunct="1">
              <a:buClrTx/>
              <a:buFont typeface="Arial" panose="020B0604020202020204" pitchFamily="34" charset="0"/>
              <a:buChar char="•"/>
            </a:pPr>
            <a:r>
              <a:rPr lang="en-US" altLang="en-US" sz="3200" dirty="0">
                <a:solidFill>
                  <a:schemeClr val="tx1"/>
                </a:solidFill>
              </a:rPr>
              <a:t>User training</a:t>
            </a:r>
          </a:p>
          <a:p>
            <a:pPr marL="1004888" lvl="1" indent="-488157" defTabSz="1371600" eaLnBrk="1" hangingPunct="1">
              <a:buClrTx/>
              <a:buFont typeface="Arial" panose="020B0604020202020204" pitchFamily="34" charset="0"/>
              <a:buChar char="•"/>
            </a:pPr>
            <a:r>
              <a:rPr lang="en-US" altLang="en-US" sz="3200" dirty="0">
                <a:solidFill>
                  <a:schemeClr val="tx1"/>
                </a:solidFill>
              </a:rPr>
              <a:t>Computer support  </a:t>
            </a:r>
          </a:p>
          <a:p>
            <a:pPr marL="1004888" lvl="1" indent="-488157" defTabSz="1371600" eaLnBrk="1" hangingPunct="1">
              <a:buClrTx/>
              <a:buFont typeface="Arial" panose="020B0604020202020204" pitchFamily="34" charset="0"/>
              <a:buChar char="•"/>
            </a:pPr>
            <a:r>
              <a:rPr lang="en-US" altLang="en-US" sz="3200" dirty="0">
                <a:solidFill>
                  <a:schemeClr val="tx1"/>
                </a:solidFill>
              </a:rPr>
              <a:t>Baseline configuration development</a:t>
            </a:r>
          </a:p>
          <a:p>
            <a:pPr marL="1004888" lvl="1" indent="-488157" defTabSz="1371600" eaLnBrk="1" hangingPunct="1">
              <a:buClrTx/>
              <a:buFont typeface="Arial" panose="020B0604020202020204" pitchFamily="34" charset="0"/>
              <a:buChar char="•"/>
            </a:pPr>
            <a:r>
              <a:rPr lang="en-US" altLang="en-US" sz="3200" dirty="0">
                <a:solidFill>
                  <a:schemeClr val="tx1"/>
                </a:solidFill>
              </a:rPr>
              <a:t>Facility design details</a:t>
            </a:r>
          </a:p>
          <a:p>
            <a:pPr marL="1004888" lvl="1" indent="-488157" defTabSz="1371600" eaLnBrk="1" hangingPunct="1">
              <a:buClrTx/>
              <a:buFont typeface="Arial" panose="020B0604020202020204" pitchFamily="34" charset="0"/>
              <a:buChar char="•"/>
            </a:pPr>
            <a:r>
              <a:rPr lang="en-US" altLang="en-US" sz="3200" dirty="0">
                <a:solidFill>
                  <a:schemeClr val="tx1"/>
                </a:solidFill>
              </a:rPr>
              <a:t>Environmental security measures </a:t>
            </a:r>
          </a:p>
          <a:p>
            <a:pPr marL="1004888" lvl="1" indent="-488157" defTabSz="1371600" eaLnBrk="1" hangingPunct="1">
              <a:buClrTx/>
              <a:buFont typeface="Arial" panose="020B0604020202020204" pitchFamily="34" charset="0"/>
              <a:buChar char="•"/>
            </a:pPr>
            <a:r>
              <a:rPr lang="en-US" altLang="en-US" sz="3200" dirty="0">
                <a:solidFill>
                  <a:schemeClr val="tx1"/>
                </a:solidFill>
              </a:rPr>
              <a:t>Incident handling procedures</a:t>
            </a:r>
          </a:p>
          <a:p>
            <a:pPr marL="1004888" lvl="1" indent="-488157" defTabSz="1371600" eaLnBrk="1" hangingPunct="1">
              <a:buClrTx/>
              <a:buFont typeface="Arial" panose="020B0604020202020204" pitchFamily="34" charset="0"/>
              <a:buChar char="•"/>
            </a:pPr>
            <a:r>
              <a:rPr lang="en-US" altLang="en-US" sz="3200" dirty="0">
                <a:solidFill>
                  <a:schemeClr val="tx1"/>
                </a:solidFill>
              </a:rPr>
              <a:t>Disaster recovery plans</a:t>
            </a:r>
          </a:p>
        </p:txBody>
      </p:sp>
    </p:spTree>
    <p:extLst>
      <p:ext uri="{BB962C8B-B14F-4D97-AF65-F5344CB8AC3E}">
        <p14:creationId xmlns:p14="http://schemas.microsoft.com/office/powerpoint/2010/main" val="24138819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C70FA5-1D32-E31F-F05D-C5109AAA13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6CFC3CC-1CD5-EC57-654D-1E5CE5F5FE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Slide </a:t>
            </a:r>
            <a:fld id="{4CA2B2DB-B91D-4166-98BF-65A0DA7EEE6D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D9CFC6-2BCB-E1D3-ECE0-832EAED6686A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2562893"/>
            <a:ext cx="16192500" cy="3467100"/>
          </a:xfrm>
        </p:spPr>
        <p:txBody>
          <a:bodyPr/>
          <a:lstStyle/>
          <a:p>
            <a:pPr marL="0" indent="0">
              <a:buNone/>
            </a:pPr>
            <a:r>
              <a:rPr lang="en-US" altLang="en-US" b="1" dirty="0"/>
              <a:t>Physical controls </a:t>
            </a:r>
            <a:r>
              <a:rPr lang="en-US" altLang="en-US" dirty="0"/>
              <a:t>serve as the first line of defense in controlling access to an organization.</a:t>
            </a:r>
          </a:p>
          <a:p>
            <a:r>
              <a:rPr lang="en-US" altLang="en-US" dirty="0"/>
              <a:t>Examples</a:t>
            </a:r>
          </a:p>
          <a:p>
            <a:pPr marL="1004888" lvl="1" indent="-488157" defTabSz="1371600">
              <a:buFont typeface="Arial" panose="020B0604020202020204" pitchFamily="34" charset="0"/>
              <a:buChar char="•"/>
            </a:pPr>
            <a:r>
              <a:rPr lang="en-US" altLang="en-US" sz="3200" dirty="0"/>
              <a:t>Ensuring that entrances are secure</a:t>
            </a:r>
          </a:p>
          <a:p>
            <a:pPr marL="1004888" lvl="1" indent="-488157" defTabSz="1371600">
              <a:buFont typeface="Arial" panose="020B0604020202020204" pitchFamily="34" charset="0"/>
              <a:buChar char="•"/>
            </a:pPr>
            <a:r>
              <a:rPr lang="en-US" altLang="en-US" sz="3200" dirty="0"/>
              <a:t>Securing physical equipment</a:t>
            </a:r>
          </a:p>
          <a:p>
            <a:pPr marL="1004888" lvl="1" indent="-488157" defTabSz="1371600">
              <a:buFont typeface="Arial" panose="020B0604020202020204" pitchFamily="34" charset="0"/>
              <a:buChar char="•"/>
            </a:pPr>
            <a:r>
              <a:rPr lang="en-US" altLang="en-US" sz="3200" dirty="0"/>
              <a:t>Logging and surveilling visitors</a:t>
            </a:r>
          </a:p>
          <a:p>
            <a:endParaRPr lang="en-US" altLang="en-US" dirty="0"/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97EC337-2806-EF4E-441F-83EFAC84003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5266D50-1698-EF56-4935-95EA7F4337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60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Physical Controls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4895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41F9F5-9267-4432-44AE-D6EC4B33F3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A6B7640-2D85-DBC8-160E-C0C6A168F2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Slide </a:t>
            </a:r>
            <a:fld id="{4CA2B2DB-B91D-4166-98BF-65A0DA7EEE6D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61EAD5-C86D-E485-37C5-73D37187A11E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2574925"/>
            <a:ext cx="10744200" cy="3467100"/>
          </a:xfrm>
        </p:spPr>
        <p:txBody>
          <a:bodyPr/>
          <a:lstStyle/>
          <a:p>
            <a:r>
              <a:rPr lang="en-US" dirty="0"/>
              <a:t>Preventive Controls</a:t>
            </a:r>
          </a:p>
          <a:p>
            <a:r>
              <a:rPr lang="en-US" dirty="0"/>
              <a:t>Deterrent Controls</a:t>
            </a:r>
          </a:p>
          <a:p>
            <a:r>
              <a:rPr lang="en-US" dirty="0"/>
              <a:t>Detective Controls</a:t>
            </a:r>
          </a:p>
          <a:p>
            <a:r>
              <a:rPr lang="en-US" dirty="0"/>
              <a:t>Corrective Controls</a:t>
            </a:r>
          </a:p>
          <a:p>
            <a:r>
              <a:rPr lang="en-US" dirty="0"/>
              <a:t>Compensating Controls</a:t>
            </a:r>
          </a:p>
          <a:p>
            <a:r>
              <a:rPr lang="en-US" dirty="0"/>
              <a:t>Directive Controls</a:t>
            </a:r>
          </a:p>
          <a:p>
            <a:pPr marL="0" indent="0">
              <a:buNone/>
            </a:pPr>
            <a:endParaRPr lang="en-US" altLang="en-US" b="1" dirty="0"/>
          </a:p>
          <a:p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080CF0E-26EE-DC41-4B97-395904A5EA0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ED06748-D633-4DC6-8630-8AA35BD325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60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Control Types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27455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F4002D-003B-541F-20E5-8E635005B6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D57828D-A19D-FBAD-E2CD-2098FE15F2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Slide </a:t>
            </a:r>
            <a:fld id="{4CA2B2DB-B91D-4166-98BF-65A0DA7EEE6D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B80E9E-5D5C-380B-BC6F-D0B2FFCF487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2705100"/>
            <a:ext cx="16192500" cy="4229100"/>
          </a:xfrm>
        </p:spPr>
        <p:txBody>
          <a:bodyPr/>
          <a:lstStyle/>
          <a:p>
            <a:pPr marL="0" indent="0">
              <a:buNone/>
            </a:pPr>
            <a:r>
              <a:rPr lang="en-US" sz="3900" b="1" dirty="0"/>
              <a:t>Preventive controls </a:t>
            </a:r>
            <a:r>
              <a:rPr lang="en-US" sz="3900" dirty="0"/>
              <a:t>are implemented proactively to thwart incidents before they occur.</a:t>
            </a:r>
          </a:p>
          <a:p>
            <a:r>
              <a:rPr lang="en-US" sz="3900" dirty="0"/>
              <a:t>Examples</a:t>
            </a:r>
          </a:p>
          <a:p>
            <a:pPr marL="629285" lvl="1" indent="-457200">
              <a:buFont typeface="Arial" panose="020B0604020202020204" pitchFamily="34" charset="0"/>
              <a:buChar char="•"/>
            </a:pPr>
            <a:r>
              <a:rPr lang="en-US" sz="3200" dirty="0"/>
              <a:t>Access lists</a:t>
            </a:r>
          </a:p>
          <a:p>
            <a:pPr marL="629285" lvl="1" indent="-457200">
              <a:buFont typeface="Arial" panose="020B0604020202020204" pitchFamily="34" charset="0"/>
              <a:buChar char="•"/>
            </a:pPr>
            <a:r>
              <a:rPr lang="en-US" sz="3200" dirty="0"/>
              <a:t>Passwords</a:t>
            </a:r>
          </a:p>
          <a:p>
            <a:pPr marL="629285" lvl="1" indent="-457200">
              <a:buFont typeface="Arial" panose="020B0604020202020204" pitchFamily="34" charset="0"/>
              <a:buChar char="•"/>
            </a:pPr>
            <a:r>
              <a:rPr lang="en-US" sz="3200" dirty="0"/>
              <a:t>Fences</a:t>
            </a:r>
          </a:p>
          <a:p>
            <a:endParaRPr lang="en-US" altLang="en-US" b="1" dirty="0"/>
          </a:p>
          <a:p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9449C80-7BFC-1467-DC15-0A75E5848EE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EBECD8A1-4771-2E8A-B57E-19DCB7AC86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60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Preventive Controls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72034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C5F02B-1165-0E47-1B46-5929A10354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6623D88-D9B9-C960-FE60-04A184D8D3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Slide </a:t>
            </a:r>
            <a:fld id="{4CA2B2DB-B91D-4166-98BF-65A0DA7EEE6D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51D876-B315-E76F-1987-CA7D1F25D562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3200400"/>
            <a:ext cx="16192500" cy="5676900"/>
          </a:xfrm>
        </p:spPr>
        <p:txBody>
          <a:bodyPr/>
          <a:lstStyle/>
          <a:p>
            <a:pPr marL="0" indent="0">
              <a:buNone/>
            </a:pPr>
            <a:r>
              <a:rPr lang="en-US" altLang="en-US" sz="3900" b="1" dirty="0"/>
              <a:t>Deterrent controls </a:t>
            </a:r>
            <a:r>
              <a:rPr lang="en-US" altLang="en-US" sz="3900" dirty="0"/>
              <a:t>aim to deter threat actors from launching offensive assaults on an organization's environment.</a:t>
            </a:r>
          </a:p>
          <a:p>
            <a:r>
              <a:rPr lang="en-US" altLang="en-US" sz="3600" dirty="0"/>
              <a:t>Similar to preventive controls, but deterrent controls focus on discouraging attackers solely because the control exists</a:t>
            </a:r>
          </a:p>
          <a:p>
            <a:r>
              <a:rPr lang="en-US" altLang="en-US" sz="3600" dirty="0"/>
              <a:t>Examples</a:t>
            </a:r>
          </a:p>
          <a:p>
            <a:pPr marL="629285" lvl="1" indent="-457200">
              <a:buFont typeface="Arial" panose="020B0604020202020204" pitchFamily="34" charset="0"/>
              <a:buChar char="•"/>
            </a:pPr>
            <a:r>
              <a:rPr lang="en-US" altLang="en-US" dirty="0"/>
              <a:t>Alarm system signs</a:t>
            </a:r>
          </a:p>
          <a:p>
            <a:pPr marL="629285" lvl="1" indent="-457200">
              <a:buFont typeface="Arial" panose="020B0604020202020204" pitchFamily="34" charset="0"/>
              <a:buChar char="•"/>
            </a:pPr>
            <a:r>
              <a:rPr lang="en-US" altLang="en-US" dirty="0"/>
              <a:t>Web banner warning that unauthorized login attempts are being monitored </a:t>
            </a:r>
          </a:p>
          <a:p>
            <a:endParaRPr lang="en-US" altLang="en-US" b="1" dirty="0"/>
          </a:p>
          <a:p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4B3C4-4484-2BA1-210B-CFE5AA1A70A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01CAF8EF-6048-0E1F-8037-E4DB1C14DF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60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Deterrent Controls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26452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BB6D47-BC5F-549A-1EA8-033CD7A482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3C290CA-B380-C98B-8153-4910CA5676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Slide </a:t>
            </a:r>
            <a:fld id="{4CA2B2DB-B91D-4166-98BF-65A0DA7EEE6D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FD074E-E836-4480-B75A-0E016FFAEB4C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2536825"/>
            <a:ext cx="16192500" cy="6340475"/>
          </a:xfrm>
        </p:spPr>
        <p:txBody>
          <a:bodyPr/>
          <a:lstStyle/>
          <a:p>
            <a:pPr marL="0" indent="0">
              <a:buNone/>
            </a:pPr>
            <a:r>
              <a:rPr lang="en-US" altLang="en-US" sz="4400" b="1" dirty="0"/>
              <a:t>Detective controls </a:t>
            </a:r>
            <a:r>
              <a:rPr lang="en-US" altLang="en-US" sz="4400" dirty="0"/>
              <a:t>are designed to detect and monitor unauthorized behaviors and other hazards.</a:t>
            </a:r>
          </a:p>
          <a:p>
            <a:r>
              <a:rPr lang="en-US" altLang="en-US" sz="4000" dirty="0"/>
              <a:t>They issue alerts about failures in other controls; valuable during an attack and for post-incident analysis</a:t>
            </a:r>
          </a:p>
          <a:p>
            <a:r>
              <a:rPr lang="en-US" altLang="en-US" sz="4000" dirty="0"/>
              <a:t>Examples</a:t>
            </a:r>
          </a:p>
          <a:p>
            <a:endParaRPr lang="en-US" altLang="en-US" b="1" dirty="0"/>
          </a:p>
          <a:p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B4C814D-43B8-E0A1-D827-6F3225B566D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AB259821-769C-F99F-C516-57B1A0EF0A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60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Detective Controls </a:t>
            </a:r>
            <a:endParaRPr lang="en-US" dirty="0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719CBF7A-0154-086B-48A3-E9E38AD2B6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7300" y="6057900"/>
            <a:ext cx="12344400" cy="2667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37160" tIns="68580" rIns="137160" bIns="68580" numCol="2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ts val="9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669925" indent="-3254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accent1"/>
                </a:solidFill>
                <a:latin typeface="+mn-lt"/>
              </a:defRPr>
            </a:lvl2pPr>
            <a:lvl3pPr marL="1022350" indent="-3508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accent1"/>
                </a:solidFill>
                <a:latin typeface="+mn-lt"/>
              </a:defRPr>
            </a:lvl3pPr>
            <a:lvl4pPr marL="1339850" indent="-3159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accent1"/>
                </a:solidFill>
                <a:latin typeface="+mn-lt"/>
              </a:defRPr>
            </a:lvl4pPr>
            <a:lvl5pPr marL="1681163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accent1"/>
                </a:solidFill>
                <a:latin typeface="+mn-lt"/>
              </a:defRPr>
            </a:lvl5pPr>
            <a:lvl6pPr marL="21383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accent1"/>
                </a:solidFill>
                <a:latin typeface="+mn-lt"/>
              </a:defRPr>
            </a:lvl6pPr>
            <a:lvl7pPr marL="25955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accent1"/>
                </a:solidFill>
                <a:latin typeface="+mn-lt"/>
              </a:defRPr>
            </a:lvl7pPr>
            <a:lvl8pPr marL="30527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accent1"/>
                </a:solidFill>
                <a:latin typeface="+mn-lt"/>
              </a:defRPr>
            </a:lvl8pPr>
            <a:lvl9pPr marL="35099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accent1"/>
                </a:solidFill>
                <a:latin typeface="+mn-lt"/>
              </a:defRPr>
            </a:lvl9pPr>
          </a:lstStyle>
          <a:p>
            <a:pPr marL="1004888" lvl="1" indent="-488157" defTabSz="1371600" eaLnBrk="1" hangingPunct="1">
              <a:buClrTx/>
              <a:buFont typeface="Arial" panose="020B0604020202020204" pitchFamily="34" charset="0"/>
              <a:buChar char="•"/>
            </a:pPr>
            <a:r>
              <a:rPr lang="en-US" altLang="en-US" sz="2800" dirty="0">
                <a:solidFill>
                  <a:schemeClr val="tx1"/>
                </a:solidFill>
              </a:rPr>
              <a:t>Audit logs</a:t>
            </a:r>
          </a:p>
          <a:p>
            <a:pPr marL="1004888" lvl="1" indent="-488157" defTabSz="1371600" eaLnBrk="1" hangingPunct="1">
              <a:buClrTx/>
              <a:buFont typeface="Arial" panose="020B0604020202020204" pitchFamily="34" charset="0"/>
              <a:buChar char="•"/>
            </a:pPr>
            <a:r>
              <a:rPr lang="en-US" altLang="en-US" sz="2800" dirty="0">
                <a:solidFill>
                  <a:schemeClr val="tx1"/>
                </a:solidFill>
              </a:rPr>
              <a:t>Intrusion detection systems (IDSs)</a:t>
            </a:r>
          </a:p>
          <a:p>
            <a:pPr marL="1004888" lvl="1" indent="-488157" defTabSz="1371600" eaLnBrk="1" hangingPunct="1">
              <a:buClrTx/>
              <a:buFont typeface="Arial" panose="020B0604020202020204" pitchFamily="34" charset="0"/>
              <a:buChar char="•"/>
            </a:pPr>
            <a:r>
              <a:rPr lang="en-US" altLang="en-US" sz="2800" dirty="0">
                <a:solidFill>
                  <a:schemeClr val="tx1"/>
                </a:solidFill>
              </a:rPr>
              <a:t>Motion detection</a:t>
            </a:r>
          </a:p>
          <a:p>
            <a:pPr marL="1004888" lvl="1" indent="-488157" defTabSz="1371600" eaLnBrk="1" hangingPunct="1">
              <a:buClrTx/>
              <a:buFont typeface="Arial" panose="020B0604020202020204" pitchFamily="34" charset="0"/>
              <a:buChar char="•"/>
            </a:pPr>
            <a:r>
              <a:rPr lang="en-US" altLang="en-US" sz="2800" dirty="0">
                <a:solidFill>
                  <a:schemeClr val="tx1"/>
                </a:solidFill>
              </a:rPr>
              <a:t>Alarms</a:t>
            </a:r>
          </a:p>
          <a:p>
            <a:pPr marL="1004888" lvl="1" indent="-488157" defTabSz="1371600" eaLnBrk="1" hangingPunct="1">
              <a:buClrTx/>
              <a:buFont typeface="Arial" panose="020B0604020202020204" pitchFamily="34" charset="0"/>
              <a:buChar char="•"/>
            </a:pPr>
            <a:r>
              <a:rPr lang="en-US" altLang="en-US" sz="2800" dirty="0">
                <a:solidFill>
                  <a:schemeClr val="tx1"/>
                </a:solidFill>
              </a:rPr>
              <a:t>CCTV/video surveillance</a:t>
            </a:r>
          </a:p>
          <a:p>
            <a:pPr marL="1004888" lvl="1" indent="-488157" defTabSz="1371600" eaLnBrk="1" hangingPunct="1">
              <a:buClrTx/>
              <a:buFont typeface="Arial" panose="020B0604020202020204" pitchFamily="34" charset="0"/>
              <a:buChar char="•"/>
            </a:pPr>
            <a:r>
              <a:rPr lang="en-US" altLang="en-US" sz="2800" dirty="0">
                <a:solidFill>
                  <a:schemeClr val="tx1"/>
                </a:solidFill>
              </a:rPr>
              <a:t>Security Information and Event Management (SIEM) systems</a:t>
            </a:r>
          </a:p>
          <a:p>
            <a:pPr marL="1004888" lvl="1" indent="-488157" defTabSz="1371600" eaLnBrk="1" hangingPunct="1">
              <a:buClrTx/>
              <a:buFont typeface="Arial" panose="020B0604020202020204" pitchFamily="34" charset="0"/>
              <a:buChar char="•"/>
            </a:pPr>
            <a:r>
              <a:rPr lang="en-US" altLang="en-US" sz="2800" dirty="0">
                <a:solidFill>
                  <a:schemeClr val="tx1"/>
                </a:solidFill>
              </a:rPr>
              <a:t>Network intrusion detection systems (NIDSs)</a:t>
            </a:r>
          </a:p>
        </p:txBody>
      </p:sp>
    </p:spTree>
    <p:extLst>
      <p:ext uri="{BB962C8B-B14F-4D97-AF65-F5344CB8AC3E}">
        <p14:creationId xmlns:p14="http://schemas.microsoft.com/office/powerpoint/2010/main" val="11351561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80CF06-0304-DBD5-78AD-0266789850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231874C-DA21-E955-351C-B8AEAD8917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Slide </a:t>
            </a:r>
            <a:fld id="{4CA2B2DB-B91D-4166-98BF-65A0DA7EEE6D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5165E7-8917-C8E2-EBF4-E17FFB48673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3200400"/>
            <a:ext cx="16192500" cy="5676900"/>
          </a:xfrm>
        </p:spPr>
        <p:txBody>
          <a:bodyPr/>
          <a:lstStyle/>
          <a:p>
            <a:pPr marL="0" indent="0">
              <a:buNone/>
            </a:pPr>
            <a:r>
              <a:rPr lang="en-US" altLang="en-US" sz="3900" b="1" dirty="0"/>
              <a:t>Corrective controls </a:t>
            </a:r>
            <a:r>
              <a:rPr lang="en-US" altLang="en-US" sz="3900" dirty="0"/>
              <a:t>are meant to be implemented after an incident to limit damage and facilitate quick recovery.</a:t>
            </a:r>
          </a:p>
          <a:p>
            <a:r>
              <a:rPr lang="en-US" altLang="en-US" sz="3600" dirty="0"/>
              <a:t>Essential for restoring systems and mitigating harmful effects post-incident</a:t>
            </a:r>
          </a:p>
          <a:p>
            <a:r>
              <a:rPr lang="en-US" altLang="en-US" sz="3600" dirty="0"/>
              <a:t>Examples</a:t>
            </a:r>
          </a:p>
          <a:p>
            <a:pPr marL="629285" lvl="1" indent="-457200">
              <a:buFont typeface="Arial" panose="020B0604020202020204" pitchFamily="34" charset="0"/>
              <a:buChar char="•"/>
            </a:pPr>
            <a:r>
              <a:rPr lang="en-US" altLang="en-US" dirty="0"/>
              <a:t>Tape backup</a:t>
            </a:r>
          </a:p>
          <a:p>
            <a:pPr marL="629285" lvl="1" indent="-457200">
              <a:buFont typeface="Arial" panose="020B0604020202020204" pitchFamily="34" charset="0"/>
              <a:buChar char="•"/>
            </a:pPr>
            <a:r>
              <a:rPr lang="en-US" altLang="en-US" dirty="0"/>
              <a:t>Hot sites</a:t>
            </a:r>
          </a:p>
          <a:p>
            <a:pPr marL="629285" lvl="1" indent="-457200">
              <a:buFont typeface="Arial" panose="020B0604020202020204" pitchFamily="34" charset="0"/>
              <a:buChar char="•"/>
            </a:pPr>
            <a:r>
              <a:rPr lang="en-US" altLang="en-US" dirty="0"/>
              <a:t>Quarantining an infected computer</a:t>
            </a:r>
          </a:p>
          <a:p>
            <a:endParaRPr lang="en-US" altLang="en-US" b="1" dirty="0"/>
          </a:p>
          <a:p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2330C76-9E20-2594-8476-BC34EB3D799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F34BF7E-0CF8-49B3-3CA5-053662F13F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60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Corrective Controls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838133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00412E-88AC-CECF-CCA7-DB071A4476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7170554-1BB0-98FD-0431-E024A5D528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Slide </a:t>
            </a:r>
            <a:fld id="{4CA2B2DB-B91D-4166-98BF-65A0DA7EEE6D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043A53-562B-37C2-A9C7-3F77639EDC2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3200400"/>
            <a:ext cx="16192500" cy="5676900"/>
          </a:xfrm>
        </p:spPr>
        <p:txBody>
          <a:bodyPr/>
          <a:lstStyle/>
          <a:p>
            <a:pPr marL="0" indent="0">
              <a:buNone/>
            </a:pPr>
            <a:r>
              <a:rPr lang="en-US" altLang="en-US" sz="4400" b="1" dirty="0"/>
              <a:t>Compensating controls </a:t>
            </a:r>
            <a:r>
              <a:rPr lang="en-US" altLang="en-US" sz="4400" dirty="0"/>
              <a:t>are implemented to meet security requirements that are impractical or too challenging to implement.</a:t>
            </a:r>
          </a:p>
          <a:p>
            <a:r>
              <a:rPr lang="en-US" altLang="en-US" sz="4000" dirty="0"/>
              <a:t>Alternatives to costly or difficult-to-deploy security measures</a:t>
            </a:r>
          </a:p>
          <a:p>
            <a:r>
              <a:rPr lang="en-US" altLang="en-US" sz="4000" dirty="0"/>
              <a:t>Use with caution as they do not provide the same level of security as replaced controls</a:t>
            </a:r>
          </a:p>
          <a:p>
            <a:endParaRPr lang="en-US" altLang="en-US" b="1" dirty="0"/>
          </a:p>
          <a:p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8C9271-1BF8-136A-7860-18790538DA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3EF5DBF1-E228-2476-ACFA-9449ED7477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60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Compensating Controls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473752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32849D-BE67-9132-1C64-F9F5D22FC1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1449838-A888-946A-AFE7-9457493B15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Slide </a:t>
            </a:r>
            <a:fld id="{4CA2B2DB-B91D-4166-98BF-65A0DA7EEE6D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1F0A32-D424-A863-2B46-4F8F49B972D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2536824"/>
            <a:ext cx="16192500" cy="6569075"/>
          </a:xfrm>
        </p:spPr>
        <p:txBody>
          <a:bodyPr/>
          <a:lstStyle/>
          <a:p>
            <a:pPr marL="0" indent="0">
              <a:buNone/>
            </a:pPr>
            <a:r>
              <a:rPr lang="en-US" altLang="en-US" sz="4800" b="1" dirty="0"/>
              <a:t>Directive controls </a:t>
            </a:r>
            <a:r>
              <a:rPr lang="en-US" altLang="en-US" sz="4800" dirty="0"/>
              <a:t>guide the operation and use of systems within an organization.</a:t>
            </a:r>
          </a:p>
          <a:p>
            <a:r>
              <a:rPr lang="en-US" altLang="en-US" sz="4400" dirty="0"/>
              <a:t>Direct individuals toward secure behavior and establish a security-conscious culture</a:t>
            </a:r>
          </a:p>
          <a:p>
            <a:r>
              <a:rPr lang="en-US" altLang="en-US" sz="4400" dirty="0"/>
              <a:t>Examples</a:t>
            </a:r>
          </a:p>
          <a:p>
            <a:pPr marL="1088231" lvl="1" indent="-571500" defTabSz="1371600">
              <a:buFont typeface="Arial" panose="020B0604020202020204" pitchFamily="34" charset="0"/>
              <a:buChar char="•"/>
            </a:pPr>
            <a:r>
              <a:rPr lang="en-US" altLang="en-US" sz="3600" kern="0" dirty="0"/>
              <a:t>Standards</a:t>
            </a:r>
          </a:p>
          <a:p>
            <a:pPr marL="1088231" lvl="1" indent="-571500" defTabSz="1371600">
              <a:buFont typeface="Arial" panose="020B0604020202020204" pitchFamily="34" charset="0"/>
              <a:buChar char="•"/>
            </a:pPr>
            <a:r>
              <a:rPr lang="en-US" altLang="en-US" sz="3600" kern="0" dirty="0"/>
              <a:t>Procedures</a:t>
            </a:r>
          </a:p>
          <a:p>
            <a:pPr marL="1088231" lvl="1" indent="-571500" defTabSz="1371600">
              <a:buFont typeface="Arial" panose="020B0604020202020204" pitchFamily="34" charset="0"/>
              <a:buChar char="•"/>
            </a:pPr>
            <a:r>
              <a:rPr lang="en-US" altLang="en-US" sz="3600" kern="0" dirty="0"/>
              <a:t>Policy guidelines </a:t>
            </a:r>
          </a:p>
          <a:p>
            <a:pPr marL="1088231" lvl="1" indent="-571500" defTabSz="1371600">
              <a:buFont typeface="Arial" panose="020B0604020202020204" pitchFamily="34" charset="0"/>
              <a:buChar char="•"/>
            </a:pPr>
            <a:r>
              <a:rPr lang="en-US" altLang="en-US" sz="3600" kern="0" dirty="0"/>
              <a:t>Security awareness training</a:t>
            </a:r>
          </a:p>
          <a:p>
            <a:endParaRPr lang="en-US" altLang="en-US" b="1" dirty="0"/>
          </a:p>
          <a:p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58BDFCA-FB70-AE35-9077-55F9282C30D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17A4532D-CB23-0652-C1B4-A937887EE9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60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Directive Controls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458580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15194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CAFCEF-8332-B9DB-F63A-7F332F6BE2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6F6FB3EA-712D-1AD2-6EEA-A2D9622EB239}"/>
              </a:ext>
            </a:extLst>
          </p:cNvPr>
          <p:cNvGrpSpPr/>
          <p:nvPr/>
        </p:nvGrpSpPr>
        <p:grpSpPr>
          <a:xfrm rot="-5400000">
            <a:off x="12015831" y="4014831"/>
            <a:ext cx="10287000" cy="2257339"/>
            <a:chOff x="0" y="0"/>
            <a:chExt cx="2709333" cy="59452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8FEAAB0A-92A9-E16F-62A4-9F93503A631E}"/>
                </a:ext>
              </a:extLst>
            </p:cNvPr>
            <p:cNvSpPr/>
            <p:nvPr/>
          </p:nvSpPr>
          <p:spPr>
            <a:xfrm>
              <a:off x="0" y="0"/>
              <a:ext cx="2709333" cy="594525"/>
            </a:xfrm>
            <a:custGeom>
              <a:avLst/>
              <a:gdLst/>
              <a:ahLst/>
              <a:cxnLst/>
              <a:rect l="l" t="t" r="r" b="b"/>
              <a:pathLst>
                <a:path w="2709333" h="594525">
                  <a:moveTo>
                    <a:pt x="0" y="0"/>
                  </a:moveTo>
                  <a:lnTo>
                    <a:pt x="2709333" y="0"/>
                  </a:lnTo>
                  <a:lnTo>
                    <a:pt x="2709333" y="594525"/>
                  </a:lnTo>
                  <a:lnTo>
                    <a:pt x="0" y="594525"/>
                  </a:lnTo>
                  <a:close/>
                </a:path>
              </a:pathLst>
            </a:custGeom>
            <a:solidFill>
              <a:srgbClr val="0283F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B05AD0B9-3364-727E-5C29-F6C49AF100A1}"/>
                </a:ext>
              </a:extLst>
            </p:cNvPr>
            <p:cNvSpPr txBox="1"/>
            <p:nvPr/>
          </p:nvSpPr>
          <p:spPr>
            <a:xfrm>
              <a:off x="0" y="-66675"/>
              <a:ext cx="2709333" cy="6612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24"/>
                </a:lnSpc>
              </a:pPr>
              <a:endParaRPr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1FFFF5CE-149F-0534-927F-0F01AC024A2A}"/>
              </a:ext>
            </a:extLst>
          </p:cNvPr>
          <p:cNvGrpSpPr/>
          <p:nvPr/>
        </p:nvGrpSpPr>
        <p:grpSpPr>
          <a:xfrm>
            <a:off x="179467" y="6643814"/>
            <a:ext cx="8126333" cy="3488267"/>
            <a:chOff x="0" y="0"/>
            <a:chExt cx="844714" cy="36259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CDB05E01-9C84-2C58-954D-F281DEDA99A9}"/>
                </a:ext>
              </a:extLst>
            </p:cNvPr>
            <p:cNvSpPr/>
            <p:nvPr/>
          </p:nvSpPr>
          <p:spPr>
            <a:xfrm>
              <a:off x="0" y="0"/>
              <a:ext cx="844714" cy="362598"/>
            </a:xfrm>
            <a:custGeom>
              <a:avLst/>
              <a:gdLst/>
              <a:ahLst/>
              <a:cxnLst/>
              <a:rect l="l" t="t" r="r" b="b"/>
              <a:pathLst>
                <a:path w="844714" h="362598">
                  <a:moveTo>
                    <a:pt x="203200" y="0"/>
                  </a:moveTo>
                  <a:lnTo>
                    <a:pt x="844714" y="0"/>
                  </a:lnTo>
                  <a:lnTo>
                    <a:pt x="641514" y="362598"/>
                  </a:lnTo>
                  <a:lnTo>
                    <a:pt x="0" y="362598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283FD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381F6493-DBED-4842-6752-3E94DC39949A}"/>
                </a:ext>
              </a:extLst>
            </p:cNvPr>
            <p:cNvSpPr txBox="1"/>
            <p:nvPr/>
          </p:nvSpPr>
          <p:spPr>
            <a:xfrm>
              <a:off x="101600" y="-28575"/>
              <a:ext cx="641514" cy="391173"/>
            </a:xfrm>
            <a:prstGeom prst="rect">
              <a:avLst/>
            </a:prstGeom>
          </p:spPr>
          <p:txBody>
            <a:bodyPr lIns="47790" tIns="47790" rIns="47790" bIns="47790" rtlCol="0" anchor="ctr"/>
            <a:lstStyle/>
            <a:p>
              <a:pPr algn="ctr">
                <a:lnSpc>
                  <a:spcPts val="1843"/>
                </a:lnSpc>
              </a:pPr>
              <a:endParaRPr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75EA04C6-8B5C-DC3D-EE0F-5DD528DF37DB}"/>
              </a:ext>
            </a:extLst>
          </p:cNvPr>
          <p:cNvGrpSpPr/>
          <p:nvPr/>
        </p:nvGrpSpPr>
        <p:grpSpPr>
          <a:xfrm>
            <a:off x="0" y="6950004"/>
            <a:ext cx="16030661" cy="3336996"/>
            <a:chOff x="0" y="0"/>
            <a:chExt cx="6165409" cy="1271237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D85C7D0E-22C0-B1EF-614B-19BC1C51DD92}"/>
                </a:ext>
              </a:extLst>
            </p:cNvPr>
            <p:cNvSpPr/>
            <p:nvPr/>
          </p:nvSpPr>
          <p:spPr>
            <a:xfrm>
              <a:off x="0" y="0"/>
              <a:ext cx="6165409" cy="1271237"/>
            </a:xfrm>
            <a:custGeom>
              <a:avLst/>
              <a:gdLst/>
              <a:ahLst/>
              <a:cxnLst/>
              <a:rect l="l" t="t" r="r" b="b"/>
              <a:pathLst>
                <a:path w="6165409" h="1271237">
                  <a:moveTo>
                    <a:pt x="0" y="0"/>
                  </a:moveTo>
                  <a:lnTo>
                    <a:pt x="6165409" y="0"/>
                  </a:lnTo>
                  <a:lnTo>
                    <a:pt x="6165409" y="1271237"/>
                  </a:lnTo>
                  <a:lnTo>
                    <a:pt x="0" y="127123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4BC78BF1-28FE-B600-4C0D-37AD1BB7052C}"/>
                </a:ext>
              </a:extLst>
            </p:cNvPr>
            <p:cNvSpPr txBox="1"/>
            <p:nvPr/>
          </p:nvSpPr>
          <p:spPr>
            <a:xfrm>
              <a:off x="0" y="-28575"/>
              <a:ext cx="6165409" cy="1299812"/>
            </a:xfrm>
            <a:prstGeom prst="rect">
              <a:avLst/>
            </a:prstGeom>
          </p:spPr>
          <p:txBody>
            <a:bodyPr lIns="47790" tIns="47790" rIns="47790" bIns="47790" rtlCol="0" anchor="ctr"/>
            <a:lstStyle/>
            <a:p>
              <a:pPr algn="ctr">
                <a:lnSpc>
                  <a:spcPts val="1843"/>
                </a:lnSpc>
              </a:pPr>
              <a:endParaRPr/>
            </a:p>
          </p:txBody>
        </p:sp>
      </p:grpSp>
      <p:sp>
        <p:nvSpPr>
          <p:cNvPr id="12" name="TextBox 12">
            <a:extLst>
              <a:ext uri="{FF2B5EF4-FFF2-40B4-BE49-F238E27FC236}">
                <a16:creationId xmlns:a16="http://schemas.microsoft.com/office/drawing/2014/main" id="{C6955D11-481B-E19D-0F7E-572D6D8AE7E3}"/>
              </a:ext>
            </a:extLst>
          </p:cNvPr>
          <p:cNvSpPr txBox="1"/>
          <p:nvPr/>
        </p:nvSpPr>
        <p:spPr>
          <a:xfrm>
            <a:off x="1111666" y="3432993"/>
            <a:ext cx="14771892" cy="598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400"/>
              </a:lnSpc>
            </a:pPr>
            <a:r>
              <a:rPr lang="en-US" sz="6000" b="1" dirty="0">
                <a:solidFill>
                  <a:srgbClr val="FFFFFF"/>
                </a:solidFill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Day 1 – Block 2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F0744DD8-9287-9961-760D-1D313C4641B6}"/>
              </a:ext>
            </a:extLst>
          </p:cNvPr>
          <p:cNvSpPr txBox="1"/>
          <p:nvPr/>
        </p:nvSpPr>
        <p:spPr>
          <a:xfrm>
            <a:off x="1111666" y="9653992"/>
            <a:ext cx="12263263" cy="3619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CALIFORNIA INSTITUTE OF APPLIED TECHNOLOGY</a:t>
            </a:r>
          </a:p>
        </p:txBody>
      </p:sp>
      <p:sp>
        <p:nvSpPr>
          <p:cNvPr id="15" name="AutoShape 15">
            <a:extLst>
              <a:ext uri="{FF2B5EF4-FFF2-40B4-BE49-F238E27FC236}">
                <a16:creationId xmlns:a16="http://schemas.microsoft.com/office/drawing/2014/main" id="{EB481ED6-7CFF-0606-C85C-369430704884}"/>
              </a:ext>
            </a:extLst>
          </p:cNvPr>
          <p:cNvSpPr/>
          <p:nvPr/>
        </p:nvSpPr>
        <p:spPr>
          <a:xfrm>
            <a:off x="8010568" y="9858838"/>
            <a:ext cx="7625672" cy="0"/>
          </a:xfrm>
          <a:prstGeom prst="line">
            <a:avLst/>
          </a:prstGeom>
          <a:ln w="19050" cap="flat">
            <a:solidFill>
              <a:srgbClr val="0283F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7" name="Freeform 5">
            <a:extLst>
              <a:ext uri="{FF2B5EF4-FFF2-40B4-BE49-F238E27FC236}">
                <a16:creationId xmlns:a16="http://schemas.microsoft.com/office/drawing/2014/main" id="{ED187EF7-4B98-5DC4-A01A-F256093B1553}"/>
              </a:ext>
            </a:extLst>
          </p:cNvPr>
          <p:cNvSpPr/>
          <p:nvPr/>
        </p:nvSpPr>
        <p:spPr>
          <a:xfrm>
            <a:off x="1111666" y="355081"/>
            <a:ext cx="4247850" cy="631936"/>
          </a:xfrm>
          <a:custGeom>
            <a:avLst/>
            <a:gdLst/>
            <a:ahLst/>
            <a:cxnLst/>
            <a:rect l="l" t="t" r="r" b="b"/>
            <a:pathLst>
              <a:path w="4247850" h="631936">
                <a:moveTo>
                  <a:pt x="0" y="0"/>
                </a:moveTo>
                <a:lnTo>
                  <a:pt x="4247850" y="0"/>
                </a:lnTo>
                <a:lnTo>
                  <a:pt x="4247850" y="631935"/>
                </a:lnTo>
                <a:lnTo>
                  <a:pt x="0" y="63193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5" r="-5"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B6F20512-33C7-969E-8274-B8ABCA8F87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25308" y="8269924"/>
            <a:ext cx="1573291" cy="1551409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F907DA9A-C9C6-0592-0F66-0BC264CCFCF6}"/>
              </a:ext>
            </a:extLst>
          </p:cNvPr>
          <p:cNvSpPr txBox="1"/>
          <p:nvPr/>
        </p:nvSpPr>
        <p:spPr>
          <a:xfrm>
            <a:off x="1111666" y="7106062"/>
            <a:ext cx="914400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2000" dirty="0"/>
              <a:t>Authentication and Access Controls</a:t>
            </a:r>
          </a:p>
          <a:p>
            <a:pPr lvl="1"/>
            <a:r>
              <a:rPr lang="en-US" altLang="en-US" sz="1600" dirty="0"/>
              <a:t>Multi-Factor Authentication</a:t>
            </a:r>
          </a:p>
          <a:p>
            <a:pPr lvl="1"/>
            <a:r>
              <a:rPr lang="en-US" altLang="en-US" sz="1600" dirty="0"/>
              <a:t>SSO</a:t>
            </a:r>
          </a:p>
          <a:p>
            <a:pPr lvl="1"/>
            <a:r>
              <a:rPr lang="en-US" altLang="en-US" sz="1600" dirty="0"/>
              <a:t>PAM</a:t>
            </a:r>
          </a:p>
          <a:p>
            <a:pPr lvl="1"/>
            <a:r>
              <a:rPr lang="en-US" altLang="en-US" sz="1600" dirty="0"/>
              <a:t>Biometrics</a:t>
            </a:r>
          </a:p>
        </p:txBody>
      </p:sp>
    </p:spTree>
    <p:extLst>
      <p:ext uri="{BB962C8B-B14F-4D97-AF65-F5344CB8AC3E}">
        <p14:creationId xmlns:p14="http://schemas.microsoft.com/office/powerpoint/2010/main" val="363688123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74F84D-5993-B546-E69F-3F84F828EE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575DFC5-A248-4910-B5B7-3DB4AA1A2B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Slide </a:t>
            </a:r>
            <a:fld id="{4CA2B2DB-B91D-4166-98BF-65A0DA7EEE6D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CB87C7-D2EE-901F-04B0-D32C40209A39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2536824"/>
            <a:ext cx="16192500" cy="6569075"/>
          </a:xfrm>
        </p:spPr>
        <p:txBody>
          <a:bodyPr/>
          <a:lstStyle/>
          <a:p>
            <a:pPr>
              <a:spcBef>
                <a:spcPts val="900"/>
              </a:spcBef>
            </a:pPr>
            <a:r>
              <a:rPr lang="en-US" altLang="en-US" sz="4800" b="1" dirty="0"/>
              <a:t>Provisioning</a:t>
            </a:r>
            <a:r>
              <a:rPr lang="en-US" altLang="en-US" sz="4800" dirty="0"/>
              <a:t>: Setting up a user account with necessary permissions and access settings  </a:t>
            </a:r>
          </a:p>
          <a:p>
            <a:pPr>
              <a:spcBef>
                <a:spcPts val="900"/>
              </a:spcBef>
            </a:pPr>
            <a:r>
              <a:rPr lang="en-US" altLang="en-US" sz="4800" b="1" dirty="0"/>
              <a:t>De-provisioning</a:t>
            </a:r>
            <a:r>
              <a:rPr lang="en-US" altLang="en-US" sz="4800" dirty="0"/>
              <a:t>: Disabling or removing permissions and settings from a user account </a:t>
            </a:r>
          </a:p>
          <a:p>
            <a:pPr marL="0" indent="0">
              <a:spcBef>
                <a:spcPts val="900"/>
              </a:spcBef>
              <a:buNone/>
            </a:pPr>
            <a:r>
              <a:rPr lang="en-US" altLang="en-US" sz="4400" dirty="0"/>
              <a:t>Well-managed provisioning and de-provisioning are crucial for ensuring users always have appropriate access.</a:t>
            </a:r>
          </a:p>
          <a:p>
            <a:endParaRPr lang="en-US" altLang="en-US" b="1" dirty="0"/>
          </a:p>
          <a:p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4B52BB-AC50-3F38-776E-2BF85719553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1D48AAAD-903E-3C24-5F53-29556C0E76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60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Provisioning/De-provisioning User Accounts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836482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5A129F-5866-1935-D549-75BEF37AA2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FC537BB-C341-A89F-AD98-8B5DAF3F41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Slide </a:t>
            </a:r>
            <a:fld id="{4CA2B2DB-B91D-4166-98BF-65A0DA7EEE6D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4C1C91-981C-C8C0-6ADF-E7DCBFA6367B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2536824"/>
            <a:ext cx="16192500" cy="6569075"/>
          </a:xfrm>
        </p:spPr>
        <p:txBody>
          <a:bodyPr/>
          <a:lstStyle/>
          <a:p>
            <a:pPr marL="0" indent="0">
              <a:spcBef>
                <a:spcPts val="900"/>
              </a:spcBef>
              <a:buNone/>
            </a:pPr>
            <a:r>
              <a:rPr lang="en-US" altLang="en-US" sz="3900" b="1" dirty="0"/>
              <a:t>Permission assignment</a:t>
            </a:r>
            <a:r>
              <a:rPr lang="en-US" altLang="en-US" sz="3900" dirty="0"/>
              <a:t>: Granting specific levels of access or activities (e.g., read, edit, delete) to users, groups, or system processes  </a:t>
            </a:r>
          </a:p>
          <a:p>
            <a:pPr marL="0" indent="0">
              <a:spcBef>
                <a:spcPts val="900"/>
              </a:spcBef>
              <a:buNone/>
            </a:pPr>
            <a:endParaRPr lang="en-US" altLang="en-US" sz="1200" b="1" dirty="0"/>
          </a:p>
          <a:p>
            <a:pPr marL="0" indent="0">
              <a:spcBef>
                <a:spcPts val="900"/>
              </a:spcBef>
              <a:buNone/>
            </a:pPr>
            <a:r>
              <a:rPr lang="en-US" altLang="en-US" sz="3900" b="1" dirty="0"/>
              <a:t>Types of permission assignments</a:t>
            </a:r>
          </a:p>
          <a:p>
            <a:pPr marL="743585" lvl="1" indent="-571500">
              <a:spcBef>
                <a:spcPts val="900"/>
              </a:spcBef>
              <a:buFont typeface="Arial" panose="020B0604020202020204" pitchFamily="34" charset="0"/>
              <a:buChar char="•"/>
            </a:pPr>
            <a:r>
              <a:rPr lang="en-US" altLang="en-US" sz="3600" dirty="0"/>
              <a:t>User-level  </a:t>
            </a:r>
          </a:p>
          <a:p>
            <a:pPr marL="743585" lvl="1" indent="-571500">
              <a:spcBef>
                <a:spcPts val="900"/>
              </a:spcBef>
              <a:buFont typeface="Arial" panose="020B0604020202020204" pitchFamily="34" charset="0"/>
              <a:buChar char="•"/>
            </a:pPr>
            <a:r>
              <a:rPr lang="en-US" altLang="en-US" sz="3600" dirty="0"/>
              <a:t>Group-level  </a:t>
            </a:r>
          </a:p>
          <a:p>
            <a:pPr marL="743585" lvl="1" indent="-571500">
              <a:spcBef>
                <a:spcPts val="900"/>
              </a:spcBef>
              <a:buFont typeface="Arial" panose="020B0604020202020204" pitchFamily="34" charset="0"/>
              <a:buChar char="•"/>
            </a:pPr>
            <a:r>
              <a:rPr lang="en-US" altLang="en-US" sz="3600" dirty="0"/>
              <a:t>Role-based  </a:t>
            </a:r>
          </a:p>
          <a:p>
            <a:pPr marL="743585" lvl="1" indent="-571500">
              <a:spcBef>
                <a:spcPts val="900"/>
              </a:spcBef>
              <a:buFont typeface="Arial" panose="020B0604020202020204" pitchFamily="34" charset="0"/>
              <a:buChar char="•"/>
            </a:pPr>
            <a:r>
              <a:rPr lang="en-US" altLang="en-US" sz="3600" dirty="0"/>
              <a:t>Resource-based  </a:t>
            </a:r>
          </a:p>
          <a:p>
            <a:endParaRPr lang="en-US" altLang="en-US" b="1" dirty="0"/>
          </a:p>
          <a:p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4BA758D-9720-713B-2F08-F80B5444F3E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B4DE861B-F388-B49C-A05E-2D849D7C69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60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Permission Assignments and Implications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760542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A86D05-D907-42E7-DA4F-D277B7C70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6BDFAD0-5E79-65F8-78E5-53B9EAC4F5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Slide </a:t>
            </a:r>
            <a:fld id="{4CA2B2DB-B91D-4166-98BF-65A0DA7EEE6D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935833-4B31-3C69-2C9E-52A62FD7EF19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2536824"/>
            <a:ext cx="16192500" cy="6569075"/>
          </a:xfrm>
        </p:spPr>
        <p:txBody>
          <a:bodyPr/>
          <a:lstStyle/>
          <a:p>
            <a:pPr marL="0" indent="0">
              <a:spcBef>
                <a:spcPts val="900"/>
              </a:spcBef>
              <a:buNone/>
            </a:pPr>
            <a:r>
              <a:rPr lang="en-US" altLang="en-US" sz="4400" b="1" dirty="0"/>
              <a:t>Identity proofing </a:t>
            </a:r>
            <a:r>
              <a:rPr lang="en-US" altLang="en-US" sz="4400" dirty="0"/>
              <a:t>is the process of verifying a user's or system's identity within an organization.</a:t>
            </a:r>
          </a:p>
          <a:p>
            <a:pPr>
              <a:spcBef>
                <a:spcPts val="900"/>
              </a:spcBef>
            </a:pPr>
            <a:r>
              <a:rPr lang="en-US" altLang="en-US" sz="4000" dirty="0"/>
              <a:t>Involves multiple levels of authentication ranging from passwords to biometric data</a:t>
            </a:r>
          </a:p>
          <a:p>
            <a:pPr>
              <a:spcBef>
                <a:spcPts val="900"/>
              </a:spcBef>
            </a:pPr>
            <a:r>
              <a:rPr lang="en-US" altLang="en-US" sz="4000" dirty="0"/>
              <a:t>Extends beyond initial authentication; includes periodic re-authentication or session time-outs</a:t>
            </a:r>
          </a:p>
          <a:p>
            <a:endParaRPr lang="en-US" altLang="en-US" b="1" dirty="0"/>
          </a:p>
          <a:p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7830A6B-A9FE-8C08-CEA7-E6F63019BBF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292B0ED0-1DA1-4560-B667-F05A813826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60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Identity Proofing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706040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5B35F8-6BB4-90B8-C5C4-EBA4D0D6C5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F534F17-7126-B395-7DDD-158AB57845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Slide </a:t>
            </a:r>
            <a:fld id="{4CA2B2DB-B91D-4166-98BF-65A0DA7EEE6D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801776-FFB3-0C94-2EF6-1E788879BA9C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2536825"/>
            <a:ext cx="6324600" cy="6340476"/>
          </a:xfrm>
        </p:spPr>
        <p:txBody>
          <a:bodyPr/>
          <a:lstStyle/>
          <a:p>
            <a:pPr marL="0" indent="0">
              <a:spcBef>
                <a:spcPts val="900"/>
              </a:spcBef>
              <a:buNone/>
            </a:pPr>
            <a:r>
              <a:rPr lang="en-US" altLang="en-US" sz="4000" dirty="0"/>
              <a:t>One system authenticates users and sends their authentication information to other systems.</a:t>
            </a:r>
          </a:p>
          <a:p>
            <a:pPr marL="0" indent="0">
              <a:spcBef>
                <a:spcPts val="900"/>
              </a:spcBef>
              <a:buNone/>
            </a:pPr>
            <a:endParaRPr lang="en-US" altLang="en-US" b="1" dirty="0"/>
          </a:p>
          <a:p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3D35C43-4654-5B9E-2C87-4BB0363CF46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A85BE130-FFBF-4FDB-7106-C7A78F3425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60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Federation 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D47E280-0429-ADD3-8EBD-23CF2B916F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8498" y="2059875"/>
            <a:ext cx="9982201" cy="6124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375345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D8A83B-FE7B-5CA3-3237-C98FF70E61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0362E9A-052C-9A00-F3EE-C12B0FE9E5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Slide </a:t>
            </a:r>
            <a:fld id="{4CA2B2DB-B91D-4166-98BF-65A0DA7EEE6D}" type="slidenum">
              <a:rPr lang="en-US" smtClean="0"/>
              <a:pPr/>
              <a:t>26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884461-7BF1-E695-B243-9DCE2B447D18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2536824"/>
            <a:ext cx="16192500" cy="6569075"/>
          </a:xfrm>
        </p:spPr>
        <p:txBody>
          <a:bodyPr/>
          <a:lstStyle/>
          <a:p>
            <a:pPr>
              <a:spcBef>
                <a:spcPts val="900"/>
              </a:spcBef>
            </a:pPr>
            <a:r>
              <a:rPr lang="en-US" altLang="en-US" sz="3900" b="1" dirty="0"/>
              <a:t>Centralized access control</a:t>
            </a:r>
          </a:p>
          <a:p>
            <a:pPr lvl="2">
              <a:spcBef>
                <a:spcPts val="900"/>
              </a:spcBef>
            </a:pPr>
            <a:r>
              <a:rPr lang="en-US" altLang="en-US" sz="3200" dirty="0"/>
              <a:t>One entity is responsible for administering access to resources.</a:t>
            </a:r>
          </a:p>
          <a:p>
            <a:pPr lvl="2">
              <a:spcBef>
                <a:spcPts val="900"/>
              </a:spcBef>
            </a:pPr>
            <a:r>
              <a:rPr lang="en-US" altLang="en-US" sz="3200" dirty="0"/>
              <a:t>Characterized by consolidating control, data storage, and processing in a single location or server</a:t>
            </a:r>
          </a:p>
          <a:p>
            <a:pPr lvl="2">
              <a:spcBef>
                <a:spcPts val="900"/>
              </a:spcBef>
            </a:pPr>
            <a:r>
              <a:rPr lang="en-US" altLang="en-US" sz="3200" dirty="0"/>
              <a:t>Offers uniformity and consistency in decision-making</a:t>
            </a:r>
          </a:p>
          <a:p>
            <a:pPr>
              <a:spcBef>
                <a:spcPts val="900"/>
              </a:spcBef>
            </a:pPr>
            <a:r>
              <a:rPr lang="en-US" altLang="en-US" sz="3900" b="1" dirty="0"/>
              <a:t>Decentralized access control</a:t>
            </a:r>
          </a:p>
          <a:p>
            <a:pPr lvl="2">
              <a:spcBef>
                <a:spcPts val="900"/>
              </a:spcBef>
            </a:pPr>
            <a:r>
              <a:rPr lang="en-US" altLang="en-US" sz="3200" dirty="0"/>
              <a:t>More than one entity is responsible for administering access to resources.</a:t>
            </a:r>
          </a:p>
          <a:p>
            <a:pPr lvl="2">
              <a:spcBef>
                <a:spcPts val="900"/>
              </a:spcBef>
            </a:pPr>
            <a:r>
              <a:rPr lang="en-US" altLang="en-US" sz="3200" dirty="0"/>
              <a:t>Distributes data and control across multiple locations, servers, or nodes</a:t>
            </a:r>
          </a:p>
          <a:p>
            <a:pPr lvl="2">
              <a:spcBef>
                <a:spcPts val="900"/>
              </a:spcBef>
            </a:pPr>
            <a:r>
              <a:rPr lang="en-US" altLang="en-US" sz="3200" dirty="0"/>
              <a:t>Offers higher resilience, flexibility, and autonomy</a:t>
            </a:r>
          </a:p>
          <a:p>
            <a:endParaRPr lang="en-US" altLang="en-US" b="1" dirty="0"/>
          </a:p>
          <a:p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F2F5F8-6C9D-F0B1-C4FA-7A5223EC199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375D4E5-94CC-40E8-D4A5-21038528F5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60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Centralized versus Decentralized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939975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6AF0C1-B45D-C6DC-E18A-C23E8ACEB6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A1627F9-F13C-1327-0C6A-BE7CE31720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Slide </a:t>
            </a:r>
            <a:fld id="{4CA2B2DB-B91D-4166-98BF-65A0DA7EEE6D}" type="slidenum">
              <a:rPr lang="en-US" smtClean="0"/>
              <a:pPr/>
              <a:t>27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660DA1-48C0-D667-2803-6212C839C1A4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3200400"/>
            <a:ext cx="16192500" cy="5295900"/>
          </a:xfrm>
        </p:spPr>
        <p:txBody>
          <a:bodyPr/>
          <a:lstStyle/>
          <a:p>
            <a:pPr marL="0" indent="0">
              <a:spcBef>
                <a:spcPts val="900"/>
              </a:spcBef>
              <a:buNone/>
            </a:pPr>
            <a:r>
              <a:rPr lang="en-US" altLang="en-US" sz="3900" b="1" dirty="0"/>
              <a:t>Single sign-on </a:t>
            </a:r>
            <a:r>
              <a:rPr lang="en-US" altLang="en-US" sz="3900" dirty="0"/>
              <a:t>enables one set of credentials for access to multiple services or applications.</a:t>
            </a:r>
          </a:p>
          <a:p>
            <a:pPr>
              <a:spcBef>
                <a:spcPts val="900"/>
              </a:spcBef>
            </a:pPr>
            <a:r>
              <a:rPr lang="en-US" altLang="en-US" sz="3600" dirty="0"/>
              <a:t>Minimizes the number of times a user needs to authenticate after initial login</a:t>
            </a:r>
          </a:p>
          <a:p>
            <a:pPr>
              <a:spcBef>
                <a:spcPts val="900"/>
              </a:spcBef>
            </a:pPr>
            <a:r>
              <a:rPr lang="en-US" altLang="en-US" sz="3600" b="1" dirty="0"/>
              <a:t>SSO protocols</a:t>
            </a:r>
          </a:p>
          <a:p>
            <a:pPr lvl="2">
              <a:spcBef>
                <a:spcPts val="900"/>
              </a:spcBef>
            </a:pPr>
            <a:r>
              <a:rPr lang="en-US" altLang="en-US" sz="2900" dirty="0"/>
              <a:t>LDAP (Lightweight Directory Access Protocol)  </a:t>
            </a:r>
          </a:p>
          <a:p>
            <a:pPr lvl="2">
              <a:spcBef>
                <a:spcPts val="900"/>
              </a:spcBef>
            </a:pPr>
            <a:r>
              <a:rPr lang="en-US" altLang="en-US" sz="2900" dirty="0"/>
              <a:t>OAuth (Open Authorization)  </a:t>
            </a:r>
          </a:p>
          <a:p>
            <a:pPr lvl="2">
              <a:spcBef>
                <a:spcPts val="900"/>
              </a:spcBef>
            </a:pPr>
            <a:r>
              <a:rPr lang="en-US" altLang="en-US" sz="2900" dirty="0"/>
              <a:t>SAML (Security Assertion Markup Language)</a:t>
            </a:r>
          </a:p>
          <a:p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F589C5-924F-E102-4A50-A895276EFBB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4F8A43B6-0D76-8635-0AA5-B67B89268B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60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Single Sign-on (SSO) 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0C4A7E-2245-1286-CC2E-5DE26611599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200" y="2603500"/>
            <a:ext cx="7194550" cy="495300"/>
          </a:xfrm>
        </p:spPr>
        <p:txBody>
          <a:bodyPr/>
          <a:lstStyle/>
          <a:p>
            <a:r>
              <a:rPr lang="en-US" dirty="0"/>
              <a:t>SSO -</a:t>
            </a:r>
          </a:p>
        </p:txBody>
      </p:sp>
    </p:spTree>
    <p:extLst>
      <p:ext uri="{BB962C8B-B14F-4D97-AF65-F5344CB8AC3E}">
        <p14:creationId xmlns:p14="http://schemas.microsoft.com/office/powerpoint/2010/main" val="200142547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4FD1F5-9072-941A-2DBA-D0EC1ACFEA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D6D8F4C-EFEF-EEDA-768A-9BF7CD4683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Slide </a:t>
            </a:r>
            <a:fld id="{4CA2B2DB-B91D-4166-98BF-65A0DA7EEE6D}" type="slidenum">
              <a:rPr lang="en-US" smtClean="0"/>
              <a:pPr/>
              <a:t>28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121E1C-E33A-0B3F-E3B9-258653602449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2536824"/>
            <a:ext cx="16192500" cy="6569075"/>
          </a:xfrm>
        </p:spPr>
        <p:txBody>
          <a:bodyPr/>
          <a:lstStyle/>
          <a:p>
            <a:pPr marL="0" indent="0">
              <a:spcBef>
                <a:spcPts val="900"/>
              </a:spcBef>
              <a:buNone/>
            </a:pPr>
            <a:r>
              <a:rPr lang="en-US" altLang="en-US" sz="4000" b="1" dirty="0"/>
              <a:t>Interoperability</a:t>
            </a:r>
            <a:r>
              <a:rPr lang="en-US" altLang="en-US" sz="4000" dirty="0"/>
              <a:t> is the ability of different systems to work together. It’s crucial for </a:t>
            </a:r>
            <a:r>
              <a:rPr lang="en-US" altLang="en-US" sz="4000" b="1" dirty="0"/>
              <a:t>identity and access management (IAM) systems</a:t>
            </a:r>
            <a:r>
              <a:rPr lang="en-US" altLang="en-US" sz="4000" dirty="0"/>
              <a:t>. </a:t>
            </a:r>
          </a:p>
          <a:p>
            <a:pPr>
              <a:spcBef>
                <a:spcPts val="900"/>
              </a:spcBef>
            </a:pPr>
            <a:r>
              <a:rPr lang="en-US" altLang="en-US" sz="3600" dirty="0"/>
              <a:t>IAM systems need to integrate seamlessly with various databases, applications, and authentication protocols. Lack of integration interferes with needs for access and auditing. </a:t>
            </a:r>
          </a:p>
          <a:p>
            <a:pPr>
              <a:spcBef>
                <a:spcPts val="900"/>
              </a:spcBef>
            </a:pPr>
            <a:r>
              <a:rPr lang="en-US" altLang="en-US" sz="3600" dirty="0"/>
              <a:t>Collaboration with external partners requires secure cross-boundary authentication and authorization.</a:t>
            </a:r>
          </a:p>
          <a:p>
            <a:pPr>
              <a:spcBef>
                <a:spcPts val="900"/>
              </a:spcBef>
            </a:pPr>
            <a:r>
              <a:rPr lang="en-US" altLang="en-US" sz="3600" b="1" dirty="0"/>
              <a:t>Interoperable IAM systems </a:t>
            </a:r>
            <a:r>
              <a:rPr lang="en-US" altLang="en-US" sz="3600" dirty="0"/>
              <a:t>can adapt to new technologies and compliance requirements without overhauling existing infrastructure.</a:t>
            </a:r>
          </a:p>
          <a:p>
            <a:endParaRPr lang="en-US" altLang="en-US" b="1" dirty="0"/>
          </a:p>
          <a:p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88A8DCD-0BBF-D531-B0E9-77042BC8144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E314C4CF-C029-5FB3-671E-BE76D12F15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60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Interoperability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276106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3A67EC-DF10-5E45-DCAE-032E6D1B44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54ED933-99BE-5374-5C10-D75A3A76DE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Slide </a:t>
            </a:r>
            <a:fld id="{4CA2B2DB-B91D-4166-98BF-65A0DA7EEE6D}" type="slidenum">
              <a:rPr lang="en-US" smtClean="0"/>
              <a:pPr/>
              <a:t>29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CE7B52-DA8B-4BD9-131C-7EE7167E41A0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2536824"/>
            <a:ext cx="16192500" cy="6569075"/>
          </a:xfrm>
        </p:spPr>
        <p:txBody>
          <a:bodyPr/>
          <a:lstStyle/>
          <a:p>
            <a:pPr marL="0" indent="0">
              <a:spcBef>
                <a:spcPts val="900"/>
              </a:spcBef>
              <a:buNone/>
            </a:pPr>
            <a:r>
              <a:rPr lang="en-US" altLang="en-US" sz="4000" b="1" dirty="0"/>
              <a:t>Attestation</a:t>
            </a:r>
            <a:r>
              <a:rPr lang="en-US" altLang="en-US" sz="4000" dirty="0"/>
              <a:t> provides evidence or proof, allowing one program or system to authenticate itself to another.</a:t>
            </a:r>
          </a:p>
          <a:p>
            <a:pPr>
              <a:spcBef>
                <a:spcPts val="900"/>
              </a:spcBef>
            </a:pPr>
            <a:r>
              <a:rPr lang="en-US" altLang="en-US" sz="3600" b="1" dirty="0"/>
              <a:t>Remote attestation </a:t>
            </a:r>
            <a:r>
              <a:rPr lang="en-US" altLang="en-US" sz="3600" dirty="0"/>
              <a:t>enables a system to make reliable statements about the software it's running to another system, which can make authorization decisions based on that information.</a:t>
            </a:r>
          </a:p>
          <a:p>
            <a:pPr>
              <a:spcBef>
                <a:spcPts val="900"/>
              </a:spcBef>
            </a:pPr>
            <a:r>
              <a:rPr lang="en-US" altLang="en-US" sz="3600" dirty="0"/>
              <a:t>A </a:t>
            </a:r>
            <a:r>
              <a:rPr lang="en-US" altLang="en-US" sz="3600" b="1" dirty="0"/>
              <a:t>TPM (Trusted Platform Model) quote operation</a:t>
            </a:r>
            <a:r>
              <a:rPr lang="en-US" altLang="en-US" sz="3600" dirty="0"/>
              <a:t> verifies the contents of a TPM chip's platform configuration registers (PCRs) during provisioning.</a:t>
            </a:r>
          </a:p>
          <a:p>
            <a:pPr>
              <a:spcBef>
                <a:spcPts val="900"/>
              </a:spcBef>
            </a:pPr>
            <a:r>
              <a:rPr lang="en-US" altLang="en-US" sz="3600" dirty="0"/>
              <a:t>Methods of attestation may be vulnerable to replay attacks, masquerading, and other cyberthreats. </a:t>
            </a:r>
          </a:p>
          <a:p>
            <a:endParaRPr lang="en-US" altLang="en-US" b="1" dirty="0"/>
          </a:p>
          <a:p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73524D3-FA59-E473-3FA5-0DFCEAD5DC2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42795B0-6E4B-9A8C-6971-B37405595D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60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Attestation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378276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FAC42E-FD34-9E40-42FE-30904C7674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F14871E-71B2-B628-A625-8294D438CE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Slide </a:t>
            </a:r>
            <a:fld id="{4CA2B2DB-B91D-4166-98BF-65A0DA7EEE6D}" type="slidenum">
              <a:rPr lang="en-US" smtClean="0"/>
              <a:pPr/>
              <a:t>30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83A5A7-0B3F-93BD-0EC0-9871EC1C1152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2536824"/>
            <a:ext cx="16192500" cy="6569075"/>
          </a:xfrm>
        </p:spPr>
        <p:txBody>
          <a:bodyPr/>
          <a:lstStyle/>
          <a:p>
            <a:pPr marL="0" indent="0">
              <a:spcBef>
                <a:spcPts val="900"/>
              </a:spcBef>
              <a:buNone/>
            </a:pPr>
            <a:r>
              <a:rPr lang="en-US" altLang="en-US" sz="4000" b="1" dirty="0"/>
              <a:t>Access controls </a:t>
            </a:r>
            <a:r>
              <a:rPr lang="en-US" altLang="en-US" sz="4000" dirty="0"/>
              <a:t>organize and manage admission to physical areas and computer systems.</a:t>
            </a:r>
          </a:p>
          <a:p>
            <a:pPr>
              <a:spcBef>
                <a:spcPts val="900"/>
              </a:spcBef>
            </a:pPr>
            <a:r>
              <a:rPr lang="en-US" altLang="en-US" sz="3600" b="1" dirty="0"/>
              <a:t>Role</a:t>
            </a:r>
            <a:r>
              <a:rPr lang="en-US" altLang="en-US" sz="3600" dirty="0"/>
              <a:t>-</a:t>
            </a:r>
            <a:r>
              <a:rPr lang="en-US" altLang="en-US" sz="3600" b="1" dirty="0"/>
              <a:t>based access control (RBAC) </a:t>
            </a:r>
            <a:r>
              <a:rPr lang="en-US" altLang="en-US" sz="3600" dirty="0"/>
              <a:t>is controlled by the system, not the resource owner. When users are assigned a role, they get access to its resources.</a:t>
            </a:r>
          </a:p>
          <a:p>
            <a:pPr>
              <a:spcBef>
                <a:spcPts val="900"/>
              </a:spcBef>
            </a:pPr>
            <a:r>
              <a:rPr lang="en-US" altLang="en-US" sz="3600" b="1" dirty="0"/>
              <a:t>Rule-based access control</a:t>
            </a:r>
            <a:r>
              <a:rPr lang="en-US" altLang="en-US" sz="3600" dirty="0"/>
              <a:t> is also known as label-based access control. Example of a rule governing access: During certain hours each day, access is only permitted to specific IP addresses. </a:t>
            </a:r>
            <a:endParaRPr lang="en-US" altLang="en-US" sz="3600" b="1" dirty="0"/>
          </a:p>
          <a:p>
            <a:pPr>
              <a:spcBef>
                <a:spcPts val="900"/>
              </a:spcBef>
            </a:pPr>
            <a:r>
              <a:rPr lang="en-US" altLang="en-US" sz="3600" b="1" dirty="0"/>
              <a:t>Mandatory access control (MAC)</a:t>
            </a:r>
            <a:r>
              <a:rPr lang="en-US" altLang="en-US" sz="3600" dirty="0"/>
              <a:t> is the strictest control. It’s set by the system and uses security classifications for data. </a:t>
            </a:r>
            <a:endParaRPr lang="en-US" altLang="en-US" sz="3600" b="1" dirty="0"/>
          </a:p>
          <a:p>
            <a:endParaRPr lang="en-US" altLang="en-US" b="1" dirty="0"/>
          </a:p>
          <a:p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3655E2-6E41-4AC3-A790-B8A92AF43DA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BF0DDAE6-6E45-EA17-FBE4-43A35E62C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60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Access Controls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193622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85444F-EE22-EF95-C2FE-E30AF4B95C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CAA195D-40B7-F22C-6B78-FF783FF927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Slide </a:t>
            </a:r>
            <a:fld id="{4CA2B2DB-B91D-4166-98BF-65A0DA7EEE6D}" type="slidenum">
              <a:rPr lang="en-US" smtClean="0"/>
              <a:pPr/>
              <a:t>31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367B28-E725-8597-7D8F-10CFACED2716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3200400"/>
            <a:ext cx="16192500" cy="5676900"/>
          </a:xfrm>
        </p:spPr>
        <p:txBody>
          <a:bodyPr/>
          <a:lstStyle/>
          <a:p>
            <a:pPr marL="0" indent="0">
              <a:spcBef>
                <a:spcPts val="900"/>
              </a:spcBef>
              <a:buNone/>
            </a:pPr>
            <a:r>
              <a:rPr lang="en-US" altLang="en-US" sz="3600" b="1" dirty="0"/>
              <a:t>Multifactor Authentication (MFA) </a:t>
            </a:r>
            <a:r>
              <a:rPr lang="en-US" altLang="en-US" sz="3600" dirty="0"/>
              <a:t>is the process of authenticating a user by validating two or more claims from different categories of factors.</a:t>
            </a:r>
          </a:p>
          <a:p>
            <a:pPr>
              <a:spcBef>
                <a:spcPts val="900"/>
              </a:spcBef>
            </a:pPr>
            <a:r>
              <a:rPr lang="en-US" altLang="en-US" b="1" dirty="0"/>
              <a:t>Two-Factor Authentication (2FA)</a:t>
            </a:r>
            <a:r>
              <a:rPr lang="en-US" altLang="en-US" dirty="0"/>
              <a:t>:</a:t>
            </a:r>
            <a:r>
              <a:rPr lang="en-US" altLang="en-US" b="1" dirty="0"/>
              <a:t> </a:t>
            </a:r>
            <a:r>
              <a:rPr lang="en-US" altLang="en-US" dirty="0"/>
              <a:t>A subset of MFA in which two factors are required to authenticate</a:t>
            </a:r>
          </a:p>
          <a:p>
            <a:pPr>
              <a:spcBef>
                <a:spcPts val="900"/>
              </a:spcBef>
            </a:pPr>
            <a:r>
              <a:rPr lang="en-US" altLang="en-US" b="1" dirty="0"/>
              <a:t>Factor categories</a:t>
            </a:r>
          </a:p>
          <a:p>
            <a:pPr lvl="2">
              <a:spcBef>
                <a:spcPts val="900"/>
              </a:spcBef>
            </a:pPr>
            <a:r>
              <a:rPr lang="en-US" altLang="en-US" sz="2800" dirty="0"/>
              <a:t>Something you know</a:t>
            </a:r>
          </a:p>
          <a:p>
            <a:pPr lvl="2">
              <a:spcBef>
                <a:spcPts val="900"/>
              </a:spcBef>
            </a:pPr>
            <a:r>
              <a:rPr lang="en-US" altLang="en-US" sz="2800" dirty="0"/>
              <a:t>Something you have</a:t>
            </a:r>
          </a:p>
          <a:p>
            <a:pPr lvl="2">
              <a:spcBef>
                <a:spcPts val="900"/>
              </a:spcBef>
            </a:pPr>
            <a:r>
              <a:rPr lang="en-US" altLang="en-US" sz="2800" dirty="0"/>
              <a:t>Something you are</a:t>
            </a:r>
          </a:p>
          <a:p>
            <a:pPr>
              <a:spcBef>
                <a:spcPts val="900"/>
              </a:spcBef>
            </a:pPr>
            <a:r>
              <a:rPr lang="en-US" altLang="en-US" b="1" dirty="0"/>
              <a:t>Biometrics</a:t>
            </a:r>
            <a:r>
              <a:rPr lang="en-US" altLang="en-US" dirty="0"/>
              <a:t> (distinctive body measurements) and </a:t>
            </a:r>
            <a:r>
              <a:rPr lang="en-US" altLang="en-US" b="1" dirty="0"/>
              <a:t>security keys </a:t>
            </a:r>
            <a:r>
              <a:rPr lang="en-US" altLang="en-US" dirty="0"/>
              <a:t>(hardware devices) may be part of MFA. </a:t>
            </a:r>
            <a:endParaRPr lang="en-US" altLang="en-US" b="1" dirty="0"/>
          </a:p>
          <a:p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610798-5D45-8971-E514-1678E110C98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2E20606-3E25-8716-4ABF-FB50F5A120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60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Multifactor Authentication (MFA) 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C21B8E-0B12-8A4A-FFE7-FF4104C7B71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200" y="2603500"/>
            <a:ext cx="7194550" cy="495300"/>
          </a:xfrm>
        </p:spPr>
        <p:txBody>
          <a:bodyPr/>
          <a:lstStyle/>
          <a:p>
            <a:r>
              <a:rPr lang="en-US" dirty="0"/>
              <a:t>MFA - </a:t>
            </a:r>
          </a:p>
        </p:txBody>
      </p:sp>
    </p:spTree>
    <p:extLst>
      <p:ext uri="{BB962C8B-B14F-4D97-AF65-F5344CB8AC3E}">
        <p14:creationId xmlns:p14="http://schemas.microsoft.com/office/powerpoint/2010/main" val="378770108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CBB934-2CFC-91F9-CA7C-4C5C20FF07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435C7FC-8730-029C-695B-9F0068AEB5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Slide </a:t>
            </a:r>
            <a:fld id="{4CA2B2DB-B91D-4166-98BF-65A0DA7EEE6D}" type="slidenum">
              <a:rPr lang="en-US" smtClean="0"/>
              <a:pPr/>
              <a:t>32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421728-4D7B-27D2-E37A-B87A525BAFD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2536824"/>
            <a:ext cx="16192500" cy="6569075"/>
          </a:xfrm>
        </p:spPr>
        <p:txBody>
          <a:bodyPr/>
          <a:lstStyle/>
          <a:p>
            <a:pPr marL="0" indent="0">
              <a:spcBef>
                <a:spcPts val="900"/>
              </a:spcBef>
              <a:buNone/>
            </a:pPr>
            <a:r>
              <a:rPr lang="en-US" altLang="en-US" sz="3600" b="1" dirty="0"/>
              <a:t>Password concepts</a:t>
            </a:r>
            <a:r>
              <a:rPr lang="en-US" altLang="en-US" sz="3600" dirty="0"/>
              <a:t> are guidelines and practices for ensuring strong, secure passwords.</a:t>
            </a:r>
          </a:p>
          <a:p>
            <a:pPr>
              <a:spcBef>
                <a:spcPts val="900"/>
              </a:spcBef>
            </a:pPr>
            <a:r>
              <a:rPr lang="en-US" altLang="en-US" dirty="0"/>
              <a:t>Passwords serve as the primary barrier to protect sensitive information and access controls.</a:t>
            </a:r>
          </a:p>
          <a:p>
            <a:pPr>
              <a:spcBef>
                <a:spcPts val="900"/>
              </a:spcBef>
            </a:pPr>
            <a:r>
              <a:rPr lang="en-US" altLang="en-US" b="1" dirty="0"/>
              <a:t>Issues to consider when setting password requirements</a:t>
            </a:r>
          </a:p>
          <a:p>
            <a:pPr marL="629285" lvl="1" indent="-457200">
              <a:spcBef>
                <a:spcPts val="900"/>
              </a:spcBef>
              <a:buFont typeface="Arial" panose="020B0604020202020204" pitchFamily="34" charset="0"/>
              <a:buChar char="•"/>
            </a:pPr>
            <a:r>
              <a:rPr lang="en-US" altLang="en-US" sz="3200" dirty="0"/>
              <a:t>Password length</a:t>
            </a:r>
          </a:p>
          <a:p>
            <a:pPr marL="629285" lvl="1" indent="-457200">
              <a:spcBef>
                <a:spcPts val="900"/>
              </a:spcBef>
              <a:buFont typeface="Arial" panose="020B0604020202020204" pitchFamily="34" charset="0"/>
              <a:buChar char="•"/>
            </a:pPr>
            <a:r>
              <a:rPr lang="en-US" altLang="en-US" sz="3200" dirty="0"/>
              <a:t>Password complexity</a:t>
            </a:r>
          </a:p>
          <a:p>
            <a:pPr marL="629285" lvl="1" indent="-457200">
              <a:spcBef>
                <a:spcPts val="900"/>
              </a:spcBef>
              <a:buFont typeface="Arial" panose="020B0604020202020204" pitchFamily="34" charset="0"/>
              <a:buChar char="•"/>
            </a:pPr>
            <a:r>
              <a:rPr lang="en-US" altLang="en-US" sz="3200" dirty="0"/>
              <a:t>Password reuse</a:t>
            </a:r>
          </a:p>
          <a:p>
            <a:pPr marL="629285" lvl="1" indent="-457200">
              <a:spcBef>
                <a:spcPts val="900"/>
              </a:spcBef>
              <a:buFont typeface="Arial" panose="020B0604020202020204" pitchFamily="34" charset="0"/>
              <a:buChar char="•"/>
            </a:pPr>
            <a:r>
              <a:rPr lang="en-US" altLang="en-US" sz="3200" dirty="0"/>
              <a:t>Password expiration</a:t>
            </a:r>
          </a:p>
          <a:p>
            <a:pPr marL="629285" lvl="1" indent="-457200">
              <a:spcBef>
                <a:spcPts val="900"/>
              </a:spcBef>
              <a:buFont typeface="Arial" panose="020B0604020202020204" pitchFamily="34" charset="0"/>
              <a:buChar char="•"/>
            </a:pPr>
            <a:r>
              <a:rPr lang="en-US" altLang="en-US" sz="3200" dirty="0"/>
              <a:t>Password age</a:t>
            </a:r>
          </a:p>
          <a:p>
            <a:endParaRPr lang="en-US" altLang="en-US" b="1" dirty="0"/>
          </a:p>
          <a:p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E8D2F54-71BB-6976-9FE9-3AEB4B4F4F4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78336870-B83A-159F-76BB-F462E6AC30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60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Password Concepts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137247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EFC876-1204-0DAF-9DD4-364CC83DBC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5125F62-C2A0-3644-8148-1CE89E51E3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Slide </a:t>
            </a:r>
            <a:fld id="{4CA2B2DB-B91D-4166-98BF-65A0DA7EEE6D}" type="slidenum">
              <a:rPr lang="en-US" smtClean="0"/>
              <a:pPr/>
              <a:t>33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D7D838-7102-E3A9-E033-57CBBB0DB279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3200400"/>
            <a:ext cx="16192500" cy="5676900"/>
          </a:xfrm>
        </p:spPr>
        <p:txBody>
          <a:bodyPr/>
          <a:lstStyle/>
          <a:p>
            <a:pPr marL="0" indent="0">
              <a:spcBef>
                <a:spcPts val="900"/>
              </a:spcBef>
              <a:buNone/>
            </a:pPr>
            <a:r>
              <a:rPr lang="en-US" altLang="en-US" sz="3900" b="1" dirty="0"/>
              <a:t>PAM tools </a:t>
            </a:r>
            <a:r>
              <a:rPr lang="en-US" altLang="en-US" sz="3900" dirty="0"/>
              <a:t>centrally manage access to privileged accounts based on the principle of least privilege.</a:t>
            </a:r>
          </a:p>
          <a:p>
            <a:pPr>
              <a:spcBef>
                <a:spcPts val="900"/>
              </a:spcBef>
            </a:pPr>
            <a:r>
              <a:rPr lang="en-US" altLang="en-US" sz="3600" b="1" dirty="0"/>
              <a:t>Just-in-time (JIT) permissions</a:t>
            </a:r>
            <a:r>
              <a:rPr lang="en-US" altLang="en-US" sz="3600" dirty="0"/>
              <a:t> give access for a limited period.</a:t>
            </a:r>
          </a:p>
          <a:p>
            <a:pPr>
              <a:spcBef>
                <a:spcPts val="900"/>
              </a:spcBef>
            </a:pPr>
            <a:r>
              <a:rPr lang="en-US" altLang="en-US" sz="3600" b="1" dirty="0"/>
              <a:t>Ephemeral </a:t>
            </a:r>
            <a:r>
              <a:rPr lang="en-US" altLang="en-US" sz="3600" dirty="0"/>
              <a:t>credentials are generated for specific sessions or tasks and invalidated shortly after completion. They expire more quickly than JIT permissions. </a:t>
            </a:r>
          </a:p>
          <a:p>
            <a:pPr>
              <a:spcBef>
                <a:spcPts val="900"/>
              </a:spcBef>
            </a:pPr>
            <a:r>
              <a:rPr lang="en-US" altLang="en-US" sz="3600" b="1" dirty="0"/>
              <a:t>Password vaulting </a:t>
            </a:r>
            <a:r>
              <a:rPr lang="en-US" altLang="en-US" sz="3600" dirty="0"/>
              <a:t>means using a centralized, encrypted repository to store various access credentials.</a:t>
            </a:r>
          </a:p>
          <a:p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F008C4C-5548-710F-5C75-6760D952B44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9C6A1E8-3DEF-BA0C-DBEA-9F4B5E0E1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60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Privileged Access Management (PAM) Tools 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255FAB-AFE2-3CCB-47A7-D7C1A5EA710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200" y="2603500"/>
            <a:ext cx="7194550" cy="495300"/>
          </a:xfrm>
        </p:spPr>
        <p:txBody>
          <a:bodyPr/>
          <a:lstStyle/>
          <a:p>
            <a:r>
              <a:rPr lang="en-US" dirty="0"/>
              <a:t>PAM -  </a:t>
            </a:r>
          </a:p>
        </p:txBody>
      </p:sp>
    </p:spTree>
    <p:extLst>
      <p:ext uri="{BB962C8B-B14F-4D97-AF65-F5344CB8AC3E}">
        <p14:creationId xmlns:p14="http://schemas.microsoft.com/office/powerpoint/2010/main" val="208940636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43540B-FBB9-66A7-147E-ADDB3B5857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24320FA-7548-F3B7-7F63-24D3E118B4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Slide </a:t>
            </a:r>
            <a:fld id="{4CA2B2DB-B91D-4166-98BF-65A0DA7EEE6D}" type="slidenum">
              <a:rPr lang="en-US" smtClean="0"/>
              <a:pPr/>
              <a:t>34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21B9DE-1CE6-ED5E-4EE2-62C2893723FC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2536824"/>
            <a:ext cx="16192500" cy="6569075"/>
          </a:xfrm>
        </p:spPr>
        <p:txBody>
          <a:bodyPr/>
          <a:lstStyle/>
          <a:p>
            <a:pPr marL="0" indent="0">
              <a:spcBef>
                <a:spcPts val="900"/>
              </a:spcBef>
              <a:buNone/>
            </a:pPr>
            <a:r>
              <a:rPr lang="en-US" altLang="en-US" sz="3900" b="1" dirty="0"/>
              <a:t>Permissions </a:t>
            </a:r>
            <a:r>
              <a:rPr lang="en-US" altLang="en-US" sz="3900" dirty="0"/>
              <a:t>define the rights to perform actions on a system and are associated with files, directories, or processes.</a:t>
            </a:r>
          </a:p>
          <a:p>
            <a:pPr marL="743585" lvl="1" indent="-571500">
              <a:spcBef>
                <a:spcPts val="900"/>
              </a:spcBef>
              <a:buFont typeface="Arial" panose="020B0604020202020204" pitchFamily="34" charset="0"/>
              <a:buChar char="•"/>
            </a:pPr>
            <a:r>
              <a:rPr lang="en-US" altLang="en-US" sz="3600" dirty="0"/>
              <a:t>In </a:t>
            </a:r>
            <a:r>
              <a:rPr lang="en-US" altLang="en-US" sz="3600" b="1" dirty="0"/>
              <a:t>Windows, </a:t>
            </a:r>
            <a:r>
              <a:rPr lang="en-US" altLang="en-US" sz="3600" dirty="0"/>
              <a:t>permissions are managed using security identifiers (SIDs) and ACLs.</a:t>
            </a:r>
          </a:p>
          <a:p>
            <a:pPr marL="743585" lvl="1" indent="-571500">
              <a:spcBef>
                <a:spcPts val="900"/>
              </a:spcBef>
              <a:buFont typeface="Arial" panose="020B0604020202020204" pitchFamily="34" charset="0"/>
              <a:buChar char="•"/>
            </a:pPr>
            <a:r>
              <a:rPr lang="en-US" altLang="en-US" sz="3600" dirty="0"/>
              <a:t>In </a:t>
            </a:r>
            <a:r>
              <a:rPr lang="en-US" altLang="en-US" sz="3600" b="1" dirty="0"/>
              <a:t>Linux, </a:t>
            </a:r>
            <a:r>
              <a:rPr lang="en-US" altLang="en-US" sz="3600" dirty="0"/>
              <a:t>file permissions are represented symbolically or numerically. Linux has fewer permissions than Windows. </a:t>
            </a:r>
          </a:p>
          <a:p>
            <a:pPr marL="743585" lvl="1" indent="-571500">
              <a:spcBef>
                <a:spcPts val="900"/>
              </a:spcBef>
              <a:buFont typeface="Arial" panose="020B0604020202020204" pitchFamily="34" charset="0"/>
              <a:buChar char="•"/>
            </a:pPr>
            <a:r>
              <a:rPr lang="en-US" altLang="en-US" sz="3600" b="1" dirty="0"/>
              <a:t>Best practices </a:t>
            </a:r>
            <a:r>
              <a:rPr lang="en-US" altLang="en-US" sz="3600" dirty="0"/>
              <a:t>for permissions include granting them to security groups rather than individual users and using central management for easier control.</a:t>
            </a:r>
          </a:p>
          <a:p>
            <a:endParaRPr lang="en-US" altLang="en-US" b="1" dirty="0"/>
          </a:p>
          <a:p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0C91D4E-75C3-E661-5AC9-2E6E353B169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3F4BD54F-9099-B07F-2C69-1E766FEBA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60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Permissions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459537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315B7A-A090-1ECC-AD0A-6BA13FB494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D0E3DAB-B4D0-3340-52D6-8B83111B10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Slide </a:t>
            </a:r>
            <a:fld id="{4CA2B2DB-B91D-4166-98BF-65A0DA7EEE6D}" type="slidenum">
              <a:rPr lang="en-US" smtClean="0"/>
              <a:pPr/>
              <a:t>35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57B489-1189-E131-134B-022ACFF31342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2536824"/>
            <a:ext cx="16192500" cy="6569075"/>
          </a:xfrm>
        </p:spPr>
        <p:txBody>
          <a:bodyPr/>
          <a:lstStyle/>
          <a:p>
            <a:pPr marL="0" indent="0">
              <a:spcBef>
                <a:spcPts val="900"/>
              </a:spcBef>
              <a:buNone/>
            </a:pPr>
            <a:r>
              <a:rPr lang="en-US" altLang="en-US" sz="3900" dirty="0"/>
              <a:t>The </a:t>
            </a:r>
            <a:r>
              <a:rPr lang="en-US" altLang="en-US" sz="3900" b="1" dirty="0"/>
              <a:t>principle of least privilege </a:t>
            </a:r>
            <a:r>
              <a:rPr lang="en-US" altLang="en-US" sz="3900" dirty="0"/>
              <a:t>advocates for granting individuals or systems only the necessary access or permissions to perform their tasks.</a:t>
            </a:r>
          </a:p>
          <a:p>
            <a:pPr>
              <a:spcBef>
                <a:spcPts val="900"/>
              </a:spcBef>
            </a:pPr>
            <a:r>
              <a:rPr lang="en-US" altLang="en-US" sz="3600" dirty="0"/>
              <a:t>Limiting access to the minimal level needed reduces potential damage from errors and malicious actions.</a:t>
            </a:r>
          </a:p>
          <a:p>
            <a:pPr>
              <a:spcBef>
                <a:spcPts val="900"/>
              </a:spcBef>
            </a:pPr>
            <a:r>
              <a:rPr lang="en-US" altLang="en-US" sz="3600" b="1" dirty="0"/>
              <a:t>Examples </a:t>
            </a:r>
          </a:p>
          <a:p>
            <a:pPr lvl="2">
              <a:spcBef>
                <a:spcPts val="900"/>
              </a:spcBef>
            </a:pPr>
            <a:r>
              <a:rPr lang="en-US" altLang="en-US" sz="3200" dirty="0"/>
              <a:t>In a hospital, nurses may access patient medical records but not financial data.</a:t>
            </a:r>
          </a:p>
          <a:p>
            <a:pPr lvl="2">
              <a:spcBef>
                <a:spcPts val="900"/>
              </a:spcBef>
            </a:pPr>
            <a:r>
              <a:rPr lang="en-US" altLang="en-US" sz="3200" dirty="0"/>
              <a:t>IT technicians may update system software but cannot access HR records.</a:t>
            </a:r>
          </a:p>
          <a:p>
            <a:endParaRPr lang="en-US" altLang="en-US" b="1" dirty="0"/>
          </a:p>
          <a:p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82A63C1-B96F-B175-1901-521A91F3F87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23213CF-526B-5229-45C8-FA247B19AC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60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Least Privilege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407084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15194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66B37F3-53DE-B05C-9DE2-72F34ECD06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8AF65588-A71C-78BF-7CC7-E8C7460ADD71}"/>
              </a:ext>
            </a:extLst>
          </p:cNvPr>
          <p:cNvGrpSpPr/>
          <p:nvPr/>
        </p:nvGrpSpPr>
        <p:grpSpPr>
          <a:xfrm rot="-5400000">
            <a:off x="12015831" y="4014831"/>
            <a:ext cx="10287000" cy="2257339"/>
            <a:chOff x="0" y="0"/>
            <a:chExt cx="2709333" cy="59452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D61FF0EC-B236-5D7F-BA4A-275EFA8B4957}"/>
                </a:ext>
              </a:extLst>
            </p:cNvPr>
            <p:cNvSpPr/>
            <p:nvPr/>
          </p:nvSpPr>
          <p:spPr>
            <a:xfrm>
              <a:off x="0" y="0"/>
              <a:ext cx="2709333" cy="594525"/>
            </a:xfrm>
            <a:custGeom>
              <a:avLst/>
              <a:gdLst/>
              <a:ahLst/>
              <a:cxnLst/>
              <a:rect l="l" t="t" r="r" b="b"/>
              <a:pathLst>
                <a:path w="2709333" h="594525">
                  <a:moveTo>
                    <a:pt x="0" y="0"/>
                  </a:moveTo>
                  <a:lnTo>
                    <a:pt x="2709333" y="0"/>
                  </a:lnTo>
                  <a:lnTo>
                    <a:pt x="2709333" y="594525"/>
                  </a:lnTo>
                  <a:lnTo>
                    <a:pt x="0" y="594525"/>
                  </a:lnTo>
                  <a:close/>
                </a:path>
              </a:pathLst>
            </a:custGeom>
            <a:solidFill>
              <a:srgbClr val="0283F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99D0EBF-A449-40A5-A63C-69CB9F88E5E9}"/>
                </a:ext>
              </a:extLst>
            </p:cNvPr>
            <p:cNvSpPr txBox="1"/>
            <p:nvPr/>
          </p:nvSpPr>
          <p:spPr>
            <a:xfrm>
              <a:off x="0" y="-66675"/>
              <a:ext cx="2709333" cy="6612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24"/>
                </a:lnSpc>
              </a:pPr>
              <a:endParaRPr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BD6368D6-87B7-594E-D977-CDCAE85EFD92}"/>
              </a:ext>
            </a:extLst>
          </p:cNvPr>
          <p:cNvGrpSpPr/>
          <p:nvPr/>
        </p:nvGrpSpPr>
        <p:grpSpPr>
          <a:xfrm>
            <a:off x="179467" y="6643814"/>
            <a:ext cx="8126333" cy="3488267"/>
            <a:chOff x="0" y="0"/>
            <a:chExt cx="844714" cy="36259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B2E572F3-CAB0-91CC-3D1B-431A5C16C259}"/>
                </a:ext>
              </a:extLst>
            </p:cNvPr>
            <p:cNvSpPr/>
            <p:nvPr/>
          </p:nvSpPr>
          <p:spPr>
            <a:xfrm>
              <a:off x="0" y="0"/>
              <a:ext cx="844714" cy="362598"/>
            </a:xfrm>
            <a:custGeom>
              <a:avLst/>
              <a:gdLst/>
              <a:ahLst/>
              <a:cxnLst/>
              <a:rect l="l" t="t" r="r" b="b"/>
              <a:pathLst>
                <a:path w="844714" h="362598">
                  <a:moveTo>
                    <a:pt x="203200" y="0"/>
                  </a:moveTo>
                  <a:lnTo>
                    <a:pt x="844714" y="0"/>
                  </a:lnTo>
                  <a:lnTo>
                    <a:pt x="641514" y="362598"/>
                  </a:lnTo>
                  <a:lnTo>
                    <a:pt x="0" y="362598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283FD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4A30A360-BB15-2192-D054-7DD4D07A1DA1}"/>
                </a:ext>
              </a:extLst>
            </p:cNvPr>
            <p:cNvSpPr txBox="1"/>
            <p:nvPr/>
          </p:nvSpPr>
          <p:spPr>
            <a:xfrm>
              <a:off x="101600" y="-28575"/>
              <a:ext cx="641514" cy="391173"/>
            </a:xfrm>
            <a:prstGeom prst="rect">
              <a:avLst/>
            </a:prstGeom>
          </p:spPr>
          <p:txBody>
            <a:bodyPr lIns="47790" tIns="47790" rIns="47790" bIns="47790" rtlCol="0" anchor="ctr"/>
            <a:lstStyle/>
            <a:p>
              <a:pPr algn="ctr">
                <a:lnSpc>
                  <a:spcPts val="1843"/>
                </a:lnSpc>
              </a:pPr>
              <a:endParaRPr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CF28B402-E85A-214A-490F-E8623F621370}"/>
              </a:ext>
            </a:extLst>
          </p:cNvPr>
          <p:cNvGrpSpPr/>
          <p:nvPr/>
        </p:nvGrpSpPr>
        <p:grpSpPr>
          <a:xfrm>
            <a:off x="0" y="6950004"/>
            <a:ext cx="16030661" cy="3336996"/>
            <a:chOff x="0" y="0"/>
            <a:chExt cx="6165409" cy="1271237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882888D7-338E-3CB6-7A4A-C7C030F45DCA}"/>
                </a:ext>
              </a:extLst>
            </p:cNvPr>
            <p:cNvSpPr/>
            <p:nvPr/>
          </p:nvSpPr>
          <p:spPr>
            <a:xfrm>
              <a:off x="0" y="0"/>
              <a:ext cx="6165409" cy="1271237"/>
            </a:xfrm>
            <a:custGeom>
              <a:avLst/>
              <a:gdLst/>
              <a:ahLst/>
              <a:cxnLst/>
              <a:rect l="l" t="t" r="r" b="b"/>
              <a:pathLst>
                <a:path w="6165409" h="1271237">
                  <a:moveTo>
                    <a:pt x="0" y="0"/>
                  </a:moveTo>
                  <a:lnTo>
                    <a:pt x="6165409" y="0"/>
                  </a:lnTo>
                  <a:lnTo>
                    <a:pt x="6165409" y="1271237"/>
                  </a:lnTo>
                  <a:lnTo>
                    <a:pt x="0" y="127123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B7348538-0B72-0B1B-1064-BDC20EA5EF49}"/>
                </a:ext>
              </a:extLst>
            </p:cNvPr>
            <p:cNvSpPr txBox="1"/>
            <p:nvPr/>
          </p:nvSpPr>
          <p:spPr>
            <a:xfrm>
              <a:off x="0" y="-28575"/>
              <a:ext cx="6165409" cy="1299812"/>
            </a:xfrm>
            <a:prstGeom prst="rect">
              <a:avLst/>
            </a:prstGeom>
          </p:spPr>
          <p:txBody>
            <a:bodyPr lIns="47790" tIns="47790" rIns="47790" bIns="47790" rtlCol="0" anchor="ctr"/>
            <a:lstStyle/>
            <a:p>
              <a:pPr algn="ctr">
                <a:lnSpc>
                  <a:spcPts val="1843"/>
                </a:lnSpc>
              </a:pPr>
              <a:endParaRPr/>
            </a:p>
          </p:txBody>
        </p:sp>
      </p:grpSp>
      <p:sp>
        <p:nvSpPr>
          <p:cNvPr id="12" name="TextBox 12">
            <a:extLst>
              <a:ext uri="{FF2B5EF4-FFF2-40B4-BE49-F238E27FC236}">
                <a16:creationId xmlns:a16="http://schemas.microsoft.com/office/drawing/2014/main" id="{C6471E22-8573-DB31-2B10-229F16103888}"/>
              </a:ext>
            </a:extLst>
          </p:cNvPr>
          <p:cNvSpPr txBox="1"/>
          <p:nvPr/>
        </p:nvSpPr>
        <p:spPr>
          <a:xfrm>
            <a:off x="1111666" y="3432993"/>
            <a:ext cx="14771892" cy="598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400"/>
              </a:lnSpc>
            </a:pPr>
            <a:r>
              <a:rPr lang="en-US" sz="6000" b="1" dirty="0">
                <a:solidFill>
                  <a:srgbClr val="FFFFFF"/>
                </a:solidFill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Day 1- Block 3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34BB8BD3-D6B3-A5B5-4849-EE954FD5C0C8}"/>
              </a:ext>
            </a:extLst>
          </p:cNvPr>
          <p:cNvSpPr txBox="1"/>
          <p:nvPr/>
        </p:nvSpPr>
        <p:spPr>
          <a:xfrm>
            <a:off x="1111666" y="9653992"/>
            <a:ext cx="12263263" cy="3619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CALIFORNIA INSTITUTE OF APPLIED TECHNOLOGY</a:t>
            </a:r>
          </a:p>
        </p:txBody>
      </p:sp>
      <p:sp>
        <p:nvSpPr>
          <p:cNvPr id="15" name="AutoShape 15">
            <a:extLst>
              <a:ext uri="{FF2B5EF4-FFF2-40B4-BE49-F238E27FC236}">
                <a16:creationId xmlns:a16="http://schemas.microsoft.com/office/drawing/2014/main" id="{FA185A35-EEEB-AEEC-ACDA-3230233F8D6C}"/>
              </a:ext>
            </a:extLst>
          </p:cNvPr>
          <p:cNvSpPr/>
          <p:nvPr/>
        </p:nvSpPr>
        <p:spPr>
          <a:xfrm>
            <a:off x="8010568" y="9858838"/>
            <a:ext cx="7625672" cy="0"/>
          </a:xfrm>
          <a:prstGeom prst="line">
            <a:avLst/>
          </a:prstGeom>
          <a:ln w="19050" cap="flat">
            <a:solidFill>
              <a:srgbClr val="0283F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7" name="Freeform 5">
            <a:extLst>
              <a:ext uri="{FF2B5EF4-FFF2-40B4-BE49-F238E27FC236}">
                <a16:creationId xmlns:a16="http://schemas.microsoft.com/office/drawing/2014/main" id="{62E6E71B-56C6-ED25-F132-D974163E1A40}"/>
              </a:ext>
            </a:extLst>
          </p:cNvPr>
          <p:cNvSpPr/>
          <p:nvPr/>
        </p:nvSpPr>
        <p:spPr>
          <a:xfrm>
            <a:off x="1111666" y="355081"/>
            <a:ext cx="4247850" cy="631936"/>
          </a:xfrm>
          <a:custGeom>
            <a:avLst/>
            <a:gdLst/>
            <a:ahLst/>
            <a:cxnLst/>
            <a:rect l="l" t="t" r="r" b="b"/>
            <a:pathLst>
              <a:path w="4247850" h="631936">
                <a:moveTo>
                  <a:pt x="0" y="0"/>
                </a:moveTo>
                <a:lnTo>
                  <a:pt x="4247850" y="0"/>
                </a:lnTo>
                <a:lnTo>
                  <a:pt x="4247850" y="631935"/>
                </a:lnTo>
                <a:lnTo>
                  <a:pt x="0" y="63193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5" r="-5"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265DFFCF-B529-F03A-D243-6E38461C50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25308" y="8269924"/>
            <a:ext cx="1573291" cy="1551409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1E0F7FFB-4D43-DB4D-84E4-E340821D9577}"/>
              </a:ext>
            </a:extLst>
          </p:cNvPr>
          <p:cNvSpPr txBox="1"/>
          <p:nvPr/>
        </p:nvSpPr>
        <p:spPr>
          <a:xfrm>
            <a:off x="1111666" y="7106062"/>
            <a:ext cx="914400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2000" dirty="0"/>
              <a:t>Cryptography Deep Dive</a:t>
            </a:r>
          </a:p>
          <a:p>
            <a:pPr lvl="1"/>
            <a:r>
              <a:rPr lang="en-US" altLang="en-US" sz="1600" dirty="0"/>
              <a:t>Symmetric / Asymmetric Encryption</a:t>
            </a:r>
          </a:p>
          <a:p>
            <a:pPr lvl="1"/>
            <a:r>
              <a:rPr lang="en-US" altLang="en-US" sz="1600" dirty="0"/>
              <a:t>Hashing</a:t>
            </a:r>
          </a:p>
          <a:p>
            <a:pPr lvl="1"/>
            <a:r>
              <a:rPr lang="en-US" altLang="en-US" sz="1600" dirty="0"/>
              <a:t>Digital Signatures</a:t>
            </a:r>
          </a:p>
          <a:p>
            <a:pPr lvl="1"/>
            <a:r>
              <a:rPr lang="en-US" altLang="en-US" sz="1600" dirty="0"/>
              <a:t>PKI</a:t>
            </a:r>
          </a:p>
          <a:p>
            <a:pPr lvl="1"/>
            <a:r>
              <a:rPr lang="en-US" altLang="en-US" sz="1600" dirty="0"/>
              <a:t>Key Management</a:t>
            </a:r>
          </a:p>
        </p:txBody>
      </p:sp>
    </p:spTree>
    <p:extLst>
      <p:ext uri="{BB962C8B-B14F-4D97-AF65-F5344CB8AC3E}">
        <p14:creationId xmlns:p14="http://schemas.microsoft.com/office/powerpoint/2010/main" val="424899296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48BF36-F1E3-41BB-D06F-0946154B1D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FB978CD-171D-AE04-22B4-18C21782DC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Slide </a:t>
            </a:r>
            <a:fld id="{4CA2B2DB-B91D-4166-98BF-65A0DA7EEE6D}" type="slidenum">
              <a:rPr lang="en-US" smtClean="0"/>
              <a:pPr/>
              <a:t>37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867F79-572A-541F-B679-35930DCDF730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2536824"/>
            <a:ext cx="16192500" cy="6569075"/>
          </a:xfrm>
        </p:spPr>
        <p:txBody>
          <a:bodyPr/>
          <a:lstStyle/>
          <a:p>
            <a:r>
              <a:rPr lang="en-US" altLang="en-US" sz="3900" b="1" dirty="0"/>
              <a:t>Encryption</a:t>
            </a:r>
            <a:r>
              <a:rPr lang="en-US" altLang="en-US" sz="3900" dirty="0"/>
              <a:t> converts information into a coded format to prevent unauthorized access.</a:t>
            </a:r>
          </a:p>
          <a:p>
            <a:r>
              <a:rPr lang="en-US" altLang="en-US" sz="3900" dirty="0"/>
              <a:t>Different levels of encryption offer varying degrees of protection.</a:t>
            </a:r>
          </a:p>
          <a:p>
            <a:pPr marL="1714500" lvl="2" indent="-571500"/>
            <a:r>
              <a:rPr lang="en-US" altLang="en-US" sz="3200" dirty="0"/>
              <a:t>Full-disk encryption secures an entire hard drive, including data, files, and the operating system.</a:t>
            </a:r>
          </a:p>
          <a:p>
            <a:pPr marL="1714500" lvl="2" indent="-571500"/>
            <a:r>
              <a:rPr lang="en-US" altLang="en-US" sz="3200" dirty="0"/>
              <a:t>Partition encryption involves treating portions of a disk as separate units. </a:t>
            </a:r>
          </a:p>
          <a:p>
            <a:pPr marL="1714500" lvl="2" indent="-571500"/>
            <a:r>
              <a:rPr lang="en-US" altLang="en-US" sz="3200" dirty="0"/>
              <a:t>File encryption, or encrypting individual files, adds an additional layer of security. </a:t>
            </a:r>
          </a:p>
          <a:p>
            <a:endParaRPr lang="en-US" altLang="en-US" b="1" dirty="0"/>
          </a:p>
          <a:p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2BEF794-A6BF-C03C-8344-8CB1A990792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EDF1D411-F39D-5D63-CF3F-F00B96EE79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60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Encryption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218610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2D866F-6FBF-0115-4923-B853B89C0E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884F7B7-5219-80AD-1475-DEE82A9B3A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Slide </a:t>
            </a:r>
            <a:fld id="{4CA2B2DB-B91D-4166-98BF-65A0DA7EEE6D}" type="slidenum">
              <a:rPr lang="en-US" smtClean="0"/>
              <a:pPr/>
              <a:t>38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E38C82-F8D3-2D14-FF43-9A2649D6570B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2536825"/>
            <a:ext cx="16192500" cy="1463676"/>
          </a:xfrm>
        </p:spPr>
        <p:txBody>
          <a:bodyPr/>
          <a:lstStyle/>
          <a:p>
            <a:pPr marL="0" indent="0">
              <a:buNone/>
            </a:pPr>
            <a:r>
              <a:rPr lang="en-US" altLang="en-US" sz="4000" dirty="0"/>
              <a:t>Data security and encryption are essential, whether the data is at rest, in transit, or in use.</a:t>
            </a:r>
          </a:p>
          <a:p>
            <a:endParaRPr lang="en-US" altLang="en-US" b="1" dirty="0"/>
          </a:p>
          <a:p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61B77FC-0F94-F5AB-A030-F64ED6F5A3E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34A83B79-5C0B-9D68-55BE-6C506559B6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60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Transport/Communication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E10F280-F06D-A1D1-5CEB-CF5557D9AF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8730" y="3771900"/>
            <a:ext cx="10770540" cy="4522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634901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6831A1-C79A-7692-F3D6-A9CC2AA719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E7DB421-C082-9369-0004-001A8A753C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Slide </a:t>
            </a:r>
            <a:fld id="{4CA2B2DB-B91D-4166-98BF-65A0DA7EEE6D}" type="slidenum">
              <a:rPr lang="en-US" smtClean="0"/>
              <a:pPr/>
              <a:t>39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B60926-68A8-F9C7-8A40-C97EE1A569E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2536824"/>
            <a:ext cx="16192500" cy="4054475"/>
          </a:xfrm>
        </p:spPr>
        <p:txBody>
          <a:bodyPr/>
          <a:lstStyle/>
          <a:p>
            <a:r>
              <a:rPr lang="en-US" altLang="en-US" sz="3900" b="1" dirty="0"/>
              <a:t>Algorithms: </a:t>
            </a:r>
            <a:r>
              <a:rPr lang="en-US" altLang="en-US" sz="3900" dirty="0"/>
              <a:t>Mathematical formulas used in cryptographic processes</a:t>
            </a:r>
          </a:p>
          <a:p>
            <a:r>
              <a:rPr lang="en-US" altLang="en-US" sz="3900" b="1" dirty="0"/>
              <a:t>Key length: </a:t>
            </a:r>
            <a:r>
              <a:rPr lang="en-US" altLang="en-US" sz="3900" dirty="0"/>
              <a:t>The number of bits in an encryption algorithm's key; longer keys typically provide stronger encryption</a:t>
            </a:r>
          </a:p>
          <a:p>
            <a:r>
              <a:rPr lang="en-US" altLang="en-US" sz="3900" b="1" dirty="0"/>
              <a:t>Tools: </a:t>
            </a:r>
            <a:r>
              <a:rPr lang="en-US" altLang="en-US" sz="3900" dirty="0"/>
              <a:t>Specialized technologies and protocols for securing and managing digital information throughout its lifecycle</a:t>
            </a:r>
          </a:p>
          <a:p>
            <a:endParaRPr lang="en-US" altLang="en-US" b="1" dirty="0"/>
          </a:p>
          <a:p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9798ACA-72BF-0A2B-A7CA-4909738CF6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3029BC2A-6FE2-68FE-EE2B-0CE8DDB057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60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Algorithms, Key Length, and Tools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78056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57FA21-F588-39BC-5DA7-2AE7AA44E5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4D84C96-2013-D6CB-1003-ABC67731DF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Slide </a:t>
            </a:r>
            <a:fld id="{4CA2B2DB-B91D-4166-98BF-65A0DA7EEE6D}" type="slidenum">
              <a:rPr lang="en-US" smtClean="0"/>
              <a:pPr/>
              <a:t>40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8F5454-52C9-7CEA-D2B4-E6FAAEB6E8D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2536824"/>
            <a:ext cx="16192500" cy="5197476"/>
          </a:xfrm>
        </p:spPr>
        <p:txBody>
          <a:bodyPr/>
          <a:lstStyle/>
          <a:p>
            <a:r>
              <a:rPr lang="en-US" altLang="en-US" sz="3900" b="1" dirty="0"/>
              <a:t>Trusted Platform Module (TPM): </a:t>
            </a:r>
            <a:r>
              <a:rPr lang="en-US" altLang="en-US" sz="3900" dirty="0"/>
              <a:t>A hardware-based security technology using a secure cryptoprocessor chip to execute cryptographic operations, generate and manage cryptographic keys, authenticate platform devices, and ensure platform integrity by storing security measurements</a:t>
            </a:r>
          </a:p>
          <a:p>
            <a:r>
              <a:rPr lang="en-US" altLang="en-US" sz="3900" b="1" dirty="0"/>
              <a:t>Hardware Security Module (HSM): </a:t>
            </a:r>
            <a:r>
              <a:rPr lang="en-US" altLang="en-US" sz="3900" dirty="0"/>
              <a:t>A physical device serving as a secure cryptoprocessor, providing faster encryption than software-based solutions, and generally tamper-proof </a:t>
            </a:r>
          </a:p>
          <a:p>
            <a:endParaRPr lang="en-US" altLang="en-US" b="1" dirty="0"/>
          </a:p>
          <a:p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403A833-C39F-C706-1731-35DC89057AD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FDA2F46-727A-9353-7DC7-8603542E5E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48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Trusted Platform Module &amp; Hardware Security Module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926878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54C8FE-6E83-BA1C-DF60-81B9BF218F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3A8337B-B5BA-A4B1-A94E-74DBAB3B55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Slide </a:t>
            </a:r>
            <a:fld id="{4CA2B2DB-B91D-4166-98BF-65A0DA7EEE6D}" type="slidenum">
              <a:rPr lang="en-US" smtClean="0"/>
              <a:pPr/>
              <a:t>41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928A56-F7F4-A101-EDD8-2F9757297A04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2536824"/>
            <a:ext cx="16192500" cy="2606676"/>
          </a:xfrm>
        </p:spPr>
        <p:txBody>
          <a:bodyPr/>
          <a:lstStyle/>
          <a:p>
            <a:pPr>
              <a:buSzPct val="100000"/>
              <a:buFont typeface="Wingdings" panose="05000000000000000000" pitchFamily="2" charset="2"/>
              <a:buChar char="§"/>
            </a:pPr>
            <a:r>
              <a:rPr lang="en-US" altLang="en-US" sz="3900" b="1" dirty="0"/>
              <a:t>Symmetric encryption </a:t>
            </a:r>
            <a:r>
              <a:rPr lang="en-US" altLang="en-US" sz="3900" dirty="0"/>
              <a:t>uses a single key for both encryption and decryption. </a:t>
            </a:r>
          </a:p>
          <a:p>
            <a:pPr>
              <a:buSzPct val="100000"/>
              <a:buFont typeface="Wingdings" panose="05000000000000000000" pitchFamily="2" charset="2"/>
              <a:buChar char="§"/>
            </a:pPr>
            <a:r>
              <a:rPr lang="en-US" altLang="en-US" sz="3900" b="1" dirty="0"/>
              <a:t>Asymmetric encryption </a:t>
            </a:r>
            <a:r>
              <a:rPr lang="en-US" altLang="en-US" sz="3900" dirty="0"/>
              <a:t>employs a pair of keys: a public key for encryption and a private key for decryption.</a:t>
            </a:r>
          </a:p>
          <a:p>
            <a:endParaRPr lang="en-US" altLang="en-US" b="1" dirty="0"/>
          </a:p>
          <a:p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33E2470-B1A4-F08F-9723-E033822B56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0C7C02D1-488F-61BD-AF50-76A2565B3E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60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Symmetric versus Asymmetric Encryption</a:t>
            </a:r>
            <a:endParaRPr lang="en-US" sz="6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21C9E99-D057-94EA-7432-2E6320C8CF9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492"/>
          <a:stretch/>
        </p:blipFill>
        <p:spPr>
          <a:xfrm>
            <a:off x="9325917" y="5920272"/>
            <a:ext cx="5619976" cy="282970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ABC50DC-EECA-C528-F97F-C2A7DDD6C06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210"/>
          <a:stretch/>
        </p:blipFill>
        <p:spPr>
          <a:xfrm>
            <a:off x="3048000" y="5960580"/>
            <a:ext cx="5780835" cy="2767384"/>
          </a:xfrm>
          <a:prstGeom prst="rect">
            <a:avLst/>
          </a:prstGeom>
        </p:spPr>
      </p:pic>
      <p:sp>
        <p:nvSpPr>
          <p:cNvPr id="8" name="Rectangle 1027">
            <a:extLst>
              <a:ext uri="{FF2B5EF4-FFF2-40B4-BE49-F238E27FC236}">
                <a16:creationId xmlns:a16="http://schemas.microsoft.com/office/drawing/2014/main" id="{346E03BF-0A4B-4A97-68FC-1109858F3F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77900" y="5165558"/>
            <a:ext cx="5148408" cy="17828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37160" tIns="68580" rIns="137160" bIns="6858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ts val="9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669925" indent="-3254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accent1"/>
                </a:solidFill>
                <a:latin typeface="+mn-lt"/>
              </a:defRPr>
            </a:lvl2pPr>
            <a:lvl3pPr marL="1022350" indent="-3508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accent1"/>
                </a:solidFill>
                <a:latin typeface="+mn-lt"/>
              </a:defRPr>
            </a:lvl3pPr>
            <a:lvl4pPr marL="1339850" indent="-3159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accent1"/>
                </a:solidFill>
                <a:latin typeface="+mn-lt"/>
              </a:defRPr>
            </a:lvl4pPr>
            <a:lvl5pPr marL="1681163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accent1"/>
                </a:solidFill>
                <a:latin typeface="+mn-lt"/>
              </a:defRPr>
            </a:lvl5pPr>
            <a:lvl6pPr marL="21383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accent1"/>
                </a:solidFill>
                <a:latin typeface="+mn-lt"/>
              </a:defRPr>
            </a:lvl6pPr>
            <a:lvl7pPr marL="25955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accent1"/>
                </a:solidFill>
                <a:latin typeface="+mn-lt"/>
              </a:defRPr>
            </a:lvl7pPr>
            <a:lvl8pPr marL="30527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accent1"/>
                </a:solidFill>
                <a:latin typeface="+mn-lt"/>
              </a:defRPr>
            </a:lvl8pPr>
            <a:lvl9pPr marL="35099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accent1"/>
                </a:solidFill>
                <a:latin typeface="+mn-lt"/>
              </a:defRPr>
            </a:lvl9pPr>
          </a:lstStyle>
          <a:p>
            <a:pPr marL="0" indent="0" algn="ctr" defTabSz="1371600" eaLnBrk="1" hangingPunct="1">
              <a:spcBef>
                <a:spcPts val="1350"/>
              </a:spcBef>
              <a:buClr>
                <a:srgbClr val="3366CC"/>
              </a:buClr>
              <a:buNone/>
            </a:pPr>
            <a:r>
              <a:rPr lang="en-US" altLang="en-US" b="1" kern="0" dirty="0">
                <a:solidFill>
                  <a:srgbClr val="333333">
                    <a:lumMod val="60000"/>
                    <a:lumOff val="40000"/>
                  </a:srgbClr>
                </a:solidFill>
                <a:latin typeface="Arial"/>
              </a:rPr>
              <a:t>Symmetric Encryption</a:t>
            </a:r>
          </a:p>
        </p:txBody>
      </p:sp>
      <p:sp>
        <p:nvSpPr>
          <p:cNvPr id="9" name="Rectangle 1027">
            <a:extLst>
              <a:ext uri="{FF2B5EF4-FFF2-40B4-BE49-F238E27FC236}">
                <a16:creationId xmlns:a16="http://schemas.microsoft.com/office/drawing/2014/main" id="{BA7ADB38-46B4-2101-6EDE-9842FF656B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73792" y="5165558"/>
            <a:ext cx="5148408" cy="17828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37160" tIns="68580" rIns="137160" bIns="6858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ts val="9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669925" indent="-3254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accent1"/>
                </a:solidFill>
                <a:latin typeface="+mn-lt"/>
              </a:defRPr>
            </a:lvl2pPr>
            <a:lvl3pPr marL="1022350" indent="-3508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accent1"/>
                </a:solidFill>
                <a:latin typeface="+mn-lt"/>
              </a:defRPr>
            </a:lvl3pPr>
            <a:lvl4pPr marL="1339850" indent="-3159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accent1"/>
                </a:solidFill>
                <a:latin typeface="+mn-lt"/>
              </a:defRPr>
            </a:lvl4pPr>
            <a:lvl5pPr marL="1681163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accent1"/>
                </a:solidFill>
                <a:latin typeface="+mn-lt"/>
              </a:defRPr>
            </a:lvl5pPr>
            <a:lvl6pPr marL="21383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accent1"/>
                </a:solidFill>
                <a:latin typeface="+mn-lt"/>
              </a:defRPr>
            </a:lvl6pPr>
            <a:lvl7pPr marL="25955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accent1"/>
                </a:solidFill>
                <a:latin typeface="+mn-lt"/>
              </a:defRPr>
            </a:lvl7pPr>
            <a:lvl8pPr marL="30527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accent1"/>
                </a:solidFill>
                <a:latin typeface="+mn-lt"/>
              </a:defRPr>
            </a:lvl8pPr>
            <a:lvl9pPr marL="35099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accent1"/>
                </a:solidFill>
                <a:latin typeface="+mn-lt"/>
              </a:defRPr>
            </a:lvl9pPr>
          </a:lstStyle>
          <a:p>
            <a:pPr marL="0" indent="0" algn="ctr" defTabSz="1371600" eaLnBrk="1" hangingPunct="1">
              <a:spcBef>
                <a:spcPts val="1350"/>
              </a:spcBef>
              <a:buClr>
                <a:srgbClr val="3366CC"/>
              </a:buClr>
              <a:buNone/>
            </a:pPr>
            <a:r>
              <a:rPr lang="en-US" altLang="en-US" b="1" kern="0">
                <a:solidFill>
                  <a:srgbClr val="333333">
                    <a:lumMod val="60000"/>
                    <a:lumOff val="40000"/>
                  </a:srgbClr>
                </a:solidFill>
                <a:latin typeface="Arial"/>
              </a:rPr>
              <a:t>Asymmetric Encryption</a:t>
            </a:r>
          </a:p>
        </p:txBody>
      </p:sp>
    </p:spTree>
    <p:extLst>
      <p:ext uri="{BB962C8B-B14F-4D97-AF65-F5344CB8AC3E}">
        <p14:creationId xmlns:p14="http://schemas.microsoft.com/office/powerpoint/2010/main" val="271366243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93FE08-A967-20EC-957B-ED902A31AE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E802D58-6177-E089-3151-0F437D6732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Slide </a:t>
            </a:r>
            <a:fld id="{4CA2B2DB-B91D-4166-98BF-65A0DA7EEE6D}" type="slidenum">
              <a:rPr lang="en-US" smtClean="0"/>
              <a:pPr/>
              <a:t>42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C6DE0D-2FEC-0CF1-AF38-736A30C3BB3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2536824"/>
            <a:ext cx="16192500" cy="4054475"/>
          </a:xfrm>
        </p:spPr>
        <p:txBody>
          <a:bodyPr/>
          <a:lstStyle/>
          <a:p>
            <a:r>
              <a:rPr lang="en-US" altLang="en-US" sz="3900" b="1" dirty="0"/>
              <a:t>Hashing</a:t>
            </a:r>
            <a:r>
              <a:rPr lang="en-US" altLang="en-US" sz="3900" dirty="0"/>
              <a:t>: A one-way function that maps data to a fixed-length value, primarily for authentication and ensuring data integrity by verifying that it hasn't been altered</a:t>
            </a:r>
          </a:p>
          <a:p>
            <a:r>
              <a:rPr lang="en-US" altLang="en-US" sz="3900" b="1" dirty="0"/>
              <a:t>Salting</a:t>
            </a:r>
            <a:r>
              <a:rPr lang="en-US" altLang="en-US" sz="3900" dirty="0"/>
              <a:t>: Adding random data to a password before hashing to enhance security </a:t>
            </a:r>
          </a:p>
          <a:p>
            <a:endParaRPr lang="en-US" altLang="en-US" b="1" dirty="0"/>
          </a:p>
          <a:p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34214DB-B0A3-82BE-86EE-02E85FA47B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B50B1F3F-EE8A-F321-5B05-944CD8F504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60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Hashing &amp; </a:t>
            </a:r>
            <a:r>
              <a:rPr lang="en-US" sz="6000" b="0" kern="0" dirty="0">
                <a:solidFill>
                  <a:srgbClr val="0B0506"/>
                </a:solidFill>
                <a:latin typeface="Arial"/>
              </a:rPr>
              <a:t>Salting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548170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622063-A4D6-8D15-CE33-48ECF4DB18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89A506D-4AD7-3952-942F-AC9E46451F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Slide </a:t>
            </a:r>
            <a:fld id="{4CA2B2DB-B91D-4166-98BF-65A0DA7EEE6D}" type="slidenum">
              <a:rPr lang="en-US" smtClean="0"/>
              <a:pPr/>
              <a:t>43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ED6F20-76D7-5EAF-95C9-3151910C9E54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2536824"/>
            <a:ext cx="16192500" cy="6111876"/>
          </a:xfrm>
        </p:spPr>
        <p:txBody>
          <a:bodyPr/>
          <a:lstStyle/>
          <a:p>
            <a:pPr marL="0" indent="0">
              <a:buNone/>
            </a:pPr>
            <a:r>
              <a:rPr lang="en-US" altLang="en-US" sz="3900" b="1" dirty="0"/>
              <a:t>Digital signature</a:t>
            </a:r>
            <a:r>
              <a:rPr lang="en-US" altLang="en-US" sz="3900" dirty="0"/>
              <a:t>: A mathematical scheme used to verify the authenticity and integrity of a digital message or document</a:t>
            </a:r>
          </a:p>
          <a:p>
            <a:r>
              <a:rPr lang="en-US" altLang="en-US" sz="3900" dirty="0"/>
              <a:t>Three algorithms used in a digital signature:</a:t>
            </a:r>
          </a:p>
          <a:p>
            <a:pPr lvl="1"/>
            <a:r>
              <a:rPr lang="en-US" altLang="en-US" sz="3600" dirty="0"/>
              <a:t>Key generation algorithm</a:t>
            </a:r>
          </a:p>
          <a:p>
            <a:pPr lvl="1"/>
            <a:r>
              <a:rPr lang="en-US" altLang="en-US" sz="3600" dirty="0"/>
              <a:t>Signing algorithm</a:t>
            </a:r>
          </a:p>
          <a:p>
            <a:pPr lvl="1"/>
            <a:r>
              <a:rPr lang="en-US" altLang="en-US" sz="3600" dirty="0"/>
              <a:t>Signature verifying algorithm</a:t>
            </a:r>
          </a:p>
          <a:p>
            <a:r>
              <a:rPr lang="en-US" altLang="en-US" sz="3900" dirty="0"/>
              <a:t>Two properties required for a digital signature:</a:t>
            </a:r>
          </a:p>
          <a:p>
            <a:pPr lvl="1"/>
            <a:r>
              <a:rPr lang="en-US" altLang="en-US" sz="3600" dirty="0"/>
              <a:t>Authenticity verification</a:t>
            </a:r>
          </a:p>
          <a:p>
            <a:pPr lvl="1"/>
            <a:r>
              <a:rPr lang="en-US" altLang="en-US" sz="3600" dirty="0"/>
              <a:t>Private key</a:t>
            </a:r>
          </a:p>
          <a:p>
            <a:endParaRPr lang="en-US" altLang="en-US" b="1" dirty="0"/>
          </a:p>
          <a:p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0E3F3FA-51F6-D992-87D4-CA3CD23B585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327166C-3BB0-104A-6F8A-62C8D64006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60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Digital Signatures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9815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F7D6F7-BF12-F135-AD70-9EFD00C798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BA8A3F5-2C56-8C87-10B8-BFE29E2B33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Slide </a:t>
            </a:r>
            <a:fld id="{4CA2B2DB-B91D-4166-98BF-65A0DA7EEE6D}" type="slidenum">
              <a:rPr lang="en-US" smtClean="0"/>
              <a:pPr/>
              <a:t>44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467747-B473-7D28-24A5-52D7357D1A4F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3200400"/>
            <a:ext cx="16192500" cy="5676900"/>
          </a:xfrm>
        </p:spPr>
        <p:txBody>
          <a:bodyPr/>
          <a:lstStyle/>
          <a:p>
            <a:r>
              <a:rPr lang="en-US" altLang="en-US" sz="3900" b="1" dirty="0"/>
              <a:t>Public key infrastructure </a:t>
            </a:r>
            <a:r>
              <a:rPr lang="en-US" altLang="en-US" sz="3900" dirty="0"/>
              <a:t>(PKI) encompasses key management, certificate authorities (CAs), intermediate CAs, and registration authorities (RAs).</a:t>
            </a:r>
          </a:p>
          <a:p>
            <a:r>
              <a:rPr lang="en-US" altLang="en-US" sz="3900" dirty="0"/>
              <a:t>PKI enables secure connections for websites, email transmissions, and remote access by utilizing asymmetric key pairs consisting of public and private keys.</a:t>
            </a:r>
          </a:p>
          <a:p>
            <a:r>
              <a:rPr lang="en-US" altLang="en-US" sz="3900" b="1" dirty="0"/>
              <a:t>Private keys </a:t>
            </a:r>
            <a:r>
              <a:rPr lang="en-US" altLang="en-US" sz="3900" dirty="0"/>
              <a:t>are kept secret, while </a:t>
            </a:r>
            <a:r>
              <a:rPr lang="en-US" altLang="en-US" sz="3900" b="1" dirty="0"/>
              <a:t>public keys </a:t>
            </a:r>
            <a:r>
              <a:rPr lang="en-US" altLang="en-US" sz="3900" dirty="0"/>
              <a:t>can be distributed. Private key escrow may be provided by trusted third parties.</a:t>
            </a:r>
          </a:p>
          <a:p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E09C92A-C313-B3CF-5586-9F8F6E6A346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7BAD91BC-19AE-4EE9-27C7-27B8B42C1E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60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Public Key Infrastructure (PKI) 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C9302A-74DE-4EF9-152C-B99A7F17F6B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200" y="2603500"/>
            <a:ext cx="7194550" cy="495300"/>
          </a:xfrm>
        </p:spPr>
        <p:txBody>
          <a:bodyPr/>
          <a:lstStyle/>
          <a:p>
            <a:r>
              <a:rPr lang="en-US" dirty="0"/>
              <a:t>PKI -  </a:t>
            </a:r>
          </a:p>
        </p:txBody>
      </p:sp>
    </p:spTree>
    <p:extLst>
      <p:ext uri="{BB962C8B-B14F-4D97-AF65-F5344CB8AC3E}">
        <p14:creationId xmlns:p14="http://schemas.microsoft.com/office/powerpoint/2010/main" val="273426271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B51CF2-2094-BE8C-D27B-723370220A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3F528C0-BBF7-DED1-290C-C533A1EB64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Slide </a:t>
            </a:r>
            <a:fld id="{4CA2B2DB-B91D-4166-98BF-65A0DA7EEE6D}" type="slidenum">
              <a:rPr lang="en-US" smtClean="0"/>
              <a:pPr/>
              <a:t>45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DB357A-EE85-DCE9-451B-1A4177C28764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2536824"/>
            <a:ext cx="16192500" cy="1616076"/>
          </a:xfrm>
        </p:spPr>
        <p:txBody>
          <a:bodyPr/>
          <a:lstStyle/>
          <a:p>
            <a:pPr marL="0" indent="0">
              <a:buNone/>
            </a:pPr>
            <a:r>
              <a:rPr lang="en-US" altLang="en-US" sz="3900" b="1" dirty="0"/>
              <a:t>Key exchange</a:t>
            </a:r>
            <a:r>
              <a:rPr lang="en-US" altLang="en-US" sz="3900" dirty="0"/>
              <a:t>, also known as key establishment, is a cryptographic process that enables two parties to exchange cryptographic keys.</a:t>
            </a:r>
          </a:p>
          <a:p>
            <a:endParaRPr lang="en-US" altLang="en-US" b="1" dirty="0"/>
          </a:p>
          <a:p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4FD22FC-33DC-34EF-EFB9-4D943A89739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0662F86-F829-CBE5-CDFA-B4A5C89392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60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Key Exchange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1B1AE13-457F-F3C2-9DA3-134C6F6425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4228" y="3719348"/>
            <a:ext cx="9000444" cy="4829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83382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562EDC-5922-075E-9D77-D187627B9C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6533A72-FD05-5CEE-632D-6AECFFF0E1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Slide </a:t>
            </a:r>
            <a:fld id="{4CA2B2DB-B91D-4166-98BF-65A0DA7EEE6D}" type="slidenum">
              <a:rPr lang="en-US" smtClean="0"/>
              <a:pPr/>
              <a:t>46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42560B-EA07-8942-9749-3B261598293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2536824"/>
            <a:ext cx="16192500" cy="6111876"/>
          </a:xfrm>
        </p:spPr>
        <p:txBody>
          <a:bodyPr/>
          <a:lstStyle/>
          <a:p>
            <a:pPr marL="0" indent="0">
              <a:buNone/>
            </a:pPr>
            <a:r>
              <a:rPr lang="en-US" altLang="en-US" sz="3900" dirty="0"/>
              <a:t>A </a:t>
            </a:r>
            <a:r>
              <a:rPr lang="en-US" altLang="en-US" sz="3900" b="1" dirty="0"/>
              <a:t>Key Management System </a:t>
            </a:r>
            <a:r>
              <a:rPr lang="en-US" altLang="en-US" sz="3900" dirty="0"/>
              <a:t>(KMS) safeguards digital data by managing codes used to lock and unlock data</a:t>
            </a:r>
          </a:p>
          <a:p>
            <a:r>
              <a:rPr lang="en-US" altLang="en-US" sz="3900" dirty="0"/>
              <a:t>Main functions:</a:t>
            </a:r>
          </a:p>
          <a:p>
            <a:pPr lvl="2"/>
            <a:r>
              <a:rPr lang="en-US" altLang="en-US" sz="3200" dirty="0"/>
              <a:t>Generates cryptographic keys</a:t>
            </a:r>
          </a:p>
          <a:p>
            <a:pPr lvl="2"/>
            <a:r>
              <a:rPr lang="en-US" altLang="en-US" sz="3200" dirty="0"/>
              <a:t>Stores keys securely</a:t>
            </a:r>
          </a:p>
          <a:p>
            <a:pPr lvl="2"/>
            <a:r>
              <a:rPr lang="en-US" altLang="en-US" sz="3200" dirty="0"/>
              <a:t>Exchanges keys</a:t>
            </a:r>
          </a:p>
          <a:p>
            <a:pPr lvl="2"/>
            <a:r>
              <a:rPr lang="en-US" altLang="en-US" sz="3200" dirty="0"/>
              <a:t>Key use and access control</a:t>
            </a:r>
          </a:p>
          <a:p>
            <a:pPr lvl="2"/>
            <a:r>
              <a:rPr lang="en-US" altLang="en-US" sz="3200" dirty="0"/>
              <a:t>Key replacement and rotation</a:t>
            </a:r>
          </a:p>
          <a:p>
            <a:endParaRPr lang="en-US" altLang="en-US" b="1" dirty="0"/>
          </a:p>
          <a:p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FB64E29-3954-46F1-8A6C-6B10E6B50D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B09CC171-C7BF-043D-3B99-7F6B85EA65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60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Key Management System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541042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C446E4-2CD7-2301-1477-E4B4714396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6BD3577-34C0-E980-C523-77DADB400E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Slide </a:t>
            </a:r>
            <a:fld id="{4CA2B2DB-B91D-4166-98BF-65A0DA7EEE6D}" type="slidenum">
              <a:rPr lang="en-US" smtClean="0"/>
              <a:pPr/>
              <a:t>47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E71C65-72E1-4C8D-A0D8-9113727DBFCB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2536824"/>
            <a:ext cx="16192500" cy="6111876"/>
          </a:xfrm>
        </p:spPr>
        <p:txBody>
          <a:bodyPr/>
          <a:lstStyle/>
          <a:p>
            <a:pPr marL="0" indent="0">
              <a:buNone/>
            </a:pPr>
            <a:r>
              <a:rPr lang="en-US" altLang="en-US" sz="3900" dirty="0"/>
              <a:t>A </a:t>
            </a:r>
            <a:r>
              <a:rPr lang="en-US" altLang="en-US" sz="3900" b="1" dirty="0"/>
              <a:t>secure enclave </a:t>
            </a:r>
            <a:r>
              <a:rPr lang="en-US" altLang="en-US" sz="3900" dirty="0"/>
              <a:t>is a hardware-based feature found in devices like iPhones.</a:t>
            </a:r>
          </a:p>
          <a:p>
            <a:r>
              <a:rPr lang="en-US" altLang="en-US" sz="3900" dirty="0"/>
              <a:t>It segregates encryption tasks and runs on a separate microprocessor with its own operating system.</a:t>
            </a:r>
          </a:p>
          <a:p>
            <a:r>
              <a:rPr lang="en-US" altLang="en-US" sz="3900" dirty="0"/>
              <a:t>Designed to resist tampering, it prevents access to its data through strict protocols.</a:t>
            </a:r>
          </a:p>
          <a:p>
            <a:r>
              <a:rPr lang="en-US" altLang="en-US" sz="3900" dirty="0"/>
              <a:t>The enclave is resistant to software and hardware attacks.</a:t>
            </a:r>
          </a:p>
          <a:p>
            <a:endParaRPr lang="en-US" altLang="en-US" b="1" dirty="0"/>
          </a:p>
          <a:p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7FD8436-3E47-3985-D8CC-DEEB1598050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7AFC0C5F-C81C-AB9A-8939-395EAFC17E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60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Secure Enclave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54142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7A805C-0AFC-D208-22EA-9400707F74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108C3F2-96D3-BB76-8ED6-C1145F380C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Slide </a:t>
            </a:r>
            <a:fld id="{4CA2B2DB-B91D-4166-98BF-65A0DA7EEE6D}" type="slidenum">
              <a:rPr lang="en-US" smtClean="0"/>
              <a:pPr/>
              <a:t>48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03DBC2-6A16-7B26-3823-1DC7823C520E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2536824"/>
            <a:ext cx="16192500" cy="6111876"/>
          </a:xfrm>
        </p:spPr>
        <p:txBody>
          <a:bodyPr/>
          <a:lstStyle/>
          <a:p>
            <a:r>
              <a:rPr lang="en-US" altLang="en-US" sz="3900" b="1" dirty="0"/>
              <a:t>Obfuscation</a:t>
            </a:r>
            <a:r>
              <a:rPr lang="en-US" altLang="en-US" sz="3900" dirty="0"/>
              <a:t>: A technique used to protect sensitive information by altering or disguising the original data to prevent easy comprehension or access by unauthorized users</a:t>
            </a:r>
          </a:p>
          <a:p>
            <a:r>
              <a:rPr lang="en-US" altLang="en-US" sz="3900" b="1" dirty="0"/>
              <a:t>Steganography</a:t>
            </a:r>
            <a:r>
              <a:rPr lang="en-US" altLang="en-US" sz="3900" dirty="0"/>
              <a:t>: The practice of concealing secret messages within seemingly innocuous carriers</a:t>
            </a:r>
          </a:p>
          <a:p>
            <a:pPr lvl="2"/>
            <a:r>
              <a:rPr lang="en-US" altLang="en-US" sz="3200" dirty="0"/>
              <a:t>Audio steganography</a:t>
            </a:r>
          </a:p>
          <a:p>
            <a:pPr lvl="2"/>
            <a:r>
              <a:rPr lang="en-US" altLang="en-US" sz="3200" dirty="0"/>
              <a:t>Video steganography</a:t>
            </a:r>
          </a:p>
          <a:p>
            <a:pPr lvl="2"/>
            <a:r>
              <a:rPr lang="en-US" altLang="en-US" sz="3200" dirty="0"/>
              <a:t>Image steganography</a:t>
            </a:r>
          </a:p>
          <a:p>
            <a:endParaRPr lang="en-US" altLang="en-US" b="1" dirty="0"/>
          </a:p>
          <a:p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ED5B0DF-A4D8-8CED-1907-346EE9C396E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7418450-E92B-4388-3B01-A143C3DFAF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60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Obfuscation &amp; Steganography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422823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6A0E66-6FC7-A32D-CFDD-68CDD52FBC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6FE1EA4-7979-A8F2-7961-3D5FB0A517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Slide </a:t>
            </a:r>
            <a:fld id="{4CA2B2DB-B91D-4166-98BF-65A0DA7EEE6D}" type="slidenum">
              <a:rPr lang="en-US" smtClean="0"/>
              <a:pPr/>
              <a:t>49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9ACB3C-02DE-B6F8-87EB-FE88ECEACA1D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2536824"/>
            <a:ext cx="16192500" cy="4511676"/>
          </a:xfrm>
        </p:spPr>
        <p:txBody>
          <a:bodyPr/>
          <a:lstStyle/>
          <a:p>
            <a:r>
              <a:rPr lang="en-US" altLang="en-US" sz="3900" b="1" dirty="0"/>
              <a:t>Key Stretching: </a:t>
            </a:r>
            <a:r>
              <a:rPr lang="en-US" altLang="en-US" sz="3900" dirty="0"/>
              <a:t>A cryptographic technique used to enhance the security of weak keys against brute-force attacks </a:t>
            </a:r>
          </a:p>
          <a:p>
            <a:r>
              <a:rPr lang="en-US" altLang="en-US" sz="3900" b="1" dirty="0"/>
              <a:t>Salt</a:t>
            </a:r>
            <a:r>
              <a:rPr lang="en-US" altLang="en-US" sz="3900" dirty="0"/>
              <a:t>: Randomly generated data added to a password before hashing to prevent the same password from producing the same hash value</a:t>
            </a:r>
          </a:p>
          <a:p>
            <a:r>
              <a:rPr lang="en-US" altLang="en-US" sz="3900" b="1" dirty="0"/>
              <a:t>Pepper</a:t>
            </a:r>
            <a:r>
              <a:rPr lang="en-US" altLang="en-US" sz="3900" dirty="0"/>
              <a:t>: Another randomly generated value added to a password hash, kept secret and separate from the hashed password</a:t>
            </a:r>
          </a:p>
          <a:p>
            <a:endParaRPr lang="en-US" altLang="en-US" b="1" dirty="0"/>
          </a:p>
          <a:p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E5A243-601E-BBF1-2070-89DD35342BB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CFCCF73-F795-5627-8D58-CB7E7AAB45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60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Key Stretching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026791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32F6D6-4776-440F-8296-AE7E8ACEC0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AEFDE59-AF7E-85AA-9FED-0F4CA71697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Slide </a:t>
            </a:r>
            <a:fld id="{4CA2B2DB-B91D-4166-98BF-65A0DA7EEE6D}" type="slidenum">
              <a:rPr lang="en-US" smtClean="0"/>
              <a:pPr/>
              <a:t>50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905514-8F7F-A42A-03FA-F2FDA8AD169D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2536824"/>
            <a:ext cx="16192500" cy="5883276"/>
          </a:xfrm>
        </p:spPr>
        <p:txBody>
          <a:bodyPr/>
          <a:lstStyle/>
          <a:p>
            <a:r>
              <a:rPr lang="en-US" altLang="en-US" sz="3900" b="1" dirty="0"/>
              <a:t>Blockchain</a:t>
            </a:r>
            <a:r>
              <a:rPr lang="en-US" altLang="en-US" sz="3900" dirty="0"/>
              <a:t>: A secure and immutable digital ledger technology that records transactions across a network of computer systems in a decentralized manner</a:t>
            </a:r>
          </a:p>
          <a:p>
            <a:pPr lvl="1"/>
            <a:r>
              <a:rPr lang="en-US" altLang="en-US" dirty="0"/>
              <a:t> </a:t>
            </a:r>
            <a:r>
              <a:rPr lang="en-US" altLang="en-US" sz="3600" dirty="0"/>
              <a:t>Prevents alteration or fraud</a:t>
            </a:r>
          </a:p>
          <a:p>
            <a:r>
              <a:rPr lang="en-US" altLang="en-US" sz="3900" b="1" dirty="0"/>
              <a:t>Open public ledger</a:t>
            </a:r>
            <a:r>
              <a:rPr lang="en-US" altLang="en-US" sz="3900" dirty="0"/>
              <a:t>: A component of blockchain technology that organizes transaction information into blocks that are chained together chronologically</a:t>
            </a:r>
          </a:p>
          <a:p>
            <a:pPr lvl="2"/>
            <a:r>
              <a:rPr lang="en-US" altLang="en-US" sz="3200" dirty="0"/>
              <a:t>Verifies transaction authenticity</a:t>
            </a:r>
          </a:p>
          <a:p>
            <a:pPr lvl="2"/>
            <a:r>
              <a:rPr lang="en-US" altLang="en-US" sz="3200" dirty="0"/>
              <a:t>Prevents double-spending without the need for a central authority</a:t>
            </a:r>
          </a:p>
          <a:p>
            <a:endParaRPr lang="en-US" altLang="en-US" b="1" dirty="0"/>
          </a:p>
          <a:p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08EF25-6DB9-4E1A-45A3-84ED7745C2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57836FD-5740-903C-849C-2656DCE558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60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Blockchain &amp; Open Public Ledger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148918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C93679-B12C-29EB-4C76-03373784AD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205146E-6D08-90D3-9090-52CF07E052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Slide </a:t>
            </a:r>
            <a:fld id="{4CA2B2DB-B91D-4166-98BF-65A0DA7EEE6D}" type="slidenum">
              <a:rPr lang="en-US" smtClean="0"/>
              <a:pPr/>
              <a:t>51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6C6D84-61AA-D5CC-1A2E-EE763D6E0ABB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2536824"/>
            <a:ext cx="16192500" cy="5883276"/>
          </a:xfrm>
        </p:spPr>
        <p:txBody>
          <a:bodyPr/>
          <a:lstStyle/>
          <a:p>
            <a:r>
              <a:rPr lang="en-US" altLang="en-US" sz="3900" b="1" dirty="0"/>
              <a:t>Certificate</a:t>
            </a:r>
            <a:r>
              <a:rPr lang="en-US" altLang="en-US" sz="3900" dirty="0"/>
              <a:t>: A digital document issued by a Certificate Authority (CA) to verify the identity of the certificate holder and ensure the legitimacy of online communications</a:t>
            </a:r>
          </a:p>
          <a:p>
            <a:r>
              <a:rPr lang="en-US" altLang="en-US" sz="3900" b="1" dirty="0"/>
              <a:t>Certificate Authorities (CA): </a:t>
            </a:r>
            <a:r>
              <a:rPr lang="en-US" altLang="en-US" sz="3900" dirty="0"/>
              <a:t>Entities, typically servers, responsible for issuing certificates to users in a Public Key Infrastructure (PKI) system, serving as trusted third parties to validate identities and secure digital exchanges</a:t>
            </a:r>
          </a:p>
          <a:p>
            <a:endParaRPr lang="en-US" altLang="en-US" b="1" dirty="0"/>
          </a:p>
          <a:p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614BF98-970A-AC58-3534-EBFEA2C77A5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774DC9FD-AAE6-B4A6-210D-9B08E1E4BB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60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Certificates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929042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15194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C734114-8BE0-B03B-C3D4-C093E796F3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971D8E87-8A23-8F60-69D0-4C3708D1BEF4}"/>
              </a:ext>
            </a:extLst>
          </p:cNvPr>
          <p:cNvGrpSpPr/>
          <p:nvPr/>
        </p:nvGrpSpPr>
        <p:grpSpPr>
          <a:xfrm rot="-5400000">
            <a:off x="12015831" y="4014831"/>
            <a:ext cx="10287000" cy="2257339"/>
            <a:chOff x="0" y="0"/>
            <a:chExt cx="2709333" cy="59452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E94CC5-F12D-A038-08DF-9AAF2AA73F36}"/>
                </a:ext>
              </a:extLst>
            </p:cNvPr>
            <p:cNvSpPr/>
            <p:nvPr/>
          </p:nvSpPr>
          <p:spPr>
            <a:xfrm>
              <a:off x="0" y="0"/>
              <a:ext cx="2709333" cy="594525"/>
            </a:xfrm>
            <a:custGeom>
              <a:avLst/>
              <a:gdLst/>
              <a:ahLst/>
              <a:cxnLst/>
              <a:rect l="l" t="t" r="r" b="b"/>
              <a:pathLst>
                <a:path w="2709333" h="594525">
                  <a:moveTo>
                    <a:pt x="0" y="0"/>
                  </a:moveTo>
                  <a:lnTo>
                    <a:pt x="2709333" y="0"/>
                  </a:lnTo>
                  <a:lnTo>
                    <a:pt x="2709333" y="594525"/>
                  </a:lnTo>
                  <a:lnTo>
                    <a:pt x="0" y="594525"/>
                  </a:lnTo>
                  <a:close/>
                </a:path>
              </a:pathLst>
            </a:custGeom>
            <a:solidFill>
              <a:srgbClr val="0283F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7CA681B1-CC94-53EA-7C30-BC93C194BAC9}"/>
                </a:ext>
              </a:extLst>
            </p:cNvPr>
            <p:cNvSpPr txBox="1"/>
            <p:nvPr/>
          </p:nvSpPr>
          <p:spPr>
            <a:xfrm>
              <a:off x="0" y="-66675"/>
              <a:ext cx="2709333" cy="6612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24"/>
                </a:lnSpc>
              </a:pPr>
              <a:endParaRPr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8E97A018-68A8-D8F3-6821-BDC8AFEEC1AB}"/>
              </a:ext>
            </a:extLst>
          </p:cNvPr>
          <p:cNvGrpSpPr/>
          <p:nvPr/>
        </p:nvGrpSpPr>
        <p:grpSpPr>
          <a:xfrm>
            <a:off x="179467" y="6643814"/>
            <a:ext cx="8126333" cy="3488267"/>
            <a:chOff x="0" y="0"/>
            <a:chExt cx="844714" cy="36259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3474249D-CDB7-1167-A9C8-A05B42587249}"/>
                </a:ext>
              </a:extLst>
            </p:cNvPr>
            <p:cNvSpPr/>
            <p:nvPr/>
          </p:nvSpPr>
          <p:spPr>
            <a:xfrm>
              <a:off x="0" y="0"/>
              <a:ext cx="844714" cy="362598"/>
            </a:xfrm>
            <a:custGeom>
              <a:avLst/>
              <a:gdLst/>
              <a:ahLst/>
              <a:cxnLst/>
              <a:rect l="l" t="t" r="r" b="b"/>
              <a:pathLst>
                <a:path w="844714" h="362598">
                  <a:moveTo>
                    <a:pt x="203200" y="0"/>
                  </a:moveTo>
                  <a:lnTo>
                    <a:pt x="844714" y="0"/>
                  </a:lnTo>
                  <a:lnTo>
                    <a:pt x="641514" y="362598"/>
                  </a:lnTo>
                  <a:lnTo>
                    <a:pt x="0" y="362598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283FD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0C7BC017-CE66-6438-B91B-09D6E72301CF}"/>
                </a:ext>
              </a:extLst>
            </p:cNvPr>
            <p:cNvSpPr txBox="1"/>
            <p:nvPr/>
          </p:nvSpPr>
          <p:spPr>
            <a:xfrm>
              <a:off x="101600" y="-28575"/>
              <a:ext cx="641514" cy="391173"/>
            </a:xfrm>
            <a:prstGeom prst="rect">
              <a:avLst/>
            </a:prstGeom>
          </p:spPr>
          <p:txBody>
            <a:bodyPr lIns="47790" tIns="47790" rIns="47790" bIns="47790" rtlCol="0" anchor="ctr"/>
            <a:lstStyle/>
            <a:p>
              <a:pPr algn="ctr">
                <a:lnSpc>
                  <a:spcPts val="1843"/>
                </a:lnSpc>
              </a:pPr>
              <a:endParaRPr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2BB9E5F4-CE3E-5727-ECA9-12C0238AA593}"/>
              </a:ext>
            </a:extLst>
          </p:cNvPr>
          <p:cNvGrpSpPr/>
          <p:nvPr/>
        </p:nvGrpSpPr>
        <p:grpSpPr>
          <a:xfrm>
            <a:off x="0" y="6950004"/>
            <a:ext cx="16030661" cy="3336996"/>
            <a:chOff x="0" y="0"/>
            <a:chExt cx="6165409" cy="1271237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370EF054-51AE-3287-FECF-37F842C93DE8}"/>
                </a:ext>
              </a:extLst>
            </p:cNvPr>
            <p:cNvSpPr/>
            <p:nvPr/>
          </p:nvSpPr>
          <p:spPr>
            <a:xfrm>
              <a:off x="0" y="0"/>
              <a:ext cx="6165409" cy="1271237"/>
            </a:xfrm>
            <a:custGeom>
              <a:avLst/>
              <a:gdLst/>
              <a:ahLst/>
              <a:cxnLst/>
              <a:rect l="l" t="t" r="r" b="b"/>
              <a:pathLst>
                <a:path w="6165409" h="1271237">
                  <a:moveTo>
                    <a:pt x="0" y="0"/>
                  </a:moveTo>
                  <a:lnTo>
                    <a:pt x="6165409" y="0"/>
                  </a:lnTo>
                  <a:lnTo>
                    <a:pt x="6165409" y="1271237"/>
                  </a:lnTo>
                  <a:lnTo>
                    <a:pt x="0" y="127123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8DE20BF6-9B7E-FD00-B260-B2F5FDB470DF}"/>
                </a:ext>
              </a:extLst>
            </p:cNvPr>
            <p:cNvSpPr txBox="1"/>
            <p:nvPr/>
          </p:nvSpPr>
          <p:spPr>
            <a:xfrm>
              <a:off x="0" y="-28575"/>
              <a:ext cx="6165409" cy="1299812"/>
            </a:xfrm>
            <a:prstGeom prst="rect">
              <a:avLst/>
            </a:prstGeom>
          </p:spPr>
          <p:txBody>
            <a:bodyPr lIns="47790" tIns="47790" rIns="47790" bIns="47790" rtlCol="0" anchor="ctr"/>
            <a:lstStyle/>
            <a:p>
              <a:pPr algn="ctr">
                <a:lnSpc>
                  <a:spcPts val="1843"/>
                </a:lnSpc>
              </a:pPr>
              <a:endParaRPr/>
            </a:p>
          </p:txBody>
        </p:sp>
      </p:grpSp>
      <p:sp>
        <p:nvSpPr>
          <p:cNvPr id="12" name="TextBox 12">
            <a:extLst>
              <a:ext uri="{FF2B5EF4-FFF2-40B4-BE49-F238E27FC236}">
                <a16:creationId xmlns:a16="http://schemas.microsoft.com/office/drawing/2014/main" id="{0135B4C4-275B-3530-395C-5FD54D7ACAF9}"/>
              </a:ext>
            </a:extLst>
          </p:cNvPr>
          <p:cNvSpPr txBox="1"/>
          <p:nvPr/>
        </p:nvSpPr>
        <p:spPr>
          <a:xfrm>
            <a:off x="1111666" y="3432993"/>
            <a:ext cx="14771892" cy="598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400"/>
              </a:lnSpc>
            </a:pPr>
            <a:r>
              <a:rPr lang="en-US" sz="6000" b="1" dirty="0">
                <a:solidFill>
                  <a:srgbClr val="FFFFFF"/>
                </a:solidFill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SY0-701 – CompTIA Security+ Bootcamp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9D2E0BC5-00B5-462F-D128-694E8436994B}"/>
              </a:ext>
            </a:extLst>
          </p:cNvPr>
          <p:cNvSpPr txBox="1"/>
          <p:nvPr/>
        </p:nvSpPr>
        <p:spPr>
          <a:xfrm>
            <a:off x="1111666" y="4453765"/>
            <a:ext cx="11390186" cy="4924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US" sz="3200" b="1" dirty="0">
                <a:solidFill>
                  <a:srgbClr val="FFFFFF"/>
                </a:solidFill>
                <a:latin typeface="Arial"/>
                <a:ea typeface="+mn-lt"/>
                <a:cs typeface="Arial"/>
                <a:sym typeface="Arial"/>
              </a:rPr>
              <a:t>Day 1 – Block 4</a:t>
            </a:r>
            <a:endParaRPr lang="en-US" sz="3200" dirty="0">
              <a:solidFill>
                <a:srgbClr val="000000"/>
              </a:solidFill>
              <a:latin typeface="Calibri"/>
              <a:ea typeface="+mn-lt"/>
              <a:cs typeface="Calibri"/>
            </a:endParaRP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CA0EC783-CBE8-50B9-CD26-AB7D1329B1ED}"/>
              </a:ext>
            </a:extLst>
          </p:cNvPr>
          <p:cNvSpPr txBox="1"/>
          <p:nvPr/>
        </p:nvSpPr>
        <p:spPr>
          <a:xfrm>
            <a:off x="1111666" y="9653992"/>
            <a:ext cx="12263263" cy="3619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CALIFORNIA INSTITUTE OF APPLIED TECHNOLOGY</a:t>
            </a:r>
          </a:p>
        </p:txBody>
      </p:sp>
      <p:sp>
        <p:nvSpPr>
          <p:cNvPr id="15" name="AutoShape 15">
            <a:extLst>
              <a:ext uri="{FF2B5EF4-FFF2-40B4-BE49-F238E27FC236}">
                <a16:creationId xmlns:a16="http://schemas.microsoft.com/office/drawing/2014/main" id="{C43D9417-04FE-E71A-C270-05B0677BE965}"/>
              </a:ext>
            </a:extLst>
          </p:cNvPr>
          <p:cNvSpPr/>
          <p:nvPr/>
        </p:nvSpPr>
        <p:spPr>
          <a:xfrm>
            <a:off x="8010568" y="9858838"/>
            <a:ext cx="7625672" cy="0"/>
          </a:xfrm>
          <a:prstGeom prst="line">
            <a:avLst/>
          </a:prstGeom>
          <a:ln w="19050" cap="flat">
            <a:solidFill>
              <a:srgbClr val="0283F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7" name="Freeform 5">
            <a:extLst>
              <a:ext uri="{FF2B5EF4-FFF2-40B4-BE49-F238E27FC236}">
                <a16:creationId xmlns:a16="http://schemas.microsoft.com/office/drawing/2014/main" id="{6A0C2956-7899-79F3-DC1D-2E2EA29B702C}"/>
              </a:ext>
            </a:extLst>
          </p:cNvPr>
          <p:cNvSpPr/>
          <p:nvPr/>
        </p:nvSpPr>
        <p:spPr>
          <a:xfrm>
            <a:off x="1111666" y="355081"/>
            <a:ext cx="4247850" cy="631936"/>
          </a:xfrm>
          <a:custGeom>
            <a:avLst/>
            <a:gdLst/>
            <a:ahLst/>
            <a:cxnLst/>
            <a:rect l="l" t="t" r="r" b="b"/>
            <a:pathLst>
              <a:path w="4247850" h="631936">
                <a:moveTo>
                  <a:pt x="0" y="0"/>
                </a:moveTo>
                <a:lnTo>
                  <a:pt x="4247850" y="0"/>
                </a:lnTo>
                <a:lnTo>
                  <a:pt x="4247850" y="631935"/>
                </a:lnTo>
                <a:lnTo>
                  <a:pt x="0" y="63193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5" r="-5"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4DC0C203-37D7-1F4C-9B22-33073A9626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25308" y="8269924"/>
            <a:ext cx="1573291" cy="1551409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DD793173-738F-4BF6-0850-EE8415BFAF9C}"/>
              </a:ext>
            </a:extLst>
          </p:cNvPr>
          <p:cNvSpPr txBox="1"/>
          <p:nvPr/>
        </p:nvSpPr>
        <p:spPr>
          <a:xfrm>
            <a:off x="1111666" y="7106062"/>
            <a:ext cx="914400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2000" dirty="0"/>
              <a:t>Network Security Architecture</a:t>
            </a:r>
          </a:p>
          <a:p>
            <a:pPr lvl="1"/>
            <a:r>
              <a:rPr lang="en-US" altLang="en-US" sz="1600" dirty="0"/>
              <a:t>Firewalls</a:t>
            </a:r>
          </a:p>
          <a:p>
            <a:pPr lvl="1"/>
            <a:r>
              <a:rPr lang="en-US" altLang="en-US" sz="1600" dirty="0"/>
              <a:t>IDS / IPS</a:t>
            </a:r>
          </a:p>
          <a:p>
            <a:pPr lvl="1"/>
            <a:r>
              <a:rPr lang="en-US" altLang="en-US" sz="1600" dirty="0"/>
              <a:t>Network Segmentation</a:t>
            </a:r>
          </a:p>
          <a:p>
            <a:pPr lvl="1"/>
            <a:r>
              <a:rPr lang="en-US" altLang="en-US" sz="1600" dirty="0"/>
              <a:t>VLANS</a:t>
            </a:r>
          </a:p>
          <a:p>
            <a:pPr lvl="1"/>
            <a:r>
              <a:rPr lang="en-US" altLang="en-US" sz="1600" dirty="0"/>
              <a:t>DMZ</a:t>
            </a:r>
          </a:p>
        </p:txBody>
      </p:sp>
    </p:spTree>
    <p:extLst>
      <p:ext uri="{BB962C8B-B14F-4D97-AF65-F5344CB8AC3E}">
        <p14:creationId xmlns:p14="http://schemas.microsoft.com/office/powerpoint/2010/main" val="285784580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41BA7A-5A2C-F04C-BBC5-460229AD9B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FF50743-4055-0783-DAEE-874612810B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Slide </a:t>
            </a:r>
            <a:fld id="{4CA2B2DB-B91D-4166-98BF-65A0DA7EEE6D}" type="slidenum">
              <a:rPr lang="en-US" smtClean="0"/>
              <a:pPr/>
              <a:t>53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72BAD2-BAD1-791C-BAF3-A0B359DF5764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2536824"/>
            <a:ext cx="16192500" cy="5883276"/>
          </a:xfrm>
        </p:spPr>
        <p:txBody>
          <a:bodyPr/>
          <a:lstStyle/>
          <a:p>
            <a:endParaRPr lang="en-US" altLang="en-US" b="1" dirty="0"/>
          </a:p>
          <a:p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DAE15E5-7693-89FF-68BA-B10EE32384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36459EC7-D16E-8EEE-694C-F4FDFEFFF6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60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Network Infrastructure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0C6DB84-B617-FC56-5252-3E881B0D63E1}"/>
              </a:ext>
            </a:extLst>
          </p:cNvPr>
          <p:cNvSpPr txBox="1"/>
          <p:nvPr/>
        </p:nvSpPr>
        <p:spPr>
          <a:xfrm>
            <a:off x="842210" y="2536823"/>
            <a:ext cx="14469979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/>
              <a:t>Network infrastructure encompasses an organization’s essential hardware and software for network connectivity, communication, operations, and management.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B2BCA34-D098-5553-E25F-1017723E54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6872" y="4692435"/>
            <a:ext cx="8555156" cy="366339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7119BD2-4237-F849-8889-E7B03F7D8EC1}"/>
              </a:ext>
            </a:extLst>
          </p:cNvPr>
          <p:cNvSpPr txBox="1"/>
          <p:nvPr/>
        </p:nvSpPr>
        <p:spPr>
          <a:xfrm>
            <a:off x="4299285" y="4238930"/>
            <a:ext cx="927033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3366CC"/>
              </a:buClr>
              <a:buSzPct val="65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en-US" sz="3600" b="0" i="0" u="none" strike="noStrike" kern="0" cap="none" spc="0" normalizeH="0" baseline="0" noProof="0" dirty="0">
                <a:ln>
                  <a:noFill/>
                </a:ln>
                <a:solidFill>
                  <a:srgbClr val="AAAAAA">
                    <a:lumMod val="50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Evolution of Network Infrastructure</a:t>
            </a:r>
          </a:p>
        </p:txBody>
      </p:sp>
    </p:spTree>
    <p:extLst>
      <p:ext uri="{BB962C8B-B14F-4D97-AF65-F5344CB8AC3E}">
        <p14:creationId xmlns:p14="http://schemas.microsoft.com/office/powerpoint/2010/main" val="236673273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351452-EA75-0097-1902-2496485329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47B7FF4-66E1-3199-7437-1634D844EE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Slide </a:t>
            </a:r>
            <a:fld id="{4CA2B2DB-B91D-4166-98BF-65A0DA7EEE6D}" type="slidenum">
              <a:rPr lang="en-US" smtClean="0"/>
              <a:pPr/>
              <a:t>54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9B024F-7FB2-85D9-C229-30FE5036B28C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2536824"/>
            <a:ext cx="16192500" cy="5883276"/>
          </a:xfrm>
        </p:spPr>
        <p:txBody>
          <a:bodyPr/>
          <a:lstStyle/>
          <a:p>
            <a:pPr marL="0" indent="0">
              <a:spcBef>
                <a:spcPts val="900"/>
              </a:spcBef>
              <a:buNone/>
            </a:pPr>
            <a:r>
              <a:rPr lang="en-US" altLang="en-US" sz="3600" b="1" dirty="0"/>
              <a:t>Security zones</a:t>
            </a:r>
            <a:r>
              <a:rPr lang="en-US" altLang="en-US" sz="3600" dirty="0"/>
              <a:t>: Segregated areas in a network under specific security policies and controls</a:t>
            </a:r>
          </a:p>
          <a:p>
            <a:pPr>
              <a:spcBef>
                <a:spcPts val="900"/>
              </a:spcBef>
            </a:pPr>
            <a:r>
              <a:rPr lang="en-US" altLang="en-US" sz="3600" b="1" dirty="0"/>
              <a:t>Internal zones</a:t>
            </a:r>
            <a:r>
              <a:rPr lang="en-US" altLang="en-US" sz="3600" dirty="0"/>
              <a:t>: Trusted segments in which sensitive or internal data is processed</a:t>
            </a:r>
          </a:p>
          <a:p>
            <a:pPr>
              <a:spcBef>
                <a:spcPts val="900"/>
              </a:spcBef>
            </a:pPr>
            <a:r>
              <a:rPr lang="en-US" altLang="en-US" sz="3600" b="1" dirty="0"/>
              <a:t>External zones</a:t>
            </a:r>
            <a:r>
              <a:rPr lang="en-US" altLang="en-US" sz="3600" dirty="0"/>
              <a:t>: Areas allowing connections from public Internet or other untrusted networks</a:t>
            </a:r>
          </a:p>
          <a:p>
            <a:pPr>
              <a:spcBef>
                <a:spcPts val="900"/>
              </a:spcBef>
            </a:pPr>
            <a:r>
              <a:rPr lang="en-US" altLang="en-US" sz="3600" b="1" dirty="0"/>
              <a:t>Screened subnet</a:t>
            </a:r>
            <a:r>
              <a:rPr lang="en-US" altLang="en-US" sz="3600" dirty="0"/>
              <a:t>: Specialized external zone that isolates public-facing services from the Internet</a:t>
            </a:r>
          </a:p>
          <a:p>
            <a:pPr>
              <a:spcBef>
                <a:spcPts val="900"/>
              </a:spcBef>
            </a:pPr>
            <a:r>
              <a:rPr lang="en-US" altLang="en-US" sz="3600" b="1" dirty="0"/>
              <a:t>Specialized zones</a:t>
            </a:r>
            <a:r>
              <a:rPr lang="en-US" altLang="en-US" sz="3600" dirty="0"/>
              <a:t>: Zones designed to meet regulatory compliance requirements</a:t>
            </a:r>
          </a:p>
          <a:p>
            <a:endParaRPr lang="en-US" altLang="en-US" b="1" dirty="0"/>
          </a:p>
          <a:p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CC0B65-056A-43C1-645D-7E3FB01015A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E3FD735-4392-2AA3-03F2-B3448AD452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60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Security Zones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055907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570D6A-7727-EF09-5996-BBC9990E1C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B40E583-9B35-2C3F-3B0F-6DF5B3BC4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Slide </a:t>
            </a:r>
            <a:fld id="{4CA2B2DB-B91D-4166-98BF-65A0DA7EEE6D}" type="slidenum">
              <a:rPr lang="en-US" smtClean="0"/>
              <a:pPr/>
              <a:t>55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93B67C-65EC-E865-0F4E-A2C8EEA1C90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2536824"/>
            <a:ext cx="16192500" cy="5883276"/>
          </a:xfrm>
        </p:spPr>
        <p:txBody>
          <a:bodyPr/>
          <a:lstStyle/>
          <a:p>
            <a:pPr marL="0" indent="0">
              <a:spcBef>
                <a:spcPts val="900"/>
              </a:spcBef>
              <a:buNone/>
            </a:pPr>
            <a:r>
              <a:rPr lang="en-US" altLang="en-US" sz="3600" b="1" dirty="0"/>
              <a:t>Attack surface</a:t>
            </a:r>
            <a:r>
              <a:rPr lang="en-US" altLang="en-US" sz="3600" dirty="0"/>
              <a:t>: All the vulnerabilities and potential access points an attacker could use to gain access to the system</a:t>
            </a:r>
          </a:p>
          <a:p>
            <a:pPr>
              <a:spcBef>
                <a:spcPts val="900"/>
              </a:spcBef>
            </a:pPr>
            <a:r>
              <a:rPr lang="en-US" altLang="en-US" sz="3600" dirty="0"/>
              <a:t>Larger surface = Greater risk</a:t>
            </a:r>
          </a:p>
          <a:p>
            <a:pPr>
              <a:spcBef>
                <a:spcPts val="900"/>
              </a:spcBef>
            </a:pPr>
            <a:r>
              <a:rPr lang="en-US" altLang="en-US" sz="3600" dirty="0"/>
              <a:t>Strategies to reduce the attack surface</a:t>
            </a:r>
          </a:p>
          <a:p>
            <a:pPr lvl="1">
              <a:spcBef>
                <a:spcPts val="900"/>
              </a:spcBef>
            </a:pPr>
            <a:r>
              <a:rPr lang="en-US" altLang="en-US" sz="3300" dirty="0"/>
              <a:t>	Turn off unnecessary services</a:t>
            </a:r>
          </a:p>
          <a:p>
            <a:pPr lvl="1">
              <a:spcBef>
                <a:spcPts val="900"/>
              </a:spcBef>
            </a:pPr>
            <a:r>
              <a:rPr lang="en-US" altLang="en-US" sz="3300" dirty="0"/>
              <a:t>	Close open ports</a:t>
            </a:r>
          </a:p>
          <a:p>
            <a:pPr lvl="1">
              <a:spcBef>
                <a:spcPts val="900"/>
              </a:spcBef>
            </a:pPr>
            <a:r>
              <a:rPr lang="en-US" altLang="en-US" sz="3300" dirty="0"/>
              <a:t>	Apply patches and updates</a:t>
            </a:r>
          </a:p>
          <a:p>
            <a:pPr lvl="1">
              <a:spcBef>
                <a:spcPts val="900"/>
              </a:spcBef>
            </a:pPr>
            <a:r>
              <a:rPr lang="en-US" altLang="en-US" sz="3300" dirty="0"/>
              <a:t>	Use firewalls</a:t>
            </a:r>
          </a:p>
          <a:p>
            <a:pPr lvl="1">
              <a:spcBef>
                <a:spcPts val="900"/>
              </a:spcBef>
            </a:pPr>
            <a:r>
              <a:rPr lang="en-US" altLang="en-US" sz="3300" dirty="0"/>
              <a:t>	Implement strong authentication</a:t>
            </a:r>
          </a:p>
          <a:p>
            <a:endParaRPr lang="en-US" altLang="en-US" b="1" dirty="0"/>
          </a:p>
          <a:p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0B48AB0-AB29-E92C-3373-432E8FBB1C0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8F5D05F-0509-2668-D379-977D156F61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60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Attack Surface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679809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96E5BC-43F9-1A66-DB2F-0B5E33CBF1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CE9D5B4-8C12-1B49-9753-290BA745CD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Slide </a:t>
            </a:r>
            <a:fld id="{4CA2B2DB-B91D-4166-98BF-65A0DA7EEE6D}" type="slidenum">
              <a:rPr lang="en-US" smtClean="0"/>
              <a:pPr/>
              <a:t>56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1B9D92-0788-0131-0021-E9B6019C5BDE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2536824"/>
            <a:ext cx="16192500" cy="5883276"/>
          </a:xfrm>
        </p:spPr>
        <p:txBody>
          <a:bodyPr/>
          <a:lstStyle/>
          <a:p>
            <a:pPr marL="0" indent="0">
              <a:spcBef>
                <a:spcPts val="900"/>
              </a:spcBef>
              <a:buNone/>
            </a:pPr>
            <a:r>
              <a:rPr lang="en-US" altLang="en-US" sz="3600" b="1" dirty="0"/>
              <a:t>Connectivity</a:t>
            </a:r>
            <a:r>
              <a:rPr lang="en-US" altLang="en-US" sz="3600" dirty="0"/>
              <a:t>: How networks, systems, and applications connect and communicate</a:t>
            </a:r>
          </a:p>
          <a:p>
            <a:pPr>
              <a:spcBef>
                <a:spcPts val="900"/>
              </a:spcBef>
            </a:pPr>
            <a:r>
              <a:rPr lang="en-US" altLang="en-US" sz="3600" dirty="0"/>
              <a:t>Security considerations </a:t>
            </a:r>
          </a:p>
          <a:p>
            <a:pPr lvl="1">
              <a:spcBef>
                <a:spcPts val="900"/>
              </a:spcBef>
            </a:pPr>
            <a:r>
              <a:rPr lang="en-US" altLang="en-US" sz="3600" dirty="0"/>
              <a:t>	Encrypt data in transit</a:t>
            </a:r>
          </a:p>
          <a:p>
            <a:pPr lvl="1">
              <a:spcBef>
                <a:spcPts val="900"/>
              </a:spcBef>
            </a:pPr>
            <a:r>
              <a:rPr lang="en-US" altLang="en-US" sz="3600" dirty="0"/>
              <a:t>	Secure connection endpoints</a:t>
            </a:r>
          </a:p>
          <a:p>
            <a:pPr lvl="1">
              <a:spcBef>
                <a:spcPts val="900"/>
              </a:spcBef>
            </a:pPr>
            <a:r>
              <a:rPr lang="en-US" altLang="en-US" sz="3600" dirty="0"/>
              <a:t>	Employ secure protocols</a:t>
            </a:r>
          </a:p>
          <a:p>
            <a:pPr lvl="1">
              <a:spcBef>
                <a:spcPts val="900"/>
              </a:spcBef>
            </a:pPr>
            <a:r>
              <a:rPr lang="en-US" altLang="en-US" sz="3600" dirty="0"/>
              <a:t>	Use VPNs or firewalls</a:t>
            </a:r>
          </a:p>
          <a:p>
            <a:pPr>
              <a:spcBef>
                <a:spcPts val="900"/>
              </a:spcBef>
            </a:pPr>
            <a:r>
              <a:rPr lang="en-US" altLang="en-US" sz="3600" dirty="0"/>
              <a:t>Remember connectivity when designing new systems with other departments</a:t>
            </a:r>
          </a:p>
          <a:p>
            <a:endParaRPr lang="en-US" altLang="en-US" b="1" dirty="0"/>
          </a:p>
          <a:p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FC9A09D-EE50-3E06-874B-45434F91B6D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046201B2-EA72-0E33-17A8-1B7E9A404C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60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Connectivity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764693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03827B-6C02-2424-3523-98E3510C95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B38DA38-0AEA-BE73-4D2B-1A2D76A563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Slide </a:t>
            </a:r>
            <a:fld id="{4CA2B2DB-B91D-4166-98BF-65A0DA7EEE6D}" type="slidenum">
              <a:rPr lang="en-US" smtClean="0"/>
              <a:pPr/>
              <a:t>57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DD9BF4-2AE0-5E54-0704-F7E72F4C1E3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2536824"/>
            <a:ext cx="16192500" cy="5883276"/>
          </a:xfrm>
        </p:spPr>
        <p:txBody>
          <a:bodyPr/>
          <a:lstStyle/>
          <a:p>
            <a:pPr>
              <a:spcBef>
                <a:spcPts val="900"/>
              </a:spcBef>
            </a:pPr>
            <a:r>
              <a:rPr lang="en-US" altLang="en-US" sz="3600" b="1" dirty="0"/>
              <a:t>Fail-open configuration</a:t>
            </a:r>
            <a:r>
              <a:rPr lang="en-US" altLang="en-US" sz="3600" dirty="0"/>
              <a:t>: System remains available if a portion fails</a:t>
            </a:r>
          </a:p>
          <a:p>
            <a:pPr>
              <a:spcBef>
                <a:spcPts val="900"/>
              </a:spcBef>
            </a:pPr>
            <a:r>
              <a:rPr lang="en-US" altLang="en-US" sz="3600" b="1" dirty="0"/>
              <a:t>Fail-closed configuration</a:t>
            </a:r>
            <a:r>
              <a:rPr lang="en-US" altLang="en-US" sz="3600" dirty="0"/>
              <a:t>: Entire system becomes inaccessible if a portion fails</a:t>
            </a:r>
          </a:p>
          <a:p>
            <a:pPr>
              <a:spcBef>
                <a:spcPts val="900"/>
              </a:spcBef>
            </a:pPr>
            <a:r>
              <a:rPr lang="en-US" altLang="en-US" sz="3600" dirty="0"/>
              <a:t>Examples</a:t>
            </a:r>
          </a:p>
          <a:p>
            <a:pPr lvl="1">
              <a:spcBef>
                <a:spcPts val="900"/>
              </a:spcBef>
            </a:pPr>
            <a:r>
              <a:rPr lang="en-US" altLang="en-US" sz="3300" dirty="0"/>
              <a:t>	DNS server: May fail open to continue servicing other zones, but the database 	server may fail closed to protect confidential information</a:t>
            </a:r>
          </a:p>
          <a:p>
            <a:pPr lvl="1">
              <a:spcBef>
                <a:spcPts val="900"/>
              </a:spcBef>
            </a:pPr>
            <a:r>
              <a:rPr lang="en-US" altLang="en-US" sz="3300" dirty="0"/>
              <a:t>	Firewall: Would fail closed to maintain security</a:t>
            </a:r>
          </a:p>
          <a:p>
            <a:endParaRPr lang="en-US" altLang="en-US" b="1" dirty="0"/>
          </a:p>
          <a:p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2C8EE87-67B1-D9B5-7D35-1C1A891B05C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9287F62-9685-A456-3B88-BCDC46B9FB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60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Failure Modes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517741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337868-51F8-D2D2-3483-729596E3C5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6E2D88E-9DFB-08BE-FFEB-0279F81B85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Slide </a:t>
            </a:r>
            <a:fld id="{4CA2B2DB-B91D-4166-98BF-65A0DA7EEE6D}" type="slidenum">
              <a:rPr lang="en-US" smtClean="0"/>
              <a:pPr/>
              <a:t>58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7DE421-483E-E480-4E37-1DD61449C33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2536824"/>
            <a:ext cx="16611600" cy="6340476"/>
          </a:xfrm>
        </p:spPr>
        <p:txBody>
          <a:bodyPr/>
          <a:lstStyle/>
          <a:p>
            <a:pPr marL="0" indent="0">
              <a:spcBef>
                <a:spcPts val="900"/>
              </a:spcBef>
              <a:buNone/>
            </a:pPr>
            <a:r>
              <a:rPr lang="en-US" altLang="en-US" sz="3600" b="1" dirty="0"/>
              <a:t>Device attribute</a:t>
            </a:r>
            <a:r>
              <a:rPr lang="en-US" altLang="en-US" sz="3600" dirty="0"/>
              <a:t>: </a:t>
            </a:r>
            <a:r>
              <a:rPr lang="en-US" altLang="en-US" dirty="0"/>
              <a:t>A characteristic determining device operation in a network environment</a:t>
            </a:r>
          </a:p>
          <a:p>
            <a:pPr>
              <a:spcBef>
                <a:spcPts val="900"/>
              </a:spcBef>
            </a:pPr>
            <a:r>
              <a:rPr lang="en-US" altLang="en-US" b="1" dirty="0"/>
              <a:t>Active vs. passive</a:t>
            </a:r>
            <a:endParaRPr lang="en-US" altLang="en-US" dirty="0"/>
          </a:p>
          <a:p>
            <a:pPr lvl="1">
              <a:spcBef>
                <a:spcPts val="900"/>
              </a:spcBef>
            </a:pPr>
            <a:r>
              <a:rPr lang="en-US" altLang="en-US" sz="3300" dirty="0"/>
              <a:t>	</a:t>
            </a:r>
            <a:r>
              <a:rPr lang="en-US" altLang="en-US" sz="3200" dirty="0"/>
              <a:t>Active/active: Devices share workload simultaneously; critical for failover or load 	balancing</a:t>
            </a:r>
          </a:p>
          <a:p>
            <a:pPr lvl="1">
              <a:spcBef>
                <a:spcPts val="900"/>
              </a:spcBef>
            </a:pPr>
            <a:r>
              <a:rPr lang="en-US" altLang="en-US" sz="3200" dirty="0"/>
              <a:t>	Active/passive: One device active, another on standby; passive activates if active 	fails or is manually switched</a:t>
            </a:r>
          </a:p>
          <a:p>
            <a:pPr>
              <a:spcBef>
                <a:spcPts val="900"/>
              </a:spcBef>
            </a:pPr>
            <a:r>
              <a:rPr lang="en-US" altLang="en-US" b="1" dirty="0"/>
              <a:t>Inline monitoring vs. tap/monitor mode</a:t>
            </a:r>
            <a:endParaRPr lang="en-US" altLang="en-US" dirty="0"/>
          </a:p>
          <a:p>
            <a:pPr lvl="1">
              <a:spcBef>
                <a:spcPts val="900"/>
              </a:spcBef>
            </a:pPr>
            <a:r>
              <a:rPr lang="en-US" altLang="en-US" sz="3300" dirty="0"/>
              <a:t>	</a:t>
            </a:r>
            <a:r>
              <a:rPr lang="en-US" altLang="en-US" sz="3200" dirty="0"/>
              <a:t>Inline monitoring: Device is placed directly in the traffic flow, allowing active intervention</a:t>
            </a:r>
          </a:p>
          <a:p>
            <a:pPr lvl="1">
              <a:spcBef>
                <a:spcPts val="900"/>
              </a:spcBef>
            </a:pPr>
            <a:r>
              <a:rPr lang="en-US" altLang="en-US" sz="3200" dirty="0"/>
              <a:t>	Tap/monitor mode: Device observes traffic without interfering.</a:t>
            </a:r>
          </a:p>
          <a:p>
            <a:endParaRPr lang="en-US" altLang="en-US" b="1" dirty="0"/>
          </a:p>
          <a:p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D748A08-C209-5A6B-6E1A-CD0D8C7B0AE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A8E0556-CAA1-0D29-3AD3-A23E435265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60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Device Attribute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639983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83C0CC-46B6-51A1-00D9-F65CD0A64B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337B1E6-ACF4-1213-F8BE-AB3894D5DD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Slide </a:t>
            </a:r>
            <a:fld id="{4CA2B2DB-B91D-4166-98BF-65A0DA7EEE6D}" type="slidenum">
              <a:rPr lang="en-US" smtClean="0"/>
              <a:pPr/>
              <a:t>59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DA54E1-63AE-F8B4-F11E-BB7B0493F7F2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2536824"/>
            <a:ext cx="16192500" cy="6340476"/>
          </a:xfrm>
        </p:spPr>
        <p:txBody>
          <a:bodyPr/>
          <a:lstStyle/>
          <a:p>
            <a:pPr marL="0" indent="0">
              <a:spcBef>
                <a:spcPts val="900"/>
              </a:spcBef>
              <a:buNone/>
            </a:pPr>
            <a:r>
              <a:rPr lang="en-US" altLang="en-US" sz="3600" b="1" dirty="0"/>
              <a:t>Network appliances</a:t>
            </a:r>
            <a:r>
              <a:rPr lang="en-US" altLang="en-US" sz="3600" dirty="0"/>
              <a:t>: Essential for network functionality, security, and efficiency</a:t>
            </a:r>
          </a:p>
          <a:p>
            <a:pPr>
              <a:spcBef>
                <a:spcPts val="900"/>
              </a:spcBef>
            </a:pPr>
            <a:r>
              <a:rPr lang="en-US" altLang="en-US" sz="3600" dirty="0"/>
              <a:t>Types of network appliances</a:t>
            </a:r>
          </a:p>
          <a:p>
            <a:pPr lvl="1">
              <a:spcBef>
                <a:spcPts val="900"/>
              </a:spcBef>
            </a:pPr>
            <a:r>
              <a:rPr lang="en-US" altLang="en-US" sz="3600" dirty="0"/>
              <a:t>	Jump server</a:t>
            </a:r>
          </a:p>
          <a:p>
            <a:pPr lvl="1">
              <a:spcBef>
                <a:spcPts val="900"/>
              </a:spcBef>
            </a:pPr>
            <a:r>
              <a:rPr lang="en-US" altLang="en-US" sz="3600" dirty="0"/>
              <a:t>	Proxy server</a:t>
            </a:r>
          </a:p>
          <a:p>
            <a:pPr lvl="1">
              <a:spcBef>
                <a:spcPts val="900"/>
              </a:spcBef>
            </a:pPr>
            <a:r>
              <a:rPr lang="en-US" altLang="en-US" sz="3600" dirty="0"/>
              <a:t>	Intrusion Prevention System (IPS)/Intrusion Detection System (IDS)</a:t>
            </a:r>
          </a:p>
          <a:p>
            <a:pPr lvl="1">
              <a:spcBef>
                <a:spcPts val="900"/>
              </a:spcBef>
            </a:pPr>
            <a:r>
              <a:rPr lang="en-US" altLang="en-US" sz="3600" dirty="0"/>
              <a:t>	Load balancer</a:t>
            </a:r>
          </a:p>
          <a:p>
            <a:pPr lvl="1">
              <a:spcBef>
                <a:spcPts val="900"/>
              </a:spcBef>
            </a:pPr>
            <a:r>
              <a:rPr lang="en-US" altLang="en-US" sz="3600" dirty="0"/>
              <a:t>	Sensors</a:t>
            </a:r>
          </a:p>
          <a:p>
            <a:endParaRPr lang="en-US" altLang="en-US" b="1" dirty="0"/>
          </a:p>
          <a:p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35201A-FAD4-96D8-6836-B6E1FD26868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292B4C1E-46AC-DE56-A3F8-9E458C0B1A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60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Network Appliances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097655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DC497C-5696-9AE9-4E17-C4367E130D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01F9F5A-F4F5-748E-BB0D-D295D81224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Slide </a:t>
            </a:r>
            <a:fld id="{4CA2B2DB-B91D-4166-98BF-65A0DA7EEE6D}" type="slidenum">
              <a:rPr lang="en-US" smtClean="0"/>
              <a:pPr/>
              <a:t>60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3852C0-7DA6-B3CA-38C6-D512772A606F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2536824"/>
            <a:ext cx="16192500" cy="6340476"/>
          </a:xfrm>
        </p:spPr>
        <p:txBody>
          <a:bodyPr/>
          <a:lstStyle/>
          <a:p>
            <a:pPr marL="0" indent="0">
              <a:spcBef>
                <a:spcPts val="900"/>
              </a:spcBef>
              <a:buNone/>
            </a:pPr>
            <a:r>
              <a:rPr lang="en-US" altLang="en-US" sz="4000" b="1" dirty="0"/>
              <a:t>Port security </a:t>
            </a:r>
            <a:r>
              <a:rPr lang="en-US" altLang="en-US" sz="4000" dirty="0"/>
              <a:t>is vital for safeguarding network access and preventing unauthorized devices from communicating through network ports.</a:t>
            </a:r>
          </a:p>
          <a:p>
            <a:pPr>
              <a:spcBef>
                <a:spcPts val="900"/>
              </a:spcBef>
            </a:pPr>
            <a:r>
              <a:rPr lang="en-US" altLang="en-US" sz="3600" dirty="0"/>
              <a:t>The </a:t>
            </a:r>
            <a:r>
              <a:rPr lang="en-US" altLang="en-US" sz="3600" b="1" dirty="0"/>
              <a:t>802.1X</a:t>
            </a:r>
            <a:r>
              <a:rPr lang="en-US" altLang="en-US" sz="3600" dirty="0"/>
              <a:t> authentication standard provides port-based network access control.</a:t>
            </a:r>
          </a:p>
          <a:p>
            <a:pPr>
              <a:spcBef>
                <a:spcPts val="900"/>
              </a:spcBef>
            </a:pPr>
            <a:r>
              <a:rPr lang="en-US" altLang="en-US" sz="3600" b="1" dirty="0"/>
              <a:t>EAP</a:t>
            </a:r>
            <a:r>
              <a:rPr lang="en-US" altLang="en-US" sz="3600" dirty="0"/>
              <a:t> is a universal authentication framework that defines message formats. It’s frequently used with 802.1X.</a:t>
            </a:r>
          </a:p>
          <a:p>
            <a:endParaRPr lang="en-US" altLang="en-US" b="1" dirty="0"/>
          </a:p>
          <a:p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9F2279F-A391-4836-80FD-D28C6BED992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DBA5BFD-3765-7489-7923-0A72CE0C55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60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Port Security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527683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792AE3-071A-9E23-DFF0-E06518E8BB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03553B9-5CE4-4254-4A62-494FAF4A1E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0" y="1409700"/>
            <a:ext cx="7658100" cy="5761517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805BE2B-9CE3-2EF5-AE76-E5C46FC0AF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Slide </a:t>
            </a:r>
            <a:fld id="{4CA2B2DB-B91D-4166-98BF-65A0DA7EEE6D}" type="slidenum">
              <a:rPr lang="en-US" smtClean="0"/>
              <a:pPr/>
              <a:t>61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5E692B-2B00-0700-19A6-24B135D83E3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2536823"/>
            <a:ext cx="7924801" cy="4634393"/>
          </a:xfrm>
        </p:spPr>
        <p:txBody>
          <a:bodyPr/>
          <a:lstStyle/>
          <a:p>
            <a:pPr marL="0" indent="0">
              <a:spcBef>
                <a:spcPts val="300"/>
              </a:spcBef>
              <a:buNone/>
            </a:pPr>
            <a:r>
              <a:rPr lang="en-US" altLang="en-US" sz="4000" dirty="0"/>
              <a:t>A </a:t>
            </a:r>
            <a:r>
              <a:rPr lang="en-US" altLang="en-US" sz="4000" b="1" dirty="0"/>
              <a:t>firewall</a:t>
            </a:r>
            <a:r>
              <a:rPr lang="en-US" altLang="en-US" sz="4000" dirty="0"/>
              <a:t> is a network security device or software that acts as a barrier between a trusted internal network and untrusted external networks, such as the Internet.</a:t>
            </a:r>
          </a:p>
          <a:p>
            <a:endParaRPr lang="en-US" altLang="en-US" b="1" dirty="0"/>
          </a:p>
          <a:p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78980DD-8F16-A64F-114E-374948E5481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491E978F-5BDE-63AB-CDFC-575826BB3E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60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Firewall Types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624388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A67A4E-4B97-1A9E-7049-49D272923B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CA019EF-2EF1-1496-9ED6-0B257BEC17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Slide </a:t>
            </a:r>
            <a:fld id="{4CA2B2DB-B91D-4166-98BF-65A0DA7EEE6D}" type="slidenum">
              <a:rPr lang="en-US" smtClean="0"/>
              <a:pPr/>
              <a:t>62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76D10E-AC8E-D700-49BB-6DB46D30025D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2536823"/>
            <a:ext cx="16192500" cy="6794502"/>
          </a:xfrm>
        </p:spPr>
        <p:txBody>
          <a:bodyPr/>
          <a:lstStyle/>
          <a:p>
            <a:pPr marL="0" indent="0">
              <a:spcBef>
                <a:spcPts val="900"/>
              </a:spcBef>
              <a:buNone/>
            </a:pPr>
            <a:r>
              <a:rPr lang="en-US" altLang="en-US" sz="4000" dirty="0"/>
              <a:t>A </a:t>
            </a:r>
            <a:r>
              <a:rPr lang="en-US" altLang="en-US" sz="4000" b="1" dirty="0"/>
              <a:t>firewall </a:t>
            </a:r>
            <a:r>
              <a:rPr lang="en-US" altLang="en-US" sz="4000" dirty="0"/>
              <a:t>is a network security device or software that monitors incoming and outgoing network traffic.</a:t>
            </a:r>
          </a:p>
          <a:p>
            <a:pPr>
              <a:spcBef>
                <a:spcPts val="900"/>
              </a:spcBef>
            </a:pPr>
            <a:r>
              <a:rPr lang="en-US" altLang="en-US" sz="3600" b="1" dirty="0"/>
              <a:t>Firewall rules</a:t>
            </a:r>
            <a:r>
              <a:rPr lang="en-US" altLang="en-US" sz="3600" dirty="0"/>
              <a:t> control the flow of data packets.</a:t>
            </a:r>
          </a:p>
          <a:p>
            <a:pPr>
              <a:spcBef>
                <a:spcPts val="900"/>
              </a:spcBef>
            </a:pPr>
            <a:r>
              <a:rPr lang="en-US" altLang="en-US" sz="3600" b="1" dirty="0"/>
              <a:t>Access control lists</a:t>
            </a:r>
            <a:r>
              <a:rPr lang="en-US" altLang="en-US" sz="3600" dirty="0"/>
              <a:t> </a:t>
            </a:r>
            <a:r>
              <a:rPr lang="en-US" altLang="en-US" sz="3600" b="1" dirty="0"/>
              <a:t>(ACLs) </a:t>
            </a:r>
            <a:r>
              <a:rPr lang="en-US" altLang="en-US" sz="3600" dirty="0"/>
              <a:t>govern how traffic flows through the network.</a:t>
            </a:r>
          </a:p>
          <a:p>
            <a:pPr>
              <a:spcBef>
                <a:spcPts val="900"/>
              </a:spcBef>
            </a:pPr>
            <a:r>
              <a:rPr lang="en-US" altLang="en-US" sz="3600" b="1" dirty="0"/>
              <a:t>Ports </a:t>
            </a:r>
            <a:r>
              <a:rPr lang="en-US" altLang="en-US" sz="3600" dirty="0"/>
              <a:t>are virtual docks where network services can receive data.</a:t>
            </a:r>
          </a:p>
          <a:p>
            <a:pPr>
              <a:spcBef>
                <a:spcPts val="900"/>
              </a:spcBef>
            </a:pPr>
            <a:r>
              <a:rPr lang="en-US" altLang="en-US" sz="3600" b="1" dirty="0"/>
              <a:t>Protocols</a:t>
            </a:r>
            <a:r>
              <a:rPr lang="en-US" altLang="en-US" sz="3600" dirty="0"/>
              <a:t> are rules and conventions governing data transmission and acceptance.</a:t>
            </a:r>
          </a:p>
          <a:p>
            <a:pPr>
              <a:spcBef>
                <a:spcPts val="900"/>
              </a:spcBef>
            </a:pPr>
            <a:r>
              <a:rPr lang="en-US" altLang="en-US" sz="3600" dirty="0"/>
              <a:t>A </a:t>
            </a:r>
            <a:r>
              <a:rPr lang="en-US" altLang="en-US" sz="3600" b="1" dirty="0"/>
              <a:t>screened subnet</a:t>
            </a:r>
            <a:r>
              <a:rPr lang="en-US" altLang="en-US" sz="3600" dirty="0"/>
              <a:t> is a segment that separates the internal network from an external network (e.g., the Internet).</a:t>
            </a:r>
          </a:p>
          <a:p>
            <a:endParaRPr lang="en-US" altLang="en-US" b="1" dirty="0"/>
          </a:p>
          <a:p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12D6262-B812-669A-3379-926252CBE88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B74FFB2B-4DEA-72F2-DB0A-34C4E7A551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60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Firewall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480563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8FED22-BBDA-89B5-2459-A4E6912DA1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61C1829-E66A-5026-4690-6919A74B66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Slide </a:t>
            </a:r>
            <a:fld id="{4CA2B2DB-B91D-4166-98BF-65A0DA7EEE6D}" type="slidenum">
              <a:rPr lang="en-US" smtClean="0"/>
              <a:pPr/>
              <a:t>63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0580F9-C723-C8F7-1C48-7BCB546A32A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2536823"/>
            <a:ext cx="16192500" cy="5654677"/>
          </a:xfrm>
        </p:spPr>
        <p:txBody>
          <a:bodyPr/>
          <a:lstStyle/>
          <a:p>
            <a:pPr marL="0" indent="0">
              <a:spcBef>
                <a:spcPts val="900"/>
              </a:spcBef>
              <a:buNone/>
            </a:pPr>
            <a:r>
              <a:rPr lang="en-US" altLang="en-US" sz="4400" b="1" dirty="0"/>
              <a:t>Intrusion detection systems (IDSs) </a:t>
            </a:r>
            <a:r>
              <a:rPr lang="en-US" altLang="en-US" sz="4400" dirty="0"/>
              <a:t>monitor and issue alerts about suspicious activities. </a:t>
            </a:r>
            <a:r>
              <a:rPr lang="en-US" altLang="en-US" sz="4400" b="1" dirty="0"/>
              <a:t>Intrusion protection systems (IPSs) </a:t>
            </a:r>
            <a:r>
              <a:rPr lang="en-US" altLang="en-US" sz="4400" dirty="0"/>
              <a:t>are proactive; they block known or potential threats.</a:t>
            </a:r>
          </a:p>
          <a:p>
            <a:pPr>
              <a:spcBef>
                <a:spcPts val="900"/>
              </a:spcBef>
            </a:pPr>
            <a:r>
              <a:rPr lang="en-US" altLang="en-US" sz="4000" dirty="0"/>
              <a:t>These systems use predefined </a:t>
            </a:r>
            <a:r>
              <a:rPr lang="en-US" altLang="en-US" sz="4000" b="1" dirty="0"/>
              <a:t>signatures </a:t>
            </a:r>
            <a:r>
              <a:rPr lang="en-US" altLang="en-US" sz="4000" dirty="0"/>
              <a:t>(such as specific strings of data) to identify threats. However, known signatures could become irrelevant as new variants of malware emerge.</a:t>
            </a:r>
          </a:p>
          <a:p>
            <a:pPr>
              <a:spcBef>
                <a:spcPts val="900"/>
              </a:spcBef>
            </a:pPr>
            <a:r>
              <a:rPr lang="en-US" altLang="en-US" sz="4000" b="1" dirty="0"/>
              <a:t>Trends </a:t>
            </a:r>
            <a:r>
              <a:rPr lang="en-US" altLang="en-US" sz="4000" dirty="0"/>
              <a:t>identified in analyses of logs can indicate the presence of new vulnerabilities. </a:t>
            </a:r>
          </a:p>
          <a:p>
            <a:endParaRPr lang="en-US" altLang="en-US" b="1" dirty="0"/>
          </a:p>
          <a:p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C069B1C-A5DF-3362-5ED6-0E2CB4D126D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A609122-486E-42AA-ACD9-E0931B8ADB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60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IDS/IPS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7157170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848DE5D-4F9E-17F8-CA2F-FD3B5C2C55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Slide </a:t>
            </a:r>
            <a:fld id="{4CA2B2DB-B91D-4166-98BF-65A0DA7EEE6D}" type="slidenum">
              <a:rPr lang="en-US" smtClean="0"/>
              <a:pPr/>
              <a:t>64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E4B864-6D4A-6D94-6861-423B07CC17B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564312" y="2289175"/>
            <a:ext cx="5387975" cy="495300"/>
          </a:xfrm>
        </p:spPr>
        <p:txBody>
          <a:bodyPr/>
          <a:lstStyle/>
          <a:p>
            <a:r>
              <a:rPr lang="en-US" dirty="0"/>
              <a:t>OSI Model vs. TCP/IP Model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C3EC229-27CF-B51E-B32E-D98E05CE252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192000" y="9725452"/>
            <a:ext cx="5943600" cy="307975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https://neosnetworks.com/resources/blog/what-is-osi-model/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4ACC19B-8FF0-7A80-87FD-79385D1950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Lunch</a:t>
            </a:r>
          </a:p>
        </p:txBody>
      </p:sp>
      <p:pic>
        <p:nvPicPr>
          <p:cNvPr id="7" name="Picture 2" descr="Showing the 7 layers of the OSI model (Application, Presentation, Session, Transport, Network, Data Link and Physical) and how they correspond to the 4 layers of the TCP/IP model (Application, Transport, Internet and Link)">
            <a:extLst>
              <a:ext uri="{FF2B5EF4-FFF2-40B4-BE49-F238E27FC236}">
                <a16:creationId xmlns:a16="http://schemas.microsoft.com/office/drawing/2014/main" id="{EB45C23F-820E-C2E2-DAD5-F6F9972F0923}"/>
              </a:ext>
            </a:extLst>
          </p:cNvPr>
          <p:cNvPicPr>
            <a:picLocks noGrp="1" noChangeAspect="1" noChangeArrowheads="1"/>
          </p:cNvPicPr>
          <p:nvPr>
            <p:ph sz="quarter" idx="1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3" b="2174"/>
          <a:stretch>
            <a:fillRect/>
          </a:stretch>
        </p:blipFill>
        <p:spPr bwMode="auto">
          <a:xfrm>
            <a:off x="4302940" y="3029277"/>
            <a:ext cx="9910718" cy="5456238"/>
          </a:xfrm>
          <a:prstGeom prst="rect">
            <a:avLst/>
          </a:prstGeom>
          <a:solidFill>
            <a:srgbClr val="FFFFFF"/>
          </a:solidFill>
        </p:spPr>
      </p:pic>
    </p:spTree>
    <p:extLst>
      <p:ext uri="{BB962C8B-B14F-4D97-AF65-F5344CB8AC3E}">
        <p14:creationId xmlns:p14="http://schemas.microsoft.com/office/powerpoint/2010/main" val="1639431391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15194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E0F60DB-C54B-52A6-478E-F537D22971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36557237-C892-02A7-0414-A67233372835}"/>
              </a:ext>
            </a:extLst>
          </p:cNvPr>
          <p:cNvGrpSpPr/>
          <p:nvPr/>
        </p:nvGrpSpPr>
        <p:grpSpPr>
          <a:xfrm rot="-5400000">
            <a:off x="12015831" y="4014831"/>
            <a:ext cx="10287000" cy="2257339"/>
            <a:chOff x="0" y="0"/>
            <a:chExt cx="2709333" cy="59452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CC11586A-4FA0-DDB7-0720-644D8971BFE0}"/>
                </a:ext>
              </a:extLst>
            </p:cNvPr>
            <p:cNvSpPr/>
            <p:nvPr/>
          </p:nvSpPr>
          <p:spPr>
            <a:xfrm>
              <a:off x="0" y="0"/>
              <a:ext cx="2709333" cy="594525"/>
            </a:xfrm>
            <a:custGeom>
              <a:avLst/>
              <a:gdLst/>
              <a:ahLst/>
              <a:cxnLst/>
              <a:rect l="l" t="t" r="r" b="b"/>
              <a:pathLst>
                <a:path w="2709333" h="594525">
                  <a:moveTo>
                    <a:pt x="0" y="0"/>
                  </a:moveTo>
                  <a:lnTo>
                    <a:pt x="2709333" y="0"/>
                  </a:lnTo>
                  <a:lnTo>
                    <a:pt x="2709333" y="594525"/>
                  </a:lnTo>
                  <a:lnTo>
                    <a:pt x="0" y="594525"/>
                  </a:lnTo>
                  <a:close/>
                </a:path>
              </a:pathLst>
            </a:custGeom>
            <a:solidFill>
              <a:srgbClr val="0283F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97C9448C-FD6F-D300-006A-36A31DE90686}"/>
                </a:ext>
              </a:extLst>
            </p:cNvPr>
            <p:cNvSpPr txBox="1"/>
            <p:nvPr/>
          </p:nvSpPr>
          <p:spPr>
            <a:xfrm>
              <a:off x="0" y="-66675"/>
              <a:ext cx="2709333" cy="6612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24"/>
                </a:lnSpc>
              </a:pPr>
              <a:endParaRPr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FBAC03AA-DE54-BB11-C5A4-DB4DFBDD7457}"/>
              </a:ext>
            </a:extLst>
          </p:cNvPr>
          <p:cNvGrpSpPr/>
          <p:nvPr/>
        </p:nvGrpSpPr>
        <p:grpSpPr>
          <a:xfrm>
            <a:off x="179467" y="6643814"/>
            <a:ext cx="8126333" cy="3488267"/>
            <a:chOff x="0" y="0"/>
            <a:chExt cx="844714" cy="36259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4F318810-DABC-D8E2-3F72-2099C1E4BF39}"/>
                </a:ext>
              </a:extLst>
            </p:cNvPr>
            <p:cNvSpPr/>
            <p:nvPr/>
          </p:nvSpPr>
          <p:spPr>
            <a:xfrm>
              <a:off x="0" y="0"/>
              <a:ext cx="844714" cy="362598"/>
            </a:xfrm>
            <a:custGeom>
              <a:avLst/>
              <a:gdLst/>
              <a:ahLst/>
              <a:cxnLst/>
              <a:rect l="l" t="t" r="r" b="b"/>
              <a:pathLst>
                <a:path w="844714" h="362598">
                  <a:moveTo>
                    <a:pt x="203200" y="0"/>
                  </a:moveTo>
                  <a:lnTo>
                    <a:pt x="844714" y="0"/>
                  </a:lnTo>
                  <a:lnTo>
                    <a:pt x="641514" y="362598"/>
                  </a:lnTo>
                  <a:lnTo>
                    <a:pt x="0" y="362598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283FD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F3826AAC-A912-B58C-B229-6418D42676F0}"/>
                </a:ext>
              </a:extLst>
            </p:cNvPr>
            <p:cNvSpPr txBox="1"/>
            <p:nvPr/>
          </p:nvSpPr>
          <p:spPr>
            <a:xfrm>
              <a:off x="101600" y="-28575"/>
              <a:ext cx="641514" cy="391173"/>
            </a:xfrm>
            <a:prstGeom prst="rect">
              <a:avLst/>
            </a:prstGeom>
          </p:spPr>
          <p:txBody>
            <a:bodyPr lIns="47790" tIns="47790" rIns="47790" bIns="47790" rtlCol="0" anchor="ctr"/>
            <a:lstStyle/>
            <a:p>
              <a:pPr algn="ctr">
                <a:lnSpc>
                  <a:spcPts val="1843"/>
                </a:lnSpc>
              </a:pPr>
              <a:endParaRPr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43F5D094-F7AA-B28A-3F30-742A488C6322}"/>
              </a:ext>
            </a:extLst>
          </p:cNvPr>
          <p:cNvGrpSpPr/>
          <p:nvPr/>
        </p:nvGrpSpPr>
        <p:grpSpPr>
          <a:xfrm>
            <a:off x="0" y="6950004"/>
            <a:ext cx="16030661" cy="3336996"/>
            <a:chOff x="0" y="0"/>
            <a:chExt cx="6165409" cy="1271237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EE09DD77-6E00-17E8-ECBD-7B3E7B572727}"/>
                </a:ext>
              </a:extLst>
            </p:cNvPr>
            <p:cNvSpPr/>
            <p:nvPr/>
          </p:nvSpPr>
          <p:spPr>
            <a:xfrm>
              <a:off x="0" y="0"/>
              <a:ext cx="6165409" cy="1271237"/>
            </a:xfrm>
            <a:custGeom>
              <a:avLst/>
              <a:gdLst/>
              <a:ahLst/>
              <a:cxnLst/>
              <a:rect l="l" t="t" r="r" b="b"/>
              <a:pathLst>
                <a:path w="6165409" h="1271237">
                  <a:moveTo>
                    <a:pt x="0" y="0"/>
                  </a:moveTo>
                  <a:lnTo>
                    <a:pt x="6165409" y="0"/>
                  </a:lnTo>
                  <a:lnTo>
                    <a:pt x="6165409" y="1271237"/>
                  </a:lnTo>
                  <a:lnTo>
                    <a:pt x="0" y="127123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40F25A7A-A803-7D2E-1BFD-83F6AD6514DF}"/>
                </a:ext>
              </a:extLst>
            </p:cNvPr>
            <p:cNvSpPr txBox="1"/>
            <p:nvPr/>
          </p:nvSpPr>
          <p:spPr>
            <a:xfrm>
              <a:off x="0" y="-28575"/>
              <a:ext cx="6165409" cy="1299812"/>
            </a:xfrm>
            <a:prstGeom prst="rect">
              <a:avLst/>
            </a:prstGeom>
          </p:spPr>
          <p:txBody>
            <a:bodyPr lIns="47790" tIns="47790" rIns="47790" bIns="47790" rtlCol="0" anchor="ctr"/>
            <a:lstStyle/>
            <a:p>
              <a:pPr algn="ctr">
                <a:lnSpc>
                  <a:spcPts val="1843"/>
                </a:lnSpc>
              </a:pPr>
              <a:endParaRPr/>
            </a:p>
          </p:txBody>
        </p:sp>
      </p:grpSp>
      <p:sp>
        <p:nvSpPr>
          <p:cNvPr id="12" name="TextBox 12">
            <a:extLst>
              <a:ext uri="{FF2B5EF4-FFF2-40B4-BE49-F238E27FC236}">
                <a16:creationId xmlns:a16="http://schemas.microsoft.com/office/drawing/2014/main" id="{19CA24A0-FE4B-2D65-3C7D-CCA360AB61B2}"/>
              </a:ext>
            </a:extLst>
          </p:cNvPr>
          <p:cNvSpPr txBox="1"/>
          <p:nvPr/>
        </p:nvSpPr>
        <p:spPr>
          <a:xfrm>
            <a:off x="1111666" y="3432993"/>
            <a:ext cx="14771892" cy="598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400"/>
              </a:lnSpc>
            </a:pPr>
            <a:r>
              <a:rPr lang="en-US" sz="6000" b="1" dirty="0">
                <a:solidFill>
                  <a:srgbClr val="FFFFFF"/>
                </a:solidFill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SY0-701 – CompTIA Security+ Bootcamp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0044CA6A-9D30-5459-E9C6-256F2BADC482}"/>
              </a:ext>
            </a:extLst>
          </p:cNvPr>
          <p:cNvSpPr txBox="1"/>
          <p:nvPr/>
        </p:nvSpPr>
        <p:spPr>
          <a:xfrm>
            <a:off x="1111666" y="4453765"/>
            <a:ext cx="11390186" cy="4924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US" sz="3200" b="1" dirty="0">
                <a:solidFill>
                  <a:srgbClr val="FFFFFF"/>
                </a:solidFill>
                <a:latin typeface="Arial"/>
                <a:ea typeface="+mn-lt"/>
                <a:cs typeface="Arial"/>
                <a:sym typeface="Arial"/>
              </a:rPr>
              <a:t>Day 1 – Block 5</a:t>
            </a:r>
            <a:endParaRPr lang="en-US" sz="3200" dirty="0">
              <a:solidFill>
                <a:srgbClr val="000000"/>
              </a:solidFill>
              <a:latin typeface="Calibri"/>
              <a:ea typeface="+mn-lt"/>
              <a:cs typeface="Calibri"/>
            </a:endParaRP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214DC9EB-F1AE-E0BF-CF15-A1076C3AA492}"/>
              </a:ext>
            </a:extLst>
          </p:cNvPr>
          <p:cNvSpPr txBox="1"/>
          <p:nvPr/>
        </p:nvSpPr>
        <p:spPr>
          <a:xfrm>
            <a:off x="1111666" y="9653992"/>
            <a:ext cx="12263263" cy="3619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CALIFORNIA INSTITUTE OF APPLIED TECHNOLOGY</a:t>
            </a:r>
          </a:p>
        </p:txBody>
      </p:sp>
      <p:sp>
        <p:nvSpPr>
          <p:cNvPr id="15" name="AutoShape 15">
            <a:extLst>
              <a:ext uri="{FF2B5EF4-FFF2-40B4-BE49-F238E27FC236}">
                <a16:creationId xmlns:a16="http://schemas.microsoft.com/office/drawing/2014/main" id="{AE839C82-6B99-D271-68D4-6F9D5BF65DC7}"/>
              </a:ext>
            </a:extLst>
          </p:cNvPr>
          <p:cNvSpPr/>
          <p:nvPr/>
        </p:nvSpPr>
        <p:spPr>
          <a:xfrm>
            <a:off x="8010568" y="9858838"/>
            <a:ext cx="7625672" cy="0"/>
          </a:xfrm>
          <a:prstGeom prst="line">
            <a:avLst/>
          </a:prstGeom>
          <a:ln w="19050" cap="flat">
            <a:solidFill>
              <a:srgbClr val="0283F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7" name="Freeform 5">
            <a:extLst>
              <a:ext uri="{FF2B5EF4-FFF2-40B4-BE49-F238E27FC236}">
                <a16:creationId xmlns:a16="http://schemas.microsoft.com/office/drawing/2014/main" id="{16FCC2BE-CD5F-D89B-97F8-AB4AAE0EAC09}"/>
              </a:ext>
            </a:extLst>
          </p:cNvPr>
          <p:cNvSpPr/>
          <p:nvPr/>
        </p:nvSpPr>
        <p:spPr>
          <a:xfrm>
            <a:off x="1111666" y="355081"/>
            <a:ext cx="4247850" cy="631936"/>
          </a:xfrm>
          <a:custGeom>
            <a:avLst/>
            <a:gdLst/>
            <a:ahLst/>
            <a:cxnLst/>
            <a:rect l="l" t="t" r="r" b="b"/>
            <a:pathLst>
              <a:path w="4247850" h="631936">
                <a:moveTo>
                  <a:pt x="0" y="0"/>
                </a:moveTo>
                <a:lnTo>
                  <a:pt x="4247850" y="0"/>
                </a:lnTo>
                <a:lnTo>
                  <a:pt x="4247850" y="631935"/>
                </a:lnTo>
                <a:lnTo>
                  <a:pt x="0" y="63193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5" r="-5"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053C0B6A-A640-7617-0586-E215CB98AA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25308" y="8269924"/>
            <a:ext cx="1573291" cy="1551409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C6D23749-94DF-B9EA-F218-A3EC46D3B534}"/>
              </a:ext>
            </a:extLst>
          </p:cNvPr>
          <p:cNvSpPr txBox="1"/>
          <p:nvPr/>
        </p:nvSpPr>
        <p:spPr>
          <a:xfrm>
            <a:off x="1111666" y="7106062"/>
            <a:ext cx="9144000" cy="1138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2000" dirty="0"/>
              <a:t>Cloud Security Fundamentals</a:t>
            </a:r>
          </a:p>
          <a:p>
            <a:pPr lvl="1"/>
            <a:r>
              <a:rPr lang="en-US" altLang="en-US" sz="1600" dirty="0"/>
              <a:t>IaaS / PaaS / SaaS Security</a:t>
            </a:r>
          </a:p>
          <a:p>
            <a:pPr lvl="1"/>
            <a:r>
              <a:rPr lang="en-US" altLang="en-US" sz="1600" dirty="0"/>
              <a:t>Shared Responsibility</a:t>
            </a:r>
          </a:p>
          <a:p>
            <a:pPr lvl="1"/>
            <a:r>
              <a:rPr lang="en-US" altLang="en-US" sz="1600" dirty="0"/>
              <a:t>Cloud Controls</a:t>
            </a:r>
          </a:p>
        </p:txBody>
      </p:sp>
    </p:spTree>
    <p:extLst>
      <p:ext uri="{BB962C8B-B14F-4D97-AF65-F5344CB8AC3E}">
        <p14:creationId xmlns:p14="http://schemas.microsoft.com/office/powerpoint/2010/main" val="1743163050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727730-CC83-88B1-7B42-692D1DDDA5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9AC1484-73B2-7A9A-BE7E-C52527E101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Slide </a:t>
            </a:r>
            <a:fld id="{4CA2B2DB-B91D-4166-98BF-65A0DA7EEE6D}" type="slidenum">
              <a:rPr lang="en-US" smtClean="0"/>
              <a:pPr/>
              <a:t>66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830819-AB8B-4CE4-8DAA-8F85B2C48440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2536823"/>
            <a:ext cx="16192500" cy="6188077"/>
          </a:xfrm>
        </p:spPr>
        <p:txBody>
          <a:bodyPr/>
          <a:lstStyle/>
          <a:p>
            <a:pPr marL="0" indent="0">
              <a:spcBef>
                <a:spcPts val="300"/>
              </a:spcBef>
              <a:buNone/>
            </a:pPr>
            <a:r>
              <a:rPr lang="en-US" altLang="en-US" sz="3600" b="1" dirty="0"/>
              <a:t>Cloud computing </a:t>
            </a:r>
            <a:r>
              <a:rPr lang="en-US" altLang="en-US" sz="3600" dirty="0"/>
              <a:t>offers on-demand services that extend computer or network capabilities.</a:t>
            </a:r>
          </a:p>
          <a:p>
            <a:pPr>
              <a:spcBef>
                <a:spcPts val="300"/>
              </a:spcBef>
            </a:pPr>
            <a:r>
              <a:rPr lang="en-US" altLang="en-US" sz="3600" b="1" dirty="0"/>
              <a:t>Benefits</a:t>
            </a:r>
          </a:p>
          <a:p>
            <a:pPr lvl="1">
              <a:spcBef>
                <a:spcPts val="300"/>
              </a:spcBef>
            </a:pPr>
            <a:r>
              <a:rPr lang="en-US" altLang="en-US" sz="3200" dirty="0"/>
              <a:t>	Lower cost</a:t>
            </a:r>
          </a:p>
          <a:p>
            <a:pPr lvl="1">
              <a:spcBef>
                <a:spcPts val="300"/>
              </a:spcBef>
            </a:pPr>
            <a:r>
              <a:rPr lang="en-US" altLang="en-US" sz="3200" dirty="0"/>
              <a:t>	Reduced administration and maintenance</a:t>
            </a:r>
          </a:p>
          <a:p>
            <a:pPr lvl="1">
              <a:spcBef>
                <a:spcPts val="300"/>
              </a:spcBef>
            </a:pPr>
            <a:r>
              <a:rPr lang="en-US" altLang="en-US" sz="3200" dirty="0"/>
              <a:t>	Increased reliability</a:t>
            </a:r>
          </a:p>
          <a:p>
            <a:pPr lvl="1">
              <a:spcBef>
                <a:spcPts val="300"/>
              </a:spcBef>
            </a:pPr>
            <a:r>
              <a:rPr lang="en-US" altLang="en-US" sz="3200" dirty="0"/>
              <a:t>	Improved scalability</a:t>
            </a:r>
          </a:p>
          <a:p>
            <a:pPr lvl="1">
              <a:spcBef>
                <a:spcPts val="300"/>
              </a:spcBef>
            </a:pPr>
            <a:r>
              <a:rPr lang="en-US" altLang="en-US" sz="3200" dirty="0"/>
              <a:t>	Higher performance (potentially)</a:t>
            </a:r>
          </a:p>
          <a:p>
            <a:pPr>
              <a:spcBef>
                <a:spcPts val="300"/>
              </a:spcBef>
            </a:pPr>
            <a:r>
              <a:rPr lang="en-US" altLang="en-US" sz="3600" b="1" dirty="0"/>
              <a:t>Concerns </a:t>
            </a:r>
          </a:p>
          <a:p>
            <a:pPr lvl="1">
              <a:spcBef>
                <a:spcPts val="300"/>
              </a:spcBef>
            </a:pPr>
            <a:r>
              <a:rPr lang="en-US" altLang="en-US" sz="3200" dirty="0"/>
              <a:t>	Lack of administrative control</a:t>
            </a:r>
          </a:p>
          <a:p>
            <a:pPr lvl="1">
              <a:spcBef>
                <a:spcPts val="300"/>
              </a:spcBef>
            </a:pPr>
            <a:r>
              <a:rPr lang="en-US" altLang="en-US" sz="3200" dirty="0"/>
              <a:t>	Security  </a:t>
            </a:r>
          </a:p>
          <a:p>
            <a:endParaRPr lang="en-US" altLang="en-US" b="1" dirty="0"/>
          </a:p>
          <a:p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344A60-A522-A583-0092-7D5158FB0C7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3D5CD278-7975-5B95-F66E-ECB9C5E076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60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Cloud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0369952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E39544-871F-0A7E-A84D-C287CB7649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9FFE5F4-ED0F-2501-72F8-00B04DB5E5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Slide </a:t>
            </a:r>
            <a:fld id="{4CA2B2DB-B91D-4166-98BF-65A0DA7EEE6D}" type="slidenum">
              <a:rPr lang="en-US" smtClean="0"/>
              <a:pPr/>
              <a:t>67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94FE58-98D9-053B-4887-F784F14B720A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2536823"/>
            <a:ext cx="16192500" cy="6188077"/>
          </a:xfrm>
        </p:spPr>
        <p:txBody>
          <a:bodyPr/>
          <a:lstStyle/>
          <a:p>
            <a:pPr marL="0" indent="0">
              <a:spcBef>
                <a:spcPts val="900"/>
              </a:spcBef>
              <a:buNone/>
            </a:pPr>
            <a:r>
              <a:rPr lang="en-US" altLang="en-US" sz="3900" b="1" dirty="0"/>
              <a:t>Virtualization</a:t>
            </a:r>
            <a:r>
              <a:rPr lang="en-US" altLang="en-US" sz="3900" dirty="0"/>
              <a:t> technology is the creation of virtual instances of physical hardware. Vulnerabilities may lead to unauthorized use of virtual resources.  </a:t>
            </a:r>
          </a:p>
          <a:p>
            <a:pPr>
              <a:spcBef>
                <a:spcPts val="900"/>
              </a:spcBef>
            </a:pPr>
            <a:r>
              <a:rPr lang="en-US" altLang="en-US" sz="3600" b="1" dirty="0"/>
              <a:t>Virtual machine (VM) escape </a:t>
            </a:r>
            <a:r>
              <a:rPr lang="en-US" altLang="en-US" sz="3600" dirty="0"/>
              <a:t>occurs when an attacker breaks out of a virtual machine to access the host system.</a:t>
            </a:r>
          </a:p>
          <a:p>
            <a:pPr>
              <a:spcBef>
                <a:spcPts val="900"/>
              </a:spcBef>
            </a:pPr>
            <a:r>
              <a:rPr lang="en-US" altLang="en-US" sz="3600" b="1" dirty="0"/>
              <a:t>Resource reuse </a:t>
            </a:r>
            <a:r>
              <a:rPr lang="en-US" altLang="en-US" sz="3600" dirty="0"/>
              <a:t>involves sharing physical resources among multiple virtual instances. It introduces the risk of data leaks between virtual environments. </a:t>
            </a:r>
          </a:p>
          <a:p>
            <a:endParaRPr lang="en-US" altLang="en-US" b="1" dirty="0"/>
          </a:p>
          <a:p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88538B9-C5E9-8912-D863-E257125BCA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77BDE474-2009-61C9-0204-5117F0A50C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60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Virtualization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2993877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1AEFD6-E33B-E4F2-149E-48E7963A1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DB6E37C-2306-C977-AC4B-7F742A8F20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Slide </a:t>
            </a:r>
            <a:fld id="{4CA2B2DB-B91D-4166-98BF-65A0DA7EEE6D}" type="slidenum">
              <a:rPr lang="en-US" smtClean="0"/>
              <a:pPr/>
              <a:t>68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13C5D8-5B88-9F55-F5D3-720F1C913A7B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2536823"/>
            <a:ext cx="16192500" cy="6188077"/>
          </a:xfrm>
        </p:spPr>
        <p:txBody>
          <a:bodyPr/>
          <a:lstStyle/>
          <a:p>
            <a:pPr marL="0" indent="0">
              <a:spcBef>
                <a:spcPts val="900"/>
              </a:spcBef>
              <a:buNone/>
            </a:pPr>
            <a:r>
              <a:rPr lang="en-US" altLang="en-US" sz="4400" dirty="0"/>
              <a:t>The </a:t>
            </a:r>
            <a:r>
              <a:rPr lang="en-US" altLang="en-US" sz="4400" b="1" dirty="0"/>
              <a:t>cloud</a:t>
            </a:r>
            <a:r>
              <a:rPr lang="en-US" altLang="en-US" sz="4400" dirty="0"/>
              <a:t> offers various on-demand services to  extend computer capabilities: </a:t>
            </a:r>
          </a:p>
          <a:p>
            <a:pPr>
              <a:spcBef>
                <a:spcPts val="900"/>
              </a:spcBef>
            </a:pPr>
            <a:r>
              <a:rPr lang="en-US" altLang="en-US" sz="4000" b="1" dirty="0"/>
              <a:t>Software as a service (SaaS)</a:t>
            </a:r>
          </a:p>
          <a:p>
            <a:pPr>
              <a:spcBef>
                <a:spcPts val="900"/>
              </a:spcBef>
            </a:pPr>
            <a:r>
              <a:rPr lang="en-US" altLang="en-US" sz="4000" b="1" dirty="0"/>
              <a:t>Infrastructure as a service (IaaS)</a:t>
            </a:r>
          </a:p>
          <a:p>
            <a:pPr>
              <a:spcBef>
                <a:spcPts val="900"/>
              </a:spcBef>
            </a:pPr>
            <a:r>
              <a:rPr lang="en-US" altLang="en-US" sz="4000" b="1" dirty="0"/>
              <a:t>Platform as a service (PaaS)</a:t>
            </a:r>
          </a:p>
          <a:p>
            <a:pPr>
              <a:spcBef>
                <a:spcPts val="900"/>
              </a:spcBef>
            </a:pPr>
            <a:r>
              <a:rPr lang="en-US" altLang="en-US" sz="4000" b="1" dirty="0"/>
              <a:t>Security as a service (</a:t>
            </a:r>
            <a:r>
              <a:rPr lang="en-US" altLang="en-US" sz="4000" b="1" dirty="0" err="1"/>
              <a:t>SECaaS</a:t>
            </a:r>
            <a:r>
              <a:rPr lang="en-US" altLang="en-US" sz="4000" b="1" dirty="0"/>
              <a:t>)</a:t>
            </a:r>
          </a:p>
          <a:p>
            <a:endParaRPr lang="en-US" altLang="en-US" b="1" dirty="0"/>
          </a:p>
          <a:p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1924928-04FC-F593-5AF3-D728E58F85C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BE510DC-4201-23DF-CEF8-C10A2DE073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60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Cloud Specific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2556964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1F7E42-F6E4-C823-4427-6B8B606E1B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FFA0C57-DE0F-184D-D514-01C690339C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Slide </a:t>
            </a:r>
            <a:fld id="{4CA2B2DB-B91D-4166-98BF-65A0DA7EEE6D}" type="slidenum">
              <a:rPr lang="en-US" smtClean="0"/>
              <a:pPr/>
              <a:t>69</a:t>
            </a:fld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FA8B746-D64B-E88A-DAAB-97F577313E1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BD134C57-2CB8-79F5-2791-15BF21B630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60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Cloud Specific</a:t>
            </a:r>
            <a:endParaRPr lang="en-US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B791983A-0331-0097-4340-8F8B65ADC7FF}"/>
              </a:ext>
            </a:extLst>
          </p:cNvPr>
          <p:cNvPicPr>
            <a:picLocks noGrp="1" noChangeAspect="1"/>
          </p:cNvPicPr>
          <p:nvPr>
            <p:ph sz="quarter" idx="12"/>
          </p:nvPr>
        </p:nvPicPr>
        <p:blipFill>
          <a:blip r:embed="rId3"/>
          <a:stretch>
            <a:fillRect/>
          </a:stretch>
        </p:blipFill>
        <p:spPr>
          <a:xfrm>
            <a:off x="3352800" y="2324100"/>
            <a:ext cx="11055114" cy="6093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4954906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6D1B06-B377-558A-2CD9-A423215FA9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3CCBA23-21C3-169B-C10A-087E24638F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Slide </a:t>
            </a:r>
            <a:fld id="{4CA2B2DB-B91D-4166-98BF-65A0DA7EEE6D}" type="slidenum">
              <a:rPr lang="en-US" smtClean="0"/>
              <a:pPr/>
              <a:t>70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3FBA37-7C14-98DD-B7E2-A2ABE9A90CBF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2536823"/>
            <a:ext cx="16192500" cy="4587877"/>
          </a:xfrm>
        </p:spPr>
        <p:txBody>
          <a:bodyPr/>
          <a:lstStyle/>
          <a:p>
            <a:pPr marL="0" indent="0">
              <a:spcBef>
                <a:spcPts val="900"/>
              </a:spcBef>
              <a:buNone/>
            </a:pPr>
            <a:r>
              <a:rPr lang="en-US" altLang="en-US" sz="4400" dirty="0"/>
              <a:t>In cloud computing, availability is often determined by the storage class.</a:t>
            </a:r>
          </a:p>
          <a:p>
            <a:pPr>
              <a:spcBef>
                <a:spcPts val="900"/>
              </a:spcBef>
            </a:pPr>
            <a:r>
              <a:rPr lang="en-US" altLang="en-US" sz="4000" dirty="0"/>
              <a:t>Different availability metrics influence cost.</a:t>
            </a:r>
          </a:p>
          <a:p>
            <a:pPr>
              <a:spcBef>
                <a:spcPts val="900"/>
              </a:spcBef>
            </a:pPr>
            <a:r>
              <a:rPr lang="en-US" altLang="en-US" sz="4000" dirty="0"/>
              <a:t>Storage class selection should be based on a thorough risk analysis.</a:t>
            </a:r>
          </a:p>
          <a:p>
            <a:pPr>
              <a:spcBef>
                <a:spcPts val="900"/>
              </a:spcBef>
            </a:pPr>
            <a:r>
              <a:rPr lang="en-US" altLang="en-US" sz="4000" dirty="0"/>
              <a:t>Recommendation: Select applications with greater storage availability for mission-critical uses.</a:t>
            </a:r>
          </a:p>
          <a:p>
            <a:endParaRPr lang="en-US" altLang="en-US" b="1" dirty="0"/>
          </a:p>
          <a:p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28AF2C-5BC9-86ED-9025-208F01DC326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357680F1-069D-0EA2-45D3-8AE9018554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60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Cloud Environments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4983361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025891-8F81-6E22-3136-343A37E2DB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CB6995B-02C2-F8AA-7658-E2D6116312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Slide </a:t>
            </a:r>
            <a:fld id="{4CA2B2DB-B91D-4166-98BF-65A0DA7EEE6D}" type="slidenum">
              <a:rPr lang="en-US" smtClean="0"/>
              <a:pPr/>
              <a:t>71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D9EA5F-57F0-0C9E-1BEC-40A4452CFC5A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2536823"/>
            <a:ext cx="16192500" cy="5273677"/>
          </a:xfrm>
        </p:spPr>
        <p:txBody>
          <a:bodyPr/>
          <a:lstStyle/>
          <a:p>
            <a:pPr marL="0" indent="0">
              <a:spcBef>
                <a:spcPts val="900"/>
              </a:spcBef>
              <a:buNone/>
            </a:pPr>
            <a:r>
              <a:rPr lang="en-US" altLang="en-US" sz="3900" dirty="0"/>
              <a:t>A </a:t>
            </a:r>
            <a:r>
              <a:rPr lang="en-US" altLang="en-US" sz="3900" b="1" dirty="0"/>
              <a:t>multi-cloud system </a:t>
            </a:r>
            <a:r>
              <a:rPr lang="en-US" altLang="en-US" sz="3900" dirty="0"/>
              <a:t>involves using multiple cloud service platforms (e.g., AWS, Azure, Google Cloud) to fulfill diverse computational and storage needs.</a:t>
            </a:r>
          </a:p>
          <a:p>
            <a:pPr>
              <a:spcBef>
                <a:spcPts val="900"/>
              </a:spcBef>
            </a:pPr>
            <a:r>
              <a:rPr lang="en-US" altLang="en-US" sz="3600" dirty="0"/>
              <a:t>Reduces dependency on a single cloud service provider</a:t>
            </a:r>
          </a:p>
          <a:p>
            <a:pPr>
              <a:spcBef>
                <a:spcPts val="900"/>
              </a:spcBef>
            </a:pPr>
            <a:r>
              <a:rPr lang="en-US" altLang="en-US" sz="3600" dirty="0"/>
              <a:t>Benefits</a:t>
            </a:r>
          </a:p>
          <a:p>
            <a:pPr lvl="1">
              <a:spcBef>
                <a:spcPts val="900"/>
              </a:spcBef>
            </a:pPr>
            <a:r>
              <a:rPr lang="en-US" altLang="en-US" sz="3600" dirty="0"/>
              <a:t>	Risk mitigation</a:t>
            </a:r>
          </a:p>
          <a:p>
            <a:pPr lvl="1">
              <a:spcBef>
                <a:spcPts val="900"/>
              </a:spcBef>
            </a:pPr>
            <a:r>
              <a:rPr lang="en-US" altLang="en-US" sz="3600" dirty="0"/>
              <a:t>	High availability</a:t>
            </a:r>
          </a:p>
          <a:p>
            <a:pPr lvl="1">
              <a:spcBef>
                <a:spcPts val="900"/>
              </a:spcBef>
            </a:pPr>
            <a:r>
              <a:rPr lang="en-US" altLang="en-US" sz="3600" dirty="0"/>
              <a:t>	Robust disaster recovery</a:t>
            </a:r>
          </a:p>
          <a:p>
            <a:endParaRPr lang="en-US" altLang="en-US" b="1" dirty="0"/>
          </a:p>
          <a:p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7A50E6D-249C-D2FE-164B-8B7E8385623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EEEE5355-694D-836D-05BC-6CC507F563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60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Multi-Cloud System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4663742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79A663-1276-4583-D739-61FC5BDB72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832E11A-319E-7233-12ED-BC9FED37D6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Slide </a:t>
            </a:r>
            <a:fld id="{4CA2B2DB-B91D-4166-98BF-65A0DA7EEE6D}" type="slidenum">
              <a:rPr lang="en-US" smtClean="0"/>
              <a:pPr/>
              <a:t>72</a:t>
            </a:fld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EB572E1-4716-F79A-6DE0-BDA36B279ED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17C6C5A0-5DCE-92CE-01F7-7E861EE64D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60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Multi-Cloud System</a:t>
            </a:r>
            <a:endParaRPr lang="en-US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6DACE46F-7653-09D7-8E7D-596D9C5D7D0D}"/>
              </a:ext>
            </a:extLst>
          </p:cNvPr>
          <p:cNvPicPr>
            <a:picLocks noGrp="1" noChangeAspect="1"/>
          </p:cNvPicPr>
          <p:nvPr>
            <p:ph sz="quarter" idx="12"/>
          </p:nvPr>
        </p:nvPicPr>
        <p:blipFill>
          <a:blip r:embed="rId3"/>
          <a:stretch>
            <a:fillRect/>
          </a:stretch>
        </p:blipFill>
        <p:spPr>
          <a:xfrm>
            <a:off x="4224127" y="2536825"/>
            <a:ext cx="9839746" cy="5913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8126033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1576CF-A602-32E7-0283-7A40C9C763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E170321-EDBC-C88A-0752-72AFAC4018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Slide </a:t>
            </a:r>
            <a:fld id="{4CA2B2DB-B91D-4166-98BF-65A0DA7EEE6D}" type="slidenum">
              <a:rPr lang="en-US" smtClean="0"/>
              <a:pPr/>
              <a:t>73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76652B-0B41-1C8A-BD89-8BB66331893D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2536823"/>
            <a:ext cx="16192500" cy="5654677"/>
          </a:xfrm>
        </p:spPr>
        <p:txBody>
          <a:bodyPr/>
          <a:lstStyle/>
          <a:p>
            <a:pPr marL="0" indent="0">
              <a:spcBef>
                <a:spcPts val="900"/>
              </a:spcBef>
              <a:buNone/>
            </a:pPr>
            <a:r>
              <a:rPr lang="en-US" altLang="en-US" sz="3600" b="1" dirty="0"/>
              <a:t>Cloud</a:t>
            </a:r>
            <a:r>
              <a:rPr lang="en-US" altLang="en-US" sz="3600" dirty="0"/>
              <a:t> </a:t>
            </a:r>
            <a:r>
              <a:rPr lang="en-US" altLang="en-US" sz="3600" b="1" dirty="0"/>
              <a:t>environments</a:t>
            </a:r>
            <a:r>
              <a:rPr lang="en-US" altLang="en-US" sz="3600" dirty="0"/>
              <a:t> may be </a:t>
            </a:r>
            <a:r>
              <a:rPr lang="en-US" altLang="en-US" sz="3600" b="1" dirty="0"/>
              <a:t>public</a:t>
            </a:r>
            <a:r>
              <a:rPr lang="en-US" altLang="en-US" sz="3600" dirty="0"/>
              <a:t>, </a:t>
            </a:r>
            <a:r>
              <a:rPr lang="en-US" altLang="en-US" sz="3600" b="1" dirty="0"/>
              <a:t>private</a:t>
            </a:r>
            <a:r>
              <a:rPr lang="en-US" altLang="en-US" sz="3600" dirty="0"/>
              <a:t>, </a:t>
            </a:r>
            <a:r>
              <a:rPr lang="en-US" altLang="en-US" sz="3600" b="1" dirty="0"/>
              <a:t>hybrid</a:t>
            </a:r>
            <a:r>
              <a:rPr lang="en-US" altLang="en-US" sz="3600" dirty="0"/>
              <a:t>, or </a:t>
            </a:r>
            <a:r>
              <a:rPr lang="en-US" altLang="en-US" sz="3600" b="1" dirty="0"/>
              <a:t>community</a:t>
            </a:r>
            <a:r>
              <a:rPr lang="en-US" altLang="en-US" sz="3600" dirty="0"/>
              <a:t>. </a:t>
            </a:r>
          </a:p>
          <a:p>
            <a:pPr>
              <a:spcBef>
                <a:spcPts val="900"/>
              </a:spcBef>
            </a:pPr>
            <a:r>
              <a:rPr lang="en-US" altLang="en-US" b="1" dirty="0"/>
              <a:t>Public: </a:t>
            </a:r>
            <a:r>
              <a:rPr lang="en-US" altLang="en-US" dirty="0"/>
              <a:t>Applications and storage are offered to the general public over the Internet. Examples are free web email services and scalable pay-as-you-go business services. </a:t>
            </a:r>
            <a:endParaRPr lang="en-US" altLang="en-US" b="1" dirty="0"/>
          </a:p>
          <a:p>
            <a:pPr>
              <a:spcBef>
                <a:spcPts val="900"/>
              </a:spcBef>
            </a:pPr>
            <a:r>
              <a:rPr lang="en-US" altLang="en-US" b="1" dirty="0"/>
              <a:t>Private: </a:t>
            </a:r>
            <a:r>
              <a:rPr lang="en-US" altLang="en-US" dirty="0"/>
              <a:t>A private cloud is designed for a particular organization and gives the security administrator some control over data and infrastructure. Resources could come from the organization itself or a third party.</a:t>
            </a:r>
            <a:endParaRPr lang="en-US" altLang="en-US" b="1" dirty="0"/>
          </a:p>
          <a:p>
            <a:pPr>
              <a:spcBef>
                <a:spcPts val="900"/>
              </a:spcBef>
            </a:pPr>
            <a:r>
              <a:rPr lang="en-US" altLang="en-US" b="1" dirty="0"/>
              <a:t>Hybrid: </a:t>
            </a:r>
            <a:r>
              <a:rPr lang="en-US" altLang="en-US" dirty="0"/>
              <a:t>Mixing elements of public and private clouds, hybrid environments use servers from the organization and the cloud. Confidential data is typically kept in-house. </a:t>
            </a:r>
            <a:endParaRPr lang="en-US" altLang="en-US" b="1" dirty="0"/>
          </a:p>
          <a:p>
            <a:pPr>
              <a:spcBef>
                <a:spcPts val="900"/>
              </a:spcBef>
            </a:pPr>
            <a:r>
              <a:rPr lang="en-US" altLang="en-US" b="1" dirty="0"/>
              <a:t>Community: </a:t>
            </a:r>
            <a:r>
              <a:rPr lang="en-US" altLang="en-US" dirty="0"/>
              <a:t>In this type of public/private mix, multiple organizations can share the public portion. </a:t>
            </a:r>
          </a:p>
          <a:p>
            <a:endParaRPr lang="en-US" altLang="en-US" b="1" dirty="0"/>
          </a:p>
          <a:p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913EB5-06D2-3C59-2238-DD058629749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E5DF749E-8666-90E8-8B80-113A21EDA0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60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Cloud Specific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4729644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96901B-EE79-1850-09EB-F7D53B894C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4168558-9FAE-E827-2F3A-51ABAC2E23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Slide </a:t>
            </a:r>
            <a:fld id="{4CA2B2DB-B91D-4166-98BF-65A0DA7EEE6D}" type="slidenum">
              <a:rPr lang="en-US" smtClean="0"/>
              <a:pPr/>
              <a:t>74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AD7FD2-07FA-3A10-657A-D45F78050D8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2536823"/>
            <a:ext cx="16192500" cy="6111877"/>
          </a:xfrm>
        </p:spPr>
        <p:txBody>
          <a:bodyPr/>
          <a:lstStyle/>
          <a:p>
            <a:pPr marL="0" indent="0">
              <a:spcBef>
                <a:spcPts val="900"/>
              </a:spcBef>
              <a:buNone/>
            </a:pPr>
            <a:r>
              <a:rPr lang="en-US" altLang="en-US" b="1" dirty="0"/>
              <a:t>Cloud Security Concerns</a:t>
            </a:r>
            <a:endParaRPr lang="en-US" altLang="en-US" dirty="0"/>
          </a:p>
          <a:p>
            <a:pPr>
              <a:spcBef>
                <a:spcPts val="900"/>
              </a:spcBef>
            </a:pPr>
            <a:r>
              <a:rPr lang="en-US" altLang="en-US" sz="2800" b="1" dirty="0"/>
              <a:t>Lack of privacy</a:t>
            </a:r>
          </a:p>
          <a:p>
            <a:pPr>
              <a:spcBef>
                <a:spcPts val="900"/>
              </a:spcBef>
            </a:pPr>
            <a:r>
              <a:rPr lang="en-US" altLang="en-US" sz="2800" b="1" dirty="0"/>
              <a:t>Lack of accountability</a:t>
            </a:r>
          </a:p>
          <a:p>
            <a:pPr>
              <a:spcBef>
                <a:spcPts val="900"/>
              </a:spcBef>
            </a:pPr>
            <a:r>
              <a:rPr lang="en-US" altLang="en-US" sz="2800" b="1" dirty="0"/>
              <a:t>Improper authentication </a:t>
            </a:r>
          </a:p>
          <a:p>
            <a:pPr>
              <a:spcBef>
                <a:spcPts val="900"/>
              </a:spcBef>
            </a:pPr>
            <a:r>
              <a:rPr lang="en-US" altLang="en-US" sz="2800" b="1" dirty="0"/>
              <a:t>Data recovery problems</a:t>
            </a:r>
          </a:p>
          <a:p>
            <a:pPr>
              <a:spcBef>
                <a:spcPts val="900"/>
              </a:spcBef>
            </a:pPr>
            <a:endParaRPr lang="en-US" altLang="en-US" sz="2800" b="1" dirty="0"/>
          </a:p>
          <a:p>
            <a:pPr marL="0" indent="0">
              <a:spcBef>
                <a:spcPts val="900"/>
              </a:spcBef>
              <a:buNone/>
            </a:pPr>
            <a:r>
              <a:rPr lang="en-US" altLang="en-US" b="1" dirty="0"/>
              <a:t>Mitigation</a:t>
            </a:r>
            <a:endParaRPr lang="en-US" altLang="en-US" dirty="0"/>
          </a:p>
          <a:p>
            <a:pPr>
              <a:spcBef>
                <a:spcPts val="900"/>
              </a:spcBef>
            </a:pPr>
            <a:r>
              <a:rPr lang="en-US" altLang="en-US" sz="2800" b="1" dirty="0"/>
              <a:t>Strict access policies</a:t>
            </a:r>
          </a:p>
          <a:p>
            <a:pPr>
              <a:spcBef>
                <a:spcPts val="900"/>
              </a:spcBef>
            </a:pPr>
            <a:r>
              <a:rPr lang="en-US" altLang="en-US" sz="2800" b="1" dirty="0"/>
              <a:t>Strong passwords </a:t>
            </a:r>
            <a:r>
              <a:rPr lang="en-US" altLang="en-US" sz="2800" dirty="0"/>
              <a:t>and </a:t>
            </a:r>
            <a:r>
              <a:rPr lang="en-US" altLang="en-US" sz="2800" b="1" dirty="0"/>
              <a:t>MFA</a:t>
            </a:r>
          </a:p>
          <a:p>
            <a:pPr>
              <a:spcBef>
                <a:spcPts val="900"/>
              </a:spcBef>
            </a:pPr>
            <a:r>
              <a:rPr lang="en-US" altLang="en-US" sz="2800" b="1" dirty="0"/>
              <a:t>Encryption</a:t>
            </a:r>
          </a:p>
          <a:p>
            <a:pPr>
              <a:spcBef>
                <a:spcPts val="900"/>
              </a:spcBef>
            </a:pPr>
            <a:r>
              <a:rPr lang="en-US" altLang="en-US" sz="2800" b="1" dirty="0"/>
              <a:t>Documentation of stored items</a:t>
            </a:r>
            <a:endParaRPr lang="en-US" altLang="en-US" dirty="0"/>
          </a:p>
          <a:p>
            <a:endParaRPr lang="en-US" altLang="en-US" b="1" dirty="0"/>
          </a:p>
          <a:p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F903C0-E2C8-0C07-7A3C-BDB568286F6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B6832FE2-147A-D392-1BF7-94245E2565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60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Cloud Specific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765958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0DACDD-02F2-99DA-C875-C4CFCE4CD8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8A7C49C-0EC8-676B-8F26-4B1B9CA30A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Slide </a:t>
            </a:r>
            <a:fld id="{4CA2B2DB-B91D-4166-98BF-65A0DA7EEE6D}" type="slidenum">
              <a:rPr lang="en-US" smtClean="0"/>
              <a:pPr/>
              <a:t>75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6BEF8A-4C33-EDA2-70C5-C06DC0AA9036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2536823"/>
            <a:ext cx="16192500" cy="6111877"/>
          </a:xfrm>
        </p:spPr>
        <p:txBody>
          <a:bodyPr/>
          <a:lstStyle/>
          <a:p>
            <a:pPr>
              <a:spcBef>
                <a:spcPts val="900"/>
              </a:spcBef>
            </a:pPr>
            <a:r>
              <a:rPr lang="en-US" altLang="en-US" b="1" dirty="0"/>
              <a:t>Social media security</a:t>
            </a:r>
            <a:endParaRPr lang="en-US" altLang="en-US" dirty="0"/>
          </a:p>
          <a:p>
            <a:pPr lvl="2">
              <a:spcBef>
                <a:spcPts val="900"/>
              </a:spcBef>
            </a:pPr>
            <a:r>
              <a:rPr lang="en-US" altLang="en-US" dirty="0"/>
              <a:t>Users post information that could compromise security</a:t>
            </a:r>
          </a:p>
          <a:p>
            <a:pPr lvl="2">
              <a:spcBef>
                <a:spcPts val="900"/>
              </a:spcBef>
            </a:pPr>
            <a:r>
              <a:rPr lang="en-US" altLang="en-US" dirty="0"/>
              <a:t>Difficult to track all social media platforms and applications; consider using allow lists and deny lists </a:t>
            </a:r>
          </a:p>
          <a:p>
            <a:pPr>
              <a:spcBef>
                <a:spcPts val="900"/>
              </a:spcBef>
            </a:pPr>
            <a:r>
              <a:rPr lang="en-US" altLang="en-US" b="1" dirty="0"/>
              <a:t>Peer-to-peer (P2P) networks</a:t>
            </a:r>
            <a:endParaRPr lang="en-US" altLang="en-US" dirty="0"/>
          </a:p>
          <a:p>
            <a:pPr lvl="2">
              <a:spcBef>
                <a:spcPts val="900"/>
              </a:spcBef>
            </a:pPr>
            <a:r>
              <a:rPr lang="en-US" altLang="en-US" dirty="0"/>
              <a:t>Used for file sharing, gaming, and streaming media</a:t>
            </a:r>
          </a:p>
          <a:p>
            <a:pPr lvl="2">
              <a:spcBef>
                <a:spcPts val="900"/>
              </a:spcBef>
            </a:pPr>
            <a:r>
              <a:rPr lang="en-US" altLang="en-US" dirty="0"/>
              <a:t>Potential for malware and system infiltration</a:t>
            </a:r>
          </a:p>
          <a:p>
            <a:pPr>
              <a:spcBef>
                <a:spcPts val="900"/>
              </a:spcBef>
            </a:pPr>
            <a:r>
              <a:rPr lang="en-US" altLang="en-US" b="1" dirty="0"/>
              <a:t>Dark web</a:t>
            </a:r>
            <a:endParaRPr lang="en-US" altLang="en-US" dirty="0"/>
          </a:p>
          <a:p>
            <a:pPr lvl="2">
              <a:spcBef>
                <a:spcPts val="900"/>
              </a:spcBef>
            </a:pPr>
            <a:r>
              <a:rPr lang="en-US" altLang="en-US" dirty="0"/>
              <a:t>A P2P system popular for facilitating illegal activities</a:t>
            </a:r>
          </a:p>
          <a:p>
            <a:pPr lvl="2">
              <a:spcBef>
                <a:spcPts val="900"/>
              </a:spcBef>
            </a:pPr>
            <a:r>
              <a:rPr lang="en-US" altLang="en-US" dirty="0"/>
              <a:t>Employees might connect cloud resources, so auditing is important.</a:t>
            </a:r>
          </a:p>
          <a:p>
            <a:pPr lvl="2">
              <a:spcBef>
                <a:spcPts val="900"/>
              </a:spcBef>
            </a:pPr>
            <a:r>
              <a:rPr lang="en-US" altLang="en-US" dirty="0"/>
              <a:t>Directly monitoring the dark web can introduce risk. Monitoring can be outsourced. </a:t>
            </a:r>
          </a:p>
          <a:p>
            <a:endParaRPr lang="en-US" altLang="en-US" b="1" dirty="0"/>
          </a:p>
          <a:p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7956BBD-9533-4411-A012-0ADBC83BC48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C7685A8-CC65-F391-25B6-9AC88A65BF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60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Other Cloud Concerns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7310887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A0FC3E-845B-0582-8993-DD95698D17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F19DEE0-89C4-B102-DBB7-83604AEC97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Slide </a:t>
            </a:r>
            <a:fld id="{4CA2B2DB-B91D-4166-98BF-65A0DA7EEE6D}" type="slidenum">
              <a:rPr lang="en-US" smtClean="0"/>
              <a:pPr/>
              <a:t>76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12EC0D-6D0D-570A-33F7-A3F295DD0A52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3200400"/>
            <a:ext cx="16192500" cy="4991100"/>
          </a:xfrm>
        </p:spPr>
        <p:txBody>
          <a:bodyPr/>
          <a:lstStyle/>
          <a:p>
            <a:pPr marL="0" indent="0">
              <a:spcBef>
                <a:spcPts val="300"/>
              </a:spcBef>
              <a:buNone/>
            </a:pPr>
            <a:r>
              <a:rPr lang="en-US" altLang="en-US" sz="4400" b="1" dirty="0"/>
              <a:t>Infrastructure as Code (</a:t>
            </a:r>
            <a:r>
              <a:rPr lang="en-US" altLang="en-US" sz="4400" b="1" dirty="0" err="1"/>
              <a:t>IaC</a:t>
            </a:r>
            <a:r>
              <a:rPr lang="en-US" altLang="en-US" sz="4400" b="1" dirty="0"/>
              <a:t>) </a:t>
            </a:r>
            <a:r>
              <a:rPr lang="en-US" altLang="en-US" sz="4400" dirty="0"/>
              <a:t>involves managing and provisioning computer data centers through machine-readable definition files.</a:t>
            </a:r>
          </a:p>
          <a:p>
            <a:pPr>
              <a:spcBef>
                <a:spcPts val="300"/>
              </a:spcBef>
            </a:pPr>
            <a:r>
              <a:rPr lang="en-US" altLang="en-US" sz="4000" dirty="0"/>
              <a:t>Replaces physical hardware configuration and interactive configuration tools</a:t>
            </a:r>
          </a:p>
          <a:p>
            <a:pPr>
              <a:spcBef>
                <a:spcPts val="300"/>
              </a:spcBef>
            </a:pPr>
            <a:r>
              <a:rPr lang="en-US" altLang="en-US" sz="4000" dirty="0"/>
              <a:t>Provides the scalability and integrations necessary for modern applications and deployments</a:t>
            </a:r>
          </a:p>
          <a:p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88750ED-E04D-3C60-E547-489E0B4ED18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B51344A-D74E-29E9-5C6D-7FAFB53D41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60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Infrastructure as Code (</a:t>
            </a:r>
            <a:r>
              <a:rPr kumimoji="0" lang="en-US" sz="6000" b="0" i="0" u="none" strike="noStrike" kern="0" cap="none" spc="0" normalizeH="0" baseline="0" noProof="0" dirty="0" err="1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IaC</a:t>
            </a:r>
            <a:r>
              <a:rPr kumimoji="0" lang="en-US" sz="60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) 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932B80-D9FD-9B9D-9ABE-B67C6FBB6AE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200" y="2603500"/>
            <a:ext cx="7194550" cy="495300"/>
          </a:xfrm>
        </p:spPr>
        <p:txBody>
          <a:bodyPr/>
          <a:lstStyle/>
          <a:p>
            <a:r>
              <a:rPr lang="en-US" dirty="0" err="1"/>
              <a:t>IaC</a:t>
            </a:r>
            <a:r>
              <a:rPr lang="en-US" dirty="0"/>
              <a:t> -  </a:t>
            </a:r>
          </a:p>
        </p:txBody>
      </p:sp>
    </p:spTree>
    <p:extLst>
      <p:ext uri="{BB962C8B-B14F-4D97-AF65-F5344CB8AC3E}">
        <p14:creationId xmlns:p14="http://schemas.microsoft.com/office/powerpoint/2010/main" val="1270915809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04F1F6-F143-46F9-BF16-C3B97DB03E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B585AEC-42B5-FACB-AC7A-976F08791F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Slide </a:t>
            </a:r>
            <a:fld id="{4CA2B2DB-B91D-4166-98BF-65A0DA7EEE6D}" type="slidenum">
              <a:rPr lang="en-US" smtClean="0"/>
              <a:pPr/>
              <a:t>77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FA63F8-3EC4-7140-9835-204073E271FB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2536823"/>
            <a:ext cx="16192500" cy="6111877"/>
          </a:xfrm>
        </p:spPr>
        <p:txBody>
          <a:bodyPr/>
          <a:lstStyle/>
          <a:p>
            <a:pPr marL="0" indent="0">
              <a:spcBef>
                <a:spcPts val="300"/>
              </a:spcBef>
              <a:buNone/>
            </a:pPr>
            <a:r>
              <a:rPr lang="en-US" altLang="en-US" sz="3600" b="1" dirty="0"/>
              <a:t>Serverless architecture</a:t>
            </a:r>
            <a:r>
              <a:rPr lang="en-US" altLang="en-US" sz="3600" dirty="0"/>
              <a:t> uses cloud platforms like AWS, Azure, and Google Cloud to host and develop code.</a:t>
            </a:r>
          </a:p>
          <a:p>
            <a:pPr>
              <a:spcBef>
                <a:spcPts val="300"/>
              </a:spcBef>
            </a:pPr>
            <a:r>
              <a:rPr lang="en-US" altLang="en-US" dirty="0"/>
              <a:t>Doesn’t mean the absence of servers; rather, cloud providers dynamically manage server allocation and provisioning</a:t>
            </a:r>
          </a:p>
          <a:p>
            <a:endParaRPr lang="en-US" altLang="en-US" b="1" dirty="0"/>
          </a:p>
          <a:p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2F82CAF-473F-A439-A707-0C41143E384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B33B041F-80B2-7883-6AB6-CCF9CC04FD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60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Serverless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99FFA2-6519-EED3-2B03-9EA4EE1600DA}"/>
              </a:ext>
            </a:extLst>
          </p:cNvPr>
          <p:cNvSpPr txBox="1"/>
          <p:nvPr/>
        </p:nvSpPr>
        <p:spPr>
          <a:xfrm>
            <a:off x="1447800" y="5219700"/>
            <a:ext cx="78867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/>
              <a:t>Example: AWS Lambda is a popular serverless architecture. Shown here is a “function” or application in AWS Lambda.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F144604-53DB-02D3-41DB-98BFB11CE2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4399782"/>
            <a:ext cx="5448300" cy="4465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187778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15194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F3DB55D-4554-5F26-FCE5-D7D1C877FA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4F9ECF35-0C7D-305D-ECAF-B966BCAB0C02}"/>
              </a:ext>
            </a:extLst>
          </p:cNvPr>
          <p:cNvGrpSpPr/>
          <p:nvPr/>
        </p:nvGrpSpPr>
        <p:grpSpPr>
          <a:xfrm rot="-5400000">
            <a:off x="12015831" y="4014831"/>
            <a:ext cx="10287000" cy="2257339"/>
            <a:chOff x="0" y="0"/>
            <a:chExt cx="2709333" cy="59452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6DAF8AC3-5E09-051D-5416-EED5991D5921}"/>
                </a:ext>
              </a:extLst>
            </p:cNvPr>
            <p:cNvSpPr/>
            <p:nvPr/>
          </p:nvSpPr>
          <p:spPr>
            <a:xfrm>
              <a:off x="0" y="0"/>
              <a:ext cx="2709333" cy="594525"/>
            </a:xfrm>
            <a:custGeom>
              <a:avLst/>
              <a:gdLst/>
              <a:ahLst/>
              <a:cxnLst/>
              <a:rect l="l" t="t" r="r" b="b"/>
              <a:pathLst>
                <a:path w="2709333" h="594525">
                  <a:moveTo>
                    <a:pt x="0" y="0"/>
                  </a:moveTo>
                  <a:lnTo>
                    <a:pt x="2709333" y="0"/>
                  </a:lnTo>
                  <a:lnTo>
                    <a:pt x="2709333" y="594525"/>
                  </a:lnTo>
                  <a:lnTo>
                    <a:pt x="0" y="594525"/>
                  </a:lnTo>
                  <a:close/>
                </a:path>
              </a:pathLst>
            </a:custGeom>
            <a:solidFill>
              <a:srgbClr val="0283F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140EB1FB-97DF-737F-7FE9-1EE97E7ADB08}"/>
                </a:ext>
              </a:extLst>
            </p:cNvPr>
            <p:cNvSpPr txBox="1"/>
            <p:nvPr/>
          </p:nvSpPr>
          <p:spPr>
            <a:xfrm>
              <a:off x="0" y="-66675"/>
              <a:ext cx="2709333" cy="6612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24"/>
                </a:lnSpc>
              </a:pPr>
              <a:endParaRPr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3CE4EE3B-E5DF-0C2C-30B9-B2ADB1FBDDB1}"/>
              </a:ext>
            </a:extLst>
          </p:cNvPr>
          <p:cNvGrpSpPr/>
          <p:nvPr/>
        </p:nvGrpSpPr>
        <p:grpSpPr>
          <a:xfrm>
            <a:off x="179467" y="6643814"/>
            <a:ext cx="8126333" cy="3488267"/>
            <a:chOff x="0" y="0"/>
            <a:chExt cx="844714" cy="36259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AD5E6C5A-4CB8-D9AA-0F3B-ADB16D7A1C40}"/>
                </a:ext>
              </a:extLst>
            </p:cNvPr>
            <p:cNvSpPr/>
            <p:nvPr/>
          </p:nvSpPr>
          <p:spPr>
            <a:xfrm>
              <a:off x="0" y="0"/>
              <a:ext cx="844714" cy="362598"/>
            </a:xfrm>
            <a:custGeom>
              <a:avLst/>
              <a:gdLst/>
              <a:ahLst/>
              <a:cxnLst/>
              <a:rect l="l" t="t" r="r" b="b"/>
              <a:pathLst>
                <a:path w="844714" h="362598">
                  <a:moveTo>
                    <a:pt x="203200" y="0"/>
                  </a:moveTo>
                  <a:lnTo>
                    <a:pt x="844714" y="0"/>
                  </a:lnTo>
                  <a:lnTo>
                    <a:pt x="641514" y="362598"/>
                  </a:lnTo>
                  <a:lnTo>
                    <a:pt x="0" y="362598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283FD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7E9C034F-A9C4-85E1-680B-47E19CDDFD77}"/>
                </a:ext>
              </a:extLst>
            </p:cNvPr>
            <p:cNvSpPr txBox="1"/>
            <p:nvPr/>
          </p:nvSpPr>
          <p:spPr>
            <a:xfrm>
              <a:off x="101600" y="-28575"/>
              <a:ext cx="641514" cy="391173"/>
            </a:xfrm>
            <a:prstGeom prst="rect">
              <a:avLst/>
            </a:prstGeom>
          </p:spPr>
          <p:txBody>
            <a:bodyPr lIns="47790" tIns="47790" rIns="47790" bIns="47790" rtlCol="0" anchor="ctr"/>
            <a:lstStyle/>
            <a:p>
              <a:pPr algn="ctr">
                <a:lnSpc>
                  <a:spcPts val="1843"/>
                </a:lnSpc>
              </a:pPr>
              <a:endParaRPr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115206E1-E81C-A091-490F-BF031C5FF857}"/>
              </a:ext>
            </a:extLst>
          </p:cNvPr>
          <p:cNvGrpSpPr/>
          <p:nvPr/>
        </p:nvGrpSpPr>
        <p:grpSpPr>
          <a:xfrm>
            <a:off x="0" y="6950004"/>
            <a:ext cx="16030661" cy="3336996"/>
            <a:chOff x="0" y="0"/>
            <a:chExt cx="6165409" cy="1271237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F6E887F3-BDDF-102D-4113-0932DD17AABC}"/>
                </a:ext>
              </a:extLst>
            </p:cNvPr>
            <p:cNvSpPr/>
            <p:nvPr/>
          </p:nvSpPr>
          <p:spPr>
            <a:xfrm>
              <a:off x="0" y="0"/>
              <a:ext cx="6165409" cy="1271237"/>
            </a:xfrm>
            <a:custGeom>
              <a:avLst/>
              <a:gdLst/>
              <a:ahLst/>
              <a:cxnLst/>
              <a:rect l="l" t="t" r="r" b="b"/>
              <a:pathLst>
                <a:path w="6165409" h="1271237">
                  <a:moveTo>
                    <a:pt x="0" y="0"/>
                  </a:moveTo>
                  <a:lnTo>
                    <a:pt x="6165409" y="0"/>
                  </a:lnTo>
                  <a:lnTo>
                    <a:pt x="6165409" y="1271237"/>
                  </a:lnTo>
                  <a:lnTo>
                    <a:pt x="0" y="127123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3CD8EEB6-75EF-57B8-466E-7EE72C090B97}"/>
                </a:ext>
              </a:extLst>
            </p:cNvPr>
            <p:cNvSpPr txBox="1"/>
            <p:nvPr/>
          </p:nvSpPr>
          <p:spPr>
            <a:xfrm>
              <a:off x="0" y="-28575"/>
              <a:ext cx="6165409" cy="1299812"/>
            </a:xfrm>
            <a:prstGeom prst="rect">
              <a:avLst/>
            </a:prstGeom>
          </p:spPr>
          <p:txBody>
            <a:bodyPr lIns="47790" tIns="47790" rIns="47790" bIns="47790" rtlCol="0" anchor="ctr"/>
            <a:lstStyle/>
            <a:p>
              <a:pPr algn="ctr">
                <a:lnSpc>
                  <a:spcPts val="1843"/>
                </a:lnSpc>
              </a:pPr>
              <a:endParaRPr/>
            </a:p>
          </p:txBody>
        </p:sp>
      </p:grpSp>
      <p:sp>
        <p:nvSpPr>
          <p:cNvPr id="12" name="TextBox 12">
            <a:extLst>
              <a:ext uri="{FF2B5EF4-FFF2-40B4-BE49-F238E27FC236}">
                <a16:creationId xmlns:a16="http://schemas.microsoft.com/office/drawing/2014/main" id="{5BEB38BB-5124-7C50-19E6-739FCA9845DC}"/>
              </a:ext>
            </a:extLst>
          </p:cNvPr>
          <p:cNvSpPr txBox="1"/>
          <p:nvPr/>
        </p:nvSpPr>
        <p:spPr>
          <a:xfrm>
            <a:off x="1111666" y="3432993"/>
            <a:ext cx="14771892" cy="598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400"/>
              </a:lnSpc>
            </a:pPr>
            <a:r>
              <a:rPr lang="en-US" sz="6000" b="1" dirty="0">
                <a:solidFill>
                  <a:srgbClr val="FFFFFF"/>
                </a:solidFill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SY0-701 – CompTIA Security+ Bootcamp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E4514C69-2C0E-31C6-2388-BFD83A51E3C5}"/>
              </a:ext>
            </a:extLst>
          </p:cNvPr>
          <p:cNvSpPr txBox="1"/>
          <p:nvPr/>
        </p:nvSpPr>
        <p:spPr>
          <a:xfrm>
            <a:off x="1111666" y="4453765"/>
            <a:ext cx="11390186" cy="4924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US" sz="3200" b="1" dirty="0">
                <a:solidFill>
                  <a:srgbClr val="FFFFFF"/>
                </a:solidFill>
                <a:latin typeface="Arial"/>
                <a:ea typeface="+mn-lt"/>
                <a:cs typeface="Arial"/>
                <a:sym typeface="Arial"/>
              </a:rPr>
              <a:t>Day 1 – Block 6</a:t>
            </a:r>
            <a:endParaRPr lang="en-US" sz="3200" dirty="0">
              <a:solidFill>
                <a:srgbClr val="000000"/>
              </a:solidFill>
              <a:latin typeface="Calibri"/>
              <a:ea typeface="+mn-lt"/>
              <a:cs typeface="Calibri"/>
            </a:endParaRP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DD56E63F-4622-1ABB-31CB-0E7364565BEE}"/>
              </a:ext>
            </a:extLst>
          </p:cNvPr>
          <p:cNvSpPr txBox="1"/>
          <p:nvPr/>
        </p:nvSpPr>
        <p:spPr>
          <a:xfrm>
            <a:off x="1111666" y="9653992"/>
            <a:ext cx="12263263" cy="3619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CALIFORNIA INSTITUTE OF APPLIED TECHNOLOGY</a:t>
            </a:r>
          </a:p>
        </p:txBody>
      </p:sp>
      <p:sp>
        <p:nvSpPr>
          <p:cNvPr id="15" name="AutoShape 15">
            <a:extLst>
              <a:ext uri="{FF2B5EF4-FFF2-40B4-BE49-F238E27FC236}">
                <a16:creationId xmlns:a16="http://schemas.microsoft.com/office/drawing/2014/main" id="{48AC7B87-7B46-6A34-B6EF-96EDFF719A20}"/>
              </a:ext>
            </a:extLst>
          </p:cNvPr>
          <p:cNvSpPr/>
          <p:nvPr/>
        </p:nvSpPr>
        <p:spPr>
          <a:xfrm>
            <a:off x="8010568" y="9858838"/>
            <a:ext cx="7625672" cy="0"/>
          </a:xfrm>
          <a:prstGeom prst="line">
            <a:avLst/>
          </a:prstGeom>
          <a:ln w="19050" cap="flat">
            <a:solidFill>
              <a:srgbClr val="0283F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7" name="Freeform 5">
            <a:extLst>
              <a:ext uri="{FF2B5EF4-FFF2-40B4-BE49-F238E27FC236}">
                <a16:creationId xmlns:a16="http://schemas.microsoft.com/office/drawing/2014/main" id="{DF234EC6-4AE3-4197-28FE-6CC0CE8E2158}"/>
              </a:ext>
            </a:extLst>
          </p:cNvPr>
          <p:cNvSpPr/>
          <p:nvPr/>
        </p:nvSpPr>
        <p:spPr>
          <a:xfrm>
            <a:off x="1111666" y="355081"/>
            <a:ext cx="4247850" cy="631936"/>
          </a:xfrm>
          <a:custGeom>
            <a:avLst/>
            <a:gdLst/>
            <a:ahLst/>
            <a:cxnLst/>
            <a:rect l="l" t="t" r="r" b="b"/>
            <a:pathLst>
              <a:path w="4247850" h="631936">
                <a:moveTo>
                  <a:pt x="0" y="0"/>
                </a:moveTo>
                <a:lnTo>
                  <a:pt x="4247850" y="0"/>
                </a:lnTo>
                <a:lnTo>
                  <a:pt x="4247850" y="631935"/>
                </a:lnTo>
                <a:lnTo>
                  <a:pt x="0" y="63193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5" r="-5"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FFEBCBF5-0766-E390-E970-AE5AF3D6F1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25308" y="8269924"/>
            <a:ext cx="1573291" cy="1551409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46D06DE2-6812-2C13-2BBE-4A9C084BF3B3}"/>
              </a:ext>
            </a:extLst>
          </p:cNvPr>
          <p:cNvSpPr txBox="1"/>
          <p:nvPr/>
        </p:nvSpPr>
        <p:spPr>
          <a:xfrm>
            <a:off x="1111666" y="7106062"/>
            <a:ext cx="9144000" cy="1138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2000" dirty="0"/>
              <a:t>Physical &amp; Environmental Security</a:t>
            </a:r>
          </a:p>
          <a:p>
            <a:pPr lvl="1"/>
            <a:r>
              <a:rPr lang="en-US" altLang="en-US" sz="1600" dirty="0"/>
              <a:t>Physical Controls</a:t>
            </a:r>
          </a:p>
          <a:p>
            <a:pPr lvl="1"/>
            <a:r>
              <a:rPr lang="en-US" altLang="en-US" sz="1600" dirty="0"/>
              <a:t>Environmental Controls</a:t>
            </a:r>
          </a:p>
          <a:p>
            <a:pPr lvl="1"/>
            <a:r>
              <a:rPr lang="en-US" altLang="en-US" sz="1600" dirty="0"/>
              <a:t>Asset Security</a:t>
            </a:r>
          </a:p>
        </p:txBody>
      </p:sp>
    </p:spTree>
    <p:extLst>
      <p:ext uri="{BB962C8B-B14F-4D97-AF65-F5344CB8AC3E}">
        <p14:creationId xmlns:p14="http://schemas.microsoft.com/office/powerpoint/2010/main" val="1980752083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3347F7-109E-D711-F26D-B40658FF95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114E866-07E4-EF79-6427-0F4D99CEAD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Slide </a:t>
            </a:r>
            <a:fld id="{4CA2B2DB-B91D-4166-98BF-65A0DA7EEE6D}" type="slidenum">
              <a:rPr lang="en-US" smtClean="0"/>
              <a:pPr/>
              <a:t>79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3F7A15-160C-3091-62F5-0E75A1CA3650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2536823"/>
            <a:ext cx="16192500" cy="6111877"/>
          </a:xfrm>
        </p:spPr>
        <p:txBody>
          <a:bodyPr/>
          <a:lstStyle/>
          <a:p>
            <a:pPr marL="0" indent="0">
              <a:buNone/>
            </a:pPr>
            <a:r>
              <a:rPr lang="en-US" altLang="en-US" sz="3600" b="1" dirty="0"/>
              <a:t>Physical controls </a:t>
            </a:r>
            <a:r>
              <a:rPr lang="en-US" altLang="en-US" sz="3600" dirty="0"/>
              <a:t>serve as the first line of defense in controlling access to an organization.</a:t>
            </a:r>
          </a:p>
          <a:p>
            <a:r>
              <a:rPr lang="en-US" altLang="en-US" sz="3600" dirty="0"/>
              <a:t>Examples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E7793FE-DF1D-EF6F-9A6D-AF59484A35B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351EC4DC-E36C-5FE3-F614-407C03F560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60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Physical Controls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AC0CD8B-6545-DBF8-947D-77B742EED951}"/>
              </a:ext>
            </a:extLst>
          </p:cNvPr>
          <p:cNvSpPr txBox="1"/>
          <p:nvPr/>
        </p:nvSpPr>
        <p:spPr>
          <a:xfrm>
            <a:off x="1752600" y="4266337"/>
            <a:ext cx="8001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/>
              <a:t>Ensuring that entrances are secure</a:t>
            </a:r>
          </a:p>
          <a:p>
            <a:r>
              <a:rPr lang="en-US" sz="3600" dirty="0"/>
              <a:t>Securing physical equipment</a:t>
            </a:r>
          </a:p>
          <a:p>
            <a:r>
              <a:rPr lang="en-US" sz="3600" dirty="0"/>
              <a:t>Logging and surveilling visitors</a:t>
            </a:r>
          </a:p>
        </p:txBody>
      </p:sp>
    </p:spTree>
    <p:extLst>
      <p:ext uri="{BB962C8B-B14F-4D97-AF65-F5344CB8AC3E}">
        <p14:creationId xmlns:p14="http://schemas.microsoft.com/office/powerpoint/2010/main" val="1811123193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5225C2-6E8C-9A8B-BFFC-31923461BE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23337ED-6890-0A2B-97B5-DCC325BFB4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Slide </a:t>
            </a:r>
            <a:fld id="{4CA2B2DB-B91D-4166-98BF-65A0DA7EEE6D}" type="slidenum">
              <a:rPr lang="en-US" smtClean="0"/>
              <a:pPr/>
              <a:t>80</a:t>
            </a:fld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926D972-4BFB-15C1-685C-A17426F42E4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BA2CC91-13D0-C45E-9C26-C54E1C99C5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60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Physical Controls</a:t>
            </a:r>
            <a:endParaRPr lang="en-US" dirty="0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3293F4E4-7C87-C72E-C78B-C06B56FCAAD3}"/>
              </a:ext>
            </a:extLst>
          </p:cNvPr>
          <p:cNvPicPr>
            <a:picLocks noGrp="1" noChangeAspect="1"/>
          </p:cNvPicPr>
          <p:nvPr>
            <p:ph sz="quarter" idx="12"/>
          </p:nvPr>
        </p:nvPicPr>
        <p:blipFill>
          <a:blip r:embed="rId3"/>
          <a:stretch>
            <a:fillRect/>
          </a:stretch>
        </p:blipFill>
        <p:spPr>
          <a:xfrm>
            <a:off x="4371771" y="2653411"/>
            <a:ext cx="9125357" cy="4980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9366772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71F633-C703-14DA-F60F-FF39CC2EF9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94F9639-1A0D-3C79-B1AB-FF0E98F5ED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Slide </a:t>
            </a:r>
            <a:fld id="{4CA2B2DB-B91D-4166-98BF-65A0DA7EEE6D}" type="slidenum">
              <a:rPr lang="en-US" smtClean="0"/>
              <a:pPr/>
              <a:t>81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38D68D-D8F6-F10C-A8F3-80DAAE29BC6E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2536823"/>
            <a:ext cx="16192500" cy="6111877"/>
          </a:xfrm>
        </p:spPr>
        <p:txBody>
          <a:bodyPr/>
          <a:lstStyle/>
          <a:p>
            <a:pPr marL="0" indent="0">
              <a:spcBef>
                <a:spcPts val="900"/>
              </a:spcBef>
              <a:buNone/>
            </a:pPr>
            <a:r>
              <a:rPr lang="en-US" altLang="en-US" sz="3900" b="1" dirty="0"/>
              <a:t>Physical attacks </a:t>
            </a:r>
            <a:r>
              <a:rPr lang="en-US" altLang="en-US" sz="3900" dirty="0"/>
              <a:t>target tangible components of information systems, such as hardware devices, data storage mediums, and physical locations.</a:t>
            </a:r>
          </a:p>
          <a:p>
            <a:pPr lvl="1">
              <a:spcBef>
                <a:spcPts val="900"/>
              </a:spcBef>
            </a:pPr>
            <a:r>
              <a:rPr lang="en-US" altLang="en-US" sz="3600" dirty="0"/>
              <a:t>	Brute-force  </a:t>
            </a:r>
          </a:p>
          <a:p>
            <a:pPr lvl="1">
              <a:spcBef>
                <a:spcPts val="900"/>
              </a:spcBef>
            </a:pPr>
            <a:r>
              <a:rPr lang="en-US" altLang="en-US" sz="3600" dirty="0"/>
              <a:t>	Physical brute-force </a:t>
            </a:r>
          </a:p>
          <a:p>
            <a:pPr lvl="1">
              <a:spcBef>
                <a:spcPts val="900"/>
              </a:spcBef>
            </a:pPr>
            <a:r>
              <a:rPr lang="en-US" altLang="en-US" sz="3600" dirty="0"/>
              <a:t>	RFID cloning </a:t>
            </a:r>
          </a:p>
          <a:p>
            <a:pPr lvl="1">
              <a:spcBef>
                <a:spcPts val="900"/>
              </a:spcBef>
            </a:pPr>
            <a:r>
              <a:rPr lang="en-US" altLang="en-US" sz="3600" dirty="0"/>
              <a:t>	Environmental  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B55B269-2FC8-D5DD-2076-E9FD53324A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2B6FEA0A-A17A-2E93-8F2C-5D3AD9A0BE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60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Physical Attacks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6998487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04042B-01A3-3369-997B-F20F2848DF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CB65A1C-50B1-9151-C66D-4C617B518A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Slide </a:t>
            </a:r>
            <a:fld id="{4CA2B2DB-B91D-4166-98BF-65A0DA7EEE6D}" type="slidenum">
              <a:rPr lang="en-US" smtClean="0"/>
              <a:pPr/>
              <a:t>82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DF4B9B-7A22-C6C7-D2B7-1BB4F4F617B4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2536823"/>
            <a:ext cx="16192500" cy="6111877"/>
          </a:xfrm>
        </p:spPr>
        <p:txBody>
          <a:bodyPr/>
          <a:lstStyle/>
          <a:p>
            <a:pPr marL="0" indent="0">
              <a:spcBef>
                <a:spcPts val="900"/>
              </a:spcBef>
              <a:buNone/>
            </a:pPr>
            <a:r>
              <a:rPr lang="en-US" altLang="en-US" sz="4400" b="1" dirty="0"/>
              <a:t>On-premises computing architecture </a:t>
            </a:r>
            <a:r>
              <a:rPr lang="en-US" altLang="en-US" sz="4400" dirty="0"/>
              <a:t>involves housing and managing hardware, software, servers, and network resources within an organization's physical location.</a:t>
            </a:r>
          </a:p>
          <a:p>
            <a:pPr>
              <a:spcBef>
                <a:spcPts val="900"/>
              </a:spcBef>
            </a:pPr>
            <a:r>
              <a:rPr lang="en-US" altLang="en-US" sz="4000" dirty="0"/>
              <a:t>Organizations have complete control over and responsibility for their IT infrastructures, including management, maintenance, and security.</a:t>
            </a:r>
          </a:p>
          <a:p>
            <a:pPr>
              <a:spcBef>
                <a:spcPts val="900"/>
              </a:spcBef>
            </a:pPr>
            <a:r>
              <a:rPr lang="en-US" altLang="en-US" sz="4000" dirty="0"/>
              <a:t>May involve increased costs and complexity, requiring dedicated personnel and equipment for effective management and maintenance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BC46E57-5C95-BEF5-224E-69FA7EBED93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B80D038C-5192-ADB3-61A3-E3C20CECD3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60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On-Premises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6955728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EC1A2-A62A-B47C-3BDB-82849F7C2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C338E80-0020-BF76-C59E-44A7BB59CA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Slide </a:t>
            </a:r>
            <a:fld id="{4CA2B2DB-B91D-4166-98BF-65A0DA7EEE6D}" type="slidenum">
              <a:rPr lang="en-US" smtClean="0"/>
              <a:pPr/>
              <a:t>83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26421C-1B74-0BE6-93AD-3E1CDB406F46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2536823"/>
            <a:ext cx="16192500" cy="6111877"/>
          </a:xfrm>
        </p:spPr>
        <p:txBody>
          <a:bodyPr/>
          <a:lstStyle/>
          <a:p>
            <a:pPr marL="0" indent="0">
              <a:spcBef>
                <a:spcPts val="900"/>
              </a:spcBef>
              <a:buNone/>
            </a:pPr>
            <a:r>
              <a:rPr lang="en-US" altLang="en-US" sz="4400" b="1" dirty="0"/>
              <a:t>Power management </a:t>
            </a:r>
            <a:r>
              <a:rPr lang="en-US" altLang="en-US" sz="4400" dirty="0"/>
              <a:t>involves provisioning, controlling, and efficiently utilizing electricity to maintain uninterrupted facility operation.</a:t>
            </a:r>
          </a:p>
          <a:p>
            <a:pPr>
              <a:spcBef>
                <a:spcPts val="900"/>
              </a:spcBef>
            </a:pPr>
            <a:r>
              <a:rPr lang="en-US" altLang="en-US" sz="4000" b="1" dirty="0"/>
              <a:t>Uninterruptible Power Supply (UPS) </a:t>
            </a:r>
            <a:r>
              <a:rPr lang="en-US" altLang="en-US" sz="4000" dirty="0"/>
              <a:t>devices offer emergency power during main power failures by storing energy in batteries or supercapacitors.</a:t>
            </a:r>
          </a:p>
          <a:p>
            <a:pPr>
              <a:spcBef>
                <a:spcPts val="900"/>
              </a:spcBef>
            </a:pPr>
            <a:r>
              <a:rPr lang="en-US" altLang="en-US" sz="4000" b="1" dirty="0"/>
              <a:t>Generators</a:t>
            </a:r>
            <a:r>
              <a:rPr lang="en-US" altLang="en-US" sz="4000" dirty="0"/>
              <a:t> supply power during complete power loss or in areas without standard electrical service, converting mechanical or chemical energy into electrical energy.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1E3A8D-BAEC-44B3-76E1-F6A6BECF6E7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9C4BE8E-A232-1767-793B-6B66C8A91C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60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Power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8909928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9F34B4-3B5D-238B-A63D-0078FA1BD0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9B368D3-7D53-FA98-3117-0641D6E4BC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Slide </a:t>
            </a:r>
            <a:fld id="{4CA2B2DB-B91D-4166-98BF-65A0DA7EEE6D}" type="slidenum">
              <a:rPr lang="en-US" smtClean="0"/>
              <a:pPr/>
              <a:t>84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FCBE1C-0A53-3B8F-F03B-4A6779A129D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2536823"/>
            <a:ext cx="5181600" cy="5578477"/>
          </a:xfrm>
        </p:spPr>
        <p:txBody>
          <a:bodyPr/>
          <a:lstStyle/>
          <a:p>
            <a:r>
              <a:rPr lang="en-US" sz="4400" dirty="0"/>
              <a:t>Bollards/ Barricades</a:t>
            </a:r>
          </a:p>
          <a:p>
            <a:r>
              <a:rPr lang="en-US" sz="4400" dirty="0"/>
              <a:t>Access Control Vestibules</a:t>
            </a:r>
          </a:p>
          <a:p>
            <a:r>
              <a:rPr lang="en-US" sz="4400" dirty="0"/>
              <a:t>Fencing</a:t>
            </a:r>
          </a:p>
          <a:p>
            <a:r>
              <a:rPr lang="en-US" sz="4400" dirty="0"/>
              <a:t>Video Surveillance </a:t>
            </a:r>
          </a:p>
          <a:p>
            <a:r>
              <a:rPr lang="en-US" sz="4400" dirty="0"/>
              <a:t>Security Guards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A5D56AB-95E6-4284-1DC0-915218ECE51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1B58292-8ECC-A5B4-BE49-0F7266E48C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60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Physical Security</a:t>
            </a:r>
            <a:endParaRPr lang="en-US" dirty="0"/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8FADB8DD-F47A-DF51-D9BE-6D58D4F92023}"/>
              </a:ext>
            </a:extLst>
          </p:cNvPr>
          <p:cNvSpPr txBox="1">
            <a:spLocks/>
          </p:cNvSpPr>
          <p:nvPr/>
        </p:nvSpPr>
        <p:spPr>
          <a:xfrm>
            <a:off x="6019800" y="2566902"/>
            <a:ext cx="5181600" cy="5578477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2085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400" dirty="0"/>
              <a:t>Access badges</a:t>
            </a:r>
          </a:p>
          <a:p>
            <a:r>
              <a:rPr lang="en-US" sz="4400" dirty="0"/>
              <a:t>Lighting</a:t>
            </a:r>
          </a:p>
          <a:p>
            <a:r>
              <a:rPr lang="en-US" sz="4400" dirty="0"/>
              <a:t>Sensors</a:t>
            </a:r>
          </a:p>
          <a:p>
            <a:pPr lvl="2"/>
            <a:r>
              <a:rPr lang="en-US" sz="3600" dirty="0"/>
              <a:t>Infrared</a:t>
            </a:r>
          </a:p>
          <a:p>
            <a:pPr lvl="2"/>
            <a:r>
              <a:rPr lang="en-US" sz="3600" dirty="0"/>
              <a:t>Pressure</a:t>
            </a:r>
          </a:p>
          <a:p>
            <a:pPr lvl="2"/>
            <a:r>
              <a:rPr lang="en-US" sz="3600" dirty="0"/>
              <a:t>Microwave</a:t>
            </a:r>
          </a:p>
          <a:p>
            <a:pPr lvl="2"/>
            <a:r>
              <a:rPr lang="en-US" sz="3600" dirty="0"/>
              <a:t>Ultrasonic</a:t>
            </a:r>
          </a:p>
          <a:p>
            <a:pPr lvl="1"/>
            <a:endParaRPr lang="en-US" sz="40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866C13D-A674-033E-FEC8-6C6CF41934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1385" y="1973262"/>
            <a:ext cx="6298415" cy="5503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3192419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15194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29BE2A7-7ED2-A4EB-6D6F-647FC73BCD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44114DBE-DD89-D611-E594-93ACA931E9DD}"/>
              </a:ext>
            </a:extLst>
          </p:cNvPr>
          <p:cNvGrpSpPr/>
          <p:nvPr/>
        </p:nvGrpSpPr>
        <p:grpSpPr>
          <a:xfrm rot="-5400000">
            <a:off x="12015831" y="4014831"/>
            <a:ext cx="10287000" cy="2257339"/>
            <a:chOff x="0" y="0"/>
            <a:chExt cx="2709333" cy="59452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EB7AD7E-9362-6D12-F49D-C6057ACB2E0D}"/>
                </a:ext>
              </a:extLst>
            </p:cNvPr>
            <p:cNvSpPr/>
            <p:nvPr/>
          </p:nvSpPr>
          <p:spPr>
            <a:xfrm>
              <a:off x="0" y="0"/>
              <a:ext cx="2709333" cy="594525"/>
            </a:xfrm>
            <a:custGeom>
              <a:avLst/>
              <a:gdLst/>
              <a:ahLst/>
              <a:cxnLst/>
              <a:rect l="l" t="t" r="r" b="b"/>
              <a:pathLst>
                <a:path w="2709333" h="594525">
                  <a:moveTo>
                    <a:pt x="0" y="0"/>
                  </a:moveTo>
                  <a:lnTo>
                    <a:pt x="2709333" y="0"/>
                  </a:lnTo>
                  <a:lnTo>
                    <a:pt x="2709333" y="594525"/>
                  </a:lnTo>
                  <a:lnTo>
                    <a:pt x="0" y="594525"/>
                  </a:lnTo>
                  <a:close/>
                </a:path>
              </a:pathLst>
            </a:custGeom>
            <a:solidFill>
              <a:srgbClr val="0283FD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C9F2131A-C5DD-46A0-F7DB-2CF83619CE9F}"/>
                </a:ext>
              </a:extLst>
            </p:cNvPr>
            <p:cNvSpPr txBox="1"/>
            <p:nvPr/>
          </p:nvSpPr>
          <p:spPr>
            <a:xfrm>
              <a:off x="0" y="-66675"/>
              <a:ext cx="2709333" cy="6612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3024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B2828861-D37D-82FC-77AE-862F97819ECD}"/>
              </a:ext>
            </a:extLst>
          </p:cNvPr>
          <p:cNvGrpSpPr/>
          <p:nvPr/>
        </p:nvGrpSpPr>
        <p:grpSpPr>
          <a:xfrm>
            <a:off x="179467" y="6643814"/>
            <a:ext cx="8126333" cy="3488267"/>
            <a:chOff x="0" y="0"/>
            <a:chExt cx="844714" cy="36259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A98A09C9-3D1B-2D19-73F7-68390194B134}"/>
                </a:ext>
              </a:extLst>
            </p:cNvPr>
            <p:cNvSpPr/>
            <p:nvPr/>
          </p:nvSpPr>
          <p:spPr>
            <a:xfrm>
              <a:off x="0" y="0"/>
              <a:ext cx="844714" cy="362598"/>
            </a:xfrm>
            <a:custGeom>
              <a:avLst/>
              <a:gdLst/>
              <a:ahLst/>
              <a:cxnLst/>
              <a:rect l="l" t="t" r="r" b="b"/>
              <a:pathLst>
                <a:path w="844714" h="362598">
                  <a:moveTo>
                    <a:pt x="203200" y="0"/>
                  </a:moveTo>
                  <a:lnTo>
                    <a:pt x="844714" y="0"/>
                  </a:lnTo>
                  <a:lnTo>
                    <a:pt x="641514" y="362598"/>
                  </a:lnTo>
                  <a:lnTo>
                    <a:pt x="0" y="362598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283FD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AA201614-5457-F9CD-5E4D-6D5CF64FC88C}"/>
                </a:ext>
              </a:extLst>
            </p:cNvPr>
            <p:cNvSpPr txBox="1"/>
            <p:nvPr/>
          </p:nvSpPr>
          <p:spPr>
            <a:xfrm>
              <a:off x="101600" y="-28575"/>
              <a:ext cx="641514" cy="391173"/>
            </a:xfrm>
            <a:prstGeom prst="rect">
              <a:avLst/>
            </a:prstGeom>
          </p:spPr>
          <p:txBody>
            <a:bodyPr lIns="47790" tIns="47790" rIns="47790" bIns="4779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1843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08F7CAB7-DE32-4912-AB9C-D5F8E337AC24}"/>
              </a:ext>
            </a:extLst>
          </p:cNvPr>
          <p:cNvGrpSpPr/>
          <p:nvPr/>
        </p:nvGrpSpPr>
        <p:grpSpPr>
          <a:xfrm>
            <a:off x="0" y="6950004"/>
            <a:ext cx="16030661" cy="3336996"/>
            <a:chOff x="0" y="0"/>
            <a:chExt cx="6165409" cy="1271237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05C7F880-37BB-4884-BE2B-336F85619ADB}"/>
                </a:ext>
              </a:extLst>
            </p:cNvPr>
            <p:cNvSpPr/>
            <p:nvPr/>
          </p:nvSpPr>
          <p:spPr>
            <a:xfrm>
              <a:off x="0" y="0"/>
              <a:ext cx="6165409" cy="1271237"/>
            </a:xfrm>
            <a:custGeom>
              <a:avLst/>
              <a:gdLst/>
              <a:ahLst/>
              <a:cxnLst/>
              <a:rect l="l" t="t" r="r" b="b"/>
              <a:pathLst>
                <a:path w="6165409" h="1271237">
                  <a:moveTo>
                    <a:pt x="0" y="0"/>
                  </a:moveTo>
                  <a:lnTo>
                    <a:pt x="6165409" y="0"/>
                  </a:lnTo>
                  <a:lnTo>
                    <a:pt x="6165409" y="1271237"/>
                  </a:lnTo>
                  <a:lnTo>
                    <a:pt x="0" y="127123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1816096D-3E70-F285-479A-F2CBA6908893}"/>
                </a:ext>
              </a:extLst>
            </p:cNvPr>
            <p:cNvSpPr txBox="1"/>
            <p:nvPr/>
          </p:nvSpPr>
          <p:spPr>
            <a:xfrm>
              <a:off x="0" y="-28575"/>
              <a:ext cx="6165409" cy="1299812"/>
            </a:xfrm>
            <a:prstGeom prst="rect">
              <a:avLst/>
            </a:prstGeom>
          </p:spPr>
          <p:txBody>
            <a:bodyPr lIns="47790" tIns="47790" rIns="47790" bIns="4779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1843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sp>
        <p:nvSpPr>
          <p:cNvPr id="12" name="TextBox 12">
            <a:extLst>
              <a:ext uri="{FF2B5EF4-FFF2-40B4-BE49-F238E27FC236}">
                <a16:creationId xmlns:a16="http://schemas.microsoft.com/office/drawing/2014/main" id="{DF37FE1D-4AF5-0BE6-ADE5-49C1551EFB1E}"/>
              </a:ext>
            </a:extLst>
          </p:cNvPr>
          <p:cNvSpPr txBox="1"/>
          <p:nvPr/>
        </p:nvSpPr>
        <p:spPr>
          <a:xfrm>
            <a:off x="1111666" y="3432993"/>
            <a:ext cx="14771892" cy="598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4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Day 1 – Block 7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CB7081B9-0E66-596B-A437-C1C8FF609F1F}"/>
              </a:ext>
            </a:extLst>
          </p:cNvPr>
          <p:cNvSpPr txBox="1"/>
          <p:nvPr/>
        </p:nvSpPr>
        <p:spPr>
          <a:xfrm>
            <a:off x="1111666" y="9653992"/>
            <a:ext cx="12263263" cy="3619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0" i="0" u="none" strike="noStrike" kern="1200" cap="none" spc="0" normalizeH="0" baseline="0" noProof="0">
                <a:ln>
                  <a:noFill/>
                </a:ln>
                <a:solidFill>
                  <a:srgbClr val="252525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CALIFORNIA INSTITUTE OF APPLIED TECHNOLOGY</a:t>
            </a:r>
          </a:p>
        </p:txBody>
      </p:sp>
      <p:sp>
        <p:nvSpPr>
          <p:cNvPr id="15" name="AutoShape 15">
            <a:extLst>
              <a:ext uri="{FF2B5EF4-FFF2-40B4-BE49-F238E27FC236}">
                <a16:creationId xmlns:a16="http://schemas.microsoft.com/office/drawing/2014/main" id="{ADFD7778-958B-B415-2A6D-892F5142503C}"/>
              </a:ext>
            </a:extLst>
          </p:cNvPr>
          <p:cNvSpPr/>
          <p:nvPr/>
        </p:nvSpPr>
        <p:spPr>
          <a:xfrm>
            <a:off x="8010568" y="9858838"/>
            <a:ext cx="7625672" cy="0"/>
          </a:xfrm>
          <a:prstGeom prst="line">
            <a:avLst/>
          </a:prstGeom>
          <a:ln w="19050" cap="flat">
            <a:solidFill>
              <a:srgbClr val="0283F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7" name="Freeform 5">
            <a:extLst>
              <a:ext uri="{FF2B5EF4-FFF2-40B4-BE49-F238E27FC236}">
                <a16:creationId xmlns:a16="http://schemas.microsoft.com/office/drawing/2014/main" id="{96E1AEDA-C228-6189-65C1-24C8859B09A0}"/>
              </a:ext>
            </a:extLst>
          </p:cNvPr>
          <p:cNvSpPr/>
          <p:nvPr/>
        </p:nvSpPr>
        <p:spPr>
          <a:xfrm>
            <a:off x="1111666" y="355081"/>
            <a:ext cx="4247850" cy="631936"/>
          </a:xfrm>
          <a:custGeom>
            <a:avLst/>
            <a:gdLst/>
            <a:ahLst/>
            <a:cxnLst/>
            <a:rect l="l" t="t" r="r" b="b"/>
            <a:pathLst>
              <a:path w="4247850" h="631936">
                <a:moveTo>
                  <a:pt x="0" y="0"/>
                </a:moveTo>
                <a:lnTo>
                  <a:pt x="4247850" y="0"/>
                </a:lnTo>
                <a:lnTo>
                  <a:pt x="4247850" y="631935"/>
                </a:lnTo>
                <a:lnTo>
                  <a:pt x="0" y="63193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5" r="-5"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5DCD91B-C49C-5FF3-67D5-F785A9691463}"/>
              </a:ext>
            </a:extLst>
          </p:cNvPr>
          <p:cNvSpPr txBox="1"/>
          <p:nvPr/>
        </p:nvSpPr>
        <p:spPr>
          <a:xfrm>
            <a:off x="1111666" y="7106062"/>
            <a:ext cx="9144000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2000" dirty="0"/>
              <a:t>Domain 1 PBQ Workshop</a:t>
            </a:r>
          </a:p>
          <a:p>
            <a:pPr marL="0"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1600" dirty="0"/>
              <a:t>	Hands-on PBQ Practice Session</a:t>
            </a:r>
          </a:p>
          <a:p>
            <a:pPr marL="0"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2000" dirty="0"/>
              <a:t>Crucial Exams PBQs</a:t>
            </a:r>
          </a:p>
          <a:p>
            <a:pPr lvl="1" indent="-487680"/>
            <a:r>
              <a:rPr lang="en-US" altLang="en-US" sz="1600" dirty="0"/>
              <a:t>		Cryptographic Concepts PBQ</a:t>
            </a:r>
          </a:p>
          <a:p>
            <a:pPr lvl="1" indent="-487680"/>
            <a:r>
              <a:rPr lang="en-US" altLang="en-US" sz="1600" dirty="0"/>
              <a:t>		Network Components and Common Protocols PBQ</a:t>
            </a:r>
          </a:p>
        </p:txBody>
      </p:sp>
    </p:spTree>
    <p:extLst>
      <p:ext uri="{BB962C8B-B14F-4D97-AF65-F5344CB8AC3E}">
        <p14:creationId xmlns:p14="http://schemas.microsoft.com/office/powerpoint/2010/main" val="288211639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15194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F49B5B1-0116-F0F1-A2ED-C2DDF59E77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9049DE8F-0AD2-B3B7-0EC1-57485971F857}"/>
              </a:ext>
            </a:extLst>
          </p:cNvPr>
          <p:cNvGrpSpPr/>
          <p:nvPr/>
        </p:nvGrpSpPr>
        <p:grpSpPr>
          <a:xfrm rot="-5400000">
            <a:off x="12015831" y="4014831"/>
            <a:ext cx="10287000" cy="2257339"/>
            <a:chOff x="0" y="0"/>
            <a:chExt cx="2709333" cy="59452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BF614816-00F1-D514-715A-020C6D93D311}"/>
                </a:ext>
              </a:extLst>
            </p:cNvPr>
            <p:cNvSpPr/>
            <p:nvPr/>
          </p:nvSpPr>
          <p:spPr>
            <a:xfrm>
              <a:off x="0" y="0"/>
              <a:ext cx="2709333" cy="594525"/>
            </a:xfrm>
            <a:custGeom>
              <a:avLst/>
              <a:gdLst/>
              <a:ahLst/>
              <a:cxnLst/>
              <a:rect l="l" t="t" r="r" b="b"/>
              <a:pathLst>
                <a:path w="2709333" h="594525">
                  <a:moveTo>
                    <a:pt x="0" y="0"/>
                  </a:moveTo>
                  <a:lnTo>
                    <a:pt x="2709333" y="0"/>
                  </a:lnTo>
                  <a:lnTo>
                    <a:pt x="2709333" y="594525"/>
                  </a:lnTo>
                  <a:lnTo>
                    <a:pt x="0" y="594525"/>
                  </a:lnTo>
                  <a:close/>
                </a:path>
              </a:pathLst>
            </a:custGeom>
            <a:solidFill>
              <a:srgbClr val="0283FD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0E74A8AA-211F-FE3D-2306-9526116DBBAE}"/>
                </a:ext>
              </a:extLst>
            </p:cNvPr>
            <p:cNvSpPr txBox="1"/>
            <p:nvPr/>
          </p:nvSpPr>
          <p:spPr>
            <a:xfrm>
              <a:off x="0" y="-66675"/>
              <a:ext cx="2709333" cy="6612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3024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88D0EFC4-F57A-0395-1219-20A20F0AC0E6}"/>
              </a:ext>
            </a:extLst>
          </p:cNvPr>
          <p:cNvGrpSpPr/>
          <p:nvPr/>
        </p:nvGrpSpPr>
        <p:grpSpPr>
          <a:xfrm>
            <a:off x="179467" y="6643814"/>
            <a:ext cx="8126333" cy="3488267"/>
            <a:chOff x="0" y="0"/>
            <a:chExt cx="844714" cy="36259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57B38BAB-F315-F000-F9E6-D0C20D28D349}"/>
                </a:ext>
              </a:extLst>
            </p:cNvPr>
            <p:cNvSpPr/>
            <p:nvPr/>
          </p:nvSpPr>
          <p:spPr>
            <a:xfrm>
              <a:off x="0" y="0"/>
              <a:ext cx="844714" cy="362598"/>
            </a:xfrm>
            <a:custGeom>
              <a:avLst/>
              <a:gdLst/>
              <a:ahLst/>
              <a:cxnLst/>
              <a:rect l="l" t="t" r="r" b="b"/>
              <a:pathLst>
                <a:path w="844714" h="362598">
                  <a:moveTo>
                    <a:pt x="203200" y="0"/>
                  </a:moveTo>
                  <a:lnTo>
                    <a:pt x="844714" y="0"/>
                  </a:lnTo>
                  <a:lnTo>
                    <a:pt x="641514" y="362598"/>
                  </a:lnTo>
                  <a:lnTo>
                    <a:pt x="0" y="362598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283FD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E5EB6CE1-A941-E32D-9D06-911C8F5C6464}"/>
                </a:ext>
              </a:extLst>
            </p:cNvPr>
            <p:cNvSpPr txBox="1"/>
            <p:nvPr/>
          </p:nvSpPr>
          <p:spPr>
            <a:xfrm>
              <a:off x="101600" y="-28575"/>
              <a:ext cx="641514" cy="391173"/>
            </a:xfrm>
            <a:prstGeom prst="rect">
              <a:avLst/>
            </a:prstGeom>
          </p:spPr>
          <p:txBody>
            <a:bodyPr lIns="47790" tIns="47790" rIns="47790" bIns="4779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1843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9A68592C-5427-2C03-008D-87C345888472}"/>
              </a:ext>
            </a:extLst>
          </p:cNvPr>
          <p:cNvGrpSpPr/>
          <p:nvPr/>
        </p:nvGrpSpPr>
        <p:grpSpPr>
          <a:xfrm>
            <a:off x="0" y="6950004"/>
            <a:ext cx="16030661" cy="3336996"/>
            <a:chOff x="0" y="0"/>
            <a:chExt cx="6165409" cy="1271237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C57B34C3-079B-F3B5-0E2C-547D9F664C7F}"/>
                </a:ext>
              </a:extLst>
            </p:cNvPr>
            <p:cNvSpPr/>
            <p:nvPr/>
          </p:nvSpPr>
          <p:spPr>
            <a:xfrm>
              <a:off x="0" y="0"/>
              <a:ext cx="6165409" cy="1271237"/>
            </a:xfrm>
            <a:custGeom>
              <a:avLst/>
              <a:gdLst/>
              <a:ahLst/>
              <a:cxnLst/>
              <a:rect l="l" t="t" r="r" b="b"/>
              <a:pathLst>
                <a:path w="6165409" h="1271237">
                  <a:moveTo>
                    <a:pt x="0" y="0"/>
                  </a:moveTo>
                  <a:lnTo>
                    <a:pt x="6165409" y="0"/>
                  </a:lnTo>
                  <a:lnTo>
                    <a:pt x="6165409" y="1271237"/>
                  </a:lnTo>
                  <a:lnTo>
                    <a:pt x="0" y="127123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D7391A65-3657-E9D3-C384-54537CADB0C3}"/>
                </a:ext>
              </a:extLst>
            </p:cNvPr>
            <p:cNvSpPr txBox="1"/>
            <p:nvPr/>
          </p:nvSpPr>
          <p:spPr>
            <a:xfrm>
              <a:off x="0" y="-28575"/>
              <a:ext cx="6165409" cy="1299812"/>
            </a:xfrm>
            <a:prstGeom prst="rect">
              <a:avLst/>
            </a:prstGeom>
          </p:spPr>
          <p:txBody>
            <a:bodyPr lIns="47790" tIns="47790" rIns="47790" bIns="4779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1843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sp>
        <p:nvSpPr>
          <p:cNvPr id="12" name="TextBox 12">
            <a:extLst>
              <a:ext uri="{FF2B5EF4-FFF2-40B4-BE49-F238E27FC236}">
                <a16:creationId xmlns:a16="http://schemas.microsoft.com/office/drawing/2014/main" id="{10F65F96-D71A-F975-5E73-A20AB816B414}"/>
              </a:ext>
            </a:extLst>
          </p:cNvPr>
          <p:cNvSpPr txBox="1"/>
          <p:nvPr/>
        </p:nvSpPr>
        <p:spPr>
          <a:xfrm>
            <a:off x="1111666" y="3432993"/>
            <a:ext cx="14771892" cy="598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4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Day 1 – Block 8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BD2479D4-7E74-75BB-2DDD-FF5B53CE599D}"/>
              </a:ext>
            </a:extLst>
          </p:cNvPr>
          <p:cNvSpPr txBox="1"/>
          <p:nvPr/>
        </p:nvSpPr>
        <p:spPr>
          <a:xfrm>
            <a:off x="1111666" y="9653992"/>
            <a:ext cx="12263263" cy="3619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0" i="0" u="none" strike="noStrike" kern="1200" cap="none" spc="0" normalizeH="0" baseline="0" noProof="0">
                <a:ln>
                  <a:noFill/>
                </a:ln>
                <a:solidFill>
                  <a:srgbClr val="252525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CALIFORNIA INSTITUTE OF APPLIED TECHNOLOGY</a:t>
            </a:r>
          </a:p>
        </p:txBody>
      </p:sp>
      <p:sp>
        <p:nvSpPr>
          <p:cNvPr id="15" name="AutoShape 15">
            <a:extLst>
              <a:ext uri="{FF2B5EF4-FFF2-40B4-BE49-F238E27FC236}">
                <a16:creationId xmlns:a16="http://schemas.microsoft.com/office/drawing/2014/main" id="{10537969-4AA2-1F6E-790A-2BACCE3D5C73}"/>
              </a:ext>
            </a:extLst>
          </p:cNvPr>
          <p:cNvSpPr/>
          <p:nvPr/>
        </p:nvSpPr>
        <p:spPr>
          <a:xfrm>
            <a:off x="8010568" y="9858838"/>
            <a:ext cx="7625672" cy="0"/>
          </a:xfrm>
          <a:prstGeom prst="line">
            <a:avLst/>
          </a:prstGeom>
          <a:ln w="19050" cap="flat">
            <a:solidFill>
              <a:srgbClr val="0283F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7" name="Freeform 5">
            <a:extLst>
              <a:ext uri="{FF2B5EF4-FFF2-40B4-BE49-F238E27FC236}">
                <a16:creationId xmlns:a16="http://schemas.microsoft.com/office/drawing/2014/main" id="{8F114B7C-68BD-EF5F-EFB7-82D6471914EE}"/>
              </a:ext>
            </a:extLst>
          </p:cNvPr>
          <p:cNvSpPr/>
          <p:nvPr/>
        </p:nvSpPr>
        <p:spPr>
          <a:xfrm>
            <a:off x="1111666" y="355081"/>
            <a:ext cx="4247850" cy="631936"/>
          </a:xfrm>
          <a:custGeom>
            <a:avLst/>
            <a:gdLst/>
            <a:ahLst/>
            <a:cxnLst/>
            <a:rect l="l" t="t" r="r" b="b"/>
            <a:pathLst>
              <a:path w="4247850" h="631936">
                <a:moveTo>
                  <a:pt x="0" y="0"/>
                </a:moveTo>
                <a:lnTo>
                  <a:pt x="4247850" y="0"/>
                </a:lnTo>
                <a:lnTo>
                  <a:pt x="4247850" y="631935"/>
                </a:lnTo>
                <a:lnTo>
                  <a:pt x="0" y="63193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5" r="-5"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4CA7B71-EC59-0326-3CD5-54073B28308C}"/>
              </a:ext>
            </a:extLst>
          </p:cNvPr>
          <p:cNvSpPr txBox="1"/>
          <p:nvPr/>
        </p:nvSpPr>
        <p:spPr>
          <a:xfrm>
            <a:off x="1111666" y="7106062"/>
            <a:ext cx="948013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1600" dirty="0"/>
              <a:t>Day 1 Review &amp; Test Prep</a:t>
            </a:r>
          </a:p>
          <a:p>
            <a:pPr marL="0"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1200" dirty="0"/>
              <a:t>	Domain 1 Concept Review</a:t>
            </a:r>
          </a:p>
          <a:p>
            <a:pPr marL="0"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1200" dirty="0"/>
              <a:t>	Practice Exam 25 Questions</a:t>
            </a:r>
          </a:p>
          <a:p>
            <a:pPr marL="0"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1600" dirty="0"/>
              <a:t>Crucial Exams</a:t>
            </a:r>
          </a:p>
          <a:p>
            <a:pPr marL="0"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1200" dirty="0"/>
              <a:t>	Review Quiz Results &amp; Address Weak Areas</a:t>
            </a:r>
          </a:p>
          <a:p>
            <a:pPr marL="0"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1600" dirty="0"/>
              <a:t>Evening Assignment</a:t>
            </a:r>
          </a:p>
          <a:p>
            <a:pPr marL="0"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1600" dirty="0"/>
              <a:t>	</a:t>
            </a:r>
            <a:r>
              <a:rPr lang="en-US" altLang="en-US" sz="1200" dirty="0"/>
              <a:t>Google Research - OSI Model (7 Layers) | TCP/IP (4 Layers) | Defense-in-Defense Model</a:t>
            </a:r>
          </a:p>
          <a:p>
            <a:pPr marL="0"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1600" dirty="0"/>
              <a:t>Crucial Exams</a:t>
            </a:r>
          </a:p>
          <a:p>
            <a:pPr marL="0"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1200" dirty="0"/>
              <a:t>	Flashcards - Protocol Acronyms; PBQ Practice - Network Security Protocols and Technologies</a:t>
            </a:r>
          </a:p>
          <a:p>
            <a:pPr marL="0"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1600" dirty="0"/>
              <a:t>uCertify Lessons</a:t>
            </a:r>
          </a:p>
        </p:txBody>
      </p:sp>
    </p:spTree>
    <p:extLst>
      <p:ext uri="{BB962C8B-B14F-4D97-AF65-F5344CB8AC3E}">
        <p14:creationId xmlns:p14="http://schemas.microsoft.com/office/powerpoint/2010/main" val="3825241477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1E294F-2BE3-4000-BEBE-F582E99C0B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E59CF03-E6C2-9470-8029-A2A9DA15D4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Slide </a:t>
            </a:r>
            <a:fld id="{4CA2B2DB-B91D-4166-98BF-65A0DA7EEE6D}" type="slidenum">
              <a:rPr lang="en-US" smtClean="0"/>
              <a:pPr/>
              <a:t>87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F3A448-B76A-6BC9-36EA-25AA0B6EFFB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200" y="2541615"/>
            <a:ext cx="7194550" cy="495300"/>
          </a:xfrm>
        </p:spPr>
        <p:txBody>
          <a:bodyPr/>
          <a:lstStyle/>
          <a:p>
            <a:r>
              <a:rPr lang="en-US" dirty="0"/>
              <a:t>Exam-Critical Topics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6F5C4F-B3DF-E189-7AA4-AF6DD48EABDA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3162300"/>
            <a:ext cx="8305800" cy="5867400"/>
          </a:xfrm>
        </p:spPr>
        <p:txBody>
          <a:bodyPr/>
          <a:lstStyle/>
          <a:p>
            <a:r>
              <a:rPr lang="en-US" sz="2000" dirty="0"/>
              <a:t>CIA Triad &amp; AAA — foundational exam anchors for confidentiality, integrity, availability, and identity management</a:t>
            </a:r>
          </a:p>
          <a:p>
            <a:r>
              <a:rPr lang="en-US" sz="2000" dirty="0"/>
              <a:t>Control Types — preventive, detective, corrective, and their role in layered defense</a:t>
            </a:r>
          </a:p>
          <a:p>
            <a:r>
              <a:rPr lang="en-US" sz="2000" dirty="0"/>
              <a:t>Authentication &amp; Access Controls — MFA, SSO, RBAC/MAC/DAC/ABAC, least privilege, PAM</a:t>
            </a:r>
          </a:p>
          <a:p>
            <a:r>
              <a:rPr lang="en-US" sz="2000" dirty="0"/>
              <a:t>Cryptography Essentials — symmetric vs. asymmetric, hashing/salting, PKI, certificates, key exchange, KMS</a:t>
            </a:r>
          </a:p>
          <a:p>
            <a:r>
              <a:rPr lang="en-US" sz="2000" dirty="0"/>
              <a:t>Network Security Architecture — firewalls, IDS/IPS, segmentation, VLANs, DMZ</a:t>
            </a:r>
          </a:p>
          <a:p>
            <a:r>
              <a:rPr lang="en-US" sz="2000" dirty="0"/>
              <a:t>Cloud Fundamentals — deployment/service models, shared responsibility, virtualization, </a:t>
            </a:r>
            <a:r>
              <a:rPr lang="en-US" sz="2000" dirty="0" err="1"/>
              <a:t>IaC</a:t>
            </a:r>
            <a:r>
              <a:rPr lang="en-US" sz="2000" dirty="0"/>
              <a:t>, serverless</a:t>
            </a:r>
          </a:p>
          <a:p>
            <a:r>
              <a:rPr lang="en-US" sz="2000" dirty="0"/>
              <a:t>Physical Security Controls — access control, surveillance, fire suppression, secure areas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02174A22-ED77-BEC9-05BD-9F679312BBE1}"/>
              </a:ext>
            </a:extLst>
          </p:cNvPr>
          <p:cNvSpPr txBox="1">
            <a:spLocks/>
          </p:cNvSpPr>
          <p:nvPr/>
        </p:nvSpPr>
        <p:spPr>
          <a:xfrm>
            <a:off x="10255250" y="2541615"/>
            <a:ext cx="7194550" cy="495300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Foundational Reinforcements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EDD6EE40-0283-6E8F-67B0-69AD2DD94D91}"/>
              </a:ext>
            </a:extLst>
          </p:cNvPr>
          <p:cNvSpPr txBox="1">
            <a:spLocks/>
          </p:cNvSpPr>
          <p:nvPr/>
        </p:nvSpPr>
        <p:spPr>
          <a:xfrm>
            <a:off x="10255250" y="3162300"/>
            <a:ext cx="8032750" cy="3352800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/>
              <a:t>Control Categories — managerial, operational, physical</a:t>
            </a:r>
          </a:p>
          <a:p>
            <a:r>
              <a:rPr lang="en-US" sz="2000" dirty="0"/>
              <a:t>Identity Proofing, Federation, Interoperability — supporting IAM concepts</a:t>
            </a:r>
          </a:p>
          <a:p>
            <a:r>
              <a:rPr lang="en-US" sz="2000" dirty="0"/>
              <a:t>Secure Enclave, Steganography, Blockchain — contextual crypto concepts</a:t>
            </a:r>
          </a:p>
          <a:p>
            <a:r>
              <a:rPr lang="en-US" sz="2000" dirty="0"/>
              <a:t>Environmental Controls — HVAC, EMI shielding, hot/cold aisles</a:t>
            </a:r>
          </a:p>
          <a:p>
            <a:r>
              <a:rPr lang="en-US" sz="2000" dirty="0"/>
              <a:t>Multi‑Cloud &amp; Cloud‑Specific Considerations — governance, visibility, misconfiguration risks</a:t>
            </a:r>
          </a:p>
        </p:txBody>
      </p:sp>
    </p:spTree>
    <p:extLst>
      <p:ext uri="{BB962C8B-B14F-4D97-AF65-F5344CB8AC3E}">
        <p14:creationId xmlns:p14="http://schemas.microsoft.com/office/powerpoint/2010/main" val="3604302715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377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0"/>
          <p:cNvGrpSpPr/>
          <p:nvPr/>
        </p:nvGrpSpPr>
        <p:grpSpPr>
          <a:xfrm rot="-5400000">
            <a:off x="8462598" y="461598"/>
            <a:ext cx="1362805" cy="18287998"/>
            <a:chOff x="0" y="0"/>
            <a:chExt cx="358928" cy="484032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358928" cy="4840325"/>
            </a:xfrm>
            <a:custGeom>
              <a:avLst/>
              <a:gdLst/>
              <a:ahLst/>
              <a:cxnLst/>
              <a:rect l="l" t="t" r="r" b="b"/>
              <a:pathLst>
                <a:path w="358928" h="4840325">
                  <a:moveTo>
                    <a:pt x="0" y="0"/>
                  </a:moveTo>
                  <a:lnTo>
                    <a:pt x="358928" y="0"/>
                  </a:lnTo>
                  <a:lnTo>
                    <a:pt x="358928" y="4840325"/>
                  </a:lnTo>
                  <a:lnTo>
                    <a:pt x="0" y="4840325"/>
                  </a:lnTo>
                  <a:close/>
                </a:path>
              </a:pathLst>
            </a:custGeom>
            <a:solidFill>
              <a:srgbClr val="F5C46E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66675"/>
              <a:ext cx="358928" cy="49070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24"/>
                </a:lnSpc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3502264" y="4567400"/>
            <a:ext cx="11283472" cy="10855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394"/>
              </a:lnSpc>
            </a:pPr>
            <a:r>
              <a:rPr lang="en-US" sz="6721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Questions?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377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52A13AC-25C2-D8A8-8373-9168C14E6A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0">
            <a:extLst>
              <a:ext uri="{FF2B5EF4-FFF2-40B4-BE49-F238E27FC236}">
                <a16:creationId xmlns:a16="http://schemas.microsoft.com/office/drawing/2014/main" id="{56FFE171-73B1-699D-EC8A-A7DAED28441C}"/>
              </a:ext>
            </a:extLst>
          </p:cNvPr>
          <p:cNvGrpSpPr/>
          <p:nvPr/>
        </p:nvGrpSpPr>
        <p:grpSpPr>
          <a:xfrm rot="-5400000">
            <a:off x="8462598" y="461598"/>
            <a:ext cx="1362805" cy="18287998"/>
            <a:chOff x="0" y="0"/>
            <a:chExt cx="358928" cy="4840325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4C75C7AB-6EC7-94A4-ABCA-C498FE760FDA}"/>
                </a:ext>
              </a:extLst>
            </p:cNvPr>
            <p:cNvSpPr/>
            <p:nvPr/>
          </p:nvSpPr>
          <p:spPr>
            <a:xfrm>
              <a:off x="0" y="0"/>
              <a:ext cx="358928" cy="4840325"/>
            </a:xfrm>
            <a:custGeom>
              <a:avLst/>
              <a:gdLst/>
              <a:ahLst/>
              <a:cxnLst/>
              <a:rect l="l" t="t" r="r" b="b"/>
              <a:pathLst>
                <a:path w="358928" h="4840325">
                  <a:moveTo>
                    <a:pt x="0" y="0"/>
                  </a:moveTo>
                  <a:lnTo>
                    <a:pt x="358928" y="0"/>
                  </a:lnTo>
                  <a:lnTo>
                    <a:pt x="358928" y="4840325"/>
                  </a:lnTo>
                  <a:lnTo>
                    <a:pt x="0" y="4840325"/>
                  </a:lnTo>
                  <a:close/>
                </a:path>
              </a:pathLst>
            </a:custGeom>
            <a:solidFill>
              <a:srgbClr val="F5C46E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CAE69839-012A-6664-0D5B-E72EF9B20034}"/>
                </a:ext>
              </a:extLst>
            </p:cNvPr>
            <p:cNvSpPr txBox="1"/>
            <p:nvPr/>
          </p:nvSpPr>
          <p:spPr>
            <a:xfrm>
              <a:off x="0" y="-66675"/>
              <a:ext cx="358928" cy="49070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24"/>
                </a:lnSpc>
              </a:pPr>
              <a:endParaRPr/>
            </a:p>
          </p:txBody>
        </p:sp>
      </p:grpSp>
      <p:sp>
        <p:nvSpPr>
          <p:cNvPr id="13" name="TextBox 13">
            <a:extLst>
              <a:ext uri="{FF2B5EF4-FFF2-40B4-BE49-F238E27FC236}">
                <a16:creationId xmlns:a16="http://schemas.microsoft.com/office/drawing/2014/main" id="{D00616DB-2D7D-2055-FD8F-E28EA2F3991B}"/>
              </a:ext>
            </a:extLst>
          </p:cNvPr>
          <p:cNvSpPr txBox="1"/>
          <p:nvPr/>
        </p:nvSpPr>
        <p:spPr>
          <a:xfrm>
            <a:off x="3502264" y="4567400"/>
            <a:ext cx="11283472" cy="9489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394"/>
              </a:lnSpc>
            </a:pPr>
            <a:r>
              <a:rPr lang="en-US" sz="6721" b="1" dirty="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Welcome to Day 2!</a:t>
            </a:r>
          </a:p>
        </p:txBody>
      </p:sp>
    </p:spTree>
    <p:extLst>
      <p:ext uri="{BB962C8B-B14F-4D97-AF65-F5344CB8AC3E}">
        <p14:creationId xmlns:p14="http://schemas.microsoft.com/office/powerpoint/2010/main" val="2312472148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5A0BB0-1B99-CCFB-1950-74B632D685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9BE9D0D-3BED-7417-2C1A-C550F2FEC30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Day 2 Topics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745D11-FB2A-5984-72FC-17F4847F980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en-US" dirty="0"/>
              <a:t>Block 1 - Threat Landscape &amp; Actors</a:t>
            </a:r>
          </a:p>
          <a:p>
            <a:r>
              <a:rPr lang="en-US" altLang="en-US" dirty="0"/>
              <a:t>Block 2 - Social Engineering &amp; Human Factors</a:t>
            </a:r>
          </a:p>
          <a:p>
            <a:r>
              <a:rPr lang="en-US" altLang="en-US" dirty="0"/>
              <a:t>Block 3 - Malware Analysis &amp; Defense</a:t>
            </a:r>
          </a:p>
          <a:p>
            <a:r>
              <a:rPr lang="en-US" altLang="en-US" dirty="0"/>
              <a:t>Block 4 - Attack Vectors &amp; Techniques</a:t>
            </a:r>
          </a:p>
          <a:p>
            <a:r>
              <a:rPr lang="en-US" altLang="en-US" dirty="0"/>
              <a:t>LUNCH	</a:t>
            </a:r>
          </a:p>
          <a:p>
            <a:r>
              <a:rPr lang="en-US" altLang="en-US" dirty="0"/>
              <a:t>Block 5 - Vulnerability Management</a:t>
            </a:r>
          </a:p>
          <a:p>
            <a:r>
              <a:rPr lang="en-US" altLang="en-US" dirty="0"/>
              <a:t>Block 6 - Wireless &amp; Mobile Security</a:t>
            </a:r>
          </a:p>
          <a:p>
            <a:r>
              <a:rPr lang="en-US" altLang="en-US" dirty="0"/>
              <a:t>Block 7 - Domain 2 PBQ Workshop</a:t>
            </a:r>
          </a:p>
          <a:p>
            <a:r>
              <a:rPr lang="en-US" altLang="en-US" dirty="0"/>
              <a:t>Block 8 - Day 2 Review &amp; Test Prep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2508694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654BCC8-976A-CAF2-714E-F38C25F9BE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Slide </a:t>
            </a:r>
            <a:fld id="{4CA2B2DB-B91D-4166-98BF-65A0DA7EEE6D}" type="slidenum">
              <a:rPr lang="en-US" smtClean="0"/>
              <a:pPr/>
              <a:t>91</a:t>
            </a:fld>
            <a:endParaRPr lang="en-US" dirty="0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756BC5EF-F122-AD21-269C-8B811DB312E8}"/>
              </a:ext>
            </a:extLst>
          </p:cNvPr>
          <p:cNvSpPr txBox="1">
            <a:spLocks/>
          </p:cNvSpPr>
          <p:nvPr/>
        </p:nvSpPr>
        <p:spPr>
          <a:xfrm>
            <a:off x="838200" y="2541615"/>
            <a:ext cx="7194550" cy="495300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Carry Forward Concepts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4F47ECF1-5FAD-539C-6C4C-60B839F2DD2F}"/>
              </a:ext>
            </a:extLst>
          </p:cNvPr>
          <p:cNvSpPr txBox="1">
            <a:spLocks/>
          </p:cNvSpPr>
          <p:nvPr/>
        </p:nvSpPr>
        <p:spPr>
          <a:xfrm>
            <a:off x="838200" y="3162300"/>
            <a:ext cx="15849600" cy="5867400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/>
              <a:t>The CIA Triad and AAA as the basis for understanding how attacks impact confidentiality, integrity, and availability</a:t>
            </a:r>
          </a:p>
          <a:p>
            <a:r>
              <a:rPr lang="en-US" sz="2800" dirty="0"/>
              <a:t>Authentication and access control models (MFA, SSO, RBAC/ABAC/MAC/DAC, least privilege)</a:t>
            </a:r>
          </a:p>
          <a:p>
            <a:r>
              <a:rPr lang="en-US" sz="2800" dirty="0"/>
              <a:t>Cryptography fundamentals — symmetric vs. asymmetric, hashing, PKI, certificates, and key exchange</a:t>
            </a:r>
          </a:p>
          <a:p>
            <a:r>
              <a:rPr lang="en-US" sz="2800" dirty="0"/>
              <a:t>Network security architecture — firewalls, IDS/IPS, segmentation, VLANs, DMZ placement</a:t>
            </a:r>
          </a:p>
          <a:p>
            <a:r>
              <a:rPr lang="en-US" sz="2800" dirty="0"/>
              <a:t>Cloud security essentials — deployment/service models, shared responsibility, virtualization, </a:t>
            </a:r>
            <a:r>
              <a:rPr lang="en-US" sz="2800" dirty="0" err="1"/>
              <a:t>IaC</a:t>
            </a:r>
            <a:r>
              <a:rPr lang="en-US" sz="2800" dirty="0"/>
              <a:t>, serverless</a:t>
            </a:r>
          </a:p>
          <a:p>
            <a:r>
              <a:rPr lang="en-US" sz="2800" dirty="0"/>
              <a:t>Physical and environmental controls that protect infrastructure and reduce operational risk</a:t>
            </a:r>
          </a:p>
        </p:txBody>
      </p:sp>
    </p:spTree>
    <p:extLst>
      <p:ext uri="{BB962C8B-B14F-4D97-AF65-F5344CB8AC3E}">
        <p14:creationId xmlns:p14="http://schemas.microsoft.com/office/powerpoint/2010/main" val="2252104906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15194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11AB67A-FAD5-8914-8537-61288AD445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EB6A0AEC-0922-19C9-227F-88D9840BFB1B}"/>
              </a:ext>
            </a:extLst>
          </p:cNvPr>
          <p:cNvGrpSpPr/>
          <p:nvPr/>
        </p:nvGrpSpPr>
        <p:grpSpPr>
          <a:xfrm rot="-5400000">
            <a:off x="12015831" y="4014831"/>
            <a:ext cx="10287000" cy="2257339"/>
            <a:chOff x="0" y="0"/>
            <a:chExt cx="2709333" cy="59452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2D53F067-DD9A-A81E-4BE1-DE1EDDE74232}"/>
                </a:ext>
              </a:extLst>
            </p:cNvPr>
            <p:cNvSpPr/>
            <p:nvPr/>
          </p:nvSpPr>
          <p:spPr>
            <a:xfrm>
              <a:off x="0" y="0"/>
              <a:ext cx="2709333" cy="594525"/>
            </a:xfrm>
            <a:custGeom>
              <a:avLst/>
              <a:gdLst/>
              <a:ahLst/>
              <a:cxnLst/>
              <a:rect l="l" t="t" r="r" b="b"/>
              <a:pathLst>
                <a:path w="2709333" h="594525">
                  <a:moveTo>
                    <a:pt x="0" y="0"/>
                  </a:moveTo>
                  <a:lnTo>
                    <a:pt x="2709333" y="0"/>
                  </a:lnTo>
                  <a:lnTo>
                    <a:pt x="2709333" y="594525"/>
                  </a:lnTo>
                  <a:lnTo>
                    <a:pt x="0" y="594525"/>
                  </a:lnTo>
                  <a:close/>
                </a:path>
              </a:pathLst>
            </a:custGeom>
            <a:solidFill>
              <a:srgbClr val="0283FD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D22E4D0D-BDAE-49DA-DD12-773619008838}"/>
                </a:ext>
              </a:extLst>
            </p:cNvPr>
            <p:cNvSpPr txBox="1"/>
            <p:nvPr/>
          </p:nvSpPr>
          <p:spPr>
            <a:xfrm>
              <a:off x="0" y="-66675"/>
              <a:ext cx="2709333" cy="6612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3024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3D18D206-B975-8FF8-1ACE-5635BDD479D2}"/>
              </a:ext>
            </a:extLst>
          </p:cNvPr>
          <p:cNvGrpSpPr/>
          <p:nvPr/>
        </p:nvGrpSpPr>
        <p:grpSpPr>
          <a:xfrm>
            <a:off x="179467" y="6643814"/>
            <a:ext cx="8126333" cy="3488267"/>
            <a:chOff x="0" y="0"/>
            <a:chExt cx="844714" cy="36259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079B5ADF-3C0C-A579-3963-AB772EA3D062}"/>
                </a:ext>
              </a:extLst>
            </p:cNvPr>
            <p:cNvSpPr/>
            <p:nvPr/>
          </p:nvSpPr>
          <p:spPr>
            <a:xfrm>
              <a:off x="0" y="0"/>
              <a:ext cx="844714" cy="362598"/>
            </a:xfrm>
            <a:custGeom>
              <a:avLst/>
              <a:gdLst/>
              <a:ahLst/>
              <a:cxnLst/>
              <a:rect l="l" t="t" r="r" b="b"/>
              <a:pathLst>
                <a:path w="844714" h="362598">
                  <a:moveTo>
                    <a:pt x="203200" y="0"/>
                  </a:moveTo>
                  <a:lnTo>
                    <a:pt x="844714" y="0"/>
                  </a:lnTo>
                  <a:lnTo>
                    <a:pt x="641514" y="362598"/>
                  </a:lnTo>
                  <a:lnTo>
                    <a:pt x="0" y="362598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283FD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AF2722BA-2187-9431-3894-3FCE9C2A2268}"/>
                </a:ext>
              </a:extLst>
            </p:cNvPr>
            <p:cNvSpPr txBox="1"/>
            <p:nvPr/>
          </p:nvSpPr>
          <p:spPr>
            <a:xfrm>
              <a:off x="101600" y="-28575"/>
              <a:ext cx="641514" cy="391173"/>
            </a:xfrm>
            <a:prstGeom prst="rect">
              <a:avLst/>
            </a:prstGeom>
          </p:spPr>
          <p:txBody>
            <a:bodyPr lIns="47790" tIns="47790" rIns="47790" bIns="4779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1843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7345E670-AFAD-C6D6-A7E0-9A3EFC7B433A}"/>
              </a:ext>
            </a:extLst>
          </p:cNvPr>
          <p:cNvGrpSpPr/>
          <p:nvPr/>
        </p:nvGrpSpPr>
        <p:grpSpPr>
          <a:xfrm>
            <a:off x="0" y="6950004"/>
            <a:ext cx="16030661" cy="3336996"/>
            <a:chOff x="0" y="0"/>
            <a:chExt cx="6165409" cy="1271237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00335F41-7095-51BA-E0F8-1ECFC68407D3}"/>
                </a:ext>
              </a:extLst>
            </p:cNvPr>
            <p:cNvSpPr/>
            <p:nvPr/>
          </p:nvSpPr>
          <p:spPr>
            <a:xfrm>
              <a:off x="0" y="0"/>
              <a:ext cx="6165409" cy="1271237"/>
            </a:xfrm>
            <a:custGeom>
              <a:avLst/>
              <a:gdLst/>
              <a:ahLst/>
              <a:cxnLst/>
              <a:rect l="l" t="t" r="r" b="b"/>
              <a:pathLst>
                <a:path w="6165409" h="1271237">
                  <a:moveTo>
                    <a:pt x="0" y="0"/>
                  </a:moveTo>
                  <a:lnTo>
                    <a:pt x="6165409" y="0"/>
                  </a:lnTo>
                  <a:lnTo>
                    <a:pt x="6165409" y="1271237"/>
                  </a:lnTo>
                  <a:lnTo>
                    <a:pt x="0" y="127123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54C87AEE-8C4C-DCE8-633A-811C2E929197}"/>
                </a:ext>
              </a:extLst>
            </p:cNvPr>
            <p:cNvSpPr txBox="1"/>
            <p:nvPr/>
          </p:nvSpPr>
          <p:spPr>
            <a:xfrm>
              <a:off x="0" y="-28575"/>
              <a:ext cx="6165409" cy="1299812"/>
            </a:xfrm>
            <a:prstGeom prst="rect">
              <a:avLst/>
            </a:prstGeom>
          </p:spPr>
          <p:txBody>
            <a:bodyPr lIns="47790" tIns="47790" rIns="47790" bIns="4779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1843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sp>
        <p:nvSpPr>
          <p:cNvPr id="12" name="TextBox 12">
            <a:extLst>
              <a:ext uri="{FF2B5EF4-FFF2-40B4-BE49-F238E27FC236}">
                <a16:creationId xmlns:a16="http://schemas.microsoft.com/office/drawing/2014/main" id="{3267E102-140E-B4DC-3674-074825122F67}"/>
              </a:ext>
            </a:extLst>
          </p:cNvPr>
          <p:cNvSpPr txBox="1"/>
          <p:nvPr/>
        </p:nvSpPr>
        <p:spPr>
          <a:xfrm>
            <a:off x="1111666" y="3432993"/>
            <a:ext cx="14771892" cy="598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4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Day 2 – Block 1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4FFB7DB2-44B3-9CED-053C-F49CBAA905F7}"/>
              </a:ext>
            </a:extLst>
          </p:cNvPr>
          <p:cNvSpPr txBox="1"/>
          <p:nvPr/>
        </p:nvSpPr>
        <p:spPr>
          <a:xfrm>
            <a:off x="1111666" y="9653992"/>
            <a:ext cx="12263263" cy="3619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0" i="0" u="none" strike="noStrike" kern="1200" cap="none" spc="0" normalizeH="0" baseline="0" noProof="0">
                <a:ln>
                  <a:noFill/>
                </a:ln>
                <a:solidFill>
                  <a:srgbClr val="252525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CALIFORNIA INSTITUTE OF APPLIED TECHNOLOGY</a:t>
            </a:r>
          </a:p>
        </p:txBody>
      </p:sp>
      <p:sp>
        <p:nvSpPr>
          <p:cNvPr id="15" name="AutoShape 15">
            <a:extLst>
              <a:ext uri="{FF2B5EF4-FFF2-40B4-BE49-F238E27FC236}">
                <a16:creationId xmlns:a16="http://schemas.microsoft.com/office/drawing/2014/main" id="{C1638268-DAEA-EB79-978E-666CDC934D82}"/>
              </a:ext>
            </a:extLst>
          </p:cNvPr>
          <p:cNvSpPr/>
          <p:nvPr/>
        </p:nvSpPr>
        <p:spPr>
          <a:xfrm>
            <a:off x="8010568" y="9858838"/>
            <a:ext cx="7625672" cy="0"/>
          </a:xfrm>
          <a:prstGeom prst="line">
            <a:avLst/>
          </a:prstGeom>
          <a:ln w="19050" cap="flat">
            <a:solidFill>
              <a:srgbClr val="0283F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7" name="Freeform 5">
            <a:extLst>
              <a:ext uri="{FF2B5EF4-FFF2-40B4-BE49-F238E27FC236}">
                <a16:creationId xmlns:a16="http://schemas.microsoft.com/office/drawing/2014/main" id="{77D9D8C1-8B0C-56BA-217E-24ABFAF48240}"/>
              </a:ext>
            </a:extLst>
          </p:cNvPr>
          <p:cNvSpPr/>
          <p:nvPr/>
        </p:nvSpPr>
        <p:spPr>
          <a:xfrm>
            <a:off x="1111666" y="355081"/>
            <a:ext cx="4247850" cy="631936"/>
          </a:xfrm>
          <a:custGeom>
            <a:avLst/>
            <a:gdLst/>
            <a:ahLst/>
            <a:cxnLst/>
            <a:rect l="l" t="t" r="r" b="b"/>
            <a:pathLst>
              <a:path w="4247850" h="631936">
                <a:moveTo>
                  <a:pt x="0" y="0"/>
                </a:moveTo>
                <a:lnTo>
                  <a:pt x="4247850" y="0"/>
                </a:lnTo>
                <a:lnTo>
                  <a:pt x="4247850" y="631935"/>
                </a:lnTo>
                <a:lnTo>
                  <a:pt x="0" y="63193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5" r="-5"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DABD8F0-D390-8BAE-1F33-D1E553DEE71D}"/>
              </a:ext>
            </a:extLst>
          </p:cNvPr>
          <p:cNvSpPr txBox="1"/>
          <p:nvPr/>
        </p:nvSpPr>
        <p:spPr>
          <a:xfrm>
            <a:off x="1111666" y="7106062"/>
            <a:ext cx="9480134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en-US" sz="1600" dirty="0"/>
              <a:t>Threat Landscape &amp; Actors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/>
            </a:pPr>
            <a:r>
              <a:rPr lang="en-US" altLang="en-US" sz="1600" dirty="0"/>
              <a:t>APT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/>
            </a:pPr>
            <a:r>
              <a:rPr lang="en-US" altLang="en-US" sz="1600" dirty="0"/>
              <a:t>Ransomware Groups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/>
            </a:pPr>
            <a:r>
              <a:rPr lang="en-US" altLang="en-US" sz="1600" dirty="0"/>
              <a:t>Insider Threats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/>
            </a:pPr>
            <a:r>
              <a:rPr lang="en-US" altLang="en-US" sz="1600" dirty="0"/>
              <a:t>Threat Intelligence</a:t>
            </a:r>
          </a:p>
          <a:p>
            <a:pPr marL="285750" marR="0" lvl="0" indent="-28575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en-US" sz="1600" dirty="0"/>
              <a:t>Crucial Exams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/>
            </a:pPr>
            <a:r>
              <a:rPr lang="en-US" altLang="en-US" sz="1600" dirty="0"/>
              <a:t>Threats, Vulnerabilities, and Mitigation</a:t>
            </a:r>
          </a:p>
        </p:txBody>
      </p:sp>
    </p:spTree>
    <p:extLst>
      <p:ext uri="{BB962C8B-B14F-4D97-AF65-F5344CB8AC3E}">
        <p14:creationId xmlns:p14="http://schemas.microsoft.com/office/powerpoint/2010/main" val="3052584230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524172-4691-E380-8A8D-E130C01D5F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6728CB3-E69C-F107-430D-EDF6A52335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Slide </a:t>
            </a:r>
            <a:fld id="{4CA2B2DB-B91D-4166-98BF-65A0DA7EEE6D}" type="slidenum">
              <a:rPr lang="en-US" smtClean="0"/>
              <a:pPr/>
              <a:t>93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F2379A-1AB1-E70D-15E5-F8B83C3DF1B2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2536823"/>
            <a:ext cx="16192500" cy="6111877"/>
          </a:xfrm>
        </p:spPr>
        <p:txBody>
          <a:bodyPr/>
          <a:lstStyle/>
          <a:p>
            <a:r>
              <a:rPr lang="en-US" altLang="en-US" sz="4400" dirty="0"/>
              <a:t>Understanding the characteristics and traits of different types of attackers is crucial for effective cybersecurity defense.</a:t>
            </a:r>
          </a:p>
          <a:p>
            <a:r>
              <a:rPr lang="en-US" altLang="en-US" sz="4400" dirty="0"/>
              <a:t>Threat actors vary widely in their expertise and resources. They range from inexperienced individuals to highly skilled syndicates and agents of nation-states.</a:t>
            </a:r>
          </a:p>
          <a:p>
            <a:r>
              <a:rPr lang="en-US" altLang="en-US" sz="4400" dirty="0"/>
              <a:t>Threat actors have diverse motivations such as financial gain, intellectual property theft, and causing disruption/chaos.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1844463-6196-A28B-978E-D1A62A25C4F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B6BFA48-5E6D-2161-83D8-6743866C47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60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Threat Actors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5276631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E34F72-8D13-C8AA-072B-BD497051CE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4C08609-B575-B409-6BB5-7B44D793CD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Slide </a:t>
            </a:r>
            <a:fld id="{4CA2B2DB-B91D-4166-98BF-65A0DA7EEE6D}" type="slidenum">
              <a:rPr lang="en-US" smtClean="0"/>
              <a:pPr/>
              <a:t>94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DFDB83-1765-ABB1-4726-E270627E4088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2536823"/>
            <a:ext cx="16192500" cy="6111877"/>
          </a:xfrm>
        </p:spPr>
        <p:txBody>
          <a:bodyPr/>
          <a:lstStyle/>
          <a:p>
            <a:r>
              <a:rPr lang="en-US" altLang="en-US" sz="4000" b="1" dirty="0"/>
              <a:t>Unskilled attackers</a:t>
            </a:r>
            <a:r>
              <a:rPr lang="en-US" altLang="en-US" sz="4000" dirty="0"/>
              <a:t>, also known as script kiddies, lack technical skills and often rely on readily available malicious code copied from the Internet.</a:t>
            </a:r>
          </a:p>
          <a:p>
            <a:r>
              <a:rPr lang="en-US" altLang="en-US" sz="4000" b="1" dirty="0"/>
              <a:t>Hacktivists</a:t>
            </a:r>
            <a:r>
              <a:rPr lang="en-US" altLang="en-US" sz="4000" dirty="0"/>
              <a:t> combine hacking skills with activist motives, targeting organizations or systems to promote social or political agendas.</a:t>
            </a:r>
          </a:p>
          <a:p>
            <a:r>
              <a:rPr lang="en-US" altLang="en-US" sz="4000" b="1" dirty="0"/>
              <a:t>Cybercriminals</a:t>
            </a:r>
            <a:r>
              <a:rPr lang="en-US" altLang="en-US" sz="4000" dirty="0"/>
              <a:t>, operating either independently or in syndicates, are motivated mainly by financial gain. They may use considerable resources and sophistication in their attacks.</a:t>
            </a:r>
            <a:endParaRPr lang="en-US" altLang="en-US" sz="44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4A88689-FBC6-979A-A525-ACEAA69A689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134C1AC0-E5CE-7593-957C-C471653D95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60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Types of Threat Actors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4156343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8D4B8F-8A37-931D-4F55-5378FA1528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F3A0E86-91BB-4A51-D39A-01F67AB7CB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Slide </a:t>
            </a:r>
            <a:fld id="{4CA2B2DB-B91D-4166-98BF-65A0DA7EEE6D}" type="slidenum">
              <a:rPr lang="en-US" smtClean="0"/>
              <a:pPr/>
              <a:t>95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6EB554-4652-E723-42B3-FE8F9AB547F0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2536823"/>
            <a:ext cx="16192500" cy="6111877"/>
          </a:xfrm>
        </p:spPr>
        <p:txBody>
          <a:bodyPr/>
          <a:lstStyle/>
          <a:p>
            <a:r>
              <a:rPr lang="en-US" altLang="en-US" sz="4000" b="1" dirty="0"/>
              <a:t>Advanced Persistent Threats (APTs)</a:t>
            </a:r>
            <a:r>
              <a:rPr lang="en-US" altLang="en-US" sz="4000" dirty="0"/>
              <a:t> are highly sophisticated and well-funded attackers with extensive resources and extremely high motivation. They’re often associated with nation-states.</a:t>
            </a:r>
          </a:p>
          <a:p>
            <a:r>
              <a:rPr lang="en-US" altLang="en-US" sz="4000" b="1" dirty="0"/>
              <a:t>Insider threats </a:t>
            </a:r>
            <a:r>
              <a:rPr lang="en-US" altLang="en-US" sz="4000" dirty="0"/>
              <a:t>are individuals within organizations who exploit their authorized access for malicious purposes.</a:t>
            </a:r>
          </a:p>
          <a:p>
            <a:r>
              <a:rPr lang="en-US" altLang="en-US" sz="4000" b="1" dirty="0"/>
              <a:t>Shadow IT </a:t>
            </a:r>
            <a:r>
              <a:rPr lang="en-US" altLang="en-US" sz="4000" dirty="0"/>
              <a:t>involves employees using an organization’s IT systems and services without the IT department’s knowledge.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531F43-EB06-CCFF-4A89-3BB84086138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09DB1DCA-E68F-06AB-16A7-A712BB628E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60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Types of Threat Actors </a:t>
            </a:r>
            <a:r>
              <a:rPr kumimoji="0" lang="en-US" sz="6000" b="0" i="1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(cont.)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4064940314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758D76-5800-83A2-8AC3-3B081FFF81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F680287-817F-09F9-AAFC-2E3208215D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Slide </a:t>
            </a:r>
            <a:fld id="{4CA2B2DB-B91D-4166-98BF-65A0DA7EEE6D}" type="slidenum">
              <a:rPr lang="en-US" smtClean="0"/>
              <a:pPr/>
              <a:t>96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090889-2F37-8EB7-2A2D-8312BA360EDA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2536823"/>
            <a:ext cx="16192500" cy="4892677"/>
          </a:xfrm>
        </p:spPr>
        <p:txBody>
          <a:bodyPr/>
          <a:lstStyle/>
          <a:p>
            <a:pPr marL="0" indent="0">
              <a:buNone/>
            </a:pPr>
            <a:r>
              <a:rPr lang="en-US" sz="3900" b="1" dirty="0"/>
              <a:t>Hacktivists</a:t>
            </a:r>
          </a:p>
          <a:p>
            <a:pPr lvl="1"/>
            <a:r>
              <a:rPr lang="en-US" sz="3600" dirty="0"/>
              <a:t>	Typically motivated by social or political issues</a:t>
            </a:r>
          </a:p>
          <a:p>
            <a:pPr lvl="1"/>
            <a:r>
              <a:rPr lang="en-US" sz="3600" dirty="0"/>
              <a:t>	Often choose disruptive tactics such as DoS/DDoS attacks and website 	defacement</a:t>
            </a:r>
          </a:p>
          <a:p>
            <a:pPr marL="0" indent="0">
              <a:buNone/>
            </a:pPr>
            <a:r>
              <a:rPr lang="en-US" sz="3900" b="1" dirty="0"/>
              <a:t>Criminals</a:t>
            </a:r>
          </a:p>
          <a:p>
            <a:pPr lvl="1"/>
            <a:r>
              <a:rPr lang="en-US" sz="3600" dirty="0"/>
              <a:t>	Typically motivated by financial gain</a:t>
            </a:r>
          </a:p>
          <a:p>
            <a:pPr lvl="1"/>
            <a:r>
              <a:rPr lang="en-US" sz="3600" dirty="0"/>
              <a:t>	Engage in activities such as theft and fraud to generate profit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65CF227-DFFB-E304-588D-DD24D99FCD6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E34D3993-F7C2-9071-8868-AB7BEA20A2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60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Attributes of Actors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1858669556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5787AA-6332-1BA6-02D8-DFFD69C349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BCE8BD0-2550-CFCF-34AC-CB74B68391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Slide </a:t>
            </a:r>
            <a:fld id="{4CA2B2DB-B91D-4166-98BF-65A0DA7EEE6D}" type="slidenum">
              <a:rPr lang="en-US" smtClean="0"/>
              <a:pPr/>
              <a:t>97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4E4913-A8EC-598C-2B89-DC8E57A47ABC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2536823"/>
            <a:ext cx="16192500" cy="5807077"/>
          </a:xfrm>
        </p:spPr>
        <p:txBody>
          <a:bodyPr/>
          <a:lstStyle/>
          <a:p>
            <a:pPr marL="0" indent="0">
              <a:buNone/>
            </a:pPr>
            <a:r>
              <a:rPr lang="en-US" sz="3900" b="1" dirty="0"/>
              <a:t>Nation-State Actors</a:t>
            </a:r>
          </a:p>
          <a:p>
            <a:pPr lvl="1"/>
            <a:r>
              <a:rPr lang="en-US" sz="3600" dirty="0"/>
              <a:t>	Varied motivations such as advancing an industry or causing political 	instability</a:t>
            </a:r>
          </a:p>
          <a:p>
            <a:pPr lvl="1"/>
            <a:r>
              <a:rPr lang="en-US" sz="3600" dirty="0"/>
              <a:t>	May engage in intellectual property theft or disrupt  critical infrastructure</a:t>
            </a:r>
          </a:p>
          <a:p>
            <a:pPr marL="0" indent="0">
              <a:buNone/>
            </a:pPr>
            <a:r>
              <a:rPr lang="en-US" sz="3900" b="1" dirty="0"/>
              <a:t>Internal Actors (Insiders)</a:t>
            </a:r>
          </a:p>
          <a:p>
            <a:pPr lvl="1"/>
            <a:r>
              <a:rPr lang="en-US" sz="3600" dirty="0"/>
              <a:t>	Varied motivations such as ethical concerns, personal grievances, and 	financial gain</a:t>
            </a:r>
          </a:p>
          <a:p>
            <a:pPr lvl="1"/>
            <a:r>
              <a:rPr lang="en-US" sz="3600" dirty="0"/>
              <a:t>	May engage in intellectual property theft, disrupt  critical infrastructure, or 	exploit vulnerabilities for personal gain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1010FFB-0BD6-92B3-892F-853AA8272EA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C48FE12-4344-9B1B-7FCD-72DFB7280C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60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Attributes of Actors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476324625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09B689-9550-3DC2-2FC9-458F0B982E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94FED71-66E4-F0CB-B534-71EBE7C663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Slide </a:t>
            </a:r>
            <a:fld id="{4CA2B2DB-B91D-4166-98BF-65A0DA7EEE6D}" type="slidenum">
              <a:rPr lang="en-US" smtClean="0"/>
              <a:pPr/>
              <a:t>98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242487-B009-1DF4-1DDE-26C60FEC27DD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2536823"/>
            <a:ext cx="16192500" cy="5807077"/>
          </a:xfrm>
        </p:spPr>
        <p:txBody>
          <a:bodyPr/>
          <a:lstStyle/>
          <a:p>
            <a:pPr marL="0" indent="0">
              <a:buNone/>
            </a:pPr>
            <a:r>
              <a:rPr lang="en-US" altLang="en-US" sz="4400" b="1" dirty="0"/>
              <a:t>Motivation</a:t>
            </a:r>
            <a:r>
              <a:rPr lang="en-US" altLang="en-US" sz="4400" dirty="0"/>
              <a:t> is the reason or drive behind an individual’s or group’s actions. </a:t>
            </a:r>
          </a:p>
          <a:p>
            <a:r>
              <a:rPr lang="en-US" altLang="en-US" sz="4000" dirty="0"/>
              <a:t>Common motivations are financial gain, ideological beliefs, revenge, and recognition.</a:t>
            </a:r>
          </a:p>
          <a:p>
            <a:r>
              <a:rPr lang="en-US" altLang="en-US" sz="4000" dirty="0"/>
              <a:t>Understanding these motivations is crucial for developing strategies to mitigate and respond to cybersecurity threats effectively.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41D499-3DB5-FECA-C7E0-8CEE6BFF29F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E792B9FC-9CBE-F331-9623-8E51F6AC54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60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Motivations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2367062849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FE9C3F-B1DB-4F33-2428-CFAFB6A4C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69D0300-F2F2-311F-D5F1-77BA139EDA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Slide </a:t>
            </a:r>
            <a:fld id="{4CA2B2DB-B91D-4166-98BF-65A0DA7EEE6D}" type="slidenum">
              <a:rPr lang="en-US" smtClean="0"/>
              <a:pPr/>
              <a:t>99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0F9042-B614-7B4F-2D0D-5B551764B779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2536823"/>
            <a:ext cx="16192500" cy="5807077"/>
          </a:xfrm>
        </p:spPr>
        <p:txBody>
          <a:bodyPr/>
          <a:lstStyle/>
          <a:p>
            <a:r>
              <a:rPr lang="en-US" altLang="en-US" sz="4400" b="1" dirty="0"/>
              <a:t>Data exfiltration: </a:t>
            </a:r>
            <a:r>
              <a:rPr lang="en-US" altLang="en-US" sz="4400" dirty="0"/>
              <a:t>Transferring data from a computer system or network to an external location or entity without authorization</a:t>
            </a:r>
          </a:p>
          <a:p>
            <a:r>
              <a:rPr lang="en-US" altLang="en-US" sz="4400" b="1" dirty="0"/>
              <a:t>Espionage: </a:t>
            </a:r>
            <a:r>
              <a:rPr lang="en-US" altLang="en-US" sz="4400" dirty="0"/>
              <a:t>Spying aimed at obtaining secret or confidential information</a:t>
            </a:r>
          </a:p>
          <a:p>
            <a:r>
              <a:rPr lang="en-US" altLang="en-US" sz="4400" b="1" dirty="0"/>
              <a:t>Service disruption</a:t>
            </a:r>
            <a:r>
              <a:rPr lang="en-US" altLang="en-US" sz="4400" dirty="0"/>
              <a:t>: Action aimed at halting or interrupting services or operations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46F4EF1-84F7-C2AD-BBFB-219290E5EB2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E0E6502-E53F-2BAD-4525-E6B6CCC2EE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60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Threat Actor Motivations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710456830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54928F-0C98-491E-75BA-E475988D5F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89D297D-464F-FED3-6F7B-6B8991D913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Slide </a:t>
            </a:r>
            <a:fld id="{4CA2B2DB-B91D-4166-98BF-65A0DA7EEE6D}" type="slidenum">
              <a:rPr lang="en-US" smtClean="0"/>
              <a:pPr/>
              <a:t>100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CCC9A6-D48B-033D-8698-2AEF5DA80F7B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2536823"/>
            <a:ext cx="16192500" cy="5807077"/>
          </a:xfrm>
        </p:spPr>
        <p:txBody>
          <a:bodyPr/>
          <a:lstStyle/>
          <a:p>
            <a:r>
              <a:rPr lang="en-US" altLang="en-US" sz="4400" b="1" dirty="0"/>
              <a:t>Blackmail</a:t>
            </a:r>
            <a:r>
              <a:rPr lang="en-US" altLang="en-US" sz="4400" dirty="0"/>
              <a:t>: Threatening to disclose embarrassing or damaging information unless certain demands, often financial, are met</a:t>
            </a:r>
          </a:p>
          <a:p>
            <a:r>
              <a:rPr lang="en-US" altLang="en-US" sz="4400" b="1" dirty="0"/>
              <a:t>Financial gain: </a:t>
            </a:r>
            <a:r>
              <a:rPr lang="en-US" altLang="en-US" sz="4400" dirty="0"/>
              <a:t>Aiming to increase one's wealth or financial resources through illicit means</a:t>
            </a:r>
          </a:p>
          <a:p>
            <a:r>
              <a:rPr lang="en-US" altLang="en-US" sz="4400" b="1" dirty="0"/>
              <a:t>Philosophical/political beliefs: </a:t>
            </a:r>
            <a:r>
              <a:rPr lang="en-US" altLang="en-US" sz="4400" dirty="0"/>
              <a:t>Acting upon deeply held convictions or ideologies related to political or philosophical concepts 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BA41015-E166-C474-BDCE-0816C1FE5C7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7BBF5617-8708-400C-8730-8CC9999F30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60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Threat Actor Motivations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1764094026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B63227-EDA7-E5DF-9FF1-013FE870DB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06FEF2F-A84E-EA68-DFF0-D2E0723F3F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Slide </a:t>
            </a:r>
            <a:fld id="{4CA2B2DB-B91D-4166-98BF-65A0DA7EEE6D}" type="slidenum">
              <a:rPr lang="en-US" smtClean="0"/>
              <a:pPr/>
              <a:t>101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30250A-6E6D-AF1E-AA9E-B9E5B805A74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2536823"/>
            <a:ext cx="16192500" cy="5807077"/>
          </a:xfrm>
        </p:spPr>
        <p:txBody>
          <a:bodyPr/>
          <a:lstStyle/>
          <a:p>
            <a:r>
              <a:rPr lang="en-US" altLang="en-US" sz="4400" b="1" dirty="0"/>
              <a:t>Ethics: </a:t>
            </a:r>
            <a:r>
              <a:rPr lang="en-US" altLang="en-US" sz="4400" dirty="0"/>
              <a:t>Acting upon accepted standards of behavior; guided by principles of morality, integrity, and fairness</a:t>
            </a:r>
          </a:p>
          <a:p>
            <a:r>
              <a:rPr lang="en-US" altLang="en-US" sz="4400" b="1" dirty="0"/>
              <a:t>Revenge: </a:t>
            </a:r>
            <a:r>
              <a:rPr lang="en-US" altLang="en-US" sz="4400" dirty="0"/>
              <a:t>Seeking retaliation or retribution against perceived injustices or wrongdoings</a:t>
            </a:r>
          </a:p>
          <a:p>
            <a:r>
              <a:rPr lang="en-US" altLang="en-US" sz="4400" b="1" dirty="0"/>
              <a:t>Disruption/chaos: </a:t>
            </a:r>
            <a:r>
              <a:rPr lang="en-US" altLang="en-US" sz="4400" dirty="0"/>
              <a:t>Creating disorder to destabilize normal operations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01BDBB8-0367-B4A5-07FB-4DE5000054D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86D979F-6E4A-3C4C-7D52-28393F79C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60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Threat Actor Motivations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2771833912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F48F39-9FBC-7318-B492-D43452F879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9072F37-F591-3F45-CF23-39B3E575A0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Slide </a:t>
            </a:r>
            <a:fld id="{4CA2B2DB-B91D-4166-98BF-65A0DA7EEE6D}" type="slidenum">
              <a:rPr lang="en-US" smtClean="0"/>
              <a:pPr/>
              <a:t>102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7CDD85-48AA-2530-8C84-DBB15B69E132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2536823"/>
            <a:ext cx="16192500" cy="5807077"/>
          </a:xfrm>
        </p:spPr>
        <p:txBody>
          <a:bodyPr/>
          <a:lstStyle/>
          <a:p>
            <a:pPr marL="0" indent="0">
              <a:buNone/>
            </a:pPr>
            <a:r>
              <a:rPr lang="en-US" altLang="en-US" sz="3900" b="1" dirty="0"/>
              <a:t>Cyber warfare</a:t>
            </a:r>
            <a:r>
              <a:rPr lang="en-US" altLang="en-US" sz="3900" dirty="0"/>
              <a:t> is a state-sponsored, politically motivated attack on an adversary's information systems.</a:t>
            </a:r>
          </a:p>
          <a:p>
            <a:r>
              <a:rPr lang="en-US" altLang="en-US" sz="3600" dirty="0"/>
              <a:t>Poses significant threats to national security </a:t>
            </a:r>
          </a:p>
          <a:p>
            <a:r>
              <a:rPr lang="en-US" altLang="en-US" sz="3600" dirty="0"/>
              <a:t>Often focuses on systems and assets vital to the functioning of a society or nation</a:t>
            </a:r>
          </a:p>
          <a:p>
            <a:pPr lvl="1"/>
            <a:r>
              <a:rPr lang="en-US" altLang="en-US" sz="3600" dirty="0"/>
              <a:t>	Power grids</a:t>
            </a:r>
          </a:p>
          <a:p>
            <a:pPr lvl="1"/>
            <a:r>
              <a:rPr lang="en-US" altLang="en-US" sz="3600" dirty="0"/>
              <a:t>	Communication networks</a:t>
            </a:r>
          </a:p>
          <a:p>
            <a:pPr lvl="1"/>
            <a:r>
              <a:rPr lang="en-US" altLang="en-US" sz="3600" dirty="0"/>
              <a:t>	Government systems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6CE73B8-9BAC-8208-E755-AB40E5AD38A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1BC1B2D-CC6F-990F-19F4-70D63AB64A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60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War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3202892686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15194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2D5C15E-F41D-408C-7266-DE610856C3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B5ED3DBA-4B6E-8C85-1A69-3012E29FC74B}"/>
              </a:ext>
            </a:extLst>
          </p:cNvPr>
          <p:cNvGrpSpPr/>
          <p:nvPr/>
        </p:nvGrpSpPr>
        <p:grpSpPr>
          <a:xfrm rot="-5400000">
            <a:off x="12015831" y="4014831"/>
            <a:ext cx="10287000" cy="2257339"/>
            <a:chOff x="0" y="0"/>
            <a:chExt cx="2709333" cy="59452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4837E7B7-7903-0550-14A5-12C6A2312F02}"/>
                </a:ext>
              </a:extLst>
            </p:cNvPr>
            <p:cNvSpPr/>
            <p:nvPr/>
          </p:nvSpPr>
          <p:spPr>
            <a:xfrm>
              <a:off x="0" y="0"/>
              <a:ext cx="2709333" cy="594525"/>
            </a:xfrm>
            <a:custGeom>
              <a:avLst/>
              <a:gdLst/>
              <a:ahLst/>
              <a:cxnLst/>
              <a:rect l="l" t="t" r="r" b="b"/>
              <a:pathLst>
                <a:path w="2709333" h="594525">
                  <a:moveTo>
                    <a:pt x="0" y="0"/>
                  </a:moveTo>
                  <a:lnTo>
                    <a:pt x="2709333" y="0"/>
                  </a:lnTo>
                  <a:lnTo>
                    <a:pt x="2709333" y="594525"/>
                  </a:lnTo>
                  <a:lnTo>
                    <a:pt x="0" y="594525"/>
                  </a:lnTo>
                  <a:close/>
                </a:path>
              </a:pathLst>
            </a:custGeom>
            <a:solidFill>
              <a:srgbClr val="0283FD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1D231042-F596-7A4A-71F1-6748480F2F8F}"/>
                </a:ext>
              </a:extLst>
            </p:cNvPr>
            <p:cNvSpPr txBox="1"/>
            <p:nvPr/>
          </p:nvSpPr>
          <p:spPr>
            <a:xfrm>
              <a:off x="0" y="-66675"/>
              <a:ext cx="2709333" cy="6612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3024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C377112A-E918-4345-04B3-1A3A77F2DF1F}"/>
              </a:ext>
            </a:extLst>
          </p:cNvPr>
          <p:cNvGrpSpPr/>
          <p:nvPr/>
        </p:nvGrpSpPr>
        <p:grpSpPr>
          <a:xfrm>
            <a:off x="179467" y="6643814"/>
            <a:ext cx="8126333" cy="3488267"/>
            <a:chOff x="0" y="0"/>
            <a:chExt cx="844714" cy="36259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0D489078-D0AE-708E-45A8-0AA075CFBD94}"/>
                </a:ext>
              </a:extLst>
            </p:cNvPr>
            <p:cNvSpPr/>
            <p:nvPr/>
          </p:nvSpPr>
          <p:spPr>
            <a:xfrm>
              <a:off x="0" y="0"/>
              <a:ext cx="844714" cy="362598"/>
            </a:xfrm>
            <a:custGeom>
              <a:avLst/>
              <a:gdLst/>
              <a:ahLst/>
              <a:cxnLst/>
              <a:rect l="l" t="t" r="r" b="b"/>
              <a:pathLst>
                <a:path w="844714" h="362598">
                  <a:moveTo>
                    <a:pt x="203200" y="0"/>
                  </a:moveTo>
                  <a:lnTo>
                    <a:pt x="844714" y="0"/>
                  </a:lnTo>
                  <a:lnTo>
                    <a:pt x="641514" y="362598"/>
                  </a:lnTo>
                  <a:lnTo>
                    <a:pt x="0" y="362598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283FD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1BDF00CB-C839-63D5-FDFA-BB1D417A7D73}"/>
                </a:ext>
              </a:extLst>
            </p:cNvPr>
            <p:cNvSpPr txBox="1"/>
            <p:nvPr/>
          </p:nvSpPr>
          <p:spPr>
            <a:xfrm>
              <a:off x="101600" y="-28575"/>
              <a:ext cx="641514" cy="391173"/>
            </a:xfrm>
            <a:prstGeom prst="rect">
              <a:avLst/>
            </a:prstGeom>
          </p:spPr>
          <p:txBody>
            <a:bodyPr lIns="47790" tIns="47790" rIns="47790" bIns="4779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1843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678C8070-749F-7BB5-94CE-8D4CD3BCDBFD}"/>
              </a:ext>
            </a:extLst>
          </p:cNvPr>
          <p:cNvGrpSpPr/>
          <p:nvPr/>
        </p:nvGrpSpPr>
        <p:grpSpPr>
          <a:xfrm>
            <a:off x="0" y="6950004"/>
            <a:ext cx="16030661" cy="3336996"/>
            <a:chOff x="0" y="0"/>
            <a:chExt cx="6165409" cy="1271237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687A7950-366A-A6FD-D35F-3519BD9DDE47}"/>
                </a:ext>
              </a:extLst>
            </p:cNvPr>
            <p:cNvSpPr/>
            <p:nvPr/>
          </p:nvSpPr>
          <p:spPr>
            <a:xfrm>
              <a:off x="0" y="0"/>
              <a:ext cx="6165409" cy="1271237"/>
            </a:xfrm>
            <a:custGeom>
              <a:avLst/>
              <a:gdLst/>
              <a:ahLst/>
              <a:cxnLst/>
              <a:rect l="l" t="t" r="r" b="b"/>
              <a:pathLst>
                <a:path w="6165409" h="1271237">
                  <a:moveTo>
                    <a:pt x="0" y="0"/>
                  </a:moveTo>
                  <a:lnTo>
                    <a:pt x="6165409" y="0"/>
                  </a:lnTo>
                  <a:lnTo>
                    <a:pt x="6165409" y="1271237"/>
                  </a:lnTo>
                  <a:lnTo>
                    <a:pt x="0" y="127123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74E2BDEF-A5AE-940A-7548-7C9AE8BED952}"/>
                </a:ext>
              </a:extLst>
            </p:cNvPr>
            <p:cNvSpPr txBox="1"/>
            <p:nvPr/>
          </p:nvSpPr>
          <p:spPr>
            <a:xfrm>
              <a:off x="0" y="-28575"/>
              <a:ext cx="6165409" cy="1299812"/>
            </a:xfrm>
            <a:prstGeom prst="rect">
              <a:avLst/>
            </a:prstGeom>
          </p:spPr>
          <p:txBody>
            <a:bodyPr lIns="47790" tIns="47790" rIns="47790" bIns="4779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1843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sp>
        <p:nvSpPr>
          <p:cNvPr id="12" name="TextBox 12">
            <a:extLst>
              <a:ext uri="{FF2B5EF4-FFF2-40B4-BE49-F238E27FC236}">
                <a16:creationId xmlns:a16="http://schemas.microsoft.com/office/drawing/2014/main" id="{144BD039-BB5E-B7C5-8A81-1128C07B661E}"/>
              </a:ext>
            </a:extLst>
          </p:cNvPr>
          <p:cNvSpPr txBox="1"/>
          <p:nvPr/>
        </p:nvSpPr>
        <p:spPr>
          <a:xfrm>
            <a:off x="1111666" y="3432993"/>
            <a:ext cx="14771892" cy="598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4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Day 2 – Block 2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3D7AB2AB-6B7B-3C74-77E2-EC9978EE258A}"/>
              </a:ext>
            </a:extLst>
          </p:cNvPr>
          <p:cNvSpPr txBox="1"/>
          <p:nvPr/>
        </p:nvSpPr>
        <p:spPr>
          <a:xfrm>
            <a:off x="1111666" y="9653992"/>
            <a:ext cx="12263263" cy="3619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0" i="0" u="none" strike="noStrike" kern="1200" cap="none" spc="0" normalizeH="0" baseline="0" noProof="0">
                <a:ln>
                  <a:noFill/>
                </a:ln>
                <a:solidFill>
                  <a:srgbClr val="252525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CALIFORNIA INSTITUTE OF APPLIED TECHNOLOGY</a:t>
            </a:r>
          </a:p>
        </p:txBody>
      </p:sp>
      <p:sp>
        <p:nvSpPr>
          <p:cNvPr id="15" name="AutoShape 15">
            <a:extLst>
              <a:ext uri="{FF2B5EF4-FFF2-40B4-BE49-F238E27FC236}">
                <a16:creationId xmlns:a16="http://schemas.microsoft.com/office/drawing/2014/main" id="{F0306FD6-0D87-B927-2FC6-6085A73FE593}"/>
              </a:ext>
            </a:extLst>
          </p:cNvPr>
          <p:cNvSpPr/>
          <p:nvPr/>
        </p:nvSpPr>
        <p:spPr>
          <a:xfrm>
            <a:off x="8010568" y="9858838"/>
            <a:ext cx="7625672" cy="0"/>
          </a:xfrm>
          <a:prstGeom prst="line">
            <a:avLst/>
          </a:prstGeom>
          <a:ln w="19050" cap="flat">
            <a:solidFill>
              <a:srgbClr val="0283F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7" name="Freeform 5">
            <a:extLst>
              <a:ext uri="{FF2B5EF4-FFF2-40B4-BE49-F238E27FC236}">
                <a16:creationId xmlns:a16="http://schemas.microsoft.com/office/drawing/2014/main" id="{16DF3BC7-4E59-F27A-8451-A7D244737673}"/>
              </a:ext>
            </a:extLst>
          </p:cNvPr>
          <p:cNvSpPr/>
          <p:nvPr/>
        </p:nvSpPr>
        <p:spPr>
          <a:xfrm>
            <a:off x="1111666" y="355081"/>
            <a:ext cx="4247850" cy="631936"/>
          </a:xfrm>
          <a:custGeom>
            <a:avLst/>
            <a:gdLst/>
            <a:ahLst/>
            <a:cxnLst/>
            <a:rect l="l" t="t" r="r" b="b"/>
            <a:pathLst>
              <a:path w="4247850" h="631936">
                <a:moveTo>
                  <a:pt x="0" y="0"/>
                </a:moveTo>
                <a:lnTo>
                  <a:pt x="4247850" y="0"/>
                </a:lnTo>
                <a:lnTo>
                  <a:pt x="4247850" y="631935"/>
                </a:lnTo>
                <a:lnTo>
                  <a:pt x="0" y="63193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5" r="-5"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607CEA2-1D84-9658-AF72-D6C674EC8B75}"/>
              </a:ext>
            </a:extLst>
          </p:cNvPr>
          <p:cNvSpPr txBox="1"/>
          <p:nvPr/>
        </p:nvSpPr>
        <p:spPr>
          <a:xfrm>
            <a:off x="1111666" y="7106062"/>
            <a:ext cx="9480134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2400" dirty="0"/>
              <a:t>Social Engineering &amp; Human Factors</a:t>
            </a:r>
          </a:p>
          <a:p>
            <a:pPr lvl="1"/>
            <a:r>
              <a:rPr lang="en-US" altLang="en-US" dirty="0"/>
              <a:t>Phishing</a:t>
            </a:r>
          </a:p>
          <a:p>
            <a:pPr lvl="1"/>
            <a:r>
              <a:rPr lang="en-US" altLang="en-US" dirty="0"/>
              <a:t>Pretexting</a:t>
            </a:r>
          </a:p>
          <a:p>
            <a:pPr lvl="1"/>
            <a:r>
              <a:rPr lang="en-US" altLang="en-US" dirty="0"/>
              <a:t>Baiting</a:t>
            </a:r>
          </a:p>
          <a:p>
            <a:pPr lvl="1"/>
            <a:r>
              <a:rPr lang="en-US" altLang="en-US" dirty="0"/>
              <a:t>Tailgating</a:t>
            </a:r>
          </a:p>
          <a:p>
            <a:pPr lvl="1"/>
            <a:r>
              <a:rPr lang="en-US" altLang="en-US" dirty="0"/>
              <a:t>Deepfakes</a:t>
            </a:r>
          </a:p>
          <a:p>
            <a:r>
              <a:rPr lang="en-US" altLang="en-US" sz="2400" dirty="0"/>
              <a:t>uCertify Lab</a:t>
            </a:r>
          </a:p>
          <a:p>
            <a:pPr lvl="1"/>
            <a:r>
              <a:rPr lang="en-US" altLang="en-US" dirty="0"/>
              <a:t>6.12.1 Using Social Engineering Techniques to Plan an Attack</a:t>
            </a:r>
          </a:p>
        </p:txBody>
      </p:sp>
    </p:spTree>
    <p:extLst>
      <p:ext uri="{BB962C8B-B14F-4D97-AF65-F5344CB8AC3E}">
        <p14:creationId xmlns:p14="http://schemas.microsoft.com/office/powerpoint/2010/main" val="2155174965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AE7D97-BC47-4329-23F6-653DAEA9D8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DA2CD6A-9D4E-37E1-8331-2FAEC3C4DF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Slide </a:t>
            </a:r>
            <a:fld id="{4CA2B2DB-B91D-4166-98BF-65A0DA7EEE6D}" type="slidenum">
              <a:rPr lang="en-US" smtClean="0"/>
              <a:pPr/>
              <a:t>104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0FBEB4-A486-8682-6DDA-3EA5669819B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2536823"/>
            <a:ext cx="16192500" cy="5807077"/>
          </a:xfrm>
        </p:spPr>
        <p:txBody>
          <a:bodyPr/>
          <a:lstStyle/>
          <a:p>
            <a:pPr>
              <a:spcBef>
                <a:spcPts val="900"/>
              </a:spcBef>
            </a:pPr>
            <a:r>
              <a:rPr lang="en-US" altLang="en-US" sz="3900" b="1" dirty="0"/>
              <a:t>Phishing</a:t>
            </a:r>
            <a:r>
              <a:rPr lang="en-US" altLang="en-US" sz="3900" dirty="0"/>
              <a:t> involves fraudulent attempts to obtain private information by masquerading as someone else.</a:t>
            </a:r>
          </a:p>
          <a:p>
            <a:pPr>
              <a:spcBef>
                <a:spcPts val="900"/>
              </a:spcBef>
            </a:pPr>
            <a:r>
              <a:rPr lang="en-US" altLang="en-US" sz="3900" b="1" dirty="0"/>
              <a:t>Vishing</a:t>
            </a:r>
            <a:r>
              <a:rPr lang="en-US" altLang="en-US" sz="3900" dirty="0"/>
              <a:t> or </a:t>
            </a:r>
            <a:r>
              <a:rPr lang="en-US" altLang="en-US" sz="3900" b="1" dirty="0"/>
              <a:t>voice phishing </a:t>
            </a:r>
            <a:r>
              <a:rPr lang="en-US" altLang="en-US" sz="3900" dirty="0"/>
              <a:t>involves using voice calls, often over VoIP systems, to deceive individuals into revealing sensitive information.</a:t>
            </a:r>
          </a:p>
          <a:p>
            <a:pPr>
              <a:spcBef>
                <a:spcPts val="900"/>
              </a:spcBef>
            </a:pPr>
            <a:r>
              <a:rPr lang="en-US" altLang="en-US" sz="3900" b="1" dirty="0"/>
              <a:t>Smishing</a:t>
            </a:r>
            <a:r>
              <a:rPr lang="en-US" altLang="en-US" sz="3900" dirty="0"/>
              <a:t>, a combination of "SMS" and "phishing," involves sending deceptive SMS messages to trick recipients into clicking malicious links or downloading malware onto their mobile devices.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FF9E22F-AC4C-6552-2404-8983D7FEC64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128FE93-5C84-ACB4-F198-4DD96C0669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60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Types of Social Engineering Attacks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3363447482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ACBD73-A5E0-91CB-79F2-08E3A8883F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9D94C43-4542-F168-0EB6-199FC59C49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Slide </a:t>
            </a:r>
            <a:fld id="{4CA2B2DB-B91D-4166-98BF-65A0DA7EEE6D}" type="slidenum">
              <a:rPr lang="en-US" smtClean="0"/>
              <a:pPr/>
              <a:t>105</a:t>
            </a:fld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A598EE-41BA-BC98-279A-F0DD116001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AEC22D0-7F4F-7407-EDF2-FE38E0BFE0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60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Types of Social Engineering Attacks</a:t>
            </a:r>
            <a:endParaRPr lang="en-US" i="1" dirty="0"/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27142EFE-52F5-50E9-0E42-3998EF53D16F}"/>
              </a:ext>
            </a:extLst>
          </p:cNvPr>
          <p:cNvPicPr>
            <a:picLocks noGrp="1" noChangeAspect="1"/>
          </p:cNvPicPr>
          <p:nvPr>
            <p:ph sz="quarter" idx="12"/>
          </p:nvPr>
        </p:nvPicPr>
        <p:blipFill>
          <a:blip r:embed="rId3"/>
          <a:stretch>
            <a:fillRect/>
          </a:stretch>
        </p:blipFill>
        <p:spPr>
          <a:xfrm>
            <a:off x="3500208" y="2575166"/>
            <a:ext cx="11287583" cy="5136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5630760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9E03D8-B72D-9FA1-F726-DBB7C26550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BE2FB86-66EE-6865-491E-429B1E984C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Slide </a:t>
            </a:r>
            <a:fld id="{4CA2B2DB-B91D-4166-98BF-65A0DA7EEE6D}" type="slidenum">
              <a:rPr lang="en-US" smtClean="0"/>
              <a:pPr/>
              <a:t>106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703C51-7141-167C-B751-81E2626C389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2536823"/>
            <a:ext cx="16192500" cy="5807077"/>
          </a:xfrm>
        </p:spPr>
        <p:txBody>
          <a:bodyPr/>
          <a:lstStyle/>
          <a:p>
            <a:pPr marL="0" indent="0">
              <a:spcBef>
                <a:spcPts val="900"/>
              </a:spcBef>
              <a:buNone/>
            </a:pPr>
            <a:r>
              <a:rPr lang="en-US" altLang="en-US" sz="4800" b="1" dirty="0"/>
              <a:t>Phishing</a:t>
            </a:r>
            <a:r>
              <a:rPr lang="en-US" altLang="en-US" sz="4800" dirty="0"/>
              <a:t>: A Social engineering attack aimed at tricking individuals into sharing sensitive data</a:t>
            </a:r>
          </a:p>
          <a:p>
            <a:pPr>
              <a:spcBef>
                <a:spcPts val="900"/>
              </a:spcBef>
            </a:pPr>
            <a:r>
              <a:rPr lang="en-US" altLang="en-US" sz="4000" dirty="0"/>
              <a:t>Often conducted via email, messaging apps, and websites</a:t>
            </a:r>
          </a:p>
          <a:p>
            <a:pPr>
              <a:spcBef>
                <a:spcPts val="900"/>
              </a:spcBef>
            </a:pPr>
            <a:r>
              <a:rPr lang="en-US" altLang="en-US" sz="4000" dirty="0"/>
              <a:t>User education and awareness are vital to keeping systems secure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FAD6C16-A6B5-0229-63D2-B856EC890F0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AEBC8766-ABA7-D858-90B2-E3DBCAC72D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60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Phishing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3766969062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5093FA-2C13-20E0-E2DF-6A43445908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B6470D0-11A1-3D92-4C15-076378398A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Slide </a:t>
            </a:r>
            <a:fld id="{4CA2B2DB-B91D-4166-98BF-65A0DA7EEE6D}" type="slidenum">
              <a:rPr lang="en-US" smtClean="0"/>
              <a:pPr/>
              <a:t>107</a:t>
            </a:fld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F657C8-9198-D2F0-8CD5-348F59ECE55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95074F3-9FB6-1E62-053D-BCEBB03B78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60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Anatomy of a Phishing Email</a:t>
            </a:r>
            <a:endParaRPr lang="en-US" i="1" dirty="0"/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62AA87AA-FAFD-0B61-2561-96168237AC56}"/>
              </a:ext>
            </a:extLst>
          </p:cNvPr>
          <p:cNvPicPr>
            <a:picLocks noGrp="1" noChangeAspect="1"/>
          </p:cNvPicPr>
          <p:nvPr>
            <p:ph sz="quarter" idx="12"/>
          </p:nvPr>
        </p:nvPicPr>
        <p:blipFill>
          <a:blip r:embed="rId3"/>
          <a:stretch>
            <a:fillRect/>
          </a:stretch>
        </p:blipFill>
        <p:spPr>
          <a:xfrm>
            <a:off x="4414672" y="2366287"/>
            <a:ext cx="9039556" cy="5554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5484883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B57F2F-E576-5966-A146-1D7A438CB3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505DC25-4CD9-AAB0-30B8-21F7816327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Slide </a:t>
            </a:r>
            <a:fld id="{4CA2B2DB-B91D-4166-98BF-65A0DA7EEE6D}" type="slidenum">
              <a:rPr lang="en-US" smtClean="0"/>
              <a:pPr/>
              <a:t>108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0BBFEC-AAE1-D09A-12B5-E001D00F0F89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2536823"/>
            <a:ext cx="16192500" cy="5959477"/>
          </a:xfrm>
        </p:spPr>
        <p:txBody>
          <a:bodyPr/>
          <a:lstStyle/>
          <a:p>
            <a:pPr>
              <a:spcBef>
                <a:spcPts val="900"/>
              </a:spcBef>
            </a:pPr>
            <a:r>
              <a:rPr lang="en-US" altLang="en-US" sz="4000" b="1" dirty="0"/>
              <a:t>Misinformation</a:t>
            </a:r>
            <a:r>
              <a:rPr lang="en-US" altLang="en-US" sz="4000" dirty="0"/>
              <a:t> refers to false or misleading information that’s spread without malicious intent.</a:t>
            </a:r>
          </a:p>
          <a:p>
            <a:pPr>
              <a:spcBef>
                <a:spcPts val="900"/>
              </a:spcBef>
            </a:pPr>
            <a:r>
              <a:rPr lang="en-US" altLang="en-US" sz="4000" b="1" dirty="0"/>
              <a:t>Disinformation</a:t>
            </a:r>
            <a:r>
              <a:rPr lang="en-US" altLang="en-US" sz="4000" dirty="0"/>
              <a:t> is false or misleading information that is intentionally deceptive.</a:t>
            </a:r>
          </a:p>
          <a:p>
            <a:pPr>
              <a:spcBef>
                <a:spcPts val="900"/>
              </a:spcBef>
            </a:pPr>
            <a:r>
              <a:rPr lang="en-US" altLang="en-US" sz="4000" b="1" dirty="0"/>
              <a:t>Impersonation</a:t>
            </a:r>
            <a:r>
              <a:rPr lang="en-US" altLang="en-US" sz="4000" dirty="0"/>
              <a:t> involves pretending to be someone else to gain trust or access.</a:t>
            </a:r>
          </a:p>
          <a:p>
            <a:pPr>
              <a:spcBef>
                <a:spcPts val="900"/>
              </a:spcBef>
            </a:pPr>
            <a:r>
              <a:rPr lang="en-US" altLang="en-US" sz="4000" b="1" dirty="0"/>
              <a:t>Business Email Compromise (BEC)</a:t>
            </a:r>
            <a:r>
              <a:rPr lang="en-US" altLang="en-US" sz="4000" dirty="0"/>
              <a:t> is a sophisticated scam that compromises legitimate business email accounts to conduct unauthorized transfers of funds.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C74FB83-7684-02B6-3924-03F73E62411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046504A5-ABE2-AF33-BAA1-1F52873794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60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Types of Social Engineering Attacks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2277616647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C40D04-DC5F-6DD6-A8F0-72764A3070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77531F0-B5C4-AF3F-8BC4-1358D00BA3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Slide </a:t>
            </a:r>
            <a:fld id="{4CA2B2DB-B91D-4166-98BF-65A0DA7EEE6D}" type="slidenum">
              <a:rPr lang="en-US" smtClean="0"/>
              <a:pPr/>
              <a:t>109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2DCC39-8BCB-70FF-E568-D03BAB6B9C8F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2536823"/>
            <a:ext cx="16192500" cy="5959477"/>
          </a:xfrm>
        </p:spPr>
        <p:txBody>
          <a:bodyPr/>
          <a:lstStyle/>
          <a:p>
            <a:pPr>
              <a:spcBef>
                <a:spcPts val="900"/>
              </a:spcBef>
            </a:pPr>
            <a:r>
              <a:rPr lang="en-US" altLang="en-US" sz="4000" dirty="0"/>
              <a:t>In </a:t>
            </a:r>
            <a:r>
              <a:rPr lang="en-US" altLang="en-US" sz="4000" b="1" dirty="0"/>
              <a:t>pretexting</a:t>
            </a:r>
            <a:r>
              <a:rPr lang="en-US" altLang="en-US" sz="4000" dirty="0"/>
              <a:t>, the attacker invents a scenario (a pretext) to persuade a victim to divulge information.</a:t>
            </a:r>
          </a:p>
          <a:p>
            <a:pPr>
              <a:spcBef>
                <a:spcPts val="900"/>
              </a:spcBef>
            </a:pPr>
            <a:r>
              <a:rPr lang="en-US" altLang="en-US" sz="4000" dirty="0"/>
              <a:t>In a </a:t>
            </a:r>
            <a:r>
              <a:rPr lang="en-US" altLang="en-US" sz="4000" b="1" dirty="0"/>
              <a:t>watering hole attack</a:t>
            </a:r>
            <a:r>
              <a:rPr lang="en-US" altLang="en-US" sz="4000" dirty="0"/>
              <a:t>, attackers load malware onto sites that the targets frequently visit. </a:t>
            </a:r>
          </a:p>
          <a:p>
            <a:pPr>
              <a:spcBef>
                <a:spcPts val="900"/>
              </a:spcBef>
            </a:pPr>
            <a:r>
              <a:rPr lang="en-US" altLang="en-US" sz="4000" b="1" dirty="0"/>
              <a:t>Brand impersonation</a:t>
            </a:r>
            <a:r>
              <a:rPr lang="en-US" altLang="en-US" sz="4000" dirty="0"/>
              <a:t> involves attackers posing as trusted brands such as banks and technology companies.</a:t>
            </a:r>
          </a:p>
          <a:p>
            <a:pPr>
              <a:spcBef>
                <a:spcPts val="900"/>
              </a:spcBef>
            </a:pPr>
            <a:r>
              <a:rPr lang="en-US" altLang="en-US" sz="4000" b="1" dirty="0" err="1"/>
              <a:t>Typosquatting</a:t>
            </a:r>
            <a:r>
              <a:rPr lang="en-US" altLang="en-US" sz="4000" b="1" dirty="0"/>
              <a:t> </a:t>
            </a:r>
            <a:r>
              <a:rPr lang="en-US" altLang="en-US" sz="4000" dirty="0"/>
              <a:t>involves attackers maliciously using domain names that are typo versions of legitimate domains. 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7916506-B053-AD47-24AC-69721F91140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2C272CE-5CFB-532A-9585-9B18D62BB3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60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Types of Social Engineering Attacks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3428003025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CBDD01-EA0F-3260-9603-1293811D91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569A310-3693-A2F5-ABCE-7E4A94C5D1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Slide </a:t>
            </a:r>
            <a:fld id="{4CA2B2DB-B91D-4166-98BF-65A0DA7EEE6D}" type="slidenum">
              <a:rPr lang="en-US" smtClean="0"/>
              <a:pPr/>
              <a:t>110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44863D-6D26-3E5B-A5CC-6C2798F4803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2536823"/>
            <a:ext cx="16192500" cy="2911477"/>
          </a:xfrm>
        </p:spPr>
        <p:txBody>
          <a:bodyPr/>
          <a:lstStyle/>
          <a:p>
            <a:pPr>
              <a:spcBef>
                <a:spcPts val="900"/>
              </a:spcBef>
            </a:pPr>
            <a:r>
              <a:rPr lang="en-US" altLang="en-US" sz="4000" b="1" dirty="0"/>
              <a:t>Human vectors </a:t>
            </a:r>
            <a:r>
              <a:rPr lang="en-US" altLang="en-US" sz="4000" dirty="0"/>
              <a:t>are individuals manipulated into giving access to sensitive information or systems. </a:t>
            </a:r>
          </a:p>
          <a:p>
            <a:pPr>
              <a:spcBef>
                <a:spcPts val="900"/>
              </a:spcBef>
            </a:pPr>
            <a:r>
              <a:rPr lang="en-US" altLang="en-US" sz="4000" b="1" dirty="0"/>
              <a:t>Social engineering </a:t>
            </a:r>
            <a:r>
              <a:rPr lang="en-US" altLang="en-US" sz="4000" dirty="0"/>
              <a:t>encompasses a broad range of techniques aimed at manipulating the human psyche. 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5A20833-7833-454D-753C-916A0377584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C02289E-0E8B-0EBC-0F9C-B647072D50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60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Human Vectors/Social Engineering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925650218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15194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3275600-3332-0F2A-795D-AA8918FEE1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8F097B82-C010-623E-9680-528A894C8B69}"/>
              </a:ext>
            </a:extLst>
          </p:cNvPr>
          <p:cNvGrpSpPr/>
          <p:nvPr/>
        </p:nvGrpSpPr>
        <p:grpSpPr>
          <a:xfrm rot="-5400000">
            <a:off x="12015831" y="4014831"/>
            <a:ext cx="10287000" cy="2257339"/>
            <a:chOff x="0" y="0"/>
            <a:chExt cx="2709333" cy="59452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30AC23BC-BE92-0B2F-1AB4-930CFCB5EE2F}"/>
                </a:ext>
              </a:extLst>
            </p:cNvPr>
            <p:cNvSpPr/>
            <p:nvPr/>
          </p:nvSpPr>
          <p:spPr>
            <a:xfrm>
              <a:off x="0" y="0"/>
              <a:ext cx="2709333" cy="594525"/>
            </a:xfrm>
            <a:custGeom>
              <a:avLst/>
              <a:gdLst/>
              <a:ahLst/>
              <a:cxnLst/>
              <a:rect l="l" t="t" r="r" b="b"/>
              <a:pathLst>
                <a:path w="2709333" h="594525">
                  <a:moveTo>
                    <a:pt x="0" y="0"/>
                  </a:moveTo>
                  <a:lnTo>
                    <a:pt x="2709333" y="0"/>
                  </a:lnTo>
                  <a:lnTo>
                    <a:pt x="2709333" y="594525"/>
                  </a:lnTo>
                  <a:lnTo>
                    <a:pt x="0" y="594525"/>
                  </a:lnTo>
                  <a:close/>
                </a:path>
              </a:pathLst>
            </a:custGeom>
            <a:solidFill>
              <a:srgbClr val="0283FD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D29CB3FC-769F-AADD-A035-F944CFEA7E03}"/>
                </a:ext>
              </a:extLst>
            </p:cNvPr>
            <p:cNvSpPr txBox="1"/>
            <p:nvPr/>
          </p:nvSpPr>
          <p:spPr>
            <a:xfrm>
              <a:off x="0" y="-66675"/>
              <a:ext cx="2709333" cy="6612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3024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3EC0821C-8F96-FBB4-ABB5-F92831909D69}"/>
              </a:ext>
            </a:extLst>
          </p:cNvPr>
          <p:cNvGrpSpPr/>
          <p:nvPr/>
        </p:nvGrpSpPr>
        <p:grpSpPr>
          <a:xfrm>
            <a:off x="179467" y="6643814"/>
            <a:ext cx="8126333" cy="3488267"/>
            <a:chOff x="0" y="0"/>
            <a:chExt cx="844714" cy="36259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CCA8C77E-00D8-C3B5-D6B4-CB8C23B4FDBA}"/>
                </a:ext>
              </a:extLst>
            </p:cNvPr>
            <p:cNvSpPr/>
            <p:nvPr/>
          </p:nvSpPr>
          <p:spPr>
            <a:xfrm>
              <a:off x="0" y="0"/>
              <a:ext cx="844714" cy="362598"/>
            </a:xfrm>
            <a:custGeom>
              <a:avLst/>
              <a:gdLst/>
              <a:ahLst/>
              <a:cxnLst/>
              <a:rect l="l" t="t" r="r" b="b"/>
              <a:pathLst>
                <a:path w="844714" h="362598">
                  <a:moveTo>
                    <a:pt x="203200" y="0"/>
                  </a:moveTo>
                  <a:lnTo>
                    <a:pt x="844714" y="0"/>
                  </a:lnTo>
                  <a:lnTo>
                    <a:pt x="641514" y="362598"/>
                  </a:lnTo>
                  <a:lnTo>
                    <a:pt x="0" y="362598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283FD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2911E1FE-E020-EAFA-1882-5236DD22CC09}"/>
                </a:ext>
              </a:extLst>
            </p:cNvPr>
            <p:cNvSpPr txBox="1"/>
            <p:nvPr/>
          </p:nvSpPr>
          <p:spPr>
            <a:xfrm>
              <a:off x="101600" y="-28575"/>
              <a:ext cx="641514" cy="391173"/>
            </a:xfrm>
            <a:prstGeom prst="rect">
              <a:avLst/>
            </a:prstGeom>
          </p:spPr>
          <p:txBody>
            <a:bodyPr lIns="47790" tIns="47790" rIns="47790" bIns="4779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1843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B28EB498-4283-CBBE-5384-0363F1E005A2}"/>
              </a:ext>
            </a:extLst>
          </p:cNvPr>
          <p:cNvGrpSpPr/>
          <p:nvPr/>
        </p:nvGrpSpPr>
        <p:grpSpPr>
          <a:xfrm>
            <a:off x="0" y="6950004"/>
            <a:ext cx="16030661" cy="3336996"/>
            <a:chOff x="0" y="0"/>
            <a:chExt cx="6165409" cy="1271237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58A3F26C-9CF8-1F72-5E6B-6FBAE0549205}"/>
                </a:ext>
              </a:extLst>
            </p:cNvPr>
            <p:cNvSpPr/>
            <p:nvPr/>
          </p:nvSpPr>
          <p:spPr>
            <a:xfrm>
              <a:off x="0" y="0"/>
              <a:ext cx="6165409" cy="1271237"/>
            </a:xfrm>
            <a:custGeom>
              <a:avLst/>
              <a:gdLst/>
              <a:ahLst/>
              <a:cxnLst/>
              <a:rect l="l" t="t" r="r" b="b"/>
              <a:pathLst>
                <a:path w="6165409" h="1271237">
                  <a:moveTo>
                    <a:pt x="0" y="0"/>
                  </a:moveTo>
                  <a:lnTo>
                    <a:pt x="6165409" y="0"/>
                  </a:lnTo>
                  <a:lnTo>
                    <a:pt x="6165409" y="1271237"/>
                  </a:lnTo>
                  <a:lnTo>
                    <a:pt x="0" y="127123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16E01971-4BA3-447C-E2FD-6032F3CFEC06}"/>
                </a:ext>
              </a:extLst>
            </p:cNvPr>
            <p:cNvSpPr txBox="1"/>
            <p:nvPr/>
          </p:nvSpPr>
          <p:spPr>
            <a:xfrm>
              <a:off x="0" y="-28575"/>
              <a:ext cx="6165409" cy="1299812"/>
            </a:xfrm>
            <a:prstGeom prst="rect">
              <a:avLst/>
            </a:prstGeom>
          </p:spPr>
          <p:txBody>
            <a:bodyPr lIns="47790" tIns="47790" rIns="47790" bIns="4779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1843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sp>
        <p:nvSpPr>
          <p:cNvPr id="12" name="TextBox 12">
            <a:extLst>
              <a:ext uri="{FF2B5EF4-FFF2-40B4-BE49-F238E27FC236}">
                <a16:creationId xmlns:a16="http://schemas.microsoft.com/office/drawing/2014/main" id="{24168FC1-C090-0CBE-28DC-04F5CA76633D}"/>
              </a:ext>
            </a:extLst>
          </p:cNvPr>
          <p:cNvSpPr txBox="1"/>
          <p:nvPr/>
        </p:nvSpPr>
        <p:spPr>
          <a:xfrm>
            <a:off x="1111666" y="3432993"/>
            <a:ext cx="14771892" cy="598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4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Day 2 – Block 3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51E10DDC-7688-ACF1-789E-A6DC75E53533}"/>
              </a:ext>
            </a:extLst>
          </p:cNvPr>
          <p:cNvSpPr txBox="1"/>
          <p:nvPr/>
        </p:nvSpPr>
        <p:spPr>
          <a:xfrm>
            <a:off x="1111666" y="9653992"/>
            <a:ext cx="12263263" cy="3619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0" i="0" u="none" strike="noStrike" kern="1200" cap="none" spc="0" normalizeH="0" baseline="0" noProof="0">
                <a:ln>
                  <a:noFill/>
                </a:ln>
                <a:solidFill>
                  <a:srgbClr val="252525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CALIFORNIA INSTITUTE OF APPLIED TECHNOLOGY</a:t>
            </a:r>
          </a:p>
        </p:txBody>
      </p:sp>
      <p:sp>
        <p:nvSpPr>
          <p:cNvPr id="15" name="AutoShape 15">
            <a:extLst>
              <a:ext uri="{FF2B5EF4-FFF2-40B4-BE49-F238E27FC236}">
                <a16:creationId xmlns:a16="http://schemas.microsoft.com/office/drawing/2014/main" id="{48E60030-0FD0-3E48-193C-98756D3E2E07}"/>
              </a:ext>
            </a:extLst>
          </p:cNvPr>
          <p:cNvSpPr/>
          <p:nvPr/>
        </p:nvSpPr>
        <p:spPr>
          <a:xfrm>
            <a:off x="8010568" y="9858838"/>
            <a:ext cx="7625672" cy="0"/>
          </a:xfrm>
          <a:prstGeom prst="line">
            <a:avLst/>
          </a:prstGeom>
          <a:ln w="19050" cap="flat">
            <a:solidFill>
              <a:srgbClr val="0283F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7" name="Freeform 5">
            <a:extLst>
              <a:ext uri="{FF2B5EF4-FFF2-40B4-BE49-F238E27FC236}">
                <a16:creationId xmlns:a16="http://schemas.microsoft.com/office/drawing/2014/main" id="{F5AF1535-42C3-9352-5FE8-2430CAA5FB34}"/>
              </a:ext>
            </a:extLst>
          </p:cNvPr>
          <p:cNvSpPr/>
          <p:nvPr/>
        </p:nvSpPr>
        <p:spPr>
          <a:xfrm>
            <a:off x="1111666" y="355081"/>
            <a:ext cx="4247850" cy="631936"/>
          </a:xfrm>
          <a:custGeom>
            <a:avLst/>
            <a:gdLst/>
            <a:ahLst/>
            <a:cxnLst/>
            <a:rect l="l" t="t" r="r" b="b"/>
            <a:pathLst>
              <a:path w="4247850" h="631936">
                <a:moveTo>
                  <a:pt x="0" y="0"/>
                </a:moveTo>
                <a:lnTo>
                  <a:pt x="4247850" y="0"/>
                </a:lnTo>
                <a:lnTo>
                  <a:pt x="4247850" y="631935"/>
                </a:lnTo>
                <a:lnTo>
                  <a:pt x="0" y="63193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5" r="-5"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A450373-BA7C-C866-3A1E-725ACC7AC76A}"/>
              </a:ext>
            </a:extLst>
          </p:cNvPr>
          <p:cNvSpPr txBox="1"/>
          <p:nvPr/>
        </p:nvSpPr>
        <p:spPr>
          <a:xfrm>
            <a:off x="1111666" y="7106062"/>
            <a:ext cx="9480134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2000" dirty="0"/>
              <a:t>Malware Analysis &amp; Defense</a:t>
            </a:r>
          </a:p>
          <a:p>
            <a:pPr lvl="1"/>
            <a:r>
              <a:rPr lang="en-US" altLang="en-US" sz="1600" dirty="0"/>
              <a:t>Viruses</a:t>
            </a:r>
          </a:p>
          <a:p>
            <a:pPr lvl="1"/>
            <a:r>
              <a:rPr lang="en-US" altLang="en-US" sz="1600" dirty="0"/>
              <a:t>Worms</a:t>
            </a:r>
          </a:p>
          <a:p>
            <a:pPr lvl="1"/>
            <a:r>
              <a:rPr lang="en-US" altLang="en-US" sz="1600" dirty="0"/>
              <a:t>Trojans</a:t>
            </a:r>
          </a:p>
          <a:p>
            <a:pPr lvl="1"/>
            <a:r>
              <a:rPr lang="en-US" altLang="en-US" sz="1600" dirty="0"/>
              <a:t>Ransomware</a:t>
            </a:r>
          </a:p>
          <a:p>
            <a:pPr lvl="1"/>
            <a:r>
              <a:rPr lang="en-US" altLang="en-US" sz="1600" dirty="0"/>
              <a:t>Zero-Day</a:t>
            </a:r>
          </a:p>
          <a:p>
            <a:pPr lvl="1"/>
            <a:r>
              <a:rPr lang="en-US" altLang="en-US" sz="1600" dirty="0"/>
              <a:t>Fileless</a:t>
            </a:r>
          </a:p>
          <a:p>
            <a:r>
              <a:rPr lang="en-US" altLang="en-US" sz="2000" dirty="0"/>
              <a:t>Crucial Exams</a:t>
            </a:r>
          </a:p>
          <a:p>
            <a:pPr lvl="1"/>
            <a:r>
              <a:rPr lang="en-US" altLang="en-US" sz="1600" dirty="0"/>
              <a:t>Threats, Vulnerabilities, and Mitigations</a:t>
            </a:r>
          </a:p>
        </p:txBody>
      </p:sp>
    </p:spTree>
    <p:extLst>
      <p:ext uri="{BB962C8B-B14F-4D97-AF65-F5344CB8AC3E}">
        <p14:creationId xmlns:p14="http://schemas.microsoft.com/office/powerpoint/2010/main" val="1948492794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52AA7B-762D-9FBD-0AD3-7527D9E6AC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701E9BF-93B6-DEF0-5DD5-5A513B16A7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Slide </a:t>
            </a:r>
            <a:fld id="{4CA2B2DB-B91D-4166-98BF-65A0DA7EEE6D}" type="slidenum">
              <a:rPr lang="en-US" smtClean="0"/>
              <a:pPr/>
              <a:t>112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E769C4-FEB2-AB7A-E214-36889746DCD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2536823"/>
            <a:ext cx="16192500" cy="2911477"/>
          </a:xfrm>
        </p:spPr>
        <p:txBody>
          <a:bodyPr/>
          <a:lstStyle/>
          <a:p>
            <a:pPr marL="0" indent="0">
              <a:spcBef>
                <a:spcPts val="900"/>
              </a:spcBef>
              <a:buNone/>
            </a:pPr>
            <a:r>
              <a:rPr lang="en-US" altLang="en-US" sz="4400" b="1" dirty="0"/>
              <a:t>Malware </a:t>
            </a:r>
            <a:r>
              <a:rPr lang="en-US" altLang="en-US" sz="4400" dirty="0"/>
              <a:t>is software designed to infiltrate, damage, or gather information from a system without user consent.</a:t>
            </a:r>
          </a:p>
          <a:p>
            <a:pPr>
              <a:spcBef>
                <a:spcPts val="900"/>
              </a:spcBef>
            </a:pPr>
            <a:r>
              <a:rPr lang="en-US" altLang="en-US" sz="4000" dirty="0"/>
              <a:t>Security professionals define and categorize malware to inform preventive measures.</a:t>
            </a:r>
          </a:p>
          <a:p>
            <a:pPr>
              <a:spcBef>
                <a:spcPts val="900"/>
              </a:spcBef>
            </a:pPr>
            <a:r>
              <a:rPr lang="en-US" altLang="en-US" sz="4000" dirty="0"/>
              <a:t>When malware is identified, removal or quarantine is crucial.  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5EFDFBF-0B3E-7A13-C5E2-10E082BDBAF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EA46D57-B379-EF45-C368-020EC4FC0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60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Malware Attacks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3218985678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470582-B40D-68BE-9BCE-C90BCA8200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5409669-C73D-CE02-9E2B-9D2D2BC26F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Slide </a:t>
            </a:r>
            <a:fld id="{4CA2B2DB-B91D-4166-98BF-65A0DA7EEE6D}" type="slidenum">
              <a:rPr lang="en-US" smtClean="0"/>
              <a:pPr/>
              <a:t>113</a:t>
            </a:fld>
            <a:endParaRPr lang="en-US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CE1DD926-B4A1-02D7-536A-EA0261B31955}"/>
              </a:ext>
            </a:extLst>
          </p:cNvPr>
          <p:cNvPicPr>
            <a:picLocks noGrp="1" noChangeAspect="1"/>
          </p:cNvPicPr>
          <p:nvPr>
            <p:ph sz="quarter" idx="12"/>
          </p:nvPr>
        </p:nvPicPr>
        <p:blipFill>
          <a:blip r:embed="rId3"/>
          <a:stretch>
            <a:fillRect/>
          </a:stretch>
        </p:blipFill>
        <p:spPr>
          <a:xfrm>
            <a:off x="4733925" y="2536825"/>
            <a:ext cx="8820150" cy="6011998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91448FC-732D-4581-ADB3-110C700F1D3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B756D29-CC9D-61CD-5010-B7504583D4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60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What is Malware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2680537192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1BC24B-D4CD-0F7D-4E8E-9E538F8C8B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9AF6603-22FE-DECB-15CC-B9411C90A2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Slide </a:t>
            </a:r>
            <a:fld id="{4CA2B2DB-B91D-4166-98BF-65A0DA7EEE6D}" type="slidenum">
              <a:rPr lang="en-US" smtClean="0"/>
              <a:pPr/>
              <a:t>114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50037B-D3EF-00E2-9C9A-D20B6283952C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2536823"/>
            <a:ext cx="16192500" cy="6111877"/>
          </a:xfrm>
        </p:spPr>
        <p:txBody>
          <a:bodyPr/>
          <a:lstStyle/>
          <a:p>
            <a:pPr lvl="1">
              <a:spcBef>
                <a:spcPts val="900"/>
              </a:spcBef>
            </a:pPr>
            <a:r>
              <a:rPr lang="en-US" altLang="en-US" sz="3600" b="1" dirty="0"/>
              <a:t>Ransomware</a:t>
            </a:r>
            <a:r>
              <a:rPr lang="en-US" altLang="en-US" sz="3600" dirty="0"/>
              <a:t> restricts access to a computer system and demands payment for decryption. It’s often propagated via phishing.</a:t>
            </a:r>
          </a:p>
          <a:p>
            <a:pPr lvl="1">
              <a:spcBef>
                <a:spcPts val="900"/>
              </a:spcBef>
            </a:pPr>
            <a:r>
              <a:rPr lang="en-US" altLang="en-US" sz="3600" b="1" dirty="0"/>
              <a:t>Trojans</a:t>
            </a:r>
            <a:r>
              <a:rPr lang="en-US" altLang="en-US" sz="3600" dirty="0"/>
              <a:t> masquerade as legitimate software but perform malicious functions. They’re often downloaded unknowingly.</a:t>
            </a:r>
          </a:p>
          <a:p>
            <a:pPr lvl="1">
              <a:spcBef>
                <a:spcPts val="900"/>
              </a:spcBef>
            </a:pPr>
            <a:r>
              <a:rPr lang="en-US" altLang="en-US" sz="3600" b="1" dirty="0"/>
              <a:t>Worms</a:t>
            </a:r>
            <a:r>
              <a:rPr lang="en-US" altLang="en-US" sz="3600" dirty="0"/>
              <a:t> self-replicate to spread across networks, exploiting security vulnerabilities in operating systems and applications.</a:t>
            </a:r>
          </a:p>
          <a:p>
            <a:pPr lvl="1">
              <a:spcBef>
                <a:spcPts val="900"/>
              </a:spcBef>
            </a:pPr>
            <a:r>
              <a:rPr lang="en-US" altLang="en-US" sz="3600" b="1" dirty="0"/>
              <a:t>Spyware </a:t>
            </a:r>
            <a:r>
              <a:rPr lang="en-US" altLang="en-US" sz="3600" dirty="0"/>
              <a:t>secretly monitors and collects user activity, potentially compromising sensitive information.</a:t>
            </a:r>
          </a:p>
          <a:p>
            <a:pPr lvl="1">
              <a:spcBef>
                <a:spcPts val="900"/>
              </a:spcBef>
            </a:pPr>
            <a:r>
              <a:rPr lang="en-US" altLang="en-US" sz="3600" b="1" dirty="0"/>
              <a:t>Bloatware </a:t>
            </a:r>
            <a:r>
              <a:rPr lang="en-US" altLang="en-US" sz="3600" dirty="0"/>
              <a:t>consumes excessive system resources and can hinder system performance.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3019842-A6A2-9032-6693-CB93F9FE09B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21394E06-7590-A07E-AC03-BD2B6A1548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60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Types of Malware Attacks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1715384583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43F33A-9999-958B-962B-F8AD1292F9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62627FC-5A8E-DA26-41E9-261A38E71B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Slide </a:t>
            </a:r>
            <a:fld id="{4CA2B2DB-B91D-4166-98BF-65A0DA7EEE6D}" type="slidenum">
              <a:rPr lang="en-US" smtClean="0"/>
              <a:pPr/>
              <a:t>115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B466DD-EEAB-A7F9-5A28-EFD63529636F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2536823"/>
            <a:ext cx="16192500" cy="6111877"/>
          </a:xfrm>
        </p:spPr>
        <p:txBody>
          <a:bodyPr/>
          <a:lstStyle/>
          <a:p>
            <a:pPr lvl="1">
              <a:spcBef>
                <a:spcPts val="900"/>
              </a:spcBef>
            </a:pPr>
            <a:r>
              <a:rPr lang="en-US" altLang="en-US" sz="3600" b="1" dirty="0"/>
              <a:t>Viruses </a:t>
            </a:r>
            <a:r>
              <a:rPr lang="en-US" altLang="en-US" sz="3600" dirty="0"/>
              <a:t>infect computers when executed by users and spread copies of themselves throughout the system.</a:t>
            </a:r>
          </a:p>
          <a:p>
            <a:pPr lvl="1">
              <a:spcBef>
                <a:spcPts val="900"/>
              </a:spcBef>
            </a:pPr>
            <a:r>
              <a:rPr lang="en-US" altLang="en-US" sz="3600" b="1" dirty="0"/>
              <a:t>Keyloggers </a:t>
            </a:r>
            <a:r>
              <a:rPr lang="en-US" altLang="en-US" sz="3600" dirty="0"/>
              <a:t>in hardware and software capture keystrokes to steal sensitive data.</a:t>
            </a:r>
          </a:p>
          <a:p>
            <a:pPr lvl="1">
              <a:spcBef>
                <a:spcPts val="900"/>
              </a:spcBef>
            </a:pPr>
            <a:r>
              <a:rPr lang="en-US" altLang="en-US" sz="3600" b="1" dirty="0"/>
              <a:t>Logic bombs </a:t>
            </a:r>
            <a:r>
              <a:rPr lang="en-US" altLang="en-US" sz="3600" dirty="0"/>
              <a:t>initiate malicious functions under specific conditions, blurring the line between malware and malware delivery systems.</a:t>
            </a:r>
          </a:p>
          <a:p>
            <a:pPr lvl="1">
              <a:spcBef>
                <a:spcPts val="900"/>
              </a:spcBef>
            </a:pPr>
            <a:r>
              <a:rPr lang="en-US" altLang="en-US" sz="3600" b="1" dirty="0"/>
              <a:t>Rootkits </a:t>
            </a:r>
            <a:r>
              <a:rPr lang="en-US" altLang="en-US" sz="3600" dirty="0"/>
              <a:t>gain administrator-level control over  computer systems without detection.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B2AC9D-1B13-0DA2-81B1-746C4DE4890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4EEBFE0E-2A53-30D3-FCA2-5DFB4C0B46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60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Types of Malware Attacks </a:t>
            </a:r>
            <a:r>
              <a:rPr kumimoji="0" lang="en-US" sz="6000" b="0" i="1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(cont.)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98057954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EE40CA-DC0C-4563-D75C-1A82A0FB92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16EFA38-FD4B-3183-36CA-963398EA07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Slide </a:t>
            </a:r>
            <a:fld id="{4CA2B2DB-B91D-4166-98BF-65A0DA7EEE6D}" type="slidenum">
              <a:rPr lang="en-US" smtClean="0"/>
              <a:pPr/>
              <a:t>116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437A89-26C1-4494-0128-6F203FB7460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2536823"/>
            <a:ext cx="16192500" cy="6111877"/>
          </a:xfrm>
        </p:spPr>
        <p:txBody>
          <a:bodyPr/>
          <a:lstStyle/>
          <a:p>
            <a:pPr marL="0" indent="0">
              <a:spcBef>
                <a:spcPts val="900"/>
              </a:spcBef>
              <a:buNone/>
            </a:pPr>
            <a:r>
              <a:rPr lang="en-US" altLang="en-US" sz="3900" b="1" dirty="0"/>
              <a:t>Antivirus software </a:t>
            </a:r>
            <a:r>
              <a:rPr lang="en-US" altLang="en-US" sz="3900" dirty="0"/>
              <a:t>prevents, detects, and removes malware.</a:t>
            </a:r>
          </a:p>
          <a:p>
            <a:pPr>
              <a:spcBef>
                <a:spcPts val="900"/>
              </a:spcBef>
            </a:pPr>
            <a:r>
              <a:rPr lang="en-US" altLang="en-US" sz="3600" dirty="0"/>
              <a:t>Also known as anti-malware</a:t>
            </a:r>
          </a:p>
          <a:p>
            <a:pPr>
              <a:spcBef>
                <a:spcPts val="900"/>
              </a:spcBef>
            </a:pPr>
            <a:r>
              <a:rPr lang="en-US" altLang="en-US" sz="3600" dirty="0"/>
              <a:t>Viruses and Trojans can damage networks and are costly to overcome; ransomware alone has cost victims billions of dollars.</a:t>
            </a:r>
          </a:p>
          <a:p>
            <a:pPr>
              <a:spcBef>
                <a:spcPts val="900"/>
              </a:spcBef>
            </a:pPr>
            <a:r>
              <a:rPr lang="en-US" altLang="en-US" sz="3600" dirty="0"/>
              <a:t>Every endpoint device, including workstations, tablets, and phones, should have antivirus software to ensure comprehensive protection.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02F8A30-3612-F855-DE31-C7D62BFF8E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9770FD0-C0D6-10D9-8D38-68929EBDA1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60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Antivirus Software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2469575733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A030CE-023F-7C95-0617-0E65D4566C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A4DF572-2677-2D06-B6B2-2B5BFEE5B9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Slide </a:t>
            </a:r>
            <a:fld id="{4CA2B2DB-B91D-4166-98BF-65A0DA7EEE6D}" type="slidenum">
              <a:rPr lang="en-US" smtClean="0"/>
              <a:pPr/>
              <a:t>117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DA7459-A222-603B-B6B1-5967FF4CFA9B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2536823"/>
            <a:ext cx="16192500" cy="6111877"/>
          </a:xfrm>
        </p:spPr>
        <p:txBody>
          <a:bodyPr/>
          <a:lstStyle/>
          <a:p>
            <a:pPr marL="344487" lvl="1">
              <a:spcBef>
                <a:spcPts val="600"/>
              </a:spcBef>
            </a:pPr>
            <a:r>
              <a:rPr lang="en-US" altLang="en-US" sz="3600" dirty="0"/>
              <a:t>A Zero-Day (0-day) refers to a previously unknown software vulnerability that attackers discover and exploit before the vendor or developer becomes aware of it and releases a patch.</a:t>
            </a:r>
          </a:p>
          <a:p>
            <a:pPr marL="344487" lvl="1">
              <a:spcBef>
                <a:spcPts val="600"/>
              </a:spcBef>
            </a:pPr>
            <a:endParaRPr lang="en-US" altLang="en-US" sz="3600" dirty="0"/>
          </a:p>
          <a:p>
            <a:pPr marL="344487" lvl="1">
              <a:spcBef>
                <a:spcPts val="600"/>
              </a:spcBef>
            </a:pPr>
            <a:r>
              <a:rPr lang="en-US" altLang="en-US" sz="3600" dirty="0"/>
              <a:t>The term "zero-day" means the developers have had zero days to fix the vulnerability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3DBD42-979D-62EF-3EBD-6CF25070144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48B2DAC8-E1D4-F22A-76FD-51E78E6597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60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Zero Day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1081344666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C3ED40-CD7B-08EC-6DCF-18734AA8D4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87945E8-E8CC-DFA2-6876-A133335A18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Slide </a:t>
            </a:r>
            <a:fld id="{4CA2B2DB-B91D-4166-98BF-65A0DA7EEE6D}" type="slidenum">
              <a:rPr lang="en-US" smtClean="0"/>
              <a:pPr/>
              <a:t>118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85DF64-B9AF-07E8-B7CD-9923C96CA460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2536823"/>
            <a:ext cx="16192500" cy="6111877"/>
          </a:xfrm>
        </p:spPr>
        <p:txBody>
          <a:bodyPr/>
          <a:lstStyle/>
          <a:p>
            <a:pPr marL="344487" lvl="1">
              <a:spcBef>
                <a:spcPts val="600"/>
              </a:spcBef>
            </a:pPr>
            <a:r>
              <a:rPr lang="en-US" altLang="en-US" sz="3600" dirty="0"/>
              <a:t>Fileless malware is a type of malicious software that does not rely on traditional files written to disk. Instead, it runs entirely in memory or abuses legitimate tools already present on the system. </a:t>
            </a:r>
          </a:p>
          <a:p>
            <a:pPr marL="344487" lvl="1">
              <a:spcBef>
                <a:spcPts val="600"/>
              </a:spcBef>
            </a:pPr>
            <a:endParaRPr lang="en-US" altLang="en-US" sz="3600" dirty="0"/>
          </a:p>
          <a:p>
            <a:pPr marL="344487" lvl="1">
              <a:spcBef>
                <a:spcPts val="600"/>
              </a:spcBef>
            </a:pPr>
            <a:r>
              <a:rPr lang="en-US" altLang="en-US" sz="3600" dirty="0"/>
              <a:t>Because it leaves little or no trace on disk, it is much harder for traditional antivirus solutions to detect.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00EDFE9-A344-5EC3-D6C1-A19ED5298B9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318CAD47-B5DA-4716-03D0-2B3F681195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60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Fileless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371648423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15194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5D85673-BE55-20E7-1438-D7CC3E1601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36085B4E-BEE0-59E1-B6AA-6929FD91E9A7}"/>
              </a:ext>
            </a:extLst>
          </p:cNvPr>
          <p:cNvGrpSpPr/>
          <p:nvPr/>
        </p:nvGrpSpPr>
        <p:grpSpPr>
          <a:xfrm rot="-5400000">
            <a:off x="12015831" y="4014831"/>
            <a:ext cx="10287000" cy="2257339"/>
            <a:chOff x="0" y="0"/>
            <a:chExt cx="2709333" cy="59452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87963D24-CC3B-21A5-C67E-68104E689C87}"/>
                </a:ext>
              </a:extLst>
            </p:cNvPr>
            <p:cNvSpPr/>
            <p:nvPr/>
          </p:nvSpPr>
          <p:spPr>
            <a:xfrm>
              <a:off x="0" y="0"/>
              <a:ext cx="2709333" cy="594525"/>
            </a:xfrm>
            <a:custGeom>
              <a:avLst/>
              <a:gdLst/>
              <a:ahLst/>
              <a:cxnLst/>
              <a:rect l="l" t="t" r="r" b="b"/>
              <a:pathLst>
                <a:path w="2709333" h="594525">
                  <a:moveTo>
                    <a:pt x="0" y="0"/>
                  </a:moveTo>
                  <a:lnTo>
                    <a:pt x="2709333" y="0"/>
                  </a:lnTo>
                  <a:lnTo>
                    <a:pt x="2709333" y="594525"/>
                  </a:lnTo>
                  <a:lnTo>
                    <a:pt x="0" y="594525"/>
                  </a:lnTo>
                  <a:close/>
                </a:path>
              </a:pathLst>
            </a:custGeom>
            <a:solidFill>
              <a:srgbClr val="0283FD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F6D37034-F98D-1F9C-C51B-C14F7729AA69}"/>
                </a:ext>
              </a:extLst>
            </p:cNvPr>
            <p:cNvSpPr txBox="1"/>
            <p:nvPr/>
          </p:nvSpPr>
          <p:spPr>
            <a:xfrm>
              <a:off x="0" y="-66675"/>
              <a:ext cx="2709333" cy="6612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3024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651B0D3A-A64A-75CB-BE0D-0B868DC9812B}"/>
              </a:ext>
            </a:extLst>
          </p:cNvPr>
          <p:cNvGrpSpPr/>
          <p:nvPr/>
        </p:nvGrpSpPr>
        <p:grpSpPr>
          <a:xfrm>
            <a:off x="179467" y="6643814"/>
            <a:ext cx="8126333" cy="3488267"/>
            <a:chOff x="0" y="0"/>
            <a:chExt cx="844714" cy="36259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5576E9F4-8B4C-5B6D-D307-F585A10E09E2}"/>
                </a:ext>
              </a:extLst>
            </p:cNvPr>
            <p:cNvSpPr/>
            <p:nvPr/>
          </p:nvSpPr>
          <p:spPr>
            <a:xfrm>
              <a:off x="0" y="0"/>
              <a:ext cx="844714" cy="362598"/>
            </a:xfrm>
            <a:custGeom>
              <a:avLst/>
              <a:gdLst/>
              <a:ahLst/>
              <a:cxnLst/>
              <a:rect l="l" t="t" r="r" b="b"/>
              <a:pathLst>
                <a:path w="844714" h="362598">
                  <a:moveTo>
                    <a:pt x="203200" y="0"/>
                  </a:moveTo>
                  <a:lnTo>
                    <a:pt x="844714" y="0"/>
                  </a:lnTo>
                  <a:lnTo>
                    <a:pt x="641514" y="362598"/>
                  </a:lnTo>
                  <a:lnTo>
                    <a:pt x="0" y="362598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283FD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CA5873DE-F1F5-155D-C57D-3DE568DC3EAE}"/>
                </a:ext>
              </a:extLst>
            </p:cNvPr>
            <p:cNvSpPr txBox="1"/>
            <p:nvPr/>
          </p:nvSpPr>
          <p:spPr>
            <a:xfrm>
              <a:off x="101600" y="-28575"/>
              <a:ext cx="641514" cy="391173"/>
            </a:xfrm>
            <a:prstGeom prst="rect">
              <a:avLst/>
            </a:prstGeom>
          </p:spPr>
          <p:txBody>
            <a:bodyPr lIns="47790" tIns="47790" rIns="47790" bIns="4779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1843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3ED8A50D-BD53-E164-EBB0-78293B51CE9B}"/>
              </a:ext>
            </a:extLst>
          </p:cNvPr>
          <p:cNvGrpSpPr/>
          <p:nvPr/>
        </p:nvGrpSpPr>
        <p:grpSpPr>
          <a:xfrm>
            <a:off x="0" y="6950004"/>
            <a:ext cx="16030661" cy="3336996"/>
            <a:chOff x="0" y="0"/>
            <a:chExt cx="6165409" cy="1271237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2C16E6B5-FB09-9B3A-53D1-2E9BE52853F9}"/>
                </a:ext>
              </a:extLst>
            </p:cNvPr>
            <p:cNvSpPr/>
            <p:nvPr/>
          </p:nvSpPr>
          <p:spPr>
            <a:xfrm>
              <a:off x="0" y="0"/>
              <a:ext cx="6165409" cy="1271237"/>
            </a:xfrm>
            <a:custGeom>
              <a:avLst/>
              <a:gdLst/>
              <a:ahLst/>
              <a:cxnLst/>
              <a:rect l="l" t="t" r="r" b="b"/>
              <a:pathLst>
                <a:path w="6165409" h="1271237">
                  <a:moveTo>
                    <a:pt x="0" y="0"/>
                  </a:moveTo>
                  <a:lnTo>
                    <a:pt x="6165409" y="0"/>
                  </a:lnTo>
                  <a:lnTo>
                    <a:pt x="6165409" y="1271237"/>
                  </a:lnTo>
                  <a:lnTo>
                    <a:pt x="0" y="127123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8CEB19A8-8633-4F1C-FEA2-D682651516BA}"/>
                </a:ext>
              </a:extLst>
            </p:cNvPr>
            <p:cNvSpPr txBox="1"/>
            <p:nvPr/>
          </p:nvSpPr>
          <p:spPr>
            <a:xfrm>
              <a:off x="0" y="-28575"/>
              <a:ext cx="6165409" cy="1299812"/>
            </a:xfrm>
            <a:prstGeom prst="rect">
              <a:avLst/>
            </a:prstGeom>
          </p:spPr>
          <p:txBody>
            <a:bodyPr lIns="47790" tIns="47790" rIns="47790" bIns="4779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1843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sp>
        <p:nvSpPr>
          <p:cNvPr id="12" name="TextBox 12">
            <a:extLst>
              <a:ext uri="{FF2B5EF4-FFF2-40B4-BE49-F238E27FC236}">
                <a16:creationId xmlns:a16="http://schemas.microsoft.com/office/drawing/2014/main" id="{9967122A-EBDB-1CBE-3791-395ACB8A5188}"/>
              </a:ext>
            </a:extLst>
          </p:cNvPr>
          <p:cNvSpPr txBox="1"/>
          <p:nvPr/>
        </p:nvSpPr>
        <p:spPr>
          <a:xfrm>
            <a:off x="1111666" y="3432993"/>
            <a:ext cx="14771892" cy="598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4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Day 2 – Block 4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29AE8C57-701C-6DE4-E5A0-E5F872D3DE00}"/>
              </a:ext>
            </a:extLst>
          </p:cNvPr>
          <p:cNvSpPr txBox="1"/>
          <p:nvPr/>
        </p:nvSpPr>
        <p:spPr>
          <a:xfrm>
            <a:off x="1111666" y="9653992"/>
            <a:ext cx="12263263" cy="3619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0" i="0" u="none" strike="noStrike" kern="1200" cap="none" spc="0" normalizeH="0" baseline="0" noProof="0">
                <a:ln>
                  <a:noFill/>
                </a:ln>
                <a:solidFill>
                  <a:srgbClr val="252525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CALIFORNIA INSTITUTE OF APPLIED TECHNOLOGY</a:t>
            </a:r>
          </a:p>
        </p:txBody>
      </p:sp>
      <p:sp>
        <p:nvSpPr>
          <p:cNvPr id="15" name="AutoShape 15">
            <a:extLst>
              <a:ext uri="{FF2B5EF4-FFF2-40B4-BE49-F238E27FC236}">
                <a16:creationId xmlns:a16="http://schemas.microsoft.com/office/drawing/2014/main" id="{B698F4D7-211E-8A65-4A7A-5E8E8FBC5EB4}"/>
              </a:ext>
            </a:extLst>
          </p:cNvPr>
          <p:cNvSpPr/>
          <p:nvPr/>
        </p:nvSpPr>
        <p:spPr>
          <a:xfrm>
            <a:off x="8010568" y="9858838"/>
            <a:ext cx="7625672" cy="0"/>
          </a:xfrm>
          <a:prstGeom prst="line">
            <a:avLst/>
          </a:prstGeom>
          <a:ln w="19050" cap="flat">
            <a:solidFill>
              <a:srgbClr val="0283F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7" name="Freeform 5">
            <a:extLst>
              <a:ext uri="{FF2B5EF4-FFF2-40B4-BE49-F238E27FC236}">
                <a16:creationId xmlns:a16="http://schemas.microsoft.com/office/drawing/2014/main" id="{ACED9C20-153A-F528-CEEB-15BF4C85C8B6}"/>
              </a:ext>
            </a:extLst>
          </p:cNvPr>
          <p:cNvSpPr/>
          <p:nvPr/>
        </p:nvSpPr>
        <p:spPr>
          <a:xfrm>
            <a:off x="1111666" y="355081"/>
            <a:ext cx="4247850" cy="631936"/>
          </a:xfrm>
          <a:custGeom>
            <a:avLst/>
            <a:gdLst/>
            <a:ahLst/>
            <a:cxnLst/>
            <a:rect l="l" t="t" r="r" b="b"/>
            <a:pathLst>
              <a:path w="4247850" h="631936">
                <a:moveTo>
                  <a:pt x="0" y="0"/>
                </a:moveTo>
                <a:lnTo>
                  <a:pt x="4247850" y="0"/>
                </a:lnTo>
                <a:lnTo>
                  <a:pt x="4247850" y="631935"/>
                </a:lnTo>
                <a:lnTo>
                  <a:pt x="0" y="63193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5" r="-5"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53246D4-46F3-CD7B-690E-D40DEF81DAD0}"/>
              </a:ext>
            </a:extLst>
          </p:cNvPr>
          <p:cNvSpPr txBox="1"/>
          <p:nvPr/>
        </p:nvSpPr>
        <p:spPr>
          <a:xfrm>
            <a:off x="1111666" y="7106062"/>
            <a:ext cx="9480134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2400" dirty="0"/>
              <a:t>Attack Vectors &amp; Techniques</a:t>
            </a:r>
          </a:p>
          <a:p>
            <a:pPr lvl="1"/>
            <a:r>
              <a:rPr lang="en-US" altLang="en-US" dirty="0"/>
              <a:t>Injection Attacks</a:t>
            </a:r>
          </a:p>
          <a:p>
            <a:pPr lvl="1"/>
            <a:r>
              <a:rPr lang="en-US" altLang="en-US" dirty="0"/>
              <a:t>XSS</a:t>
            </a:r>
          </a:p>
          <a:p>
            <a:pPr lvl="1"/>
            <a:r>
              <a:rPr lang="en-US" altLang="en-US" dirty="0"/>
              <a:t>CSRF</a:t>
            </a:r>
          </a:p>
          <a:p>
            <a:pPr lvl="1"/>
            <a:r>
              <a:rPr lang="en-US" altLang="en-US" dirty="0"/>
              <a:t>Buffer Overflow</a:t>
            </a:r>
          </a:p>
          <a:p>
            <a:pPr lvl="1"/>
            <a:r>
              <a:rPr lang="en-US" altLang="en-US" dirty="0"/>
              <a:t>Privilege Escalation</a:t>
            </a:r>
          </a:p>
          <a:p>
            <a:r>
              <a:rPr lang="en-US" altLang="en-US" sz="2400" dirty="0"/>
              <a:t>uCertify Lab</a:t>
            </a:r>
          </a:p>
          <a:p>
            <a:pPr lvl="1"/>
            <a:r>
              <a:rPr lang="en-US" altLang="en-US" dirty="0"/>
              <a:t>7.2.1 Performing SQL Injection in DVWA</a:t>
            </a:r>
          </a:p>
        </p:txBody>
      </p:sp>
    </p:spTree>
    <p:extLst>
      <p:ext uri="{BB962C8B-B14F-4D97-AF65-F5344CB8AC3E}">
        <p14:creationId xmlns:p14="http://schemas.microsoft.com/office/powerpoint/2010/main" val="1541873012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F8D91C-8CAC-99EB-6778-943BEEF6AC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6085708-76B7-5129-7E89-CDBA8AF4BE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Slide </a:t>
            </a:r>
            <a:fld id="{4CA2B2DB-B91D-4166-98BF-65A0DA7EEE6D}" type="slidenum">
              <a:rPr lang="en-US" smtClean="0"/>
              <a:pPr/>
              <a:t>120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C74DFD-A226-C5CF-A91A-FFD0FAE8E309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2536823"/>
            <a:ext cx="16192500" cy="6111877"/>
          </a:xfrm>
        </p:spPr>
        <p:txBody>
          <a:bodyPr/>
          <a:lstStyle/>
          <a:p>
            <a:pPr marL="0" indent="0">
              <a:spcBef>
                <a:spcPts val="900"/>
              </a:spcBef>
              <a:buNone/>
            </a:pPr>
            <a:r>
              <a:rPr lang="en-US" altLang="en-US" sz="4400" b="1" dirty="0"/>
              <a:t>Web-based vulnerabilities </a:t>
            </a:r>
            <a:r>
              <a:rPr lang="en-US" altLang="en-US" sz="4400" dirty="0"/>
              <a:t>are weaknesses in web applications and services. </a:t>
            </a:r>
          </a:p>
          <a:p>
            <a:pPr>
              <a:spcBef>
                <a:spcPts val="900"/>
              </a:spcBef>
            </a:pPr>
            <a:r>
              <a:rPr lang="en-US" altLang="en-US" sz="4000" b="1" dirty="0"/>
              <a:t>Structured Query Language injection (SQLi) </a:t>
            </a:r>
            <a:r>
              <a:rPr lang="en-US" altLang="en-US" sz="4000" dirty="0"/>
              <a:t>vulnerabilities are flaws that attackers can use to manipulate SQL queries in web applications.</a:t>
            </a:r>
          </a:p>
          <a:p>
            <a:pPr>
              <a:spcBef>
                <a:spcPts val="900"/>
              </a:spcBef>
            </a:pPr>
            <a:r>
              <a:rPr lang="en-US" altLang="en-US" sz="4000" b="1" dirty="0"/>
              <a:t>Cross-site scripting (XSS) </a:t>
            </a:r>
            <a:r>
              <a:rPr lang="en-US" altLang="en-US" sz="4000" dirty="0"/>
              <a:t>vulnerabilities</a:t>
            </a:r>
            <a:r>
              <a:rPr lang="en-US" altLang="en-US" sz="4000" b="1" dirty="0"/>
              <a:t> </a:t>
            </a:r>
            <a:r>
              <a:rPr lang="en-US" altLang="en-US" sz="4000" dirty="0"/>
              <a:t>enable the injection of malicious scripts into web pages.</a:t>
            </a:r>
            <a:endParaRPr lang="en-US" altLang="en-US" sz="4000" b="1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7DECE0A-39AA-712D-3F9A-3E63C366D14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3787AE7-F8DC-BAAA-8C3A-04387BB87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60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Web-Based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2421845603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EB5DC1-7674-BB24-E264-9C21EDFB63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667A8B5-E5CD-7775-98AE-E3C1B2A792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Slide </a:t>
            </a:r>
            <a:fld id="{4CA2B2DB-B91D-4166-98BF-65A0DA7EEE6D}" type="slidenum">
              <a:rPr kumimoji="0" lang="en-US" sz="1800" b="0" i="1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121</a:t>
            </a:fld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AA0EFC-3F01-046F-5E42-2AE7EA85476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3200400"/>
            <a:ext cx="16192500" cy="4991100"/>
          </a:xfrm>
        </p:spPr>
        <p:txBody>
          <a:bodyPr/>
          <a:lstStyle/>
          <a:p>
            <a:pPr marL="0" indent="0">
              <a:spcBef>
                <a:spcPts val="900"/>
              </a:spcBef>
              <a:buNone/>
            </a:pPr>
            <a:r>
              <a:rPr lang="en-US" altLang="en-US" sz="4400" dirty="0"/>
              <a:t>An </a:t>
            </a:r>
            <a:r>
              <a:rPr lang="en-US" altLang="en-US" sz="4400" b="1" dirty="0"/>
              <a:t>IPS</a:t>
            </a:r>
            <a:r>
              <a:rPr lang="en-US" altLang="en-US" sz="4400" dirty="0"/>
              <a:t> and </a:t>
            </a:r>
            <a:r>
              <a:rPr lang="en-US" altLang="en-US" sz="4400" b="1" dirty="0"/>
              <a:t>IDS</a:t>
            </a:r>
            <a:r>
              <a:rPr lang="en-US" altLang="en-US" sz="4400" dirty="0"/>
              <a:t> work together to prevent and detect potentially harmful activities within a network. Their logs can alert you to various attacks such as SQL injections and cross-site scripting.</a:t>
            </a:r>
          </a:p>
          <a:p>
            <a:pPr>
              <a:spcBef>
                <a:spcPts val="900"/>
              </a:spcBef>
            </a:pPr>
            <a:r>
              <a:rPr lang="en-US" altLang="en-US" sz="4000" dirty="0"/>
              <a:t>Generated by solutions like Snort and Suricata</a:t>
            </a:r>
          </a:p>
          <a:p>
            <a:pPr>
              <a:spcBef>
                <a:spcPts val="900"/>
              </a:spcBef>
            </a:pPr>
            <a:r>
              <a:rPr lang="en-US" altLang="en-US" sz="4000" dirty="0"/>
              <a:t>Examples</a:t>
            </a:r>
          </a:p>
          <a:p>
            <a:pPr marL="0" indent="0">
              <a:spcBef>
                <a:spcPts val="900"/>
              </a:spcBef>
              <a:buNone/>
            </a:pPr>
            <a:r>
              <a:rPr lang="en-US" sz="2400" dirty="0"/>
              <a:t>2023-09-23 13:45:32 ALERT SQL Injection detected from 192.168.1.4</a:t>
            </a:r>
          </a:p>
          <a:p>
            <a:pPr marL="0" indent="0">
              <a:spcBef>
                <a:spcPts val="900"/>
              </a:spcBef>
              <a:buNone/>
            </a:pPr>
            <a:r>
              <a:rPr lang="en-US" sz="2400" dirty="0"/>
              <a:t>2023-09-23 13:46:10 ALERT Brute-force attempt from 203.0.113.7</a:t>
            </a:r>
            <a:endParaRPr lang="en-US" altLang="en-US" sz="2400" dirty="0"/>
          </a:p>
          <a:p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CDA9EB6-510D-E4AF-B23D-1761C3A405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B2D3E7F3-87F3-4CA0-44C3-EC843D6C97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09701"/>
            <a:ext cx="16192500" cy="914400"/>
          </a:xfrm>
        </p:spPr>
        <p:txBody>
          <a:bodyPr/>
          <a:lstStyle/>
          <a:p>
            <a:r>
              <a:rPr kumimoji="0" lang="en-US" sz="44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Intrusion Prevention System / Intrusion Detection System Logs </a:t>
            </a:r>
            <a:endParaRPr lang="en-US" sz="48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82E913-D6FC-C5C4-8E9E-4DCCE18CABB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200" y="2324101"/>
            <a:ext cx="7194550" cy="495300"/>
          </a:xfrm>
        </p:spPr>
        <p:txBody>
          <a:bodyPr/>
          <a:lstStyle/>
          <a:p>
            <a:r>
              <a:rPr lang="en-US" dirty="0"/>
              <a:t>IPS / IDS -  </a:t>
            </a:r>
          </a:p>
        </p:txBody>
      </p:sp>
    </p:spTree>
    <p:extLst>
      <p:ext uri="{BB962C8B-B14F-4D97-AF65-F5344CB8AC3E}">
        <p14:creationId xmlns:p14="http://schemas.microsoft.com/office/powerpoint/2010/main" val="1776417503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AB004F-53C5-C51D-5284-2014F5788E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5568537-FE98-A84B-0546-75F7136C4E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Slide </a:t>
            </a:r>
            <a:fld id="{4CA2B2DB-B91D-4166-98BF-65A0DA7EEE6D}" type="slidenum">
              <a:rPr kumimoji="0" lang="en-US" sz="1800" b="0" i="1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122</a:t>
            </a:fld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3C75C15A-B951-BDCA-0F4E-CD7EB196C9F5}"/>
              </a:ext>
            </a:extLst>
          </p:cNvPr>
          <p:cNvPicPr>
            <a:picLocks noGrp="1" noChangeAspect="1"/>
          </p:cNvPicPr>
          <p:nvPr>
            <p:ph sz="quarter" idx="12"/>
          </p:nvPr>
        </p:nvPicPr>
        <p:blipFill>
          <a:blip r:embed="rId3"/>
          <a:stretch>
            <a:fillRect/>
          </a:stretch>
        </p:blipFill>
        <p:spPr>
          <a:xfrm>
            <a:off x="3408640" y="2628900"/>
            <a:ext cx="11051619" cy="5610586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0A0021F-6C8C-1369-2F9B-4419F0E4806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E749F303-0685-FD10-7F17-A43A8012FD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09701"/>
            <a:ext cx="16192500" cy="914400"/>
          </a:xfrm>
        </p:spPr>
        <p:txBody>
          <a:bodyPr/>
          <a:lstStyle/>
          <a:p>
            <a:r>
              <a:rPr lang="en-US" sz="4800" dirty="0"/>
              <a:t>IPS - IDS – Firewall – WAF Network Layout</a:t>
            </a:r>
          </a:p>
        </p:txBody>
      </p:sp>
    </p:spTree>
    <p:extLst>
      <p:ext uri="{BB962C8B-B14F-4D97-AF65-F5344CB8AC3E}">
        <p14:creationId xmlns:p14="http://schemas.microsoft.com/office/powerpoint/2010/main" val="1509613904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520F3D-E7FB-EF1E-B72F-E3EA140C5A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631FDFA-F422-E199-2194-F0AEC3D07D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Slide </a:t>
            </a:r>
            <a:fld id="{4CA2B2DB-B91D-4166-98BF-65A0DA7EEE6D}" type="slidenum">
              <a:rPr lang="en-US" smtClean="0"/>
              <a:pPr/>
              <a:t>123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ECB9DB-4D0C-D324-B7B8-E3F20456205B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2536823"/>
            <a:ext cx="16192500" cy="6111877"/>
          </a:xfrm>
        </p:spPr>
        <p:txBody>
          <a:bodyPr/>
          <a:lstStyle/>
          <a:p>
            <a:pPr marL="0" indent="0">
              <a:spcBef>
                <a:spcPts val="900"/>
              </a:spcBef>
              <a:buNone/>
            </a:pPr>
            <a:r>
              <a:rPr lang="en-US" altLang="en-US" sz="4800" b="1" dirty="0"/>
              <a:t>Application security </a:t>
            </a:r>
            <a:r>
              <a:rPr lang="en-US" altLang="en-US" sz="4800" dirty="0"/>
              <a:t>refers to the security measures implemented at the application level.</a:t>
            </a:r>
          </a:p>
          <a:p>
            <a:pPr>
              <a:spcBef>
                <a:spcPts val="900"/>
              </a:spcBef>
            </a:pPr>
            <a:r>
              <a:rPr lang="en-US" altLang="en-US" sz="4400" b="1" dirty="0"/>
              <a:t>Input validation</a:t>
            </a:r>
            <a:r>
              <a:rPr lang="en-US" altLang="en-US" sz="4400" dirty="0"/>
              <a:t> ensures data integrity by verifying the type and content of user or application input, preventing vulnerabilities like XSS and SQLi.</a:t>
            </a:r>
          </a:p>
          <a:p>
            <a:pPr>
              <a:spcBef>
                <a:spcPts val="900"/>
              </a:spcBef>
            </a:pPr>
            <a:r>
              <a:rPr lang="en-US" altLang="en-US" sz="4400" b="1" dirty="0"/>
              <a:t>Secure cookies </a:t>
            </a:r>
            <a:r>
              <a:rPr lang="en-US" altLang="en-US" sz="4400" dirty="0"/>
              <a:t>implement the secure attribute in HTTP response cookies to prevent unauthorized access and transmission of sensitive information.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1CEC5B1-12DB-CB5A-41B1-B3D50526E13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AD8CB6D-3F81-CEBC-B629-BA208AB967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60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Application Security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618685124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89D299-C877-44D6-C8E3-9309539FCF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E611B38-0D31-B28D-DF50-7AA90B3770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Slide </a:t>
            </a:r>
            <a:fld id="{4CA2B2DB-B91D-4166-98BF-65A0DA7EEE6D}" type="slidenum">
              <a:rPr lang="en-US" smtClean="0"/>
              <a:pPr/>
              <a:t>124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FCF873-BCF5-81DB-7024-F2E75E19548E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2536823"/>
            <a:ext cx="16192500" cy="6111877"/>
          </a:xfrm>
        </p:spPr>
        <p:txBody>
          <a:bodyPr/>
          <a:lstStyle/>
          <a:p>
            <a:pPr marL="0" indent="0">
              <a:spcBef>
                <a:spcPts val="900"/>
              </a:spcBef>
              <a:buNone/>
            </a:pPr>
            <a:r>
              <a:rPr lang="en-US" altLang="en-US" sz="3900" b="1" dirty="0"/>
              <a:t>Application attacks </a:t>
            </a:r>
            <a:r>
              <a:rPr lang="en-US" altLang="en-US" sz="3900" dirty="0"/>
              <a:t>exploit software application weaknesses, potentially resulting in unauthorized access, data theft, or system disruption.</a:t>
            </a:r>
          </a:p>
          <a:p>
            <a:pPr lvl="1">
              <a:spcBef>
                <a:spcPts val="900"/>
              </a:spcBef>
            </a:pPr>
            <a:r>
              <a:rPr lang="en-US" altLang="en-US" sz="3600" dirty="0"/>
              <a:t>	Injection</a:t>
            </a:r>
          </a:p>
          <a:p>
            <a:pPr lvl="1">
              <a:spcBef>
                <a:spcPts val="900"/>
              </a:spcBef>
            </a:pPr>
            <a:r>
              <a:rPr lang="en-US" altLang="en-US" sz="3600" dirty="0"/>
              <a:t>	Buffer overflow</a:t>
            </a:r>
          </a:p>
          <a:p>
            <a:pPr lvl="1">
              <a:spcBef>
                <a:spcPts val="900"/>
              </a:spcBef>
            </a:pPr>
            <a:r>
              <a:rPr lang="en-US" altLang="en-US" sz="3600" dirty="0"/>
              <a:t>	Replay</a:t>
            </a:r>
          </a:p>
          <a:p>
            <a:pPr lvl="1">
              <a:spcBef>
                <a:spcPts val="900"/>
              </a:spcBef>
            </a:pPr>
            <a:r>
              <a:rPr lang="en-US" altLang="en-US" sz="3600" dirty="0"/>
              <a:t>	Privilege escalation</a:t>
            </a:r>
          </a:p>
          <a:p>
            <a:pPr lvl="1">
              <a:spcBef>
                <a:spcPts val="900"/>
              </a:spcBef>
            </a:pPr>
            <a:r>
              <a:rPr lang="en-US" altLang="en-US" sz="3600" dirty="0"/>
              <a:t>	Forgery</a:t>
            </a:r>
          </a:p>
          <a:p>
            <a:pPr lvl="1">
              <a:spcBef>
                <a:spcPts val="900"/>
              </a:spcBef>
            </a:pPr>
            <a:r>
              <a:rPr lang="en-US" altLang="en-US" sz="3600" dirty="0"/>
              <a:t>	Directory traversal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07BEE11-A6D5-C70D-150F-D37961BD523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D0878A2-BF1C-966C-6EDC-4DEB5B38F5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60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Application Attacks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3785804151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331068-AB6D-C5B2-8A45-F4E429A640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4D9208D-675F-EF67-5D16-69D6BF7BFE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Slide </a:t>
            </a:r>
            <a:fld id="{4CA2B2DB-B91D-4166-98BF-65A0DA7EEE6D}" type="slidenum">
              <a:rPr lang="en-US" smtClean="0"/>
              <a:pPr/>
              <a:t>125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8353FC-7CE9-4102-D676-52ED763FA48B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2536823"/>
            <a:ext cx="16192500" cy="6111877"/>
          </a:xfrm>
        </p:spPr>
        <p:txBody>
          <a:bodyPr/>
          <a:lstStyle/>
          <a:p>
            <a:pPr marL="0" indent="0">
              <a:spcBef>
                <a:spcPts val="600"/>
              </a:spcBef>
              <a:buNone/>
            </a:pPr>
            <a:r>
              <a:rPr lang="en-US" altLang="en-US" sz="4000" dirty="0"/>
              <a:t>CSRF (Cross-Site Request Forgery)</a:t>
            </a:r>
          </a:p>
          <a:p>
            <a:pPr marL="970915" lvl="2" indent="-170815">
              <a:spcBef>
                <a:spcPts val="600"/>
              </a:spcBef>
            </a:pPr>
            <a:r>
              <a:rPr lang="en-US" altLang="en-US" sz="3200" dirty="0"/>
              <a:t>CSRF tricks a victim’s browser into performing an action on a website without their consent, using the victim’s authenticated session.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altLang="en-US" sz="4000" dirty="0"/>
              <a:t>Privilege Escalation</a:t>
            </a:r>
          </a:p>
          <a:p>
            <a:pPr marL="970915" lvl="2" indent="-170815">
              <a:spcBef>
                <a:spcPts val="600"/>
              </a:spcBef>
            </a:pPr>
            <a:r>
              <a:rPr lang="en-US" altLang="en-US" sz="3200" dirty="0"/>
              <a:t>Privilege escalation happens when a user or attacker gains higher-level permissions than intended by exploiting misconfigurations or vulnerabilities.</a:t>
            </a:r>
          </a:p>
          <a:p>
            <a:pPr marL="970915" lvl="2" indent="-170815">
              <a:spcBef>
                <a:spcPts val="600"/>
              </a:spcBef>
            </a:pPr>
            <a:endParaRPr lang="en-US" altLang="en-US" sz="3200" dirty="0"/>
          </a:p>
          <a:p>
            <a:pPr marL="970915" lvl="2" indent="-170815">
              <a:spcBef>
                <a:spcPts val="600"/>
              </a:spcBef>
            </a:pPr>
            <a:endParaRPr lang="en-US" altLang="en-US" sz="32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9DDA994-98BD-EAFB-E5A2-8172B602E86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2A148CF-E18F-1B31-F12F-3F2787BC11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60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Application Attacks (cont.)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3112983831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4720E5-C354-420D-0D67-290A7479E6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F839622-5865-6FB2-4818-29AE7C0EAA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Slide </a:t>
            </a:r>
            <a:fld id="{4CA2B2DB-B91D-4166-98BF-65A0DA7EEE6D}" type="slidenum">
              <a:rPr lang="en-US" smtClean="0"/>
              <a:pPr/>
              <a:t>126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7E59BC-2455-5CFE-B3FB-9403450459AD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2536823"/>
            <a:ext cx="16192500" cy="6111877"/>
          </a:xfrm>
        </p:spPr>
        <p:txBody>
          <a:bodyPr/>
          <a:lstStyle/>
          <a:p>
            <a:pPr marL="0" indent="0">
              <a:spcBef>
                <a:spcPts val="900"/>
              </a:spcBef>
              <a:buNone/>
            </a:pPr>
            <a:r>
              <a:rPr lang="en-US" altLang="en-US" sz="4000" dirty="0"/>
              <a:t>The </a:t>
            </a:r>
            <a:r>
              <a:rPr lang="en-US" altLang="en-US" sz="4000" b="1" dirty="0"/>
              <a:t>application layer </a:t>
            </a:r>
            <a:r>
              <a:rPr lang="en-US" altLang="en-US" sz="4000" dirty="0"/>
              <a:t>is a gateway to user interactions and data, making it a common target of attacks. </a:t>
            </a:r>
            <a:r>
              <a:rPr lang="en-US" altLang="en-US" sz="3600" dirty="0"/>
              <a:t> </a:t>
            </a:r>
          </a:p>
          <a:p>
            <a:pPr>
              <a:spcBef>
                <a:spcPts val="900"/>
              </a:spcBef>
            </a:pPr>
            <a:r>
              <a:rPr lang="en-US" altLang="en-US" sz="3600" b="1" dirty="0"/>
              <a:t>Buffer overflow</a:t>
            </a:r>
            <a:r>
              <a:rPr lang="en-US" altLang="en-US" sz="3600" dirty="0"/>
              <a:t> involves a program writing more data to a buffer than it can hold, introducing vulnerability.</a:t>
            </a:r>
          </a:p>
          <a:p>
            <a:pPr>
              <a:spcBef>
                <a:spcPts val="900"/>
              </a:spcBef>
            </a:pPr>
            <a:r>
              <a:rPr lang="en-US" altLang="en-US" sz="3600" b="1" dirty="0"/>
              <a:t>Memory injection </a:t>
            </a:r>
            <a:r>
              <a:rPr lang="en-US" altLang="en-US" sz="3600" dirty="0"/>
              <a:t>involves injecting malicious code into a system's memory. </a:t>
            </a:r>
          </a:p>
          <a:p>
            <a:pPr>
              <a:spcBef>
                <a:spcPts val="900"/>
              </a:spcBef>
            </a:pPr>
            <a:r>
              <a:rPr lang="en-US" altLang="en-US" sz="3600" dirty="0"/>
              <a:t>A </a:t>
            </a:r>
            <a:r>
              <a:rPr lang="en-US" altLang="en-US" sz="3600" b="1" dirty="0"/>
              <a:t>race condition </a:t>
            </a:r>
            <a:r>
              <a:rPr lang="en-US" altLang="en-US" sz="3600" dirty="0"/>
              <a:t>weakness occurs when multiple processes or threads try to access a system at once.</a:t>
            </a:r>
          </a:p>
          <a:p>
            <a:pPr>
              <a:spcBef>
                <a:spcPts val="900"/>
              </a:spcBef>
            </a:pPr>
            <a:r>
              <a:rPr lang="en-US" altLang="en-US" sz="3600" dirty="0"/>
              <a:t>A </a:t>
            </a:r>
            <a:r>
              <a:rPr lang="en-US" altLang="en-US" sz="3600" b="1" dirty="0"/>
              <a:t>malicious update </a:t>
            </a:r>
            <a:r>
              <a:rPr lang="en-US" altLang="en-US" sz="3600" dirty="0"/>
              <a:t>involves altering software or firmware with harmful code via an update that appears legitimate. 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44BB0FD-2437-8D67-184B-C957F325327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4A6E9D30-ACEC-3AF4-2106-95CCD5F14B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60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Application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1299855879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BD3D53-99F8-B153-FA3B-0F9D3E7DEC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D545500-DD0A-20C1-8840-ADBA4B4097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Slide </a:t>
            </a:r>
            <a:fld id="{4CA2B2DB-B91D-4166-98BF-65A0DA7EEE6D}" type="slidenum">
              <a:rPr lang="en-US" smtClean="0"/>
              <a:pPr/>
              <a:t>127</a:t>
            </a:fld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4440CED-00D1-5745-3A38-FEBC887B66E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Reference - https://www.paloaltonetworks.com/cyberpedia/what-is-mitre-attack-matrix</a:t>
            </a:r>
          </a:p>
          <a:p>
            <a:endParaRPr lang="en-US" altLang="en-US" dirty="0">
              <a:solidFill>
                <a:srgbClr val="3366CC"/>
              </a:solidFill>
            </a:endParaRP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0D6CF0E-66B1-4E7A-98ED-8D93F92E0A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60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MITRE ATT&amp;CK Framework</a:t>
            </a:r>
            <a:endParaRPr lang="en-US" i="1" dirty="0"/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36FDE6B-6E3C-1850-7CEC-6F6209A367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7050" y="2536825"/>
            <a:ext cx="11734800" cy="627811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99797608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66687F-3815-CCB3-1911-E5886DA029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33AA4B0-687B-CAF2-BEEB-E896CD232C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Slide </a:t>
            </a:r>
            <a:fld id="{4CA2B2DB-B91D-4166-98BF-65A0DA7EEE6D}" type="slidenum">
              <a:rPr lang="en-US" smtClean="0"/>
              <a:pPr/>
              <a:t>128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4DFC7043-A62F-F3DC-8D1A-363C1437E5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60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OWASP Top 10</a:t>
            </a:r>
            <a:endParaRPr lang="en-US" i="1" dirty="0"/>
          </a:p>
        </p:txBody>
      </p:sp>
      <p:pic>
        <p:nvPicPr>
          <p:cNvPr id="4" name="Picture 2" descr="OWASP Top 10 Vulnerabilities">
            <a:extLst>
              <a:ext uri="{FF2B5EF4-FFF2-40B4-BE49-F238E27FC236}">
                <a16:creationId xmlns:a16="http://schemas.microsoft.com/office/drawing/2014/main" id="{1D5EBF24-C079-E424-9A7E-A222E57753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971800" y="2906077"/>
            <a:ext cx="12344400" cy="4474845"/>
          </a:xfrm>
          <a:prstGeom prst="rect">
            <a:avLst/>
          </a:prstGeom>
          <a:solidFill>
            <a:srgbClr val="FFFFFF"/>
          </a:solidFill>
        </p:spPr>
      </p:pic>
    </p:spTree>
    <p:extLst>
      <p:ext uri="{BB962C8B-B14F-4D97-AF65-F5344CB8AC3E}">
        <p14:creationId xmlns:p14="http://schemas.microsoft.com/office/powerpoint/2010/main" val="2492709010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489112-0D39-791A-B0EF-CEBEF9BA1A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EC75643-27F3-FD94-6ED6-8A45B9AC4F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Slide </a:t>
            </a:r>
            <a:fld id="{4CA2B2DB-B91D-4166-98BF-65A0DA7EEE6D}" type="slidenum">
              <a:rPr lang="en-US" smtClean="0"/>
              <a:pPr/>
              <a:t>129</a:t>
            </a:fld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0B3F73B-89B7-0B35-47BF-5B03E7C9C52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altLang="en-US" dirty="0">
              <a:solidFill>
                <a:srgbClr val="3366CC"/>
              </a:solidFill>
            </a:endParaRP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4F4EB8D0-6E2A-2A9E-808D-C9C888AC62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60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Lunch</a:t>
            </a:r>
            <a:endParaRPr lang="en-US" i="1" dirty="0"/>
          </a:p>
        </p:txBody>
      </p:sp>
      <p:pic>
        <p:nvPicPr>
          <p:cNvPr id="4" name="Picture 4" descr="Cyber Kill Chain">
            <a:extLst>
              <a:ext uri="{FF2B5EF4-FFF2-40B4-BE49-F238E27FC236}">
                <a16:creationId xmlns:a16="http://schemas.microsoft.com/office/drawing/2014/main" id="{E03A9BD1-6082-F17E-538D-D7BF658681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139163" y="1745456"/>
            <a:ext cx="8009673" cy="6796088"/>
          </a:xfrm>
          <a:prstGeom prst="rect">
            <a:avLst/>
          </a:prstGeom>
          <a:solidFill>
            <a:srgbClr val="FFFFFF"/>
          </a:solidFill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77C79A5-9F65-4353-7ED1-40BA48252A42}"/>
              </a:ext>
            </a:extLst>
          </p:cNvPr>
          <p:cNvSpPr txBox="1"/>
          <p:nvPr/>
        </p:nvSpPr>
        <p:spPr>
          <a:xfrm>
            <a:off x="5638800" y="9492469"/>
            <a:ext cx="14859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13716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</a:rPr>
              <a:t>https://www.exabeam.com/explainers/information-security/cyber-kill-chain-understanding-and-mitigating-advanced-threats/</a:t>
            </a:r>
          </a:p>
        </p:txBody>
      </p:sp>
    </p:spTree>
    <p:extLst>
      <p:ext uri="{BB962C8B-B14F-4D97-AF65-F5344CB8AC3E}">
        <p14:creationId xmlns:p14="http://schemas.microsoft.com/office/powerpoint/2010/main" val="428951500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15194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F6A2FA0-175A-6429-8F8C-CB410C4FBD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183E145B-6E7E-A320-5581-631BF65EFCFD}"/>
              </a:ext>
            </a:extLst>
          </p:cNvPr>
          <p:cNvGrpSpPr/>
          <p:nvPr/>
        </p:nvGrpSpPr>
        <p:grpSpPr>
          <a:xfrm rot="-5400000">
            <a:off x="12015831" y="4014831"/>
            <a:ext cx="10287000" cy="2257339"/>
            <a:chOff x="0" y="0"/>
            <a:chExt cx="2709333" cy="59452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A66A99AE-7BCE-F9DB-15C7-F60F58E0A057}"/>
                </a:ext>
              </a:extLst>
            </p:cNvPr>
            <p:cNvSpPr/>
            <p:nvPr/>
          </p:nvSpPr>
          <p:spPr>
            <a:xfrm>
              <a:off x="0" y="0"/>
              <a:ext cx="2709333" cy="594525"/>
            </a:xfrm>
            <a:custGeom>
              <a:avLst/>
              <a:gdLst/>
              <a:ahLst/>
              <a:cxnLst/>
              <a:rect l="l" t="t" r="r" b="b"/>
              <a:pathLst>
                <a:path w="2709333" h="594525">
                  <a:moveTo>
                    <a:pt x="0" y="0"/>
                  </a:moveTo>
                  <a:lnTo>
                    <a:pt x="2709333" y="0"/>
                  </a:lnTo>
                  <a:lnTo>
                    <a:pt x="2709333" y="594525"/>
                  </a:lnTo>
                  <a:lnTo>
                    <a:pt x="0" y="594525"/>
                  </a:lnTo>
                  <a:close/>
                </a:path>
              </a:pathLst>
            </a:custGeom>
            <a:solidFill>
              <a:srgbClr val="0283FD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A5DB6B27-2B5B-7B60-A4EA-0BD22D97B20F}"/>
                </a:ext>
              </a:extLst>
            </p:cNvPr>
            <p:cNvSpPr txBox="1"/>
            <p:nvPr/>
          </p:nvSpPr>
          <p:spPr>
            <a:xfrm>
              <a:off x="0" y="-66675"/>
              <a:ext cx="2709333" cy="6612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3024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A5AE8E1F-B987-AFD8-124E-830FD591FA2C}"/>
              </a:ext>
            </a:extLst>
          </p:cNvPr>
          <p:cNvGrpSpPr/>
          <p:nvPr/>
        </p:nvGrpSpPr>
        <p:grpSpPr>
          <a:xfrm>
            <a:off x="179467" y="6643814"/>
            <a:ext cx="8126333" cy="3488267"/>
            <a:chOff x="0" y="0"/>
            <a:chExt cx="844714" cy="36259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FACAA1E1-17A0-A75C-B6C2-23AEDC0CDA18}"/>
                </a:ext>
              </a:extLst>
            </p:cNvPr>
            <p:cNvSpPr/>
            <p:nvPr/>
          </p:nvSpPr>
          <p:spPr>
            <a:xfrm>
              <a:off x="0" y="0"/>
              <a:ext cx="844714" cy="362598"/>
            </a:xfrm>
            <a:custGeom>
              <a:avLst/>
              <a:gdLst/>
              <a:ahLst/>
              <a:cxnLst/>
              <a:rect l="l" t="t" r="r" b="b"/>
              <a:pathLst>
                <a:path w="844714" h="362598">
                  <a:moveTo>
                    <a:pt x="203200" y="0"/>
                  </a:moveTo>
                  <a:lnTo>
                    <a:pt x="844714" y="0"/>
                  </a:lnTo>
                  <a:lnTo>
                    <a:pt x="641514" y="362598"/>
                  </a:lnTo>
                  <a:lnTo>
                    <a:pt x="0" y="362598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283FD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E6297064-9241-3C74-6CAC-6EC7632FC29F}"/>
                </a:ext>
              </a:extLst>
            </p:cNvPr>
            <p:cNvSpPr txBox="1"/>
            <p:nvPr/>
          </p:nvSpPr>
          <p:spPr>
            <a:xfrm>
              <a:off x="101600" y="-28575"/>
              <a:ext cx="641514" cy="391173"/>
            </a:xfrm>
            <a:prstGeom prst="rect">
              <a:avLst/>
            </a:prstGeom>
          </p:spPr>
          <p:txBody>
            <a:bodyPr lIns="47790" tIns="47790" rIns="47790" bIns="4779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1843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FF4DD976-930D-F4D4-5131-9CC9E8B184F1}"/>
              </a:ext>
            </a:extLst>
          </p:cNvPr>
          <p:cNvGrpSpPr/>
          <p:nvPr/>
        </p:nvGrpSpPr>
        <p:grpSpPr>
          <a:xfrm>
            <a:off x="0" y="6950004"/>
            <a:ext cx="16030661" cy="3336996"/>
            <a:chOff x="0" y="0"/>
            <a:chExt cx="6165409" cy="1271237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A0E2B131-3553-BDA2-717B-2855A2FC5C7B}"/>
                </a:ext>
              </a:extLst>
            </p:cNvPr>
            <p:cNvSpPr/>
            <p:nvPr/>
          </p:nvSpPr>
          <p:spPr>
            <a:xfrm>
              <a:off x="0" y="0"/>
              <a:ext cx="6165409" cy="1271237"/>
            </a:xfrm>
            <a:custGeom>
              <a:avLst/>
              <a:gdLst/>
              <a:ahLst/>
              <a:cxnLst/>
              <a:rect l="l" t="t" r="r" b="b"/>
              <a:pathLst>
                <a:path w="6165409" h="1271237">
                  <a:moveTo>
                    <a:pt x="0" y="0"/>
                  </a:moveTo>
                  <a:lnTo>
                    <a:pt x="6165409" y="0"/>
                  </a:lnTo>
                  <a:lnTo>
                    <a:pt x="6165409" y="1271237"/>
                  </a:lnTo>
                  <a:lnTo>
                    <a:pt x="0" y="127123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F2DA16AE-699E-6AA5-7D16-0AD904235E95}"/>
                </a:ext>
              </a:extLst>
            </p:cNvPr>
            <p:cNvSpPr txBox="1"/>
            <p:nvPr/>
          </p:nvSpPr>
          <p:spPr>
            <a:xfrm>
              <a:off x="0" y="-28575"/>
              <a:ext cx="6165409" cy="1299812"/>
            </a:xfrm>
            <a:prstGeom prst="rect">
              <a:avLst/>
            </a:prstGeom>
          </p:spPr>
          <p:txBody>
            <a:bodyPr lIns="47790" tIns="47790" rIns="47790" bIns="4779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1843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sp>
        <p:nvSpPr>
          <p:cNvPr id="12" name="TextBox 12">
            <a:extLst>
              <a:ext uri="{FF2B5EF4-FFF2-40B4-BE49-F238E27FC236}">
                <a16:creationId xmlns:a16="http://schemas.microsoft.com/office/drawing/2014/main" id="{73205CB2-3F7D-A8A2-127F-D174ECF67183}"/>
              </a:ext>
            </a:extLst>
          </p:cNvPr>
          <p:cNvSpPr txBox="1"/>
          <p:nvPr/>
        </p:nvSpPr>
        <p:spPr>
          <a:xfrm>
            <a:off x="1111666" y="3432993"/>
            <a:ext cx="14771892" cy="598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4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Day 2 – Block 5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EA0D0E34-C05B-F0E6-8035-9FF0001B1D96}"/>
              </a:ext>
            </a:extLst>
          </p:cNvPr>
          <p:cNvSpPr txBox="1"/>
          <p:nvPr/>
        </p:nvSpPr>
        <p:spPr>
          <a:xfrm>
            <a:off x="1111666" y="9653992"/>
            <a:ext cx="12263263" cy="3619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0" i="0" u="none" strike="noStrike" kern="1200" cap="none" spc="0" normalizeH="0" baseline="0" noProof="0">
                <a:ln>
                  <a:noFill/>
                </a:ln>
                <a:solidFill>
                  <a:srgbClr val="252525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CALIFORNIA INSTITUTE OF APPLIED TECHNOLOGY</a:t>
            </a:r>
          </a:p>
        </p:txBody>
      </p:sp>
      <p:sp>
        <p:nvSpPr>
          <p:cNvPr id="15" name="AutoShape 15">
            <a:extLst>
              <a:ext uri="{FF2B5EF4-FFF2-40B4-BE49-F238E27FC236}">
                <a16:creationId xmlns:a16="http://schemas.microsoft.com/office/drawing/2014/main" id="{C94AAF7B-9CA5-6F08-5053-3E070AB64178}"/>
              </a:ext>
            </a:extLst>
          </p:cNvPr>
          <p:cNvSpPr/>
          <p:nvPr/>
        </p:nvSpPr>
        <p:spPr>
          <a:xfrm>
            <a:off x="8010568" y="9858838"/>
            <a:ext cx="7625672" cy="0"/>
          </a:xfrm>
          <a:prstGeom prst="line">
            <a:avLst/>
          </a:prstGeom>
          <a:ln w="19050" cap="flat">
            <a:solidFill>
              <a:srgbClr val="0283F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7" name="Freeform 5">
            <a:extLst>
              <a:ext uri="{FF2B5EF4-FFF2-40B4-BE49-F238E27FC236}">
                <a16:creationId xmlns:a16="http://schemas.microsoft.com/office/drawing/2014/main" id="{B880E725-2764-9AA8-482F-38062E6F0DF5}"/>
              </a:ext>
            </a:extLst>
          </p:cNvPr>
          <p:cNvSpPr/>
          <p:nvPr/>
        </p:nvSpPr>
        <p:spPr>
          <a:xfrm>
            <a:off x="1111666" y="355081"/>
            <a:ext cx="4247850" cy="631936"/>
          </a:xfrm>
          <a:custGeom>
            <a:avLst/>
            <a:gdLst/>
            <a:ahLst/>
            <a:cxnLst/>
            <a:rect l="l" t="t" r="r" b="b"/>
            <a:pathLst>
              <a:path w="4247850" h="631936">
                <a:moveTo>
                  <a:pt x="0" y="0"/>
                </a:moveTo>
                <a:lnTo>
                  <a:pt x="4247850" y="0"/>
                </a:lnTo>
                <a:lnTo>
                  <a:pt x="4247850" y="631935"/>
                </a:lnTo>
                <a:lnTo>
                  <a:pt x="0" y="63193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5" r="-5"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9AAFCCB-8342-774C-7208-2394B4BEEB72}"/>
              </a:ext>
            </a:extLst>
          </p:cNvPr>
          <p:cNvSpPr txBox="1"/>
          <p:nvPr/>
        </p:nvSpPr>
        <p:spPr>
          <a:xfrm>
            <a:off x="1111666" y="7106062"/>
            <a:ext cx="9480134" cy="22159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2400" dirty="0"/>
              <a:t>Vulnerability Management</a:t>
            </a:r>
          </a:p>
          <a:p>
            <a:pPr lvl="1"/>
            <a:r>
              <a:rPr lang="en-US" altLang="en-US" dirty="0"/>
              <a:t>Vulnerability Scanners</a:t>
            </a:r>
          </a:p>
          <a:p>
            <a:pPr lvl="1"/>
            <a:r>
              <a:rPr lang="en-US" altLang="en-US" dirty="0"/>
              <a:t>CVSS</a:t>
            </a:r>
          </a:p>
          <a:p>
            <a:pPr lvl="1"/>
            <a:r>
              <a:rPr lang="en-US" altLang="en-US" dirty="0"/>
              <a:t>Patch Management</a:t>
            </a:r>
          </a:p>
          <a:p>
            <a:pPr lvl="1"/>
            <a:r>
              <a:rPr lang="en-US" altLang="en-US" dirty="0"/>
              <a:t>Zero-Day Response</a:t>
            </a:r>
          </a:p>
          <a:p>
            <a:r>
              <a:rPr lang="en-US" altLang="en-US" sz="2400" dirty="0"/>
              <a:t>uCertify Lab</a:t>
            </a:r>
          </a:p>
          <a:p>
            <a:pPr lvl="1"/>
            <a:r>
              <a:rPr lang="en-US" altLang="en-US" dirty="0"/>
              <a:t>17.2.1 Conducting Vulnerability Scanning Using Nessus</a:t>
            </a:r>
          </a:p>
        </p:txBody>
      </p:sp>
    </p:spTree>
    <p:extLst>
      <p:ext uri="{BB962C8B-B14F-4D97-AF65-F5344CB8AC3E}">
        <p14:creationId xmlns:p14="http://schemas.microsoft.com/office/powerpoint/2010/main" val="1348998686"/>
      </p:ext>
    </p:ext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29E4E9-F463-9CCB-597A-612A45F2EA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D424C9E-46A9-BA4B-4950-617318676E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Slide </a:t>
            </a:r>
            <a:fld id="{4CA2B2DB-B91D-4166-98BF-65A0DA7EEE6D}" type="slidenum">
              <a:rPr kumimoji="0" lang="en-US" sz="1800" b="0" i="1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131</a:t>
            </a:fld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3A3042-EC43-16D5-D66C-BB7BD1F1BD42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2536823"/>
            <a:ext cx="16192500" cy="6111877"/>
          </a:xfrm>
        </p:spPr>
        <p:txBody>
          <a:bodyPr/>
          <a:lstStyle/>
          <a:p>
            <a:pPr marL="0" indent="0">
              <a:spcBef>
                <a:spcPts val="900"/>
              </a:spcBef>
              <a:buNone/>
            </a:pPr>
            <a:r>
              <a:rPr lang="en-US" altLang="en-US" sz="4000" b="1" dirty="0"/>
              <a:t>Identification methods </a:t>
            </a:r>
            <a:r>
              <a:rPr lang="en-US" altLang="en-US" sz="4000" dirty="0"/>
              <a:t>help locate, identify, and document security flaws in an organization’s digital ecosystem.</a:t>
            </a:r>
          </a:p>
          <a:p>
            <a:pPr marL="0" indent="0">
              <a:spcBef>
                <a:spcPts val="900"/>
              </a:spcBef>
              <a:buNone/>
            </a:pPr>
            <a:endParaRPr lang="en-US" altLang="en-US" sz="700" dirty="0"/>
          </a:p>
          <a:p>
            <a:pPr marL="0" indent="0">
              <a:spcBef>
                <a:spcPts val="900"/>
              </a:spcBef>
              <a:buNone/>
            </a:pPr>
            <a:r>
              <a:rPr lang="en-US" altLang="en-US" sz="4000" dirty="0"/>
              <a:t>Key identification methods are </a:t>
            </a:r>
            <a:r>
              <a:rPr lang="en-US" altLang="en-US" sz="4000" b="1" dirty="0"/>
              <a:t>vulnerability scans </a:t>
            </a:r>
            <a:r>
              <a:rPr lang="en-US" altLang="en-US" sz="4000" dirty="0"/>
              <a:t>and </a:t>
            </a:r>
            <a:r>
              <a:rPr lang="en-US" altLang="en-US" sz="4000" b="1" dirty="0"/>
              <a:t>software composition analysis</a:t>
            </a:r>
            <a:r>
              <a:rPr lang="en-US" altLang="en-US" sz="4000" dirty="0"/>
              <a:t>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AC69F93-40FD-AC95-309E-07B0A76D3C9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2C099C27-3ECA-219E-F795-9F01F6AFF7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60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Identification Methods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2878012763"/>
      </p:ext>
    </p:extLst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774DB9-37EB-935D-0C16-6057AECAB2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6B0C3A2-1AFA-DC20-252A-76E0FCE0FF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Slide </a:t>
            </a:r>
            <a:fld id="{4CA2B2DB-B91D-4166-98BF-65A0DA7EEE6D}" type="slidenum">
              <a:rPr kumimoji="0" lang="en-US" sz="1800" b="0" i="1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132</a:t>
            </a:fld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FE5B3E-76B5-02D4-3A23-D7E1D82C323B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2536823"/>
            <a:ext cx="16192500" cy="5654677"/>
          </a:xfrm>
        </p:spPr>
        <p:txBody>
          <a:bodyPr/>
          <a:lstStyle/>
          <a:p>
            <a:pPr>
              <a:spcBef>
                <a:spcPts val="900"/>
              </a:spcBef>
            </a:pPr>
            <a:r>
              <a:rPr lang="en-US" altLang="en-US" b="1" dirty="0"/>
              <a:t>Static Application Security Testing (SAST)</a:t>
            </a:r>
            <a:r>
              <a:rPr lang="en-US" altLang="en-US" dirty="0"/>
              <a:t>: Analyze source code or binaries without executing the program</a:t>
            </a:r>
          </a:p>
          <a:p>
            <a:pPr>
              <a:spcBef>
                <a:spcPts val="900"/>
              </a:spcBef>
            </a:pPr>
            <a:r>
              <a:rPr lang="en-US" altLang="en-US" b="1" dirty="0"/>
              <a:t>Dynamic Application Security Testing (DAST)</a:t>
            </a:r>
            <a:r>
              <a:rPr lang="en-US" altLang="en-US" dirty="0"/>
              <a:t>: Test applications while running to find vulnerabilities not visible in the code</a:t>
            </a:r>
          </a:p>
          <a:p>
            <a:pPr>
              <a:spcBef>
                <a:spcPts val="900"/>
              </a:spcBef>
            </a:pPr>
            <a:r>
              <a:rPr lang="en-US" altLang="en-US" b="1" dirty="0"/>
              <a:t>Interactive Application Security Testing (IAST)</a:t>
            </a:r>
            <a:r>
              <a:rPr lang="en-US" altLang="en-US" dirty="0"/>
              <a:t>: Combine SAST and DAST for comprehensive analysis</a:t>
            </a:r>
          </a:p>
          <a:p>
            <a:pPr>
              <a:spcBef>
                <a:spcPts val="900"/>
              </a:spcBef>
            </a:pPr>
            <a:r>
              <a:rPr lang="en-US" altLang="en-US" b="1" dirty="0"/>
              <a:t>Threat intelligence platforms (TIPs)</a:t>
            </a:r>
            <a:r>
              <a:rPr lang="en-US" altLang="en-US" dirty="0"/>
              <a:t>:</a:t>
            </a:r>
            <a:r>
              <a:rPr lang="en-US" altLang="en-US" b="1" dirty="0"/>
              <a:t> </a:t>
            </a:r>
            <a:r>
              <a:rPr lang="en-US" altLang="en-US" dirty="0"/>
              <a:t>Gather data from various sources to provide threat insights</a:t>
            </a:r>
          </a:p>
          <a:p>
            <a:pPr>
              <a:spcBef>
                <a:spcPts val="900"/>
              </a:spcBef>
            </a:pPr>
            <a:r>
              <a:rPr lang="en-US" altLang="en-US" b="1" dirty="0"/>
              <a:t>Security information and event management (SIEM) systems</a:t>
            </a:r>
            <a:r>
              <a:rPr lang="en-US" altLang="en-US" dirty="0"/>
              <a:t>: Provide real-time analysis of security alerts generated by network hardware and applications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E9483D0-F5CC-ABD6-6BA6-76568777BCA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9FCB2B0-1170-118E-1822-A1216D1B39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60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Vulnerability Scan Tools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966329455"/>
      </p:ext>
    </p:extLst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E25D48-3C2A-32F4-0E04-7A1B44FE9C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A74A4DF-C185-7DD7-AB25-07C2F05A3C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Slide </a:t>
            </a:r>
            <a:fld id="{4CA2B2DB-B91D-4166-98BF-65A0DA7EEE6D}" type="slidenum">
              <a:rPr kumimoji="0" lang="en-US" sz="1800" b="0" i="1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133</a:t>
            </a:fld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1784FD-BF7F-05FE-655D-33C3F2C9082C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2536823"/>
            <a:ext cx="16192500" cy="5654677"/>
          </a:xfrm>
        </p:spPr>
        <p:txBody>
          <a:bodyPr/>
          <a:lstStyle/>
          <a:p>
            <a:pPr marL="0" indent="0">
              <a:spcBef>
                <a:spcPts val="900"/>
              </a:spcBef>
              <a:buNone/>
            </a:pPr>
            <a:r>
              <a:rPr lang="en-US" altLang="en-US" sz="3600" b="1" dirty="0"/>
              <a:t>Application security: </a:t>
            </a:r>
            <a:r>
              <a:rPr lang="en-US" altLang="en-US" sz="3600" dirty="0"/>
              <a:t>Identifying and mitigating vulnerabilities in software applications</a:t>
            </a:r>
          </a:p>
          <a:p>
            <a:pPr>
              <a:spcBef>
                <a:spcPts val="900"/>
              </a:spcBef>
            </a:pPr>
            <a:r>
              <a:rPr lang="en-US" altLang="en-US" b="1" dirty="0"/>
              <a:t>Static analysis (SAST) </a:t>
            </a:r>
            <a:r>
              <a:rPr lang="en-US" altLang="en-US" dirty="0"/>
              <a:t>examines source code or binaries without execution, enabling early identification and resolution of security flaws</a:t>
            </a:r>
          </a:p>
          <a:p>
            <a:pPr>
              <a:spcBef>
                <a:spcPts val="900"/>
              </a:spcBef>
            </a:pPr>
            <a:r>
              <a:rPr lang="en-US" altLang="en-US" b="1" dirty="0"/>
              <a:t>Dynamic analysis (DAST) </a:t>
            </a:r>
            <a:r>
              <a:rPr lang="en-US" altLang="en-US" dirty="0"/>
              <a:t>tests applications during operation, simulating attacks to uncover vulnerabilities that static analysis might miss</a:t>
            </a:r>
          </a:p>
          <a:p>
            <a:pPr>
              <a:spcBef>
                <a:spcPts val="900"/>
              </a:spcBef>
            </a:pPr>
            <a:r>
              <a:rPr lang="en-US" altLang="en-US" b="1" dirty="0"/>
              <a:t>Package monitoring</a:t>
            </a:r>
            <a:r>
              <a:rPr lang="en-US" altLang="en-US" dirty="0"/>
              <a:t> continuously surveilles third-party software packages and libraries for security vulnerabilities.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476A60-D416-2955-B7B0-B496848DC9D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826C669-3020-A7D7-5632-36B046EB3F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60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Application Security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1157752815"/>
      </p:ext>
    </p:extLst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5C2630-03D2-F3C0-1FEC-2306364916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56FEE51-33E5-9B44-D5F7-434283AFB8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Slide </a:t>
            </a:r>
            <a:fld id="{4CA2B2DB-B91D-4166-98BF-65A0DA7EEE6D}" type="slidenum">
              <a:rPr kumimoji="0" lang="en-US" sz="1800" b="0" i="1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134</a:t>
            </a:fld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118572-0640-6BA3-CF5C-54365E90A159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2536823"/>
            <a:ext cx="16192500" cy="6111877"/>
          </a:xfrm>
        </p:spPr>
        <p:txBody>
          <a:bodyPr/>
          <a:lstStyle/>
          <a:p>
            <a:pPr>
              <a:spcBef>
                <a:spcPts val="900"/>
              </a:spcBef>
            </a:pPr>
            <a:r>
              <a:rPr lang="en-US" altLang="en-US" sz="3900" b="1" dirty="0"/>
              <a:t>Threat feed: </a:t>
            </a:r>
            <a:r>
              <a:rPr lang="en-US" altLang="en-US" sz="3600" dirty="0"/>
              <a:t>Real-time repository and transmission channel for data points that indicate cyber threats</a:t>
            </a:r>
          </a:p>
          <a:p>
            <a:pPr>
              <a:spcBef>
                <a:spcPts val="900"/>
              </a:spcBef>
            </a:pPr>
            <a:endParaRPr lang="en-US" altLang="en-US" sz="600" dirty="0"/>
          </a:p>
          <a:p>
            <a:pPr>
              <a:spcBef>
                <a:spcPts val="900"/>
              </a:spcBef>
            </a:pPr>
            <a:r>
              <a:rPr lang="en-US" altLang="en-US" sz="3600" b="1" dirty="0"/>
              <a:t>Proprietary/third-party feed: </a:t>
            </a:r>
            <a:r>
              <a:rPr lang="en-US" altLang="en-US" sz="3600" dirty="0"/>
              <a:t>Specialized channel of threat feeds, typically requiring subscription</a:t>
            </a:r>
          </a:p>
          <a:p>
            <a:pPr>
              <a:spcBef>
                <a:spcPts val="900"/>
              </a:spcBef>
            </a:pPr>
            <a:endParaRPr lang="en-US" altLang="en-US" sz="600" dirty="0"/>
          </a:p>
          <a:p>
            <a:pPr>
              <a:spcBef>
                <a:spcPts val="900"/>
              </a:spcBef>
            </a:pPr>
            <a:r>
              <a:rPr lang="en-US" altLang="en-US" sz="3600" b="1" dirty="0"/>
              <a:t>Open-source intelligence threats (OSINT): </a:t>
            </a:r>
            <a:r>
              <a:rPr lang="en-US" altLang="en-US" sz="3600" dirty="0"/>
              <a:t>Threats shared in public forums, databases, and code repositories</a:t>
            </a:r>
          </a:p>
          <a:p>
            <a:pPr>
              <a:spcBef>
                <a:spcPts val="900"/>
              </a:spcBef>
            </a:pPr>
            <a:endParaRPr lang="en-US" altLang="en-US" sz="600" dirty="0"/>
          </a:p>
          <a:p>
            <a:pPr>
              <a:spcBef>
                <a:spcPts val="900"/>
              </a:spcBef>
            </a:pPr>
            <a:r>
              <a:rPr lang="en-US" altLang="en-US" sz="3600" b="1" dirty="0"/>
              <a:t>Information sharing and analysis centers (ISACs): </a:t>
            </a:r>
            <a:r>
              <a:rPr lang="en-US" altLang="en-US" sz="3600" dirty="0"/>
              <a:t>Repositories for organizations to share threats received and learn about others; organized by industry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EF9065E-C66E-8E22-06FD-B5612A313D4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8E422CB-0910-E4CA-0B2C-C6981AAE7F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60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Threat Feeds and Databases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1927950150"/>
      </p:ext>
    </p:extLst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4698C3-2900-9F1C-BE39-C0E9AE523E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7856AAE-A298-622C-EEAB-61AC457C88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Slide </a:t>
            </a:r>
            <a:fld id="{4CA2B2DB-B91D-4166-98BF-65A0DA7EEE6D}" type="slidenum">
              <a:rPr kumimoji="0" lang="en-US" sz="1800" b="0" i="1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135</a:t>
            </a:fld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5A752B-5A9C-DDD5-49B4-60E97631E4FD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2536823"/>
            <a:ext cx="16192500" cy="6111877"/>
          </a:xfrm>
        </p:spPr>
        <p:txBody>
          <a:bodyPr/>
          <a:lstStyle/>
          <a:p>
            <a:pPr marL="0" indent="0">
              <a:spcBef>
                <a:spcPts val="900"/>
              </a:spcBef>
              <a:buNone/>
            </a:pPr>
            <a:r>
              <a:rPr lang="en-US" altLang="en-US" sz="3900" b="1" dirty="0"/>
              <a:t>Penetration testing</a:t>
            </a:r>
            <a:r>
              <a:rPr lang="en-US" altLang="en-US" sz="3900" dirty="0"/>
              <a:t>: Simulating cyberattacks to identify vulnerabilities</a:t>
            </a:r>
          </a:p>
          <a:p>
            <a:pPr>
              <a:spcBef>
                <a:spcPts val="900"/>
              </a:spcBef>
            </a:pPr>
            <a:r>
              <a:rPr lang="en-US" altLang="en-US" sz="3600" dirty="0"/>
              <a:t>Can be used to test a vendor’s security   </a:t>
            </a:r>
          </a:p>
          <a:p>
            <a:pPr lvl="1">
              <a:spcBef>
                <a:spcPts val="900"/>
              </a:spcBef>
            </a:pPr>
            <a:r>
              <a:rPr lang="en-US" altLang="en-US" sz="3300" dirty="0"/>
              <a:t>	Unknown environment tests</a:t>
            </a:r>
          </a:p>
          <a:p>
            <a:pPr lvl="1">
              <a:spcBef>
                <a:spcPts val="900"/>
              </a:spcBef>
            </a:pPr>
            <a:r>
              <a:rPr lang="en-US" altLang="en-US" sz="3300" dirty="0"/>
              <a:t>	Known environment tests</a:t>
            </a:r>
          </a:p>
          <a:p>
            <a:pPr lvl="1">
              <a:spcBef>
                <a:spcPts val="900"/>
              </a:spcBef>
            </a:pPr>
            <a:r>
              <a:rPr lang="en-US" altLang="en-US" sz="3300" dirty="0"/>
              <a:t>	Partially known environment tests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B47A273-7340-0D45-6ECB-683AF0745C6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40098E31-A339-F66D-9C37-11A164440F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60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Penetration Testing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2061842409"/>
      </p:ext>
    </p:extLst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2BE356-9A1F-A6E4-E77D-9E0AF8DCE4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F2CCD84-5190-208F-E27F-993177F803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Slide </a:t>
            </a:r>
            <a:fld id="{4CA2B2DB-B91D-4166-98BF-65A0DA7EEE6D}" type="slidenum">
              <a:rPr kumimoji="0" lang="en-US" sz="1800" b="0" i="1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136</a:t>
            </a:fld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602993-6F6A-3BC8-8501-D01142366C5D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2536823"/>
            <a:ext cx="16192500" cy="6111877"/>
          </a:xfrm>
        </p:spPr>
        <p:txBody>
          <a:bodyPr/>
          <a:lstStyle/>
          <a:p>
            <a:pPr marL="0" indent="0">
              <a:spcBef>
                <a:spcPts val="900"/>
              </a:spcBef>
              <a:buNone/>
            </a:pPr>
            <a:r>
              <a:rPr lang="en-US" altLang="en-US" sz="3900" b="1" dirty="0"/>
              <a:t>Penetration testing</a:t>
            </a:r>
            <a:r>
              <a:rPr lang="en-US" altLang="en-US" sz="3900" dirty="0"/>
              <a:t>: Simulates real-world attacks to uncover vulnerabilities in systems, networks, or applications </a:t>
            </a:r>
          </a:p>
          <a:p>
            <a:pPr>
              <a:spcBef>
                <a:spcPts val="900"/>
              </a:spcBef>
            </a:pPr>
            <a:r>
              <a:rPr lang="en-US" altLang="en-US" sz="3600" b="1" dirty="0"/>
              <a:t>Planning</a:t>
            </a:r>
          </a:p>
          <a:p>
            <a:pPr>
              <a:spcBef>
                <a:spcPts val="900"/>
              </a:spcBef>
            </a:pPr>
            <a:r>
              <a:rPr lang="en-US" altLang="en-US" sz="3600" b="1" dirty="0"/>
              <a:t>Reconnaissance</a:t>
            </a:r>
          </a:p>
          <a:p>
            <a:pPr>
              <a:spcBef>
                <a:spcPts val="900"/>
              </a:spcBef>
            </a:pPr>
            <a:r>
              <a:rPr lang="en-US" altLang="en-US" sz="3600" b="1" dirty="0"/>
              <a:t>Exploitation</a:t>
            </a:r>
          </a:p>
          <a:p>
            <a:pPr>
              <a:spcBef>
                <a:spcPts val="900"/>
              </a:spcBef>
            </a:pPr>
            <a:r>
              <a:rPr lang="en-US" altLang="en-US" sz="3600" b="1" dirty="0"/>
              <a:t>Post-Exploitation</a:t>
            </a:r>
          </a:p>
          <a:p>
            <a:pPr>
              <a:spcBef>
                <a:spcPts val="900"/>
              </a:spcBef>
            </a:pPr>
            <a:r>
              <a:rPr lang="en-US" altLang="en-US" sz="3600" b="1" dirty="0"/>
              <a:t>Reporting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01011C-3D36-3B13-A7D6-54595B89FAE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297FF783-04AE-1B78-BD4B-BDB87410DB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60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Penetration Testing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1029138008"/>
      </p:ext>
    </p:extLst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CE3AB9-74BC-3B69-870D-A0C462363C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DE1F63D-54C5-2A62-0C61-5F0A967BF1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Slide </a:t>
            </a:r>
            <a:fld id="{4CA2B2DB-B91D-4166-98BF-65A0DA7EEE6D}" type="slidenum">
              <a:rPr kumimoji="0" lang="en-US" sz="1800" b="0" i="1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137</a:t>
            </a:fld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704A7AE-9AF5-9417-DF05-3CD53DA33DA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41F7B8DD-B048-FE44-08EC-88D837B3A5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60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Penetration Testing Lifecycle</a:t>
            </a:r>
            <a:endParaRPr lang="en-US" i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7533E9E-46F6-0019-7E76-BBF629A4184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543" r="16725"/>
          <a:stretch/>
        </p:blipFill>
        <p:spPr>
          <a:xfrm>
            <a:off x="6219825" y="2536825"/>
            <a:ext cx="5848350" cy="6156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2759468"/>
      </p:ext>
    </p:extLst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5A5DA8-4E8C-28BF-4F24-9B4DE21F11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B297681-71C9-8B34-0868-E2D67987FB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Slide </a:t>
            </a:r>
            <a:fld id="{4CA2B2DB-B91D-4166-98BF-65A0DA7EEE6D}" type="slidenum">
              <a:rPr kumimoji="0" lang="en-US" sz="1800" b="0" i="1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138</a:t>
            </a:fld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FE2CF1-DF55-D048-F10D-69D8874A525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2536823"/>
            <a:ext cx="16192500" cy="6111877"/>
          </a:xfrm>
        </p:spPr>
        <p:txBody>
          <a:bodyPr/>
          <a:lstStyle/>
          <a:p>
            <a:pPr>
              <a:spcBef>
                <a:spcPts val="900"/>
              </a:spcBef>
            </a:pPr>
            <a:r>
              <a:rPr lang="en-US" altLang="en-US" sz="3900" b="1" dirty="0"/>
              <a:t>Physical penetration testing</a:t>
            </a:r>
            <a:r>
              <a:rPr lang="en-US" altLang="en-US" sz="3900" dirty="0"/>
              <a:t>: Targets physical barriers such as door locks and surveillance systems</a:t>
            </a:r>
          </a:p>
          <a:p>
            <a:pPr>
              <a:spcBef>
                <a:spcPts val="900"/>
              </a:spcBef>
            </a:pPr>
            <a:endParaRPr lang="en-US" altLang="en-US" sz="600" dirty="0"/>
          </a:p>
          <a:p>
            <a:pPr>
              <a:spcBef>
                <a:spcPts val="900"/>
              </a:spcBef>
            </a:pPr>
            <a:r>
              <a:rPr lang="en-US" altLang="en-US" sz="3900" b="1" dirty="0"/>
              <a:t>Offensive penetration testing (Red teaming): </a:t>
            </a:r>
            <a:r>
              <a:rPr lang="en-US" altLang="en-US" sz="3900" dirty="0"/>
              <a:t>Mimics the actions of threat actors to identify vulnerabilities</a:t>
            </a:r>
          </a:p>
          <a:p>
            <a:pPr>
              <a:spcBef>
                <a:spcPts val="900"/>
              </a:spcBef>
            </a:pPr>
            <a:endParaRPr lang="en-US" altLang="en-US" sz="600" dirty="0"/>
          </a:p>
          <a:p>
            <a:pPr>
              <a:spcBef>
                <a:spcPts val="900"/>
              </a:spcBef>
            </a:pPr>
            <a:r>
              <a:rPr lang="en-US" altLang="en-US" sz="3900" b="1" dirty="0"/>
              <a:t>Defensive penetration testing (Blue teaming)</a:t>
            </a:r>
            <a:r>
              <a:rPr lang="en-US" altLang="en-US" sz="3900" dirty="0"/>
              <a:t>: Focuses on managing simulated attacks to evaluate defensive strategies</a:t>
            </a:r>
          </a:p>
          <a:p>
            <a:pPr>
              <a:spcBef>
                <a:spcPts val="900"/>
              </a:spcBef>
            </a:pPr>
            <a:endParaRPr lang="en-US" altLang="en-US" sz="600" dirty="0"/>
          </a:p>
          <a:p>
            <a:pPr>
              <a:spcBef>
                <a:spcPts val="900"/>
              </a:spcBef>
            </a:pPr>
            <a:r>
              <a:rPr lang="en-US" altLang="en-US" sz="3900" b="1" dirty="0"/>
              <a:t>Integrated penetration testing (Purple teaming)</a:t>
            </a:r>
            <a:r>
              <a:rPr lang="en-US" altLang="en-US" sz="3900" dirty="0"/>
              <a:t>: Combines offensive and defensive methodologies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8F03E9E-2CF8-31D1-2E63-91289CD2FDB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6B06C0F-AAFB-8371-82BC-D1DC392D8D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60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Types of Penetration Tests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3521822699"/>
      </p:ext>
    </p:extLst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C0007D-9B27-C037-5A28-4CB299019A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721FCCB-B164-A207-5E29-A427ED7DC4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Slide </a:t>
            </a:r>
            <a:fld id="{4CA2B2DB-B91D-4166-98BF-65A0DA7EEE6D}" type="slidenum">
              <a:rPr kumimoji="0" lang="en-US" sz="1800" b="0" i="1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139</a:t>
            </a:fld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4B3899-215C-1E3A-8068-F8743BB15C0F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2536823"/>
            <a:ext cx="16192500" cy="6111877"/>
          </a:xfrm>
        </p:spPr>
        <p:txBody>
          <a:bodyPr/>
          <a:lstStyle/>
          <a:p>
            <a:pPr>
              <a:spcBef>
                <a:spcPts val="900"/>
              </a:spcBef>
            </a:pPr>
            <a:r>
              <a:rPr lang="en-US" altLang="en-US" sz="3900" b="1" dirty="0"/>
              <a:t>Known environment penetration testing (White box testing)</a:t>
            </a:r>
            <a:r>
              <a:rPr lang="en-US" altLang="en-US" sz="3900" dirty="0"/>
              <a:t>: Testers have comprehensive information about the system's architecture</a:t>
            </a:r>
          </a:p>
          <a:p>
            <a:pPr>
              <a:spcBef>
                <a:spcPts val="900"/>
              </a:spcBef>
            </a:pPr>
            <a:endParaRPr lang="en-US" altLang="en-US" sz="600" dirty="0"/>
          </a:p>
          <a:p>
            <a:pPr>
              <a:spcBef>
                <a:spcPts val="900"/>
              </a:spcBef>
            </a:pPr>
            <a:r>
              <a:rPr lang="en-US" altLang="en-US" sz="3900" b="1" dirty="0"/>
              <a:t>Partially known environment penetration testing (Gray box testing)</a:t>
            </a:r>
            <a:r>
              <a:rPr lang="en-US" altLang="en-US" sz="3900" dirty="0"/>
              <a:t>:</a:t>
            </a:r>
            <a:r>
              <a:rPr lang="en-US" altLang="en-US" sz="3900" b="1" dirty="0"/>
              <a:t> </a:t>
            </a:r>
            <a:r>
              <a:rPr lang="en-US" altLang="en-US" sz="3900" dirty="0"/>
              <a:t>Testers have a subset of system information</a:t>
            </a:r>
          </a:p>
          <a:p>
            <a:pPr>
              <a:spcBef>
                <a:spcPts val="900"/>
              </a:spcBef>
            </a:pPr>
            <a:endParaRPr lang="en-US" altLang="en-US" sz="600" dirty="0"/>
          </a:p>
          <a:p>
            <a:pPr>
              <a:spcBef>
                <a:spcPts val="900"/>
              </a:spcBef>
            </a:pPr>
            <a:r>
              <a:rPr lang="en-US" altLang="en-US" sz="3900" b="1" dirty="0"/>
              <a:t>Unknown environment penetration testing (Black box testing)</a:t>
            </a:r>
            <a:r>
              <a:rPr lang="en-US" altLang="en-US" sz="3900" dirty="0"/>
              <a:t>:</a:t>
            </a:r>
            <a:r>
              <a:rPr lang="en-US" altLang="en-US" sz="3900" b="1" dirty="0"/>
              <a:t> </a:t>
            </a:r>
            <a:r>
              <a:rPr lang="en-US" altLang="en-US" sz="3900" dirty="0"/>
              <a:t>Testers have no knowledge of the system's architecture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E7F8272-EB14-A1F2-ED98-1A59C159C53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A002073-5757-686D-91D9-8481DCD6A5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60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Types of Penetration Tests </a:t>
            </a:r>
            <a:r>
              <a:rPr kumimoji="0" lang="en-US" sz="6000" b="0" i="1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(cont.)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1301570086"/>
      </p:ext>
    </p:extLst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036F3D-2172-B7AC-A4C8-1F11FF8752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D4C5F1F-532A-F8EA-5C32-D4CDDA7DD7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Slide </a:t>
            </a:r>
            <a:fld id="{4CA2B2DB-B91D-4166-98BF-65A0DA7EEE6D}" type="slidenum">
              <a:rPr kumimoji="0" lang="en-US" sz="1800" b="0" i="1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140</a:t>
            </a:fld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20E5D3-4BF4-B676-1ED4-F71290D99CE0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2536823"/>
            <a:ext cx="16192500" cy="6111877"/>
          </a:xfrm>
        </p:spPr>
        <p:txBody>
          <a:bodyPr/>
          <a:lstStyle/>
          <a:p>
            <a:pPr marL="0" indent="0">
              <a:spcBef>
                <a:spcPts val="900"/>
              </a:spcBef>
              <a:buNone/>
            </a:pPr>
            <a:r>
              <a:rPr lang="en-US" altLang="en-US" sz="4400" b="1" dirty="0"/>
              <a:t>Responsible disclosure program</a:t>
            </a:r>
            <a:r>
              <a:rPr lang="en-US" altLang="en-US" sz="4400" dirty="0"/>
              <a:t>: Framework encouraging ethical reporting of security vulnerabilities</a:t>
            </a:r>
          </a:p>
          <a:p>
            <a:pPr>
              <a:spcBef>
                <a:spcPts val="900"/>
              </a:spcBef>
            </a:pPr>
            <a:r>
              <a:rPr lang="en-US" altLang="en-US" sz="4000" dirty="0"/>
              <a:t>Outlines secure procedures for external researchers to report discovered vulnerabilities</a:t>
            </a:r>
          </a:p>
          <a:p>
            <a:pPr>
              <a:spcBef>
                <a:spcPts val="900"/>
              </a:spcBef>
            </a:pPr>
            <a:r>
              <a:rPr lang="en-US" altLang="en-US" sz="4000" dirty="0"/>
              <a:t>Incentives include monetary rewards and public recognition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9285B49-2453-D3FB-2C0F-B4BFC1206DC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0241355-64AE-2A22-635F-78EF63B160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60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Responsible Disclosure Program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1004287396"/>
      </p:ext>
    </p:extLst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2DCEC9-1DA9-1180-3BE1-30B86C7255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395776A-3B36-4C51-3DA6-10280D951E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Slide </a:t>
            </a:r>
            <a:fld id="{4CA2B2DB-B91D-4166-98BF-65A0DA7EEE6D}" type="slidenum">
              <a:rPr kumimoji="0" lang="en-US" sz="1800" b="0" i="1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141</a:t>
            </a:fld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C39DDF-5B69-8600-0D09-51D19E7830A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2536823"/>
            <a:ext cx="16192500" cy="6111877"/>
          </a:xfrm>
        </p:spPr>
        <p:txBody>
          <a:bodyPr/>
          <a:lstStyle/>
          <a:p>
            <a:pPr marL="0" indent="0">
              <a:spcBef>
                <a:spcPts val="900"/>
              </a:spcBef>
              <a:buNone/>
            </a:pPr>
            <a:r>
              <a:rPr lang="en-US" altLang="en-US" sz="4400" b="1" dirty="0"/>
              <a:t>Bug bounty program</a:t>
            </a:r>
            <a:r>
              <a:rPr lang="en-US" altLang="en-US" sz="4400" dirty="0"/>
              <a:t>: Offers financial incentives for discovering and reporting software vulnerabilities</a:t>
            </a:r>
          </a:p>
          <a:p>
            <a:pPr>
              <a:spcBef>
                <a:spcPts val="900"/>
              </a:spcBef>
            </a:pPr>
            <a:r>
              <a:rPr lang="en-US" altLang="en-US" sz="4400" dirty="0"/>
              <a:t>Organizations host bug bounty programs to leverage the collective expertise of security researchers  </a:t>
            </a:r>
          </a:p>
          <a:p>
            <a:pPr>
              <a:spcBef>
                <a:spcPts val="900"/>
              </a:spcBef>
            </a:pPr>
            <a:r>
              <a:rPr lang="en-US" altLang="en-US" sz="4400" dirty="0"/>
              <a:t>Incentives vary from nominal to substantial rewards </a:t>
            </a:r>
          </a:p>
          <a:p>
            <a:pPr>
              <a:spcBef>
                <a:spcPts val="900"/>
              </a:spcBef>
            </a:pPr>
            <a:r>
              <a:rPr lang="en-US" altLang="en-US" sz="4400" dirty="0"/>
              <a:t>Ethical hackers often receive public acknowledgment for their contributions, enhancing their reputation and career prospects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3CE7F6-282C-98AA-0177-BBDCB2449BF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B4EE63B8-6F99-D2D0-E464-BBCCE173EC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60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Bug Bounty Program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4267654437"/>
      </p:ext>
    </p:extLst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E258E4-CE32-4B3A-62E0-ECFF2CC021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5165111-8A3E-570B-870F-0834231C2A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Slide </a:t>
            </a:r>
            <a:fld id="{4CA2B2DB-B91D-4166-98BF-65A0DA7EEE6D}" type="slidenum">
              <a:rPr kumimoji="0" lang="en-US" sz="1800" b="0" i="1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142</a:t>
            </a:fld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7EEE4E-5472-73B1-A83E-4E1042F7582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2536823"/>
            <a:ext cx="16192500" cy="6111877"/>
          </a:xfrm>
        </p:spPr>
        <p:txBody>
          <a:bodyPr/>
          <a:lstStyle/>
          <a:p>
            <a:pPr marL="0" indent="0">
              <a:spcBef>
                <a:spcPts val="900"/>
              </a:spcBef>
              <a:buNone/>
            </a:pPr>
            <a:r>
              <a:rPr lang="en-US" altLang="en-US" sz="4400" b="1" dirty="0"/>
              <a:t>Audit</a:t>
            </a:r>
            <a:r>
              <a:rPr lang="en-US" altLang="en-US" sz="4400" dirty="0"/>
              <a:t>: Comprehensive examination and assessment of an organization's processes, controls, and systems</a:t>
            </a:r>
          </a:p>
          <a:p>
            <a:pPr>
              <a:spcBef>
                <a:spcPts val="900"/>
              </a:spcBef>
            </a:pPr>
            <a:r>
              <a:rPr lang="en-US" altLang="en-US" sz="4000" dirty="0"/>
              <a:t>May use specialized tools such as Nessus or Wireshark to examine network traffic and configurations  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AADC83D-8287-2DDB-DA43-98CBBA32801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4AA57E13-407B-EC74-4D0F-914BEDDCA5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60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System/Process Audit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2323857787"/>
      </p:ext>
    </p:extLst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58A855-6A3D-9AA8-2A9C-E351340540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2B13F96-3B29-C1C5-6780-E4C59C308F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Slide </a:t>
            </a:r>
            <a:fld id="{4CA2B2DB-B91D-4166-98BF-65A0DA7EEE6D}" type="slidenum">
              <a:rPr kumimoji="0" lang="en-US" sz="1800" b="0" i="1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143</a:t>
            </a:fld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5F0533-8858-55EF-EEF8-F432BF00356F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2536823"/>
            <a:ext cx="16192500" cy="5730877"/>
          </a:xfrm>
        </p:spPr>
        <p:txBody>
          <a:bodyPr/>
          <a:lstStyle/>
          <a:p>
            <a:pPr marL="0" indent="0">
              <a:spcBef>
                <a:spcPts val="900"/>
              </a:spcBef>
              <a:buNone/>
            </a:pPr>
            <a:r>
              <a:rPr lang="en-US" altLang="en-US" sz="4000" b="1" dirty="0"/>
              <a:t>Analysis</a:t>
            </a:r>
            <a:r>
              <a:rPr lang="en-US" altLang="en-US" sz="4000" dirty="0"/>
              <a:t>: Transforms raw data about vulnerabilities and threats into comprehensive insights</a:t>
            </a:r>
          </a:p>
          <a:p>
            <a:pPr>
              <a:spcBef>
                <a:spcPts val="900"/>
              </a:spcBef>
            </a:pPr>
            <a:r>
              <a:rPr lang="en-US" altLang="en-US" sz="3600" b="1" dirty="0"/>
              <a:t>Common Vulnerability Scoring System (CVSS)</a:t>
            </a:r>
            <a:r>
              <a:rPr lang="en-US" altLang="en-US" sz="3600" dirty="0"/>
              <a:t>: Industry-standard tool for evaluating the severity and urgency of vulnerabilities; assigns scores from zero to 10</a:t>
            </a:r>
          </a:p>
          <a:p>
            <a:pPr>
              <a:spcBef>
                <a:spcPts val="900"/>
              </a:spcBef>
            </a:pPr>
            <a:r>
              <a:rPr lang="en-US" altLang="en-US" sz="3600" b="1" dirty="0"/>
              <a:t>Common Vulnerability Enumeration (CVE)</a:t>
            </a:r>
            <a:r>
              <a:rPr lang="en-US" altLang="en-US" sz="3600" dirty="0"/>
              <a:t>:</a:t>
            </a:r>
            <a:r>
              <a:rPr lang="en-US" altLang="en-US" sz="3600" b="1" dirty="0"/>
              <a:t> </a:t>
            </a:r>
            <a:r>
              <a:rPr lang="en-US" altLang="en-US" sz="3600" dirty="0"/>
              <a:t>Standardized system for cataloging security flaws; provides historical data about remediation</a:t>
            </a:r>
          </a:p>
          <a:p>
            <a:pPr>
              <a:spcBef>
                <a:spcPts val="900"/>
              </a:spcBef>
            </a:pPr>
            <a:r>
              <a:rPr lang="en-US" altLang="en-US" sz="3600" b="1" dirty="0"/>
              <a:t>Vulnerability Classification: </a:t>
            </a:r>
            <a:r>
              <a:rPr lang="en-US" altLang="en-US" sz="3600" dirty="0"/>
              <a:t>Organized categorization of vulnerabilities based on nature, risk level, affected component, or potential impact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8B997AE-61B3-3DC5-181D-4D39F24BEEE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30EB3809-792A-698C-BD2D-C960243878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60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Analysis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837583213"/>
      </p:ext>
    </p:extLst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8C29CC-AD1E-F803-8034-CA63F08887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F454D21-E6F6-E7E8-5C5F-C83828EAAA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Slide </a:t>
            </a:r>
            <a:fld id="{4CA2B2DB-B91D-4166-98BF-65A0DA7EEE6D}" type="slidenum">
              <a:rPr kumimoji="0" lang="en-US" sz="1800" b="0" i="1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144</a:t>
            </a:fld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0E089A-A17E-4E5F-91A0-117BA1CCE644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2536823"/>
            <a:ext cx="16192500" cy="5883277"/>
          </a:xfrm>
        </p:spPr>
        <p:txBody>
          <a:bodyPr/>
          <a:lstStyle/>
          <a:p>
            <a:pPr>
              <a:spcBef>
                <a:spcPts val="900"/>
              </a:spcBef>
            </a:pPr>
            <a:r>
              <a:rPr lang="en-US" altLang="en-US" sz="4000" b="1" dirty="0"/>
              <a:t>Exposure factor (EF): </a:t>
            </a:r>
            <a:r>
              <a:rPr lang="en-US" altLang="en-US" sz="4000" dirty="0"/>
              <a:t>Percentage of loss that a company would experience if a specific asset were compromised</a:t>
            </a:r>
          </a:p>
          <a:p>
            <a:pPr>
              <a:spcBef>
                <a:spcPts val="900"/>
              </a:spcBef>
            </a:pPr>
            <a:r>
              <a:rPr lang="en-US" altLang="en-US" sz="4000" b="1" dirty="0"/>
              <a:t>Environmental variables: </a:t>
            </a:r>
            <a:r>
              <a:rPr lang="en-US" altLang="en-US" sz="4000" dirty="0"/>
              <a:t>Specific conditions or factors within an organization's context influencing the impact and exploitability of vulnerabilities</a:t>
            </a:r>
          </a:p>
          <a:p>
            <a:pPr>
              <a:spcBef>
                <a:spcPts val="900"/>
              </a:spcBef>
            </a:pPr>
            <a:r>
              <a:rPr lang="en-US" altLang="en-US" sz="4000" b="1" dirty="0"/>
              <a:t>Industry/organizational impact: </a:t>
            </a:r>
            <a:r>
              <a:rPr lang="en-US" altLang="en-US" sz="4000" dirty="0"/>
              <a:t>Potential consequences of vulnerabilities beyond an organization's boundaries</a:t>
            </a:r>
          </a:p>
          <a:p>
            <a:pPr>
              <a:spcBef>
                <a:spcPts val="900"/>
              </a:spcBef>
            </a:pPr>
            <a:r>
              <a:rPr lang="en-US" altLang="en-US" sz="4000" b="1" dirty="0"/>
              <a:t>Risk tolerance: </a:t>
            </a:r>
            <a:r>
              <a:rPr lang="en-US" altLang="en-US" sz="4000" dirty="0"/>
              <a:t>The Extent to which an organization is willing to accept exposure to threats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76A1E9B-D3FE-A443-9FF4-8126C67FD26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ADA11484-A8F6-D5DD-A918-E8E3225DF2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60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Analysis </a:t>
            </a:r>
            <a:r>
              <a:rPr kumimoji="0" lang="en-US" sz="6000" b="0" i="1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(cont.)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6782528"/>
      </p:ext>
    </p:extLst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0636A9-571B-7CC5-9B4F-9519FB461D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714117F-1836-8993-6E6D-725FCF2FDA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Slide </a:t>
            </a:r>
            <a:fld id="{4CA2B2DB-B91D-4166-98BF-65A0DA7EEE6D}" type="slidenum">
              <a:rPr kumimoji="0" lang="en-US" sz="1800" b="0" i="1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145</a:t>
            </a:fld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ECDD96-7BD3-614D-A25C-D07A4DD6102D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2536823"/>
            <a:ext cx="16192500" cy="5883277"/>
          </a:xfrm>
        </p:spPr>
        <p:txBody>
          <a:bodyPr/>
          <a:lstStyle/>
          <a:p>
            <a:pPr marL="0" indent="0">
              <a:spcBef>
                <a:spcPts val="900"/>
              </a:spcBef>
              <a:buNone/>
            </a:pPr>
            <a:r>
              <a:rPr lang="en-US" altLang="en-US" b="1" dirty="0"/>
              <a:t>Message-based communication </a:t>
            </a:r>
            <a:r>
              <a:rPr lang="en-US" altLang="en-US" dirty="0"/>
              <a:t>poses significant security risks due to its widespread use, users’ trust in platforms, and the potential for immediate damage. </a:t>
            </a:r>
          </a:p>
          <a:p>
            <a:pPr>
              <a:spcBef>
                <a:spcPts val="900"/>
              </a:spcBef>
            </a:pPr>
            <a:r>
              <a:rPr lang="en-US" altLang="en-US" sz="2800" b="1" dirty="0"/>
              <a:t>Examples</a:t>
            </a:r>
          </a:p>
          <a:p>
            <a:pPr lvl="1">
              <a:spcBef>
                <a:spcPts val="900"/>
              </a:spcBef>
            </a:pPr>
            <a:r>
              <a:rPr lang="en-US" altLang="en-US" dirty="0"/>
              <a:t>	Email</a:t>
            </a:r>
          </a:p>
          <a:p>
            <a:pPr lvl="1">
              <a:spcBef>
                <a:spcPts val="900"/>
              </a:spcBef>
            </a:pPr>
            <a:r>
              <a:rPr lang="en-US" altLang="en-US" dirty="0"/>
              <a:t>	Short Message Service (SMS)</a:t>
            </a:r>
          </a:p>
          <a:p>
            <a:pPr lvl="1">
              <a:spcBef>
                <a:spcPts val="900"/>
              </a:spcBef>
            </a:pPr>
            <a:r>
              <a:rPr lang="en-US" altLang="en-US" dirty="0"/>
              <a:t>	Instant Messaging (IM)</a:t>
            </a:r>
          </a:p>
          <a:p>
            <a:pPr lvl="1">
              <a:spcBef>
                <a:spcPts val="900"/>
              </a:spcBef>
            </a:pPr>
            <a:r>
              <a:rPr lang="en-US" altLang="en-US" dirty="0"/>
              <a:t>	Spam and Spam over Internet Messaging (SPIM)</a:t>
            </a:r>
          </a:p>
          <a:p>
            <a:pPr>
              <a:spcBef>
                <a:spcPts val="900"/>
              </a:spcBef>
            </a:pPr>
            <a:r>
              <a:rPr lang="en-US" altLang="en-US" sz="2800" b="1" dirty="0"/>
              <a:t>Mitigation</a:t>
            </a:r>
          </a:p>
          <a:p>
            <a:pPr lvl="1">
              <a:spcBef>
                <a:spcPts val="900"/>
              </a:spcBef>
            </a:pPr>
            <a:r>
              <a:rPr lang="en-US" altLang="en-US" dirty="0"/>
              <a:t>	User training and awareness</a:t>
            </a:r>
          </a:p>
          <a:p>
            <a:pPr lvl="1">
              <a:spcBef>
                <a:spcPts val="900"/>
              </a:spcBef>
            </a:pPr>
            <a:r>
              <a:rPr lang="en-US" altLang="en-US" dirty="0"/>
              <a:t>	Spam filters</a:t>
            </a:r>
          </a:p>
          <a:p>
            <a:pPr lvl="1">
              <a:spcBef>
                <a:spcPts val="900"/>
              </a:spcBef>
            </a:pPr>
            <a:r>
              <a:rPr lang="en-US" altLang="en-US" dirty="0"/>
              <a:t>	Secure email gateways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F22CC7-208C-6C71-521C-F008D3E70D6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9CD89D8-6A8A-F4CC-59FC-DC024A20DD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60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Message-Based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1093241990"/>
      </p:ext>
    </p:extLst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E0B667-42A5-573A-DF08-2DE5F45DD2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90B0163-1CFD-04F8-19A6-F2BF83DD40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Slide </a:t>
            </a:r>
            <a:fld id="{4CA2B2DB-B91D-4166-98BF-65A0DA7EEE6D}" type="slidenum">
              <a:rPr kumimoji="0" lang="en-US" sz="1800" b="0" i="1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146</a:t>
            </a:fld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E191EB-E342-5E18-3A2E-F71DAF15F6B2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2536823"/>
            <a:ext cx="16192500" cy="5883277"/>
          </a:xfrm>
        </p:spPr>
        <p:txBody>
          <a:bodyPr/>
          <a:lstStyle/>
          <a:p>
            <a:pPr marL="0" indent="0">
              <a:spcBef>
                <a:spcPts val="900"/>
              </a:spcBef>
              <a:buNone/>
            </a:pPr>
            <a:r>
              <a:rPr lang="en-US" altLang="en-US" sz="3900" b="1" dirty="0"/>
              <a:t>Image-based threats </a:t>
            </a:r>
            <a:r>
              <a:rPr lang="en-US" altLang="en-US" sz="3900" dirty="0"/>
              <a:t>involve using digital images to exploit vulnerabilities in software and systems. </a:t>
            </a:r>
          </a:p>
          <a:p>
            <a:pPr>
              <a:spcBef>
                <a:spcPts val="900"/>
              </a:spcBef>
            </a:pPr>
            <a:r>
              <a:rPr lang="en-US" altLang="en-US" sz="3600" b="1" dirty="0"/>
              <a:t>Examples</a:t>
            </a:r>
          </a:p>
          <a:p>
            <a:pPr lvl="1">
              <a:spcBef>
                <a:spcPts val="900"/>
              </a:spcBef>
            </a:pPr>
            <a:r>
              <a:rPr lang="en-US" altLang="en-US" sz="3600" dirty="0"/>
              <a:t>	Using images in a phishing attack</a:t>
            </a:r>
          </a:p>
          <a:p>
            <a:pPr lvl="1">
              <a:spcBef>
                <a:spcPts val="900"/>
              </a:spcBef>
            </a:pPr>
            <a:r>
              <a:rPr lang="en-US" altLang="en-US" sz="3600" dirty="0"/>
              <a:t>	Disguising malware as an image file</a:t>
            </a:r>
          </a:p>
          <a:p>
            <a:pPr>
              <a:spcBef>
                <a:spcPts val="900"/>
              </a:spcBef>
            </a:pPr>
            <a:r>
              <a:rPr lang="en-US" altLang="en-US" sz="3600" b="1" dirty="0"/>
              <a:t>Mitigation  </a:t>
            </a:r>
            <a:endParaRPr lang="en-US" altLang="en-US" sz="3600" dirty="0"/>
          </a:p>
          <a:p>
            <a:pPr lvl="1">
              <a:spcBef>
                <a:spcPts val="900"/>
              </a:spcBef>
            </a:pPr>
            <a:r>
              <a:rPr lang="en-US" altLang="en-US" sz="3600" dirty="0"/>
              <a:t>	User training and awareness</a:t>
            </a:r>
          </a:p>
          <a:p>
            <a:pPr lvl="1">
              <a:spcBef>
                <a:spcPts val="900"/>
              </a:spcBef>
            </a:pPr>
            <a:r>
              <a:rPr lang="en-US" altLang="en-US" sz="3600" dirty="0"/>
              <a:t>	Using up-to-date antivirus/anti-malware software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4824FAF-A02E-FD31-E6D5-1C07236ECC9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7F06E4FC-152B-2EA7-043F-DF857F267A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60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Image-Based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1640014412"/>
      </p:ext>
    </p:extLst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ACBB79-3280-CEDF-DF88-EAF540B12B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2C9B940-49E2-1355-8242-D2B4B15CC9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Slide </a:t>
            </a:r>
            <a:fld id="{4CA2B2DB-B91D-4166-98BF-65A0DA7EEE6D}" type="slidenum">
              <a:rPr kumimoji="0" lang="en-US" sz="1800" b="0" i="1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147</a:t>
            </a:fld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418959-7703-3AA5-166A-1CAAFA0B4CE8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2536823"/>
            <a:ext cx="16192500" cy="5883277"/>
          </a:xfrm>
        </p:spPr>
        <p:txBody>
          <a:bodyPr/>
          <a:lstStyle/>
          <a:p>
            <a:pPr marL="0" indent="0">
              <a:spcBef>
                <a:spcPts val="900"/>
              </a:spcBef>
              <a:buNone/>
            </a:pPr>
            <a:r>
              <a:rPr lang="en-US" altLang="en-US" sz="3900" b="1" dirty="0"/>
              <a:t>File-based</a:t>
            </a:r>
            <a:r>
              <a:rPr lang="en-US" altLang="en-US" sz="3900" dirty="0"/>
              <a:t> </a:t>
            </a:r>
            <a:r>
              <a:rPr lang="en-US" altLang="en-US" sz="3900" b="1" dirty="0"/>
              <a:t>threats</a:t>
            </a:r>
            <a:r>
              <a:rPr lang="en-US" altLang="en-US" sz="3900" dirty="0"/>
              <a:t> leverage common file formats such as .doc and .jpg to conceal harmful scripts and execute malicious activities.</a:t>
            </a:r>
          </a:p>
          <a:p>
            <a:pPr>
              <a:spcBef>
                <a:spcPts val="900"/>
              </a:spcBef>
            </a:pPr>
            <a:r>
              <a:rPr lang="en-US" altLang="en-US" sz="3600" dirty="0"/>
              <a:t>Malicious code is embedded within or attached to these files, which are distributed via email attachments, downloads from websites, and file-sharing services.</a:t>
            </a:r>
          </a:p>
          <a:p>
            <a:pPr>
              <a:spcBef>
                <a:spcPts val="900"/>
              </a:spcBef>
            </a:pPr>
            <a:r>
              <a:rPr lang="en-US" altLang="en-US" sz="3600" b="1" dirty="0"/>
              <a:t>Mitigation  </a:t>
            </a:r>
            <a:endParaRPr lang="en-US" altLang="en-US" sz="3600" dirty="0"/>
          </a:p>
          <a:p>
            <a:pPr lvl="1">
              <a:spcBef>
                <a:spcPts val="900"/>
              </a:spcBef>
            </a:pPr>
            <a:r>
              <a:rPr lang="en-US" altLang="en-US" sz="3600" dirty="0"/>
              <a:t>	User training and awareness</a:t>
            </a:r>
          </a:p>
          <a:p>
            <a:pPr lvl="1">
              <a:spcBef>
                <a:spcPts val="900"/>
              </a:spcBef>
            </a:pPr>
            <a:r>
              <a:rPr lang="en-US" altLang="en-US" sz="3600" dirty="0"/>
              <a:t>	File scanning</a:t>
            </a:r>
          </a:p>
          <a:p>
            <a:pPr lvl="1">
              <a:spcBef>
                <a:spcPts val="900"/>
              </a:spcBef>
            </a:pPr>
            <a:r>
              <a:rPr lang="en-US" altLang="en-US" sz="3600" dirty="0"/>
              <a:t>	Strict file permissions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ADCF50-60FD-0D64-D7E4-BD2F863B92E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A1800CA-31F4-3BF4-3E78-9EA10B1A09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60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File-Based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1287871139"/>
      </p:ext>
    </p:extLst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19D001-9FB2-A6F9-3DEF-63BEBFC359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5F9CFC0-FE75-7DC1-3B80-2856AC95D3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Slide </a:t>
            </a:r>
            <a:fld id="{4CA2B2DB-B91D-4166-98BF-65A0DA7EEE6D}" type="slidenum">
              <a:rPr kumimoji="0" lang="en-US" sz="1800" b="0" i="1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148</a:t>
            </a:fld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5E0AF4-BD4A-E176-8731-FD9E19AEBDB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2536823"/>
            <a:ext cx="16192500" cy="5883277"/>
          </a:xfrm>
        </p:spPr>
        <p:txBody>
          <a:bodyPr/>
          <a:lstStyle/>
          <a:p>
            <a:pPr marL="0" indent="0">
              <a:spcBef>
                <a:spcPts val="900"/>
              </a:spcBef>
              <a:buNone/>
            </a:pPr>
            <a:r>
              <a:rPr lang="en-US" altLang="en-US" sz="3900" b="1" dirty="0"/>
              <a:t>Voice call threats</a:t>
            </a:r>
            <a:r>
              <a:rPr lang="en-US" altLang="en-US" sz="3900" dirty="0"/>
              <a:t> involve malicious activities conducted through phone calls.</a:t>
            </a:r>
          </a:p>
          <a:p>
            <a:pPr>
              <a:spcBef>
                <a:spcPts val="900"/>
              </a:spcBef>
            </a:pPr>
            <a:r>
              <a:rPr lang="en-US" altLang="en-US" sz="3600" dirty="0"/>
              <a:t>Attackers aim to deceive or manipulate individuals into disclosing information by pretending to be trusted entities.</a:t>
            </a:r>
          </a:p>
          <a:p>
            <a:pPr>
              <a:spcBef>
                <a:spcPts val="900"/>
              </a:spcBef>
            </a:pPr>
            <a:r>
              <a:rPr lang="en-US" altLang="en-US" sz="3600" b="1" dirty="0"/>
              <a:t>Mitigation  </a:t>
            </a:r>
            <a:endParaRPr lang="en-US" altLang="en-US" sz="3600" dirty="0"/>
          </a:p>
          <a:p>
            <a:pPr lvl="1">
              <a:spcBef>
                <a:spcPts val="900"/>
              </a:spcBef>
            </a:pPr>
            <a:r>
              <a:rPr lang="en-US" altLang="en-US" sz="3600" dirty="0"/>
              <a:t>	User training and awareness</a:t>
            </a:r>
          </a:p>
          <a:p>
            <a:pPr lvl="1">
              <a:spcBef>
                <a:spcPts val="900"/>
              </a:spcBef>
            </a:pPr>
            <a:r>
              <a:rPr lang="en-US" altLang="en-US" sz="3600" dirty="0"/>
              <a:t>	Secure call authentication  </a:t>
            </a:r>
          </a:p>
          <a:p>
            <a:pPr lvl="1">
              <a:spcBef>
                <a:spcPts val="900"/>
              </a:spcBef>
            </a:pPr>
            <a:r>
              <a:rPr lang="en-US" altLang="en-US" sz="3600" dirty="0"/>
              <a:t>	Report suspicious calls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C205D5A-BEAB-FAAE-F1A8-A24FD910934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72B2880F-40AC-DFAE-255D-D272174680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60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Voice Call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2999976312"/>
      </p:ext>
    </p:extLst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809C4C-AE5F-4CAA-EFEC-6A5CA96DA7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5E1A25A-BA65-7DCC-23F7-6DDAE8FCA8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Slide </a:t>
            </a:r>
            <a:fld id="{4CA2B2DB-B91D-4166-98BF-65A0DA7EEE6D}" type="slidenum">
              <a:rPr kumimoji="0" lang="en-US" sz="1800" b="0" i="1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149</a:t>
            </a:fld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A4579E-5964-BC18-D91F-7B862131546C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2536823"/>
            <a:ext cx="16192500" cy="5883277"/>
          </a:xfrm>
        </p:spPr>
        <p:txBody>
          <a:bodyPr/>
          <a:lstStyle/>
          <a:p>
            <a:pPr marL="0" indent="0">
              <a:spcBef>
                <a:spcPts val="900"/>
              </a:spcBef>
              <a:buNone/>
            </a:pPr>
            <a:r>
              <a:rPr lang="en-US" altLang="en-US" sz="3900" b="1" dirty="0"/>
              <a:t>Removable device threats</a:t>
            </a:r>
            <a:r>
              <a:rPr lang="en-US" altLang="en-US" sz="3900" dirty="0"/>
              <a:t> involve using portable storage devices that transmit malware. Examples are USB drives, external hard drives, and memory cards.</a:t>
            </a:r>
          </a:p>
          <a:p>
            <a:pPr>
              <a:spcBef>
                <a:spcPts val="900"/>
              </a:spcBef>
            </a:pPr>
            <a:r>
              <a:rPr lang="en-US" altLang="en-US" sz="3600" dirty="0"/>
              <a:t>When an infected device connects to a computer, it may execute malicious code and spread malware to connected systems.</a:t>
            </a:r>
          </a:p>
          <a:p>
            <a:pPr>
              <a:spcBef>
                <a:spcPts val="900"/>
              </a:spcBef>
            </a:pPr>
            <a:r>
              <a:rPr lang="en-US" altLang="en-US" sz="3600" b="1" dirty="0"/>
              <a:t>Mitigation  </a:t>
            </a:r>
            <a:endParaRPr lang="en-US" altLang="en-US" sz="3600" dirty="0"/>
          </a:p>
          <a:p>
            <a:pPr lvl="1">
              <a:spcBef>
                <a:spcPts val="900"/>
              </a:spcBef>
            </a:pPr>
            <a:r>
              <a:rPr lang="en-US" altLang="en-US" sz="3600" dirty="0"/>
              <a:t>	User training and awareness</a:t>
            </a:r>
          </a:p>
          <a:p>
            <a:pPr lvl="1">
              <a:spcBef>
                <a:spcPts val="900"/>
              </a:spcBef>
            </a:pPr>
            <a:r>
              <a:rPr lang="en-US" altLang="en-US" sz="3600" dirty="0"/>
              <a:t>	Scan devices for malware</a:t>
            </a:r>
          </a:p>
          <a:p>
            <a:pPr lvl="1">
              <a:spcBef>
                <a:spcPts val="900"/>
              </a:spcBef>
            </a:pPr>
            <a:r>
              <a:rPr lang="en-US" altLang="en-US" sz="3600" dirty="0"/>
              <a:t>	Restrict device use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4AD2FF2-6800-7A0C-E9F8-E256A2B9331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0BEF803-3FC1-4087-1C33-5D7E6240EF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60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Removable Device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1982302886"/>
      </p:ext>
    </p:extLst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62E044-4657-E572-11E9-D728DA4E74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B8762B8-8678-8A71-98FF-99C45EB441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Slide </a:t>
            </a:r>
            <a:fld id="{4CA2B2DB-B91D-4166-98BF-65A0DA7EEE6D}" type="slidenum">
              <a:rPr kumimoji="0" lang="en-US" sz="1800" b="0" i="1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150</a:t>
            </a:fld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D5E43F-FDF5-B298-FFEB-A58B15E6AF5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2536823"/>
            <a:ext cx="16192500" cy="5883277"/>
          </a:xfrm>
        </p:spPr>
        <p:txBody>
          <a:bodyPr/>
          <a:lstStyle/>
          <a:p>
            <a:pPr marL="0" indent="0">
              <a:spcBef>
                <a:spcPts val="900"/>
              </a:spcBef>
              <a:buNone/>
            </a:pPr>
            <a:r>
              <a:rPr lang="en-US" altLang="en-US" sz="3900" b="1" dirty="0"/>
              <a:t>Vulnerable software </a:t>
            </a:r>
            <a:r>
              <a:rPr lang="en-US" altLang="en-US" sz="3900" dirty="0"/>
              <a:t>has exploitable flaws or weaknesses in its code or design. </a:t>
            </a:r>
          </a:p>
          <a:p>
            <a:pPr>
              <a:spcBef>
                <a:spcPts val="900"/>
              </a:spcBef>
            </a:pPr>
            <a:r>
              <a:rPr lang="en-US" altLang="en-US" sz="3600" dirty="0"/>
              <a:t>Two approaches help protect vulnerable software  </a:t>
            </a:r>
          </a:p>
          <a:p>
            <a:pPr lvl="1">
              <a:spcBef>
                <a:spcPts val="900"/>
              </a:spcBef>
            </a:pPr>
            <a:r>
              <a:rPr lang="en-US" altLang="en-US" sz="3300" b="1" dirty="0"/>
              <a:t>	Client-based security</a:t>
            </a:r>
            <a:r>
              <a:rPr lang="en-US" altLang="en-US" sz="3300" dirty="0"/>
              <a:t> involves installing software agents on client devices for 	active monitoring and protection.  </a:t>
            </a:r>
          </a:p>
          <a:p>
            <a:pPr lvl="1">
              <a:spcBef>
                <a:spcPts val="900"/>
              </a:spcBef>
            </a:pPr>
            <a:r>
              <a:rPr lang="en-US" altLang="en-US" sz="3300" b="1" dirty="0"/>
              <a:t>	Agentless security </a:t>
            </a:r>
            <a:r>
              <a:rPr lang="en-US" altLang="en-US" sz="3300" dirty="0"/>
              <a:t>is centralized; it enables monitoring and protection without 	installing software on individual client devices.</a:t>
            </a:r>
            <a:endParaRPr lang="en-US" altLang="en-US" sz="3300" b="1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8101EEB-1568-39B0-6AFC-A3BCB0335C8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496E8A1-5ACE-06FE-63E8-61D713F9BE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60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Vulnerable Software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903263113"/>
      </p:ext>
    </p:extLst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04A2B6-CA62-9755-DBA1-81F74D2439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738B5E3-145D-0BF8-F7C8-2A73DA9834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Slide </a:t>
            </a:r>
            <a:fld id="{4CA2B2DB-B91D-4166-98BF-65A0DA7EEE6D}" type="slidenum">
              <a:rPr kumimoji="0" lang="en-US" sz="1800" b="0" i="1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151</a:t>
            </a:fld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E5DAA4-9394-9403-5D1E-DDD2A51F2AA4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2536823"/>
            <a:ext cx="16192500" cy="5883277"/>
          </a:xfrm>
        </p:spPr>
        <p:txBody>
          <a:bodyPr/>
          <a:lstStyle/>
          <a:p>
            <a:pPr marL="0" indent="0">
              <a:spcBef>
                <a:spcPts val="900"/>
              </a:spcBef>
              <a:buNone/>
            </a:pPr>
            <a:r>
              <a:rPr lang="en-US" altLang="en-US" sz="3900" b="1" dirty="0"/>
              <a:t>Unsupported systems and applications </a:t>
            </a:r>
            <a:r>
              <a:rPr lang="en-US" altLang="en-US" sz="3900" dirty="0"/>
              <a:t>are software tools or platforms lacking regular updates, security patches, or technical support from developers or vendors. </a:t>
            </a:r>
          </a:p>
          <a:p>
            <a:pPr>
              <a:spcBef>
                <a:spcPts val="900"/>
              </a:spcBef>
            </a:pPr>
            <a:r>
              <a:rPr lang="en-US" altLang="en-US" sz="3600" dirty="0"/>
              <a:t>May occur when software reaches its official end-of-life (EOL) or a company goes out of business</a:t>
            </a:r>
          </a:p>
          <a:p>
            <a:pPr>
              <a:spcBef>
                <a:spcPts val="900"/>
              </a:spcBef>
            </a:pPr>
            <a:r>
              <a:rPr lang="en-US" altLang="en-US" sz="3600" dirty="0"/>
              <a:t>Unaddressed vulnerabilities are prime targets for cybercriminals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DB6782B-1D38-49D0-820E-02655B65A85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0B7FCC5D-97F4-5AC4-82D4-C8CBEF28F7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60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Unsupported Systems and Applications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306911216"/>
      </p:ext>
    </p:extLst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4DBACA-0164-A865-474F-B4F5FE47B1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5178A8F-3429-FE98-3F93-D6DD0157E4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Slide </a:t>
            </a:r>
            <a:fld id="{4CA2B2DB-B91D-4166-98BF-65A0DA7EEE6D}" type="slidenum">
              <a:rPr kumimoji="0" lang="en-US" sz="1800" b="0" i="1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152</a:t>
            </a:fld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07EC0B-6E18-219B-6077-E66F8AB07B78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2536823"/>
            <a:ext cx="16192500" cy="5883277"/>
          </a:xfrm>
        </p:spPr>
        <p:txBody>
          <a:bodyPr/>
          <a:lstStyle/>
          <a:p>
            <a:pPr marL="0" indent="0">
              <a:spcBef>
                <a:spcPts val="900"/>
              </a:spcBef>
              <a:buNone/>
            </a:pPr>
            <a:r>
              <a:rPr lang="en-US" altLang="en-US" sz="4000" b="1" dirty="0"/>
              <a:t>Unsecure networks</a:t>
            </a:r>
            <a:r>
              <a:rPr lang="en-US" altLang="en-US" sz="4000" dirty="0"/>
              <a:t> lack appropriate security measures. They expose individuals and organizations to cyber threats such as data theft, unauthorized access, and remote device control. These include: </a:t>
            </a:r>
            <a:endParaRPr lang="en-US" altLang="en-US" sz="4000" b="1" dirty="0"/>
          </a:p>
          <a:p>
            <a:pPr>
              <a:spcBef>
                <a:spcPts val="900"/>
              </a:spcBef>
            </a:pPr>
            <a:r>
              <a:rPr lang="en-US" altLang="en-US" sz="3600" b="1" dirty="0"/>
              <a:t>Wireless networks</a:t>
            </a:r>
            <a:r>
              <a:rPr lang="en-US" altLang="en-US" sz="3600" dirty="0"/>
              <a:t>: Vulnerable to unauthorized access and eavesdropping if improperly configured or lacking encryption</a:t>
            </a:r>
          </a:p>
          <a:p>
            <a:pPr>
              <a:spcBef>
                <a:spcPts val="900"/>
              </a:spcBef>
            </a:pPr>
            <a:r>
              <a:rPr lang="en-US" altLang="en-US" sz="3600" b="1" dirty="0"/>
              <a:t>Wired networks</a:t>
            </a:r>
            <a:r>
              <a:rPr lang="en-US" altLang="en-US" sz="3600" dirty="0"/>
              <a:t>: More secure than wireless networks, but vulnerable without proper segmentation and access controls</a:t>
            </a:r>
          </a:p>
          <a:p>
            <a:pPr>
              <a:spcBef>
                <a:spcPts val="900"/>
              </a:spcBef>
            </a:pPr>
            <a:r>
              <a:rPr lang="en-US" altLang="en-US" sz="3600" b="1" dirty="0"/>
              <a:t>Bluetooth networks</a:t>
            </a:r>
            <a:r>
              <a:rPr lang="en-US" altLang="en-US" sz="3600" dirty="0"/>
              <a:t>: Exploitable if devices are set to “Discoverable" mode or if Bluetooth vulnerabilities are not patched 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8C5AADC-BB53-D244-5FD8-784C1BD2E80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23386AC8-D8CB-195E-2FCE-AE06690B12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60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Unsecure Networks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2630268"/>
      </p:ext>
    </p:extLst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687209-055F-AE30-84C7-EE4B68BF03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605FDFC-624D-F7C7-D95F-40C30AE3E8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Slide </a:t>
            </a:r>
            <a:fld id="{4CA2B2DB-B91D-4166-98BF-65A0DA7EEE6D}" type="slidenum">
              <a:rPr kumimoji="0" lang="en-US" sz="1800" b="0" i="1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153</a:t>
            </a:fld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4F1346-2855-30E3-0B70-CD6A126C07D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2536823"/>
            <a:ext cx="16192500" cy="5883277"/>
          </a:xfrm>
        </p:spPr>
        <p:txBody>
          <a:bodyPr/>
          <a:lstStyle/>
          <a:p>
            <a:pPr marL="0" indent="0">
              <a:spcBef>
                <a:spcPts val="900"/>
              </a:spcBef>
              <a:buNone/>
            </a:pPr>
            <a:r>
              <a:rPr lang="en-US" altLang="en-US" sz="3900" b="1" dirty="0"/>
              <a:t>Open service </a:t>
            </a:r>
            <a:r>
              <a:rPr lang="en-US" altLang="en-US" sz="3900" dirty="0"/>
              <a:t>ports are network communication endpoints that are accessible and unguarded.</a:t>
            </a:r>
          </a:p>
          <a:p>
            <a:pPr>
              <a:spcBef>
                <a:spcPts val="900"/>
              </a:spcBef>
            </a:pPr>
            <a:r>
              <a:rPr lang="en-US" altLang="en-US" sz="3600" b="1" dirty="0"/>
              <a:t>Mitigation  </a:t>
            </a:r>
            <a:endParaRPr lang="en-US" altLang="en-US" sz="3600" dirty="0"/>
          </a:p>
          <a:p>
            <a:pPr lvl="1">
              <a:spcBef>
                <a:spcPts val="900"/>
              </a:spcBef>
            </a:pPr>
            <a:r>
              <a:rPr lang="en-US" altLang="en-US" sz="3600" dirty="0"/>
              <a:t>	Firewall configuration</a:t>
            </a:r>
          </a:p>
          <a:p>
            <a:pPr lvl="1">
              <a:spcBef>
                <a:spcPts val="900"/>
              </a:spcBef>
            </a:pPr>
            <a:r>
              <a:rPr lang="en-US" altLang="en-US" sz="3600" dirty="0"/>
              <a:t>	Port scanning</a:t>
            </a:r>
          </a:p>
          <a:p>
            <a:pPr lvl="1">
              <a:spcBef>
                <a:spcPts val="900"/>
              </a:spcBef>
            </a:pPr>
            <a:r>
              <a:rPr lang="en-US" altLang="en-US" sz="3600" dirty="0"/>
              <a:t>	Monitoring and logging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BA2444E-DE79-8C2E-25B1-6100B8FAAE5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723650C3-09CE-3D6A-8758-EAD3B75C6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60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Open Service Ports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1707658867"/>
      </p:ext>
    </p:extLst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DAA02D-7C98-48C9-ADEE-C19F1289C3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FA62BF4-B5C9-6FF6-B205-31C04267E0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Slide </a:t>
            </a:r>
            <a:fld id="{4CA2B2DB-B91D-4166-98BF-65A0DA7EEE6D}" type="slidenum">
              <a:rPr kumimoji="0" lang="en-US" sz="1800" b="0" i="1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154</a:t>
            </a:fld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BF85F5-3080-34A0-1029-743A2E16885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2536823"/>
            <a:ext cx="16192500" cy="5883277"/>
          </a:xfrm>
        </p:spPr>
        <p:txBody>
          <a:bodyPr/>
          <a:lstStyle/>
          <a:p>
            <a:pPr marL="0" indent="0">
              <a:spcBef>
                <a:spcPts val="900"/>
              </a:spcBef>
              <a:buNone/>
            </a:pPr>
            <a:r>
              <a:rPr lang="en-US" altLang="en-US" sz="4400" b="1" dirty="0"/>
              <a:t>Default credentials </a:t>
            </a:r>
            <a:r>
              <a:rPr lang="en-US" altLang="en-US" sz="4400" dirty="0"/>
              <a:t>are the simple default passwords that ship with hardware and software.</a:t>
            </a:r>
          </a:p>
          <a:p>
            <a:pPr>
              <a:spcBef>
                <a:spcPts val="900"/>
              </a:spcBef>
            </a:pPr>
            <a:r>
              <a:rPr lang="en-US" altLang="en-US" sz="4000" dirty="0"/>
              <a:t>Default credentials pose significant security risks, yet organizations often leave them unchanged. </a:t>
            </a:r>
          </a:p>
          <a:p>
            <a:pPr>
              <a:spcBef>
                <a:spcPts val="900"/>
              </a:spcBef>
            </a:pPr>
            <a:r>
              <a:rPr lang="en-US" altLang="en-US" sz="4000" dirty="0"/>
              <a:t>Credential harvesting exacerbates the problem. Attackers post harvested usernames and passwords on platforms like Pastebin and GitHub.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10C35F7-19B9-1E00-A65B-155D8CA104C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2177DB9E-6472-AE44-799C-86F07474F5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60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Default Credentials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873106777"/>
      </p:ext>
    </p:extLst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9DDA6A-3608-E269-9C55-7C5D107DD9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2158D17-8E90-D287-4C95-D0585E85FF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Slide </a:t>
            </a:r>
            <a:fld id="{4CA2B2DB-B91D-4166-98BF-65A0DA7EEE6D}" type="slidenum">
              <a:rPr kumimoji="0" lang="en-US" sz="1800" b="0" i="1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155</a:t>
            </a:fld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6870E2-2F06-2A63-2DC2-CD49000DEA2B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2536823"/>
            <a:ext cx="16192500" cy="5883277"/>
          </a:xfrm>
        </p:spPr>
        <p:txBody>
          <a:bodyPr/>
          <a:lstStyle/>
          <a:p>
            <a:pPr marL="0" indent="0">
              <a:spcBef>
                <a:spcPts val="900"/>
              </a:spcBef>
              <a:buNone/>
            </a:pPr>
            <a:r>
              <a:rPr lang="en-US" altLang="en-US" sz="4000" dirty="0"/>
              <a:t>A </a:t>
            </a:r>
            <a:r>
              <a:rPr lang="en-US" altLang="en-US" sz="4000" b="1" dirty="0"/>
              <a:t>supply </a:t>
            </a:r>
            <a:r>
              <a:rPr lang="en-US" altLang="en-US" sz="4000" dirty="0"/>
              <a:t>chain is a network of organizations, resources, and processes involved in creating, producing, and delivering products or services.</a:t>
            </a:r>
          </a:p>
          <a:p>
            <a:pPr>
              <a:spcBef>
                <a:spcPts val="900"/>
              </a:spcBef>
            </a:pPr>
            <a:r>
              <a:rPr lang="en-US" altLang="en-US" sz="3600" b="1" dirty="0"/>
              <a:t>Managed Service Providers (MSPs): </a:t>
            </a:r>
            <a:r>
              <a:rPr lang="en-US" altLang="en-US" sz="3600" dirty="0"/>
              <a:t>Organizations that manage IT services for other companies, offering efficiency but potentially introducing risks  </a:t>
            </a:r>
          </a:p>
          <a:p>
            <a:pPr>
              <a:spcBef>
                <a:spcPts val="900"/>
              </a:spcBef>
            </a:pPr>
            <a:r>
              <a:rPr lang="en-US" altLang="en-US" sz="3600" b="1" dirty="0"/>
              <a:t>Vendors</a:t>
            </a:r>
            <a:r>
              <a:rPr lang="en-US" altLang="en-US" sz="3600" dirty="0"/>
              <a:t>: Companies providing products or services to other businesses </a:t>
            </a:r>
          </a:p>
          <a:p>
            <a:pPr>
              <a:spcBef>
                <a:spcPts val="900"/>
              </a:spcBef>
            </a:pPr>
            <a:r>
              <a:rPr lang="en-US" altLang="en-US" sz="3600" b="1" dirty="0"/>
              <a:t>Suppliers:</a:t>
            </a:r>
            <a:r>
              <a:rPr lang="en-US" altLang="en-US" sz="3600" dirty="0"/>
              <a:t> Providers of raw materials or components used in manufacturing 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527055D-E919-28CA-EDCF-F9E2676C0E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EC4DF290-ABD3-EF20-2FB7-398D82293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60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Supply Chain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1115014642"/>
      </p:ext>
    </p:extLst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307208-15BB-9A04-52CC-E328F02222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30FE1C1-443B-E1E0-B34C-B47861677C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Slide </a:t>
            </a:r>
            <a:fld id="{4CA2B2DB-B91D-4166-98BF-65A0DA7EEE6D}" type="slidenum">
              <a:rPr kumimoji="0" lang="en-US" sz="1800" b="0" i="1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156</a:t>
            </a:fld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CB812D-2F12-338B-11B3-FA421CC8C1D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2536823"/>
            <a:ext cx="16192500" cy="5883277"/>
          </a:xfrm>
        </p:spPr>
        <p:txBody>
          <a:bodyPr/>
          <a:lstStyle/>
          <a:p>
            <a:pPr marL="0" indent="0">
              <a:spcBef>
                <a:spcPts val="900"/>
              </a:spcBef>
              <a:buNone/>
            </a:pPr>
            <a:r>
              <a:rPr lang="en-US" altLang="en-US" sz="4000" b="1" dirty="0"/>
              <a:t>Analysis</a:t>
            </a:r>
            <a:r>
              <a:rPr lang="en-US" altLang="en-US" sz="4000" dirty="0"/>
              <a:t>: Transforms raw data about vulnerabilities and threats into comprehensive insights</a:t>
            </a:r>
          </a:p>
          <a:p>
            <a:pPr>
              <a:spcBef>
                <a:spcPts val="900"/>
              </a:spcBef>
            </a:pPr>
            <a:r>
              <a:rPr lang="en-US" altLang="en-US" sz="3600" b="1" dirty="0"/>
              <a:t>Common Vulnerability Scoring System (CVSS)</a:t>
            </a:r>
            <a:r>
              <a:rPr lang="en-US" altLang="en-US" sz="3600" dirty="0"/>
              <a:t>: Industry-standard tool for evaluating the severity and urgency of vulnerabilities; assigns scores from zero to 10</a:t>
            </a:r>
          </a:p>
          <a:p>
            <a:pPr>
              <a:spcBef>
                <a:spcPts val="900"/>
              </a:spcBef>
            </a:pPr>
            <a:r>
              <a:rPr lang="en-US" altLang="en-US" sz="3600" b="1" dirty="0"/>
              <a:t>Common Vulnerability Enumeration (CVE)</a:t>
            </a:r>
            <a:r>
              <a:rPr lang="en-US" altLang="en-US" sz="3600" dirty="0"/>
              <a:t>:</a:t>
            </a:r>
            <a:r>
              <a:rPr lang="en-US" altLang="en-US" sz="3600" b="1" dirty="0"/>
              <a:t> </a:t>
            </a:r>
            <a:r>
              <a:rPr lang="en-US" altLang="en-US" sz="3600" dirty="0"/>
              <a:t>Standardized system for cataloging security flaws; provides historical data about remediation</a:t>
            </a:r>
          </a:p>
          <a:p>
            <a:pPr>
              <a:spcBef>
                <a:spcPts val="900"/>
              </a:spcBef>
            </a:pPr>
            <a:r>
              <a:rPr lang="en-US" altLang="en-US" sz="3600" b="1" dirty="0"/>
              <a:t>Vulnerability Classification: </a:t>
            </a:r>
            <a:r>
              <a:rPr lang="en-US" altLang="en-US" sz="3600" dirty="0"/>
              <a:t>Organized categorization of vulnerabilities based on nature, risk level, affected component, or potential impact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0B48F3-5B9C-282A-1EB6-9F46D6B819B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4D49E93F-B524-6859-5151-BE8BED2CF0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60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Analysis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3882108296"/>
      </p:ext>
    </p:extLst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C16807-0167-6F67-FDFF-0DFFDC4711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DC34D92-5DD1-1289-6091-73A2262DD6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Slide </a:t>
            </a:r>
            <a:fld id="{4CA2B2DB-B91D-4166-98BF-65A0DA7EEE6D}" type="slidenum">
              <a:rPr kumimoji="0" lang="en-US" sz="1800" b="0" i="1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157</a:t>
            </a:fld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A87984-E041-D344-324C-55EFA674B02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2536823"/>
            <a:ext cx="16192500" cy="5883277"/>
          </a:xfrm>
        </p:spPr>
        <p:txBody>
          <a:bodyPr/>
          <a:lstStyle/>
          <a:p>
            <a:pPr marL="0" indent="0">
              <a:spcBef>
                <a:spcPts val="900"/>
              </a:spcBef>
              <a:buNone/>
            </a:pPr>
            <a:r>
              <a:rPr lang="en-US" altLang="en-US" sz="3900" dirty="0"/>
              <a:t>A </a:t>
            </a:r>
            <a:r>
              <a:rPr lang="en-US" altLang="en-US" sz="3900" b="1" dirty="0"/>
              <a:t>zero-day vulnerability</a:t>
            </a:r>
            <a:r>
              <a:rPr lang="en-US" altLang="en-US" sz="3900" dirty="0"/>
              <a:t> is a flaw that’s disclosed before its patch is released.</a:t>
            </a:r>
            <a:r>
              <a:rPr lang="en-US" altLang="en-US" sz="3900" b="1" dirty="0"/>
              <a:t>  </a:t>
            </a:r>
            <a:endParaRPr lang="en-US" altLang="en-US" sz="3900" dirty="0"/>
          </a:p>
          <a:p>
            <a:pPr>
              <a:spcBef>
                <a:spcPts val="900"/>
              </a:spcBef>
            </a:pPr>
            <a:r>
              <a:rPr lang="en-US" altLang="en-US" sz="3600" b="1" dirty="0"/>
              <a:t>Zero-day protection </a:t>
            </a:r>
            <a:r>
              <a:rPr lang="en-US" altLang="en-US" sz="3600" dirty="0"/>
              <a:t>is a collective term for the related preventive measures: </a:t>
            </a:r>
            <a:endParaRPr lang="en-US" altLang="en-US" sz="3600" b="1" dirty="0"/>
          </a:p>
          <a:p>
            <a:pPr lvl="1">
              <a:spcBef>
                <a:spcPts val="900"/>
              </a:spcBef>
            </a:pPr>
            <a:r>
              <a:rPr lang="en-US" altLang="en-US" sz="3300" dirty="0"/>
              <a:t>	Use a new OS with built-in protections </a:t>
            </a:r>
          </a:p>
          <a:p>
            <a:pPr lvl="1">
              <a:spcBef>
                <a:spcPts val="900"/>
              </a:spcBef>
            </a:pPr>
            <a:r>
              <a:rPr lang="en-US" altLang="en-US" sz="3300" dirty="0"/>
              <a:t>	Use multiple firewall layers</a:t>
            </a:r>
          </a:p>
          <a:p>
            <a:pPr lvl="1">
              <a:spcBef>
                <a:spcPts val="900"/>
              </a:spcBef>
            </a:pPr>
            <a:r>
              <a:rPr lang="en-US" altLang="en-US" sz="3300" dirty="0"/>
              <a:t>	Use approved application lists</a:t>
            </a:r>
          </a:p>
          <a:p>
            <a:pPr lvl="1">
              <a:spcBef>
                <a:spcPts val="900"/>
              </a:spcBef>
            </a:pPr>
            <a:r>
              <a:rPr lang="en-US" altLang="en-US" sz="3300" dirty="0"/>
              <a:t>	Install updates/patches regularly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D17E92F-C221-B184-FA76-9EA844C44EB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BEFD1F68-3A1C-CD2F-1D0E-F3EA84FA52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60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Zero-Day Vulnerabilities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1710835939"/>
      </p:ext>
    </p:extLst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15194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591DCF1-3524-7E38-5EE4-241A626CFB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654AB2AE-5E00-89C7-97C6-27B67944982D}"/>
              </a:ext>
            </a:extLst>
          </p:cNvPr>
          <p:cNvGrpSpPr/>
          <p:nvPr/>
        </p:nvGrpSpPr>
        <p:grpSpPr>
          <a:xfrm rot="-5400000">
            <a:off x="12015831" y="4014831"/>
            <a:ext cx="10287000" cy="2257339"/>
            <a:chOff x="0" y="0"/>
            <a:chExt cx="2709333" cy="59452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2D059515-574D-0A50-EE57-4C392C789D74}"/>
                </a:ext>
              </a:extLst>
            </p:cNvPr>
            <p:cNvSpPr/>
            <p:nvPr/>
          </p:nvSpPr>
          <p:spPr>
            <a:xfrm>
              <a:off x="0" y="0"/>
              <a:ext cx="2709333" cy="594525"/>
            </a:xfrm>
            <a:custGeom>
              <a:avLst/>
              <a:gdLst/>
              <a:ahLst/>
              <a:cxnLst/>
              <a:rect l="l" t="t" r="r" b="b"/>
              <a:pathLst>
                <a:path w="2709333" h="594525">
                  <a:moveTo>
                    <a:pt x="0" y="0"/>
                  </a:moveTo>
                  <a:lnTo>
                    <a:pt x="2709333" y="0"/>
                  </a:lnTo>
                  <a:lnTo>
                    <a:pt x="2709333" y="594525"/>
                  </a:lnTo>
                  <a:lnTo>
                    <a:pt x="0" y="594525"/>
                  </a:lnTo>
                  <a:close/>
                </a:path>
              </a:pathLst>
            </a:custGeom>
            <a:solidFill>
              <a:srgbClr val="0283FD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0795E95E-8EE3-26C2-8992-DBDD1A502024}"/>
                </a:ext>
              </a:extLst>
            </p:cNvPr>
            <p:cNvSpPr txBox="1"/>
            <p:nvPr/>
          </p:nvSpPr>
          <p:spPr>
            <a:xfrm>
              <a:off x="0" y="-66675"/>
              <a:ext cx="2709333" cy="6612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3024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0E528896-ADB5-80E4-1DE7-FC89B2F594A0}"/>
              </a:ext>
            </a:extLst>
          </p:cNvPr>
          <p:cNvGrpSpPr/>
          <p:nvPr/>
        </p:nvGrpSpPr>
        <p:grpSpPr>
          <a:xfrm>
            <a:off x="179467" y="6643814"/>
            <a:ext cx="8126333" cy="3488267"/>
            <a:chOff x="0" y="0"/>
            <a:chExt cx="844714" cy="36259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3949CE20-CA01-B07C-6CB0-D2556B919A14}"/>
                </a:ext>
              </a:extLst>
            </p:cNvPr>
            <p:cNvSpPr/>
            <p:nvPr/>
          </p:nvSpPr>
          <p:spPr>
            <a:xfrm>
              <a:off x="0" y="0"/>
              <a:ext cx="844714" cy="362598"/>
            </a:xfrm>
            <a:custGeom>
              <a:avLst/>
              <a:gdLst/>
              <a:ahLst/>
              <a:cxnLst/>
              <a:rect l="l" t="t" r="r" b="b"/>
              <a:pathLst>
                <a:path w="844714" h="362598">
                  <a:moveTo>
                    <a:pt x="203200" y="0"/>
                  </a:moveTo>
                  <a:lnTo>
                    <a:pt x="844714" y="0"/>
                  </a:lnTo>
                  <a:lnTo>
                    <a:pt x="641514" y="362598"/>
                  </a:lnTo>
                  <a:lnTo>
                    <a:pt x="0" y="362598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283FD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01A1F81D-3822-8FE4-E4F8-0C2F6CFEA2F2}"/>
                </a:ext>
              </a:extLst>
            </p:cNvPr>
            <p:cNvSpPr txBox="1"/>
            <p:nvPr/>
          </p:nvSpPr>
          <p:spPr>
            <a:xfrm>
              <a:off x="101600" y="-28575"/>
              <a:ext cx="641514" cy="391173"/>
            </a:xfrm>
            <a:prstGeom prst="rect">
              <a:avLst/>
            </a:prstGeom>
          </p:spPr>
          <p:txBody>
            <a:bodyPr lIns="47790" tIns="47790" rIns="47790" bIns="4779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1843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CA993169-8D53-32D2-17FF-2548CF2231A4}"/>
              </a:ext>
            </a:extLst>
          </p:cNvPr>
          <p:cNvGrpSpPr/>
          <p:nvPr/>
        </p:nvGrpSpPr>
        <p:grpSpPr>
          <a:xfrm>
            <a:off x="-73552" y="7047924"/>
            <a:ext cx="16030661" cy="3336996"/>
            <a:chOff x="0" y="0"/>
            <a:chExt cx="6165409" cy="1271237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5203C0C6-C50E-DC60-A001-5572A990FF80}"/>
                </a:ext>
              </a:extLst>
            </p:cNvPr>
            <p:cNvSpPr/>
            <p:nvPr/>
          </p:nvSpPr>
          <p:spPr>
            <a:xfrm>
              <a:off x="0" y="0"/>
              <a:ext cx="6165409" cy="1271237"/>
            </a:xfrm>
            <a:custGeom>
              <a:avLst/>
              <a:gdLst/>
              <a:ahLst/>
              <a:cxnLst/>
              <a:rect l="l" t="t" r="r" b="b"/>
              <a:pathLst>
                <a:path w="6165409" h="1271237">
                  <a:moveTo>
                    <a:pt x="0" y="0"/>
                  </a:moveTo>
                  <a:lnTo>
                    <a:pt x="6165409" y="0"/>
                  </a:lnTo>
                  <a:lnTo>
                    <a:pt x="6165409" y="1271237"/>
                  </a:lnTo>
                  <a:lnTo>
                    <a:pt x="0" y="127123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D2BC5AE9-DF39-C04A-ED10-4543B7F90468}"/>
                </a:ext>
              </a:extLst>
            </p:cNvPr>
            <p:cNvSpPr txBox="1"/>
            <p:nvPr/>
          </p:nvSpPr>
          <p:spPr>
            <a:xfrm>
              <a:off x="0" y="-28575"/>
              <a:ext cx="6165409" cy="1299812"/>
            </a:xfrm>
            <a:prstGeom prst="rect">
              <a:avLst/>
            </a:prstGeom>
          </p:spPr>
          <p:txBody>
            <a:bodyPr lIns="47790" tIns="47790" rIns="47790" bIns="4779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1843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sp>
        <p:nvSpPr>
          <p:cNvPr id="12" name="TextBox 12">
            <a:extLst>
              <a:ext uri="{FF2B5EF4-FFF2-40B4-BE49-F238E27FC236}">
                <a16:creationId xmlns:a16="http://schemas.microsoft.com/office/drawing/2014/main" id="{CB06492D-2944-DAB3-B266-4D6A07A7588D}"/>
              </a:ext>
            </a:extLst>
          </p:cNvPr>
          <p:cNvSpPr txBox="1"/>
          <p:nvPr/>
        </p:nvSpPr>
        <p:spPr>
          <a:xfrm>
            <a:off x="1111666" y="3432993"/>
            <a:ext cx="14771892" cy="598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4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Day 2 – Block 6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3D223E73-B520-EDB4-64FC-630C8BF93BD2}"/>
              </a:ext>
            </a:extLst>
          </p:cNvPr>
          <p:cNvSpPr txBox="1"/>
          <p:nvPr/>
        </p:nvSpPr>
        <p:spPr>
          <a:xfrm>
            <a:off x="1111666" y="9653992"/>
            <a:ext cx="12263263" cy="3619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0" i="0" u="none" strike="noStrike" kern="1200" cap="none" spc="0" normalizeH="0" baseline="0" noProof="0">
                <a:ln>
                  <a:noFill/>
                </a:ln>
                <a:solidFill>
                  <a:srgbClr val="252525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CALIFORNIA INSTITUTE OF APPLIED TECHNOLOGY</a:t>
            </a:r>
          </a:p>
        </p:txBody>
      </p:sp>
      <p:sp>
        <p:nvSpPr>
          <p:cNvPr id="15" name="AutoShape 15">
            <a:extLst>
              <a:ext uri="{FF2B5EF4-FFF2-40B4-BE49-F238E27FC236}">
                <a16:creationId xmlns:a16="http://schemas.microsoft.com/office/drawing/2014/main" id="{81267C68-468A-223E-223B-B07209107083}"/>
              </a:ext>
            </a:extLst>
          </p:cNvPr>
          <p:cNvSpPr/>
          <p:nvPr/>
        </p:nvSpPr>
        <p:spPr>
          <a:xfrm>
            <a:off x="8010568" y="9858838"/>
            <a:ext cx="7625672" cy="0"/>
          </a:xfrm>
          <a:prstGeom prst="line">
            <a:avLst/>
          </a:prstGeom>
          <a:ln w="19050" cap="flat">
            <a:solidFill>
              <a:srgbClr val="0283F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7" name="Freeform 5">
            <a:extLst>
              <a:ext uri="{FF2B5EF4-FFF2-40B4-BE49-F238E27FC236}">
                <a16:creationId xmlns:a16="http://schemas.microsoft.com/office/drawing/2014/main" id="{9BFE6F03-E856-8712-FCBD-56802CA58D63}"/>
              </a:ext>
            </a:extLst>
          </p:cNvPr>
          <p:cNvSpPr/>
          <p:nvPr/>
        </p:nvSpPr>
        <p:spPr>
          <a:xfrm>
            <a:off x="1111666" y="355081"/>
            <a:ext cx="4247850" cy="631936"/>
          </a:xfrm>
          <a:custGeom>
            <a:avLst/>
            <a:gdLst/>
            <a:ahLst/>
            <a:cxnLst/>
            <a:rect l="l" t="t" r="r" b="b"/>
            <a:pathLst>
              <a:path w="4247850" h="631936">
                <a:moveTo>
                  <a:pt x="0" y="0"/>
                </a:moveTo>
                <a:lnTo>
                  <a:pt x="4247850" y="0"/>
                </a:lnTo>
                <a:lnTo>
                  <a:pt x="4247850" y="631935"/>
                </a:lnTo>
                <a:lnTo>
                  <a:pt x="0" y="63193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5" r="-5"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B15DEF0-99BC-9321-669E-FA6C5D7FE4F8}"/>
              </a:ext>
            </a:extLst>
          </p:cNvPr>
          <p:cNvSpPr txBox="1"/>
          <p:nvPr/>
        </p:nvSpPr>
        <p:spPr>
          <a:xfrm>
            <a:off x="1111666" y="7106062"/>
            <a:ext cx="9480134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2400" dirty="0"/>
              <a:t>Wireless &amp; Mobile Security</a:t>
            </a:r>
          </a:p>
          <a:p>
            <a:pPr lvl="1"/>
            <a:r>
              <a:rPr lang="en-US" altLang="en-US" dirty="0"/>
              <a:t>Wi-Fi Security</a:t>
            </a:r>
          </a:p>
          <a:p>
            <a:pPr lvl="1"/>
            <a:r>
              <a:rPr lang="en-US" altLang="en-US" dirty="0"/>
              <a:t>Mobile Device Management</a:t>
            </a:r>
          </a:p>
          <a:p>
            <a:pPr lvl="1"/>
            <a:r>
              <a:rPr lang="en-US" altLang="en-US" dirty="0"/>
              <a:t>BYOD Policies</a:t>
            </a:r>
          </a:p>
          <a:p>
            <a:r>
              <a:rPr lang="en-US" altLang="en-US" sz="2400" dirty="0"/>
              <a:t>Crucial Exams</a:t>
            </a:r>
          </a:p>
          <a:p>
            <a:pPr lvl="1"/>
            <a:r>
              <a:rPr lang="en-US" altLang="en-US" dirty="0"/>
              <a:t>Threats, Vulnerabilities, and Mitigations</a:t>
            </a:r>
          </a:p>
        </p:txBody>
      </p:sp>
    </p:spTree>
    <p:extLst>
      <p:ext uri="{BB962C8B-B14F-4D97-AF65-F5344CB8AC3E}">
        <p14:creationId xmlns:p14="http://schemas.microsoft.com/office/powerpoint/2010/main" val="2590957295"/>
      </p:ext>
    </p:extLst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0E1B67-74C7-C19A-3641-B63D295309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E3D447B-179D-4D78-B70F-D044912E96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Slide </a:t>
            </a:r>
            <a:fld id="{4CA2B2DB-B91D-4166-98BF-65A0DA7EEE6D}" type="slidenum">
              <a:rPr kumimoji="0" lang="en-US" sz="1800" b="0" i="1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159</a:t>
            </a:fld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51B3D6-C800-EBE3-E5B2-4A9B7A114044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2536823"/>
            <a:ext cx="16192500" cy="5883277"/>
          </a:xfrm>
        </p:spPr>
        <p:txBody>
          <a:bodyPr/>
          <a:lstStyle/>
          <a:p>
            <a:pPr marL="0" indent="0">
              <a:spcBef>
                <a:spcPts val="900"/>
              </a:spcBef>
              <a:buNone/>
            </a:pPr>
            <a:r>
              <a:rPr lang="en-US" altLang="en-US" sz="4400" b="1" dirty="0"/>
              <a:t>Wireless devices</a:t>
            </a:r>
            <a:r>
              <a:rPr lang="en-US" altLang="en-US" sz="4400" dirty="0"/>
              <a:t> operate without physical wired connections. They use methods such as Wi-Fi, Bluetooth, and cellular networks to communicate.</a:t>
            </a:r>
          </a:p>
          <a:p>
            <a:pPr>
              <a:spcBef>
                <a:spcPts val="900"/>
              </a:spcBef>
            </a:pPr>
            <a:r>
              <a:rPr lang="en-US" altLang="en-US" sz="4000" b="1" dirty="0"/>
              <a:t>Site surveys </a:t>
            </a:r>
            <a:r>
              <a:rPr lang="en-US" altLang="en-US" sz="4000" dirty="0"/>
              <a:t>assess the current wireless environment and plan for Wi-Fi network optimization.</a:t>
            </a:r>
          </a:p>
          <a:p>
            <a:pPr>
              <a:spcBef>
                <a:spcPts val="900"/>
              </a:spcBef>
            </a:pPr>
            <a:r>
              <a:rPr lang="en-US" altLang="en-US" sz="4000" b="1" dirty="0"/>
              <a:t>Heat maps </a:t>
            </a:r>
            <a:r>
              <a:rPr lang="en-US" altLang="en-US" sz="4000" dirty="0"/>
              <a:t>visualize wireless activity to determine optimal access point placement for coverage and performance.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1E6EC33-779F-5B38-BB24-6C5527FD776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4382A4F0-716C-AE46-8329-49F06CCC90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60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Wireless Devices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3442805017"/>
      </p:ext>
    </p:extLst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1D125D-C237-08FC-9056-DFCA49DFC0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982B187-5030-8907-55A2-3397A21032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Slide </a:t>
            </a:r>
            <a:fld id="{4CA2B2DB-B91D-4166-98BF-65A0DA7EEE6D}" type="slidenum">
              <a:rPr kumimoji="0" lang="en-US" sz="1800" b="0" i="1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160</a:t>
            </a:fld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A5596C56-407D-A37C-4C7B-0935E479E75C}"/>
              </a:ext>
            </a:extLst>
          </p:cNvPr>
          <p:cNvPicPr>
            <a:picLocks noGrp="1" noChangeAspect="1"/>
          </p:cNvPicPr>
          <p:nvPr>
            <p:ph sz="quarter" idx="12"/>
          </p:nvPr>
        </p:nvPicPr>
        <p:blipFill>
          <a:blip r:embed="rId3"/>
          <a:stretch>
            <a:fillRect/>
          </a:stretch>
        </p:blipFill>
        <p:spPr>
          <a:xfrm>
            <a:off x="3402570" y="2026132"/>
            <a:ext cx="11063760" cy="6831211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B09422-F9D2-B191-3D5A-184D5A37A1E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27444DBD-2FD7-A8B0-76DA-18F48864CE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60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Wireless Heat Map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853964572"/>
      </p:ext>
    </p:extLst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6F090F-330E-5F05-A845-B4D1D095A9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E3C4B3F-C434-2F8E-A951-F270A52FAB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Slide </a:t>
            </a:r>
            <a:fld id="{4CA2B2DB-B91D-4166-98BF-65A0DA7EEE6D}" type="slidenum">
              <a:rPr kumimoji="0" lang="en-US" sz="1800" b="0" i="1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161</a:t>
            </a:fld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E10798-1D93-66A8-C937-AF020FD7435C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2536823"/>
            <a:ext cx="16192500" cy="5883277"/>
          </a:xfrm>
        </p:spPr>
        <p:txBody>
          <a:bodyPr/>
          <a:lstStyle/>
          <a:p>
            <a:pPr marL="0" indent="0">
              <a:spcBef>
                <a:spcPts val="900"/>
              </a:spcBef>
              <a:buNone/>
            </a:pPr>
            <a:r>
              <a:rPr lang="en-US" altLang="en-US" sz="4400" b="1" dirty="0"/>
              <a:t>Mobile device management (MDM) </a:t>
            </a:r>
            <a:r>
              <a:rPr lang="en-US" altLang="en-US" sz="4400" dirty="0"/>
              <a:t>is crucial for successful implementation of </a:t>
            </a:r>
            <a:r>
              <a:rPr lang="en-US" altLang="en-US" sz="4400" b="1" dirty="0"/>
              <a:t>bring your own device (BYOD) policies</a:t>
            </a:r>
            <a:r>
              <a:rPr lang="en-US" altLang="en-US" sz="4000" dirty="0"/>
              <a:t>.</a:t>
            </a:r>
            <a:endParaRPr lang="en-US" altLang="en-US" sz="4000" b="1" dirty="0"/>
          </a:p>
          <a:p>
            <a:pPr>
              <a:spcBef>
                <a:spcPts val="900"/>
              </a:spcBef>
            </a:pPr>
            <a:r>
              <a:rPr lang="en-US" altLang="en-US" sz="4000" dirty="0"/>
              <a:t>BYOD policies raise legal concerns regarding data ownership, privacy rights, and employee misconduct.</a:t>
            </a:r>
          </a:p>
          <a:p>
            <a:pPr>
              <a:spcBef>
                <a:spcPts val="900"/>
              </a:spcBef>
            </a:pPr>
            <a:r>
              <a:rPr lang="en-US" altLang="en-US" sz="4000" dirty="0"/>
              <a:t>Ensure clear separation of organizational and personal information.</a:t>
            </a:r>
          </a:p>
          <a:p>
            <a:pPr>
              <a:spcBef>
                <a:spcPts val="900"/>
              </a:spcBef>
            </a:pPr>
            <a:r>
              <a:rPr lang="en-US" altLang="en-US" sz="4000" dirty="0"/>
              <a:t>Encryption, regular software updates, and password complexity are essential for mitigating mobile device security risks.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6A3DEFE-F922-B234-161D-DAEE1BA3E7E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CC4A77D-5E4D-6F98-D3D6-AFF37178DC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60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Mobile Solutions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3987602464"/>
      </p:ext>
    </p:extLst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7E20EA-2230-C14D-0AEE-98AACAC567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46D417C-9032-50F2-7852-53AA486F57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Slide </a:t>
            </a:r>
            <a:fld id="{4CA2B2DB-B91D-4166-98BF-65A0DA7EEE6D}" type="slidenum">
              <a:rPr kumimoji="0" lang="en-US" sz="1800" b="0" i="1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162</a:t>
            </a:fld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28339F-E569-EB43-81D7-7F83875F04F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2536823"/>
            <a:ext cx="16192500" cy="6188077"/>
          </a:xfrm>
        </p:spPr>
        <p:txBody>
          <a:bodyPr/>
          <a:lstStyle/>
          <a:p>
            <a:pPr>
              <a:spcBef>
                <a:spcPts val="900"/>
              </a:spcBef>
            </a:pPr>
            <a:r>
              <a:rPr lang="en-US" altLang="en-US" sz="3600" b="1" dirty="0"/>
              <a:t>Bluetooth </a:t>
            </a:r>
            <a:r>
              <a:rPr lang="en-US" altLang="en-US" sz="3600" dirty="0"/>
              <a:t>is susceptible to attacks like Bluejacking and </a:t>
            </a:r>
            <a:r>
              <a:rPr lang="en-US" altLang="en-US" sz="3600" dirty="0" err="1"/>
              <a:t>Bluesnarfing</a:t>
            </a:r>
            <a:r>
              <a:rPr lang="en-US" altLang="en-US" sz="3600" dirty="0"/>
              <a:t>.</a:t>
            </a:r>
          </a:p>
          <a:p>
            <a:pPr>
              <a:spcBef>
                <a:spcPts val="900"/>
              </a:spcBef>
            </a:pPr>
            <a:r>
              <a:rPr lang="en-US" altLang="en-US" sz="3600" b="1" dirty="0"/>
              <a:t>Wi-Fi</a:t>
            </a:r>
            <a:r>
              <a:rPr lang="en-US" altLang="en-US" sz="3600" dirty="0"/>
              <a:t> is vulnerable to various exploits. Example: Firmware flaws that lead to buffer overflow</a:t>
            </a:r>
          </a:p>
          <a:p>
            <a:pPr>
              <a:spcBef>
                <a:spcPts val="900"/>
              </a:spcBef>
            </a:pPr>
            <a:r>
              <a:rPr lang="en-US" altLang="en-US" sz="3600" b="1" dirty="0"/>
              <a:t>Cellular connections</a:t>
            </a:r>
            <a:r>
              <a:rPr lang="en-US" altLang="en-US" sz="3600" dirty="0"/>
              <a:t> including 2G, 3G, 4G, and 5G all raise security concerns. Using newer devices is generally best.</a:t>
            </a:r>
          </a:p>
          <a:p>
            <a:pPr>
              <a:spcBef>
                <a:spcPts val="900"/>
              </a:spcBef>
            </a:pPr>
            <a:r>
              <a:rPr lang="en-US" altLang="en-US" sz="3600" b="1" dirty="0"/>
              <a:t>GPS and geolocation technologies</a:t>
            </a:r>
            <a:r>
              <a:rPr lang="en-US" altLang="en-US" sz="3600" dirty="0"/>
              <a:t> raise privacy and security concerns.</a:t>
            </a:r>
          </a:p>
          <a:p>
            <a:pPr>
              <a:spcBef>
                <a:spcPts val="900"/>
              </a:spcBef>
            </a:pPr>
            <a:r>
              <a:rPr lang="en-US" altLang="en-US" sz="3600" b="1" dirty="0"/>
              <a:t>Satellite communications (SATCOM)</a:t>
            </a:r>
            <a:r>
              <a:rPr lang="en-US" altLang="en-US" sz="3600" dirty="0"/>
              <a:t> require firmware updates to address vulnerabilities and prevent exploits.</a:t>
            </a:r>
          </a:p>
          <a:p>
            <a:pPr>
              <a:spcBef>
                <a:spcPts val="900"/>
              </a:spcBef>
            </a:pPr>
            <a:r>
              <a:rPr lang="en-US" altLang="en-US" sz="3600" b="1" dirty="0"/>
              <a:t>Infrared connections and wireless USB receivers </a:t>
            </a:r>
            <a:r>
              <a:rPr lang="en-US" altLang="en-US" sz="3600" dirty="0"/>
              <a:t>are often overlooked in security reviews. 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EDFAA2C-AD99-0E50-2A0D-A6117453EE7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B97A2EB-9D8C-34C1-E56B-DA25153A9C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60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Connection Methods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3789918895"/>
      </p:ext>
    </p:extLst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BD0243-CF27-312E-F179-05B5DB4F0D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9658B8E-276D-3868-3CB2-6D4D2A0C9D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Slide </a:t>
            </a:r>
            <a:fld id="{4CA2B2DB-B91D-4166-98BF-65A0DA7EEE6D}" type="slidenum">
              <a:rPr kumimoji="0" lang="en-US" sz="1800" b="0" i="1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163</a:t>
            </a:fld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F80FE3-3C20-4F80-D9C1-E70422E71A3D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2536823"/>
            <a:ext cx="16192500" cy="6188077"/>
          </a:xfrm>
        </p:spPr>
        <p:txBody>
          <a:bodyPr/>
          <a:lstStyle/>
          <a:p>
            <a:pPr marL="0" indent="0">
              <a:spcBef>
                <a:spcPts val="900"/>
              </a:spcBef>
              <a:buNone/>
            </a:pPr>
            <a:r>
              <a:rPr lang="en-US" altLang="en-US" sz="3900" b="1" dirty="0"/>
              <a:t>Unsecure networks</a:t>
            </a:r>
            <a:r>
              <a:rPr lang="en-US" altLang="en-US" sz="3900" dirty="0"/>
              <a:t> lack appropriate security measures. They expose individuals and organizations to cyber threats such as data theft, unauthorized access, and remote device control. These include: </a:t>
            </a:r>
            <a:endParaRPr lang="en-US" altLang="en-US" sz="3900" b="1" dirty="0"/>
          </a:p>
          <a:p>
            <a:pPr>
              <a:spcBef>
                <a:spcPts val="900"/>
              </a:spcBef>
            </a:pPr>
            <a:r>
              <a:rPr lang="en-US" altLang="en-US" sz="3600" b="1" dirty="0"/>
              <a:t>Wireless networks</a:t>
            </a:r>
            <a:r>
              <a:rPr lang="en-US" altLang="en-US" sz="3600" dirty="0"/>
              <a:t>: Vulnerable to unauthorized access and eavesdropping if improperly configured or lacking encryption</a:t>
            </a:r>
          </a:p>
          <a:p>
            <a:pPr>
              <a:spcBef>
                <a:spcPts val="900"/>
              </a:spcBef>
            </a:pPr>
            <a:r>
              <a:rPr lang="en-US" altLang="en-US" sz="3600" b="1" dirty="0"/>
              <a:t>Wired networks</a:t>
            </a:r>
            <a:r>
              <a:rPr lang="en-US" altLang="en-US" sz="3600" dirty="0"/>
              <a:t>: More secure than wireless networks, but vulnerable without proper segmentation and access controls</a:t>
            </a:r>
          </a:p>
          <a:p>
            <a:pPr>
              <a:spcBef>
                <a:spcPts val="900"/>
              </a:spcBef>
            </a:pPr>
            <a:r>
              <a:rPr lang="en-US" altLang="en-US" sz="3600" b="1" dirty="0"/>
              <a:t>Bluetooth networks</a:t>
            </a:r>
            <a:r>
              <a:rPr lang="en-US" altLang="en-US" sz="3600" dirty="0"/>
              <a:t>: Exploitable if devices are set to “Discoverable" mode or if Bluetooth vulnerabilities are not patched 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7E6253E-9759-F9CB-6495-B5400775FA1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3CB41CC-AE3B-1089-8A88-DFCA4F7790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60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Unsecure Networks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571104292"/>
      </p:ext>
    </p:extLst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CCF2F6-C148-0D8E-D478-4B76750221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99E7C72-4FB5-E65F-9FC3-0D339D539B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Slide </a:t>
            </a:r>
            <a:fld id="{4CA2B2DB-B91D-4166-98BF-65A0DA7EEE6D}" type="slidenum">
              <a:rPr kumimoji="0" lang="en-US" sz="1800" b="0" i="1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164</a:t>
            </a:fld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A75738-3856-E96F-B21C-D4EE27B4DB2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2536823"/>
            <a:ext cx="16192500" cy="6188077"/>
          </a:xfrm>
        </p:spPr>
        <p:txBody>
          <a:bodyPr/>
          <a:lstStyle/>
          <a:p>
            <a:pPr>
              <a:spcBef>
                <a:spcPts val="900"/>
              </a:spcBef>
            </a:pPr>
            <a:r>
              <a:rPr lang="en-US" altLang="en-US" sz="3600" b="1" dirty="0"/>
              <a:t>WPA3 (Wi-Fi Protected Access 3) </a:t>
            </a:r>
            <a:r>
              <a:rPr lang="en-US" altLang="en-US" sz="3600" dirty="0"/>
              <a:t>uses Simultaneous Authentication of Equals (SAE) to replace the vulnerable </a:t>
            </a:r>
            <a:r>
              <a:rPr lang="en-US" altLang="en-US" sz="3600" dirty="0" err="1"/>
              <a:t>preshared</a:t>
            </a:r>
            <a:r>
              <a:rPr lang="en-US" altLang="en-US" sz="3600" dirty="0"/>
              <a:t> key (PSK) system.</a:t>
            </a:r>
          </a:p>
          <a:p>
            <a:pPr>
              <a:spcBef>
                <a:spcPts val="900"/>
              </a:spcBef>
            </a:pPr>
            <a:r>
              <a:rPr lang="en-US" altLang="en-US" sz="3600" b="1" dirty="0"/>
              <a:t>RADIUS federation</a:t>
            </a:r>
            <a:r>
              <a:rPr lang="en-US" altLang="en-US" sz="3600" dirty="0"/>
              <a:t> enables secure communication among multiple RADIUS servers.</a:t>
            </a:r>
          </a:p>
          <a:p>
            <a:pPr>
              <a:spcBef>
                <a:spcPts val="900"/>
              </a:spcBef>
            </a:pPr>
            <a:r>
              <a:rPr lang="en-US" altLang="en-US" sz="3600" b="1" dirty="0"/>
              <a:t>Cryptographic protocols</a:t>
            </a:r>
            <a:r>
              <a:rPr lang="en-US" altLang="en-US" sz="3600" dirty="0"/>
              <a:t>: WPA3-Personal and WPA3-Enterprise offer robust encryption methods like AES-CCMP and HMAC-SHA for data protection.</a:t>
            </a:r>
          </a:p>
          <a:p>
            <a:pPr>
              <a:spcBef>
                <a:spcPts val="900"/>
              </a:spcBef>
            </a:pPr>
            <a:r>
              <a:rPr lang="en-US" altLang="en-US" sz="3600" b="1" dirty="0"/>
              <a:t>Authentication protocols</a:t>
            </a:r>
            <a:r>
              <a:rPr lang="en-US" altLang="en-US" sz="3600" dirty="0"/>
              <a:t>: LDAP, Kerberos, and 802.1X are authentication methods tailored to various environments.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116EBA8-1437-B087-D349-3C7CF95F333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9FB7CA5-AAB0-4063-17A3-23FE0F93D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60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Wireless Security Settings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4204348687"/>
      </p:ext>
    </p:extLst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8531D5-D0FE-61AE-2120-4DE351FAAB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2A29A47-554B-F0C3-CC5D-B2688EBF13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Slide </a:t>
            </a:r>
            <a:fld id="{4CA2B2DB-B91D-4166-98BF-65A0DA7EEE6D}" type="slidenum">
              <a:rPr kumimoji="0" lang="en-US" sz="1800" b="0" i="1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165</a:t>
            </a:fld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2FD699-5EA7-B3FF-9F30-4893E58C76A9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2536823"/>
            <a:ext cx="16192500" cy="6188077"/>
          </a:xfrm>
        </p:spPr>
        <p:txBody>
          <a:bodyPr/>
          <a:lstStyle/>
          <a:p>
            <a:pPr marL="0" indent="0">
              <a:spcBef>
                <a:spcPts val="900"/>
              </a:spcBef>
              <a:buNone/>
            </a:pPr>
            <a:r>
              <a:rPr lang="en-US" altLang="en-US" b="1" dirty="0"/>
              <a:t>Side loading </a:t>
            </a:r>
            <a:r>
              <a:rPr lang="en-US" altLang="en-US" dirty="0"/>
              <a:t>is installing applications from sources outside the official app store.</a:t>
            </a:r>
          </a:p>
          <a:p>
            <a:pPr>
              <a:spcBef>
                <a:spcPts val="900"/>
              </a:spcBef>
            </a:pPr>
            <a:r>
              <a:rPr lang="en-US" altLang="en-US" sz="2800" b="1" dirty="0"/>
              <a:t>Mitigation</a:t>
            </a:r>
          </a:p>
          <a:p>
            <a:pPr lvl="2">
              <a:spcBef>
                <a:spcPts val="900"/>
              </a:spcBef>
            </a:pPr>
            <a:r>
              <a:rPr lang="en-US" altLang="en-US" dirty="0"/>
              <a:t>Device policies </a:t>
            </a:r>
          </a:p>
          <a:p>
            <a:pPr lvl="2">
              <a:spcBef>
                <a:spcPts val="900"/>
              </a:spcBef>
            </a:pPr>
            <a:r>
              <a:rPr lang="en-US" altLang="en-US" dirty="0"/>
              <a:t>User education</a:t>
            </a:r>
          </a:p>
          <a:p>
            <a:pPr marL="516731" lvl="1">
              <a:spcBef>
                <a:spcPts val="900"/>
              </a:spcBef>
            </a:pPr>
            <a:endParaRPr lang="en-US" altLang="en-US" sz="1050" dirty="0"/>
          </a:p>
          <a:p>
            <a:pPr marL="0" indent="0">
              <a:spcBef>
                <a:spcPts val="900"/>
              </a:spcBef>
              <a:buNone/>
            </a:pPr>
            <a:r>
              <a:rPr lang="en-US" altLang="en-US" b="1" dirty="0"/>
              <a:t>Jailbreaking </a:t>
            </a:r>
            <a:r>
              <a:rPr lang="en-US" altLang="en-US" dirty="0"/>
              <a:t>refers to removing restrictions imposed by the manufacturer or carrier. </a:t>
            </a:r>
          </a:p>
          <a:p>
            <a:pPr>
              <a:spcBef>
                <a:spcPts val="900"/>
              </a:spcBef>
            </a:pPr>
            <a:r>
              <a:rPr lang="en-US" altLang="en-US" sz="2800" b="1" dirty="0"/>
              <a:t>Mitigation</a:t>
            </a:r>
          </a:p>
          <a:p>
            <a:pPr lvl="2">
              <a:spcBef>
                <a:spcPts val="900"/>
              </a:spcBef>
            </a:pPr>
            <a:r>
              <a:rPr lang="en-US" altLang="en-US" dirty="0"/>
              <a:t>Device policies</a:t>
            </a:r>
          </a:p>
          <a:p>
            <a:pPr lvl="2">
              <a:spcBef>
                <a:spcPts val="900"/>
              </a:spcBef>
            </a:pPr>
            <a:r>
              <a:rPr lang="en-US" altLang="en-US" dirty="0"/>
              <a:t>User education</a:t>
            </a:r>
          </a:p>
          <a:p>
            <a:pPr lvl="2">
              <a:spcBef>
                <a:spcPts val="900"/>
              </a:spcBef>
            </a:pPr>
            <a:r>
              <a:rPr lang="en-US" altLang="en-US" dirty="0"/>
              <a:t>Jailbreaking detection  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12264A5-260D-47F3-EF40-7B4129440DA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8481FF4-E08D-DB46-5EE2-860FF84BB5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60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Mobile Device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2016414972"/>
      </p:ext>
    </p:extLst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15194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D69380D-7060-DF9E-589B-C34BDAEDEF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0AA7B3D6-9380-B6A1-5F6D-8EEB7D27B786}"/>
              </a:ext>
            </a:extLst>
          </p:cNvPr>
          <p:cNvGrpSpPr/>
          <p:nvPr/>
        </p:nvGrpSpPr>
        <p:grpSpPr>
          <a:xfrm rot="-5400000">
            <a:off x="12015831" y="4014831"/>
            <a:ext cx="10287000" cy="2257339"/>
            <a:chOff x="0" y="0"/>
            <a:chExt cx="2709333" cy="59452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D4CF5E45-145C-394E-06C7-0F7766292074}"/>
                </a:ext>
              </a:extLst>
            </p:cNvPr>
            <p:cNvSpPr/>
            <p:nvPr/>
          </p:nvSpPr>
          <p:spPr>
            <a:xfrm>
              <a:off x="0" y="0"/>
              <a:ext cx="2709333" cy="594525"/>
            </a:xfrm>
            <a:custGeom>
              <a:avLst/>
              <a:gdLst/>
              <a:ahLst/>
              <a:cxnLst/>
              <a:rect l="l" t="t" r="r" b="b"/>
              <a:pathLst>
                <a:path w="2709333" h="594525">
                  <a:moveTo>
                    <a:pt x="0" y="0"/>
                  </a:moveTo>
                  <a:lnTo>
                    <a:pt x="2709333" y="0"/>
                  </a:lnTo>
                  <a:lnTo>
                    <a:pt x="2709333" y="594525"/>
                  </a:lnTo>
                  <a:lnTo>
                    <a:pt x="0" y="594525"/>
                  </a:lnTo>
                  <a:close/>
                </a:path>
              </a:pathLst>
            </a:custGeom>
            <a:solidFill>
              <a:srgbClr val="0283FD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E799D985-4D65-5796-C4F5-CA9DB3EB29EF}"/>
                </a:ext>
              </a:extLst>
            </p:cNvPr>
            <p:cNvSpPr txBox="1"/>
            <p:nvPr/>
          </p:nvSpPr>
          <p:spPr>
            <a:xfrm>
              <a:off x="0" y="-66675"/>
              <a:ext cx="2709333" cy="6612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3024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4CB18393-950D-0DDB-487E-13569F71DAFA}"/>
              </a:ext>
            </a:extLst>
          </p:cNvPr>
          <p:cNvGrpSpPr/>
          <p:nvPr/>
        </p:nvGrpSpPr>
        <p:grpSpPr>
          <a:xfrm>
            <a:off x="179467" y="6643814"/>
            <a:ext cx="8126333" cy="3488267"/>
            <a:chOff x="0" y="0"/>
            <a:chExt cx="844714" cy="36259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77F555A4-566E-E133-B8B9-F4F6601CF7A1}"/>
                </a:ext>
              </a:extLst>
            </p:cNvPr>
            <p:cNvSpPr/>
            <p:nvPr/>
          </p:nvSpPr>
          <p:spPr>
            <a:xfrm>
              <a:off x="0" y="0"/>
              <a:ext cx="844714" cy="362598"/>
            </a:xfrm>
            <a:custGeom>
              <a:avLst/>
              <a:gdLst/>
              <a:ahLst/>
              <a:cxnLst/>
              <a:rect l="l" t="t" r="r" b="b"/>
              <a:pathLst>
                <a:path w="844714" h="362598">
                  <a:moveTo>
                    <a:pt x="203200" y="0"/>
                  </a:moveTo>
                  <a:lnTo>
                    <a:pt x="844714" y="0"/>
                  </a:lnTo>
                  <a:lnTo>
                    <a:pt x="641514" y="362598"/>
                  </a:lnTo>
                  <a:lnTo>
                    <a:pt x="0" y="362598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283FD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11DACAD8-8FFF-0DB2-63FD-5A3B48E0D383}"/>
                </a:ext>
              </a:extLst>
            </p:cNvPr>
            <p:cNvSpPr txBox="1"/>
            <p:nvPr/>
          </p:nvSpPr>
          <p:spPr>
            <a:xfrm>
              <a:off x="101600" y="-28575"/>
              <a:ext cx="641514" cy="391173"/>
            </a:xfrm>
            <a:prstGeom prst="rect">
              <a:avLst/>
            </a:prstGeom>
          </p:spPr>
          <p:txBody>
            <a:bodyPr lIns="47790" tIns="47790" rIns="47790" bIns="4779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1843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9B46EAA0-0A3D-4E44-0CF5-8573FF475210}"/>
              </a:ext>
            </a:extLst>
          </p:cNvPr>
          <p:cNvGrpSpPr/>
          <p:nvPr/>
        </p:nvGrpSpPr>
        <p:grpSpPr>
          <a:xfrm>
            <a:off x="-73552" y="7047924"/>
            <a:ext cx="16030661" cy="3336996"/>
            <a:chOff x="0" y="0"/>
            <a:chExt cx="6165409" cy="1271237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4795D442-E3D4-7718-B09F-4AEFA83FD312}"/>
                </a:ext>
              </a:extLst>
            </p:cNvPr>
            <p:cNvSpPr/>
            <p:nvPr/>
          </p:nvSpPr>
          <p:spPr>
            <a:xfrm>
              <a:off x="0" y="0"/>
              <a:ext cx="6165409" cy="1271237"/>
            </a:xfrm>
            <a:custGeom>
              <a:avLst/>
              <a:gdLst/>
              <a:ahLst/>
              <a:cxnLst/>
              <a:rect l="l" t="t" r="r" b="b"/>
              <a:pathLst>
                <a:path w="6165409" h="1271237">
                  <a:moveTo>
                    <a:pt x="0" y="0"/>
                  </a:moveTo>
                  <a:lnTo>
                    <a:pt x="6165409" y="0"/>
                  </a:lnTo>
                  <a:lnTo>
                    <a:pt x="6165409" y="1271237"/>
                  </a:lnTo>
                  <a:lnTo>
                    <a:pt x="0" y="127123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C00BC968-20BF-6425-993C-416B68C00F81}"/>
                </a:ext>
              </a:extLst>
            </p:cNvPr>
            <p:cNvSpPr txBox="1"/>
            <p:nvPr/>
          </p:nvSpPr>
          <p:spPr>
            <a:xfrm>
              <a:off x="0" y="-28575"/>
              <a:ext cx="6165409" cy="1299812"/>
            </a:xfrm>
            <a:prstGeom prst="rect">
              <a:avLst/>
            </a:prstGeom>
          </p:spPr>
          <p:txBody>
            <a:bodyPr lIns="47790" tIns="47790" rIns="47790" bIns="4779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1843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sp>
        <p:nvSpPr>
          <p:cNvPr id="12" name="TextBox 12">
            <a:extLst>
              <a:ext uri="{FF2B5EF4-FFF2-40B4-BE49-F238E27FC236}">
                <a16:creationId xmlns:a16="http://schemas.microsoft.com/office/drawing/2014/main" id="{2D28E366-88BD-4604-7845-21FF2E2384E1}"/>
              </a:ext>
            </a:extLst>
          </p:cNvPr>
          <p:cNvSpPr txBox="1"/>
          <p:nvPr/>
        </p:nvSpPr>
        <p:spPr>
          <a:xfrm>
            <a:off x="1111666" y="3432993"/>
            <a:ext cx="14771892" cy="598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4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Day 2 – Block 7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1C3C07C2-8ABA-1F11-F43B-F3024669B779}"/>
              </a:ext>
            </a:extLst>
          </p:cNvPr>
          <p:cNvSpPr txBox="1"/>
          <p:nvPr/>
        </p:nvSpPr>
        <p:spPr>
          <a:xfrm>
            <a:off x="1111666" y="9653992"/>
            <a:ext cx="12263263" cy="3619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0" i="0" u="none" strike="noStrike" kern="1200" cap="none" spc="0" normalizeH="0" baseline="0" noProof="0">
                <a:ln>
                  <a:noFill/>
                </a:ln>
                <a:solidFill>
                  <a:srgbClr val="252525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CALIFORNIA INSTITUTE OF APPLIED TECHNOLOGY</a:t>
            </a:r>
          </a:p>
        </p:txBody>
      </p:sp>
      <p:sp>
        <p:nvSpPr>
          <p:cNvPr id="15" name="AutoShape 15">
            <a:extLst>
              <a:ext uri="{FF2B5EF4-FFF2-40B4-BE49-F238E27FC236}">
                <a16:creationId xmlns:a16="http://schemas.microsoft.com/office/drawing/2014/main" id="{AE410286-A143-6E73-44B2-93E4ACC040AC}"/>
              </a:ext>
            </a:extLst>
          </p:cNvPr>
          <p:cNvSpPr/>
          <p:nvPr/>
        </p:nvSpPr>
        <p:spPr>
          <a:xfrm>
            <a:off x="8010568" y="9858838"/>
            <a:ext cx="7625672" cy="0"/>
          </a:xfrm>
          <a:prstGeom prst="line">
            <a:avLst/>
          </a:prstGeom>
          <a:ln w="19050" cap="flat">
            <a:solidFill>
              <a:srgbClr val="0283F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7" name="Freeform 5">
            <a:extLst>
              <a:ext uri="{FF2B5EF4-FFF2-40B4-BE49-F238E27FC236}">
                <a16:creationId xmlns:a16="http://schemas.microsoft.com/office/drawing/2014/main" id="{B54C44B9-A7CC-C430-7E2F-648F2EF6FD55}"/>
              </a:ext>
            </a:extLst>
          </p:cNvPr>
          <p:cNvSpPr/>
          <p:nvPr/>
        </p:nvSpPr>
        <p:spPr>
          <a:xfrm>
            <a:off x="1111666" y="355081"/>
            <a:ext cx="4247850" cy="631936"/>
          </a:xfrm>
          <a:custGeom>
            <a:avLst/>
            <a:gdLst/>
            <a:ahLst/>
            <a:cxnLst/>
            <a:rect l="l" t="t" r="r" b="b"/>
            <a:pathLst>
              <a:path w="4247850" h="631936">
                <a:moveTo>
                  <a:pt x="0" y="0"/>
                </a:moveTo>
                <a:lnTo>
                  <a:pt x="4247850" y="0"/>
                </a:lnTo>
                <a:lnTo>
                  <a:pt x="4247850" y="631935"/>
                </a:lnTo>
                <a:lnTo>
                  <a:pt x="0" y="63193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5" r="-5"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B77EA82-5DD8-3D59-361B-AB334A4057F6}"/>
              </a:ext>
            </a:extLst>
          </p:cNvPr>
          <p:cNvSpPr txBox="1"/>
          <p:nvPr/>
        </p:nvSpPr>
        <p:spPr>
          <a:xfrm>
            <a:off x="1111666" y="7106062"/>
            <a:ext cx="9480134" cy="18774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2800" dirty="0"/>
              <a:t>Domain 1 PBQ Workshop</a:t>
            </a:r>
          </a:p>
          <a:p>
            <a:pPr lvl="1"/>
            <a:r>
              <a:rPr lang="en-US" altLang="en-US" sz="2000" dirty="0"/>
              <a:t>Hands-on PBQ Practice Session</a:t>
            </a:r>
          </a:p>
          <a:p>
            <a:r>
              <a:rPr lang="en-US" altLang="en-US" sz="2800" dirty="0"/>
              <a:t>Crucial Exams PBQs</a:t>
            </a:r>
          </a:p>
          <a:p>
            <a:pPr lvl="1"/>
            <a:r>
              <a:rPr lang="en-US" altLang="en-US" sz="2000" dirty="0"/>
              <a:t>Home WLAN Network Configuration PBQ</a:t>
            </a:r>
          </a:p>
          <a:p>
            <a:pPr lvl="1"/>
            <a:r>
              <a:rPr lang="en-US" altLang="en-US" sz="2000" dirty="0"/>
              <a:t>Public WLAN Network Configuration PBQ</a:t>
            </a:r>
          </a:p>
        </p:txBody>
      </p:sp>
    </p:spTree>
    <p:extLst>
      <p:ext uri="{BB962C8B-B14F-4D97-AF65-F5344CB8AC3E}">
        <p14:creationId xmlns:p14="http://schemas.microsoft.com/office/powerpoint/2010/main" val="1915680784"/>
      </p:ext>
    </p:extLst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15194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7186CE9-CD40-9267-5B4C-720FA4D06C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B3A97753-CE92-0254-E2CC-A4F2026E69EB}"/>
              </a:ext>
            </a:extLst>
          </p:cNvPr>
          <p:cNvGrpSpPr/>
          <p:nvPr/>
        </p:nvGrpSpPr>
        <p:grpSpPr>
          <a:xfrm rot="-5400000">
            <a:off x="12015831" y="4014831"/>
            <a:ext cx="10287000" cy="2257339"/>
            <a:chOff x="0" y="0"/>
            <a:chExt cx="2709333" cy="59452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1F6B311B-2F17-A10E-AE56-F0E52FDFF3A6}"/>
                </a:ext>
              </a:extLst>
            </p:cNvPr>
            <p:cNvSpPr/>
            <p:nvPr/>
          </p:nvSpPr>
          <p:spPr>
            <a:xfrm>
              <a:off x="0" y="0"/>
              <a:ext cx="2709333" cy="594525"/>
            </a:xfrm>
            <a:custGeom>
              <a:avLst/>
              <a:gdLst/>
              <a:ahLst/>
              <a:cxnLst/>
              <a:rect l="l" t="t" r="r" b="b"/>
              <a:pathLst>
                <a:path w="2709333" h="594525">
                  <a:moveTo>
                    <a:pt x="0" y="0"/>
                  </a:moveTo>
                  <a:lnTo>
                    <a:pt x="2709333" y="0"/>
                  </a:lnTo>
                  <a:lnTo>
                    <a:pt x="2709333" y="594525"/>
                  </a:lnTo>
                  <a:lnTo>
                    <a:pt x="0" y="594525"/>
                  </a:lnTo>
                  <a:close/>
                </a:path>
              </a:pathLst>
            </a:custGeom>
            <a:solidFill>
              <a:srgbClr val="0283FD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FCEF3EC7-DE73-E5BA-5928-00FD85A448C2}"/>
                </a:ext>
              </a:extLst>
            </p:cNvPr>
            <p:cNvSpPr txBox="1"/>
            <p:nvPr/>
          </p:nvSpPr>
          <p:spPr>
            <a:xfrm>
              <a:off x="0" y="-66675"/>
              <a:ext cx="2709333" cy="6612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3024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EC54BB46-7500-6914-D74D-567C1D27D283}"/>
              </a:ext>
            </a:extLst>
          </p:cNvPr>
          <p:cNvGrpSpPr/>
          <p:nvPr/>
        </p:nvGrpSpPr>
        <p:grpSpPr>
          <a:xfrm>
            <a:off x="179467" y="6643814"/>
            <a:ext cx="8126333" cy="3488267"/>
            <a:chOff x="0" y="0"/>
            <a:chExt cx="844714" cy="36259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B179FAA8-4B8B-8987-D1A0-6F497924E1B0}"/>
                </a:ext>
              </a:extLst>
            </p:cNvPr>
            <p:cNvSpPr/>
            <p:nvPr/>
          </p:nvSpPr>
          <p:spPr>
            <a:xfrm>
              <a:off x="0" y="0"/>
              <a:ext cx="844714" cy="362598"/>
            </a:xfrm>
            <a:custGeom>
              <a:avLst/>
              <a:gdLst/>
              <a:ahLst/>
              <a:cxnLst/>
              <a:rect l="l" t="t" r="r" b="b"/>
              <a:pathLst>
                <a:path w="844714" h="362598">
                  <a:moveTo>
                    <a:pt x="203200" y="0"/>
                  </a:moveTo>
                  <a:lnTo>
                    <a:pt x="844714" y="0"/>
                  </a:lnTo>
                  <a:lnTo>
                    <a:pt x="641514" y="362598"/>
                  </a:lnTo>
                  <a:lnTo>
                    <a:pt x="0" y="362598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283FD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D1C69A4A-26AE-DA22-865D-32ABB9F08276}"/>
                </a:ext>
              </a:extLst>
            </p:cNvPr>
            <p:cNvSpPr txBox="1"/>
            <p:nvPr/>
          </p:nvSpPr>
          <p:spPr>
            <a:xfrm>
              <a:off x="101600" y="-28575"/>
              <a:ext cx="641514" cy="391173"/>
            </a:xfrm>
            <a:prstGeom prst="rect">
              <a:avLst/>
            </a:prstGeom>
          </p:spPr>
          <p:txBody>
            <a:bodyPr lIns="47790" tIns="47790" rIns="47790" bIns="4779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1843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7C7B16B6-94F4-84EC-DD09-31912037B4A6}"/>
              </a:ext>
            </a:extLst>
          </p:cNvPr>
          <p:cNvGrpSpPr/>
          <p:nvPr/>
        </p:nvGrpSpPr>
        <p:grpSpPr>
          <a:xfrm>
            <a:off x="-73552" y="7047924"/>
            <a:ext cx="16030661" cy="3336996"/>
            <a:chOff x="0" y="0"/>
            <a:chExt cx="6165409" cy="1271237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B6291FF7-341F-13F0-BD9B-D7290D16146F}"/>
                </a:ext>
              </a:extLst>
            </p:cNvPr>
            <p:cNvSpPr/>
            <p:nvPr/>
          </p:nvSpPr>
          <p:spPr>
            <a:xfrm>
              <a:off x="0" y="0"/>
              <a:ext cx="6165409" cy="1271237"/>
            </a:xfrm>
            <a:custGeom>
              <a:avLst/>
              <a:gdLst/>
              <a:ahLst/>
              <a:cxnLst/>
              <a:rect l="l" t="t" r="r" b="b"/>
              <a:pathLst>
                <a:path w="6165409" h="1271237">
                  <a:moveTo>
                    <a:pt x="0" y="0"/>
                  </a:moveTo>
                  <a:lnTo>
                    <a:pt x="6165409" y="0"/>
                  </a:lnTo>
                  <a:lnTo>
                    <a:pt x="6165409" y="1271237"/>
                  </a:lnTo>
                  <a:lnTo>
                    <a:pt x="0" y="127123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972DA0E6-7C7F-3692-4F0E-3500B8943736}"/>
                </a:ext>
              </a:extLst>
            </p:cNvPr>
            <p:cNvSpPr txBox="1"/>
            <p:nvPr/>
          </p:nvSpPr>
          <p:spPr>
            <a:xfrm>
              <a:off x="0" y="-28575"/>
              <a:ext cx="6165409" cy="1299812"/>
            </a:xfrm>
            <a:prstGeom prst="rect">
              <a:avLst/>
            </a:prstGeom>
          </p:spPr>
          <p:txBody>
            <a:bodyPr lIns="47790" tIns="47790" rIns="47790" bIns="4779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1843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sp>
        <p:nvSpPr>
          <p:cNvPr id="12" name="TextBox 12">
            <a:extLst>
              <a:ext uri="{FF2B5EF4-FFF2-40B4-BE49-F238E27FC236}">
                <a16:creationId xmlns:a16="http://schemas.microsoft.com/office/drawing/2014/main" id="{1427EFB1-A88C-8BCD-C0AA-57F461965786}"/>
              </a:ext>
            </a:extLst>
          </p:cNvPr>
          <p:cNvSpPr txBox="1"/>
          <p:nvPr/>
        </p:nvSpPr>
        <p:spPr>
          <a:xfrm>
            <a:off x="1111666" y="3432993"/>
            <a:ext cx="14771892" cy="598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4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Day 2 – Block 8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8697BB97-10D8-5FD6-0836-CD6ADC7A40C1}"/>
              </a:ext>
            </a:extLst>
          </p:cNvPr>
          <p:cNvSpPr txBox="1"/>
          <p:nvPr/>
        </p:nvSpPr>
        <p:spPr>
          <a:xfrm>
            <a:off x="1111666" y="9653992"/>
            <a:ext cx="12263263" cy="3619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0" i="0" u="none" strike="noStrike" kern="1200" cap="none" spc="0" normalizeH="0" baseline="0" noProof="0">
                <a:ln>
                  <a:noFill/>
                </a:ln>
                <a:solidFill>
                  <a:srgbClr val="252525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CALIFORNIA INSTITUTE OF APPLIED TECHNOLOGY</a:t>
            </a:r>
          </a:p>
        </p:txBody>
      </p:sp>
      <p:sp>
        <p:nvSpPr>
          <p:cNvPr id="15" name="AutoShape 15">
            <a:extLst>
              <a:ext uri="{FF2B5EF4-FFF2-40B4-BE49-F238E27FC236}">
                <a16:creationId xmlns:a16="http://schemas.microsoft.com/office/drawing/2014/main" id="{0FA79409-129E-1CE4-BE47-14F2A058F959}"/>
              </a:ext>
            </a:extLst>
          </p:cNvPr>
          <p:cNvSpPr/>
          <p:nvPr/>
        </p:nvSpPr>
        <p:spPr>
          <a:xfrm>
            <a:off x="8010568" y="9858838"/>
            <a:ext cx="7625672" cy="0"/>
          </a:xfrm>
          <a:prstGeom prst="line">
            <a:avLst/>
          </a:prstGeom>
          <a:ln w="19050" cap="flat">
            <a:solidFill>
              <a:srgbClr val="0283F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7" name="Freeform 5">
            <a:extLst>
              <a:ext uri="{FF2B5EF4-FFF2-40B4-BE49-F238E27FC236}">
                <a16:creationId xmlns:a16="http://schemas.microsoft.com/office/drawing/2014/main" id="{AD619FCB-3CDD-55C4-AE32-18BC80276056}"/>
              </a:ext>
            </a:extLst>
          </p:cNvPr>
          <p:cNvSpPr/>
          <p:nvPr/>
        </p:nvSpPr>
        <p:spPr>
          <a:xfrm>
            <a:off x="1111666" y="355081"/>
            <a:ext cx="4247850" cy="631936"/>
          </a:xfrm>
          <a:custGeom>
            <a:avLst/>
            <a:gdLst/>
            <a:ahLst/>
            <a:cxnLst/>
            <a:rect l="l" t="t" r="r" b="b"/>
            <a:pathLst>
              <a:path w="4247850" h="631936">
                <a:moveTo>
                  <a:pt x="0" y="0"/>
                </a:moveTo>
                <a:lnTo>
                  <a:pt x="4247850" y="0"/>
                </a:lnTo>
                <a:lnTo>
                  <a:pt x="4247850" y="631935"/>
                </a:lnTo>
                <a:lnTo>
                  <a:pt x="0" y="63193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5" r="-5"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A8E91DB-626B-313F-A984-17932D645F19}"/>
              </a:ext>
            </a:extLst>
          </p:cNvPr>
          <p:cNvSpPr txBox="1"/>
          <p:nvPr/>
        </p:nvSpPr>
        <p:spPr>
          <a:xfrm>
            <a:off x="1111666" y="7106062"/>
            <a:ext cx="9480134" cy="22159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dirty="0"/>
              <a:t>Day 2 Review &amp; Test Prep</a:t>
            </a:r>
          </a:p>
          <a:p>
            <a:pPr lvl="1" indent="-487680"/>
            <a:r>
              <a:rPr lang="en-US" altLang="en-US" sz="1400" dirty="0"/>
              <a:t>Domain 2 Concept Review</a:t>
            </a:r>
            <a:endParaRPr lang="en-US" altLang="en-US" sz="1400" dirty="0">
              <a:cs typeface="Arial"/>
            </a:endParaRPr>
          </a:p>
          <a:p>
            <a:pPr lvl="1" indent="-487680"/>
            <a:r>
              <a:rPr lang="en-US" altLang="en-US" sz="1400" dirty="0"/>
              <a:t>Practice Exam 25 Questions</a:t>
            </a:r>
            <a:endParaRPr lang="en-US" altLang="en-US" sz="1400" dirty="0">
              <a:cs typeface="Arial"/>
            </a:endParaRPr>
          </a:p>
          <a:p>
            <a:r>
              <a:rPr lang="en-US" altLang="en-US" dirty="0"/>
              <a:t>Crucial Exams</a:t>
            </a:r>
            <a:endParaRPr lang="en-US" altLang="en-US" dirty="0">
              <a:cs typeface="Arial"/>
            </a:endParaRPr>
          </a:p>
          <a:p>
            <a:pPr lvl="1" indent="-487680"/>
            <a:r>
              <a:rPr lang="en-US" altLang="en-US" sz="1400" dirty="0"/>
              <a:t>Review Quiz Results &amp; Address Weak Areas</a:t>
            </a:r>
            <a:endParaRPr lang="en-US" altLang="en-US" sz="1400" dirty="0">
              <a:cs typeface="Arial"/>
            </a:endParaRPr>
          </a:p>
          <a:p>
            <a:r>
              <a:rPr lang="en-US" altLang="en-US" dirty="0"/>
              <a:t>Evening Assignment</a:t>
            </a:r>
            <a:endParaRPr lang="en-US" altLang="en-US" dirty="0">
              <a:cs typeface="Arial"/>
            </a:endParaRPr>
          </a:p>
          <a:p>
            <a:pPr lvl="1" indent="-487680"/>
            <a:r>
              <a:rPr lang="en-US" altLang="en-US" sz="1400" dirty="0"/>
              <a:t>	Google - </a:t>
            </a:r>
            <a:r>
              <a:rPr lang="en-US" altLang="en-US" sz="1100" dirty="0"/>
              <a:t>Research the MITRE ATT&amp;CK Framework (14 Tactics); Cyber Kill Chain (7 Phases); Diamond Model of Intrusion Analysis</a:t>
            </a:r>
            <a:endParaRPr lang="en-US" altLang="en-US" sz="1100" dirty="0">
              <a:cs typeface="Arial"/>
            </a:endParaRPr>
          </a:p>
          <a:p>
            <a:pPr lvl="1" indent="-487680"/>
            <a:r>
              <a:rPr lang="en-US" altLang="en-US" sz="1400" dirty="0"/>
              <a:t>Crucial Exams Flashcards - All Acronyms</a:t>
            </a:r>
            <a:endParaRPr lang="en-US" altLang="en-US" sz="1400" dirty="0">
              <a:cs typeface="Arial"/>
            </a:endParaRPr>
          </a:p>
          <a:p>
            <a:pPr lvl="1" indent="-487680"/>
            <a:r>
              <a:rPr lang="en-US" altLang="en-US" sz="1400" dirty="0"/>
              <a:t>uCertify Lessons</a:t>
            </a:r>
            <a:endParaRPr lang="en-US" altLang="en-US" sz="1400" dirty="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14306138"/>
      </p:ext>
    </p:extLst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1C2C06-7C8D-6CD8-AFD3-0E4613C390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B5C8424-B96C-2766-BF3F-A27E429536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Slide </a:t>
            </a:r>
            <a:fld id="{4CA2B2DB-B91D-4166-98BF-65A0DA7EEE6D}" type="slidenum">
              <a:rPr lang="en-US" smtClean="0"/>
              <a:pPr/>
              <a:t>168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D29B66-ACDB-E9B7-17E9-C3801873D39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200" y="2541615"/>
            <a:ext cx="7194550" cy="495300"/>
          </a:xfrm>
        </p:spPr>
        <p:txBody>
          <a:bodyPr/>
          <a:lstStyle/>
          <a:p>
            <a:r>
              <a:rPr lang="en-US" dirty="0"/>
              <a:t>Exam-Critical Topics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7C83CB-DDA9-1E41-60C1-4D284FF9B75B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3162300"/>
            <a:ext cx="8305800" cy="5867400"/>
          </a:xfrm>
        </p:spPr>
        <p:txBody>
          <a:bodyPr/>
          <a:lstStyle/>
          <a:p>
            <a:r>
              <a:rPr lang="en-US" sz="2000" dirty="0"/>
              <a:t>Threat Landscape &amp; Actors — motivations, capabilities, and classifications that drive attack behavior</a:t>
            </a:r>
          </a:p>
          <a:p>
            <a:r>
              <a:rPr lang="en-US" sz="2000" dirty="0"/>
              <a:t>Social Engineering &amp; Human Factors — phishing, pretexting, influence techniques, and user‑centric vulnerabilities</a:t>
            </a:r>
          </a:p>
          <a:p>
            <a:r>
              <a:rPr lang="en-US" sz="2000" dirty="0"/>
              <a:t>Malware Analysis &amp; Defense — viruses, worms, trojans, ransomware, fileless malware, indicators, and containment</a:t>
            </a:r>
          </a:p>
          <a:p>
            <a:r>
              <a:rPr lang="en-US" sz="2000" dirty="0"/>
              <a:t>Attack Vectors &amp; Techniques — credential attacks, network‑based attacks, application exploits, physical vectors</a:t>
            </a:r>
          </a:p>
          <a:p>
            <a:r>
              <a:rPr lang="en-US" sz="2000" dirty="0"/>
              <a:t>MITRE ATT&amp;CK, OWASP Top 10, Cyber Kill Chain — frameworks for mapping attacker behavior and identifying defensive gaps</a:t>
            </a:r>
          </a:p>
          <a:p>
            <a:r>
              <a:rPr lang="en-US" sz="2000" dirty="0"/>
              <a:t>Vulnerability Management — scanning, prioritization, remediation, and reporting workflows</a:t>
            </a:r>
          </a:p>
          <a:p>
            <a:r>
              <a:rPr lang="en-US" sz="2000" dirty="0"/>
              <a:t>Wireless &amp; Mobile Security — Wi‑Fi protections, mobile OS hardening, device risks, and secure configurations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A02ABC5A-FB95-8E80-5765-78D731F56AA2}"/>
              </a:ext>
            </a:extLst>
          </p:cNvPr>
          <p:cNvSpPr txBox="1">
            <a:spLocks/>
          </p:cNvSpPr>
          <p:nvPr/>
        </p:nvSpPr>
        <p:spPr>
          <a:xfrm>
            <a:off x="10255250" y="2541615"/>
            <a:ext cx="7194550" cy="495300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Foundational Reinforcements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9D7EE0F9-621E-3E5F-66BF-096201AD5E31}"/>
              </a:ext>
            </a:extLst>
          </p:cNvPr>
          <p:cNvSpPr txBox="1">
            <a:spLocks/>
          </p:cNvSpPr>
          <p:nvPr/>
        </p:nvSpPr>
        <p:spPr>
          <a:xfrm>
            <a:off x="10255250" y="3162300"/>
            <a:ext cx="8032750" cy="3352800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/>
              <a:t>Threat intelligence concepts — TTPs, indicators, and adversary profiling</a:t>
            </a:r>
          </a:p>
          <a:p>
            <a:r>
              <a:rPr lang="en-US" sz="2000" dirty="0"/>
              <a:t>Human behavior patterns — cognitive biases and susceptibility factors</a:t>
            </a:r>
          </a:p>
          <a:p>
            <a:r>
              <a:rPr lang="en-US" sz="2000" dirty="0"/>
              <a:t>Malware delivery mechanisms — propagation paths and environmental triggers</a:t>
            </a:r>
          </a:p>
          <a:p>
            <a:r>
              <a:rPr lang="en-US" sz="2000" dirty="0"/>
              <a:t>Wireless fundamentals — SSID management, encryption standards, and signal exposure</a:t>
            </a:r>
          </a:p>
          <a:p>
            <a:r>
              <a:rPr lang="en-US" sz="2000" dirty="0"/>
              <a:t>Mobile ecosystem considerations — app permissions, sandboxing, and device posture</a:t>
            </a:r>
          </a:p>
        </p:txBody>
      </p:sp>
    </p:spTree>
    <p:extLst>
      <p:ext uri="{BB962C8B-B14F-4D97-AF65-F5344CB8AC3E}">
        <p14:creationId xmlns:p14="http://schemas.microsoft.com/office/powerpoint/2010/main" val="2851449933"/>
      </p:ext>
    </p:extLst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377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1160EA-C5E3-58CF-962B-0EC8BFD95C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0">
            <a:extLst>
              <a:ext uri="{FF2B5EF4-FFF2-40B4-BE49-F238E27FC236}">
                <a16:creationId xmlns:a16="http://schemas.microsoft.com/office/drawing/2014/main" id="{D852F761-FA96-FA38-C2CB-FF0011A52718}"/>
              </a:ext>
            </a:extLst>
          </p:cNvPr>
          <p:cNvGrpSpPr/>
          <p:nvPr/>
        </p:nvGrpSpPr>
        <p:grpSpPr>
          <a:xfrm rot="-5400000">
            <a:off x="8462598" y="461598"/>
            <a:ext cx="1362805" cy="18287998"/>
            <a:chOff x="0" y="0"/>
            <a:chExt cx="358928" cy="4840325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3FB731BA-F6F2-EAE6-D0E9-04299FF0A4C2}"/>
                </a:ext>
              </a:extLst>
            </p:cNvPr>
            <p:cNvSpPr/>
            <p:nvPr/>
          </p:nvSpPr>
          <p:spPr>
            <a:xfrm>
              <a:off x="0" y="0"/>
              <a:ext cx="358928" cy="4840325"/>
            </a:xfrm>
            <a:custGeom>
              <a:avLst/>
              <a:gdLst/>
              <a:ahLst/>
              <a:cxnLst/>
              <a:rect l="l" t="t" r="r" b="b"/>
              <a:pathLst>
                <a:path w="358928" h="4840325">
                  <a:moveTo>
                    <a:pt x="0" y="0"/>
                  </a:moveTo>
                  <a:lnTo>
                    <a:pt x="358928" y="0"/>
                  </a:lnTo>
                  <a:lnTo>
                    <a:pt x="358928" y="4840325"/>
                  </a:lnTo>
                  <a:lnTo>
                    <a:pt x="0" y="4840325"/>
                  </a:lnTo>
                  <a:close/>
                </a:path>
              </a:pathLst>
            </a:custGeom>
            <a:solidFill>
              <a:srgbClr val="F5C46E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D5C151D4-F32C-FAE2-7054-538A10457B7D}"/>
                </a:ext>
              </a:extLst>
            </p:cNvPr>
            <p:cNvSpPr txBox="1"/>
            <p:nvPr/>
          </p:nvSpPr>
          <p:spPr>
            <a:xfrm>
              <a:off x="0" y="-66675"/>
              <a:ext cx="358928" cy="49070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24"/>
                </a:lnSpc>
              </a:pPr>
              <a:endParaRPr/>
            </a:p>
          </p:txBody>
        </p:sp>
      </p:grpSp>
      <p:sp>
        <p:nvSpPr>
          <p:cNvPr id="13" name="TextBox 13">
            <a:extLst>
              <a:ext uri="{FF2B5EF4-FFF2-40B4-BE49-F238E27FC236}">
                <a16:creationId xmlns:a16="http://schemas.microsoft.com/office/drawing/2014/main" id="{DE24A4D2-23CA-FF62-7A7A-97F9B81552F4}"/>
              </a:ext>
            </a:extLst>
          </p:cNvPr>
          <p:cNvSpPr txBox="1"/>
          <p:nvPr/>
        </p:nvSpPr>
        <p:spPr>
          <a:xfrm>
            <a:off x="3502264" y="4567400"/>
            <a:ext cx="11283472" cy="10855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394"/>
              </a:lnSpc>
            </a:pPr>
            <a:r>
              <a:rPr lang="en-US" sz="6721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350585717"/>
      </p:ext>
    </p:extLst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377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1167C9D-9779-73AE-C255-31DAB05C9D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0">
            <a:extLst>
              <a:ext uri="{FF2B5EF4-FFF2-40B4-BE49-F238E27FC236}">
                <a16:creationId xmlns:a16="http://schemas.microsoft.com/office/drawing/2014/main" id="{303915B3-3CED-7148-A1AE-8283958DE1B5}"/>
              </a:ext>
            </a:extLst>
          </p:cNvPr>
          <p:cNvGrpSpPr/>
          <p:nvPr/>
        </p:nvGrpSpPr>
        <p:grpSpPr>
          <a:xfrm rot="-5400000">
            <a:off x="8462598" y="461598"/>
            <a:ext cx="1362805" cy="18287998"/>
            <a:chOff x="0" y="0"/>
            <a:chExt cx="358928" cy="4840325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181F890B-8B64-ED1B-0AF7-AB1DD8975C6E}"/>
                </a:ext>
              </a:extLst>
            </p:cNvPr>
            <p:cNvSpPr/>
            <p:nvPr/>
          </p:nvSpPr>
          <p:spPr>
            <a:xfrm>
              <a:off x="0" y="0"/>
              <a:ext cx="358928" cy="4840325"/>
            </a:xfrm>
            <a:custGeom>
              <a:avLst/>
              <a:gdLst/>
              <a:ahLst/>
              <a:cxnLst/>
              <a:rect l="l" t="t" r="r" b="b"/>
              <a:pathLst>
                <a:path w="358928" h="4840325">
                  <a:moveTo>
                    <a:pt x="0" y="0"/>
                  </a:moveTo>
                  <a:lnTo>
                    <a:pt x="358928" y="0"/>
                  </a:lnTo>
                  <a:lnTo>
                    <a:pt x="358928" y="4840325"/>
                  </a:lnTo>
                  <a:lnTo>
                    <a:pt x="0" y="4840325"/>
                  </a:lnTo>
                  <a:close/>
                </a:path>
              </a:pathLst>
            </a:custGeom>
            <a:solidFill>
              <a:srgbClr val="F5C46E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D8C35E18-0D82-55E5-DE6F-4740FF9FE107}"/>
                </a:ext>
              </a:extLst>
            </p:cNvPr>
            <p:cNvSpPr txBox="1"/>
            <p:nvPr/>
          </p:nvSpPr>
          <p:spPr>
            <a:xfrm>
              <a:off x="0" y="-66675"/>
              <a:ext cx="358928" cy="49070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24"/>
                </a:lnSpc>
              </a:pPr>
              <a:endParaRPr/>
            </a:p>
          </p:txBody>
        </p:sp>
      </p:grpSp>
      <p:sp>
        <p:nvSpPr>
          <p:cNvPr id="13" name="TextBox 13">
            <a:extLst>
              <a:ext uri="{FF2B5EF4-FFF2-40B4-BE49-F238E27FC236}">
                <a16:creationId xmlns:a16="http://schemas.microsoft.com/office/drawing/2014/main" id="{DA87490B-9A1C-C154-F3D8-03B45267FB61}"/>
              </a:ext>
            </a:extLst>
          </p:cNvPr>
          <p:cNvSpPr txBox="1"/>
          <p:nvPr/>
        </p:nvSpPr>
        <p:spPr>
          <a:xfrm>
            <a:off x="3502264" y="4567400"/>
            <a:ext cx="11283472" cy="9489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394"/>
              </a:lnSpc>
            </a:pPr>
            <a:r>
              <a:rPr lang="en-US" sz="6721" b="1" dirty="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Welcome to Day 3!</a:t>
            </a:r>
          </a:p>
        </p:txBody>
      </p:sp>
    </p:spTree>
    <p:extLst>
      <p:ext uri="{BB962C8B-B14F-4D97-AF65-F5344CB8AC3E}">
        <p14:creationId xmlns:p14="http://schemas.microsoft.com/office/powerpoint/2010/main" val="4043164866"/>
      </p:ext>
    </p:extLst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FBCF33-356B-3C83-D62C-2789A36239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35488E6-01E9-7653-AE1D-942186A9DE4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Day 3 Topics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830948-7E0E-C4E8-0B3F-0F2CA8B3837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en-US" dirty="0"/>
              <a:t>Block 1 - Enterprise Security Architecture</a:t>
            </a:r>
          </a:p>
          <a:p>
            <a:r>
              <a:rPr lang="en-US" altLang="en-US" dirty="0"/>
              <a:t>Block 2 - Secure Network Design</a:t>
            </a:r>
          </a:p>
          <a:p>
            <a:r>
              <a:rPr lang="en-US" altLang="en-US" dirty="0"/>
              <a:t>Block 3 - Identity &amp; Access Management</a:t>
            </a:r>
          </a:p>
          <a:p>
            <a:r>
              <a:rPr lang="en-US" altLang="en-US" dirty="0"/>
              <a:t>Block 4 - Endpoint Security Solutions</a:t>
            </a:r>
          </a:p>
          <a:p>
            <a:r>
              <a:rPr lang="en-US" altLang="en-US" dirty="0"/>
              <a:t>LUNCH	</a:t>
            </a:r>
          </a:p>
          <a:p>
            <a:r>
              <a:rPr lang="en-US" altLang="en-US" dirty="0"/>
              <a:t>Block 5 - Secure Communications</a:t>
            </a:r>
          </a:p>
          <a:p>
            <a:r>
              <a:rPr lang="en-US" altLang="en-US" dirty="0"/>
              <a:t>Block 6 - Application Security</a:t>
            </a:r>
          </a:p>
          <a:p>
            <a:r>
              <a:rPr lang="en-US" altLang="en-US" dirty="0"/>
              <a:t>Block 7 - Domain 3 PBQ Workshop</a:t>
            </a:r>
          </a:p>
          <a:p>
            <a:r>
              <a:rPr lang="en-US" altLang="en-US" dirty="0"/>
              <a:t>Block 8 - Day 3 Review &amp; Test Prep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0414869"/>
      </p:ext>
    </p:extLst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AEE821-97B3-10FA-B31E-FAB7E1A504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1343483-1ED8-7DC8-F265-33D8B8104A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Slide </a:t>
            </a:r>
            <a:fld id="{4CA2B2DB-B91D-4166-98BF-65A0DA7EEE6D}" type="slidenum">
              <a:rPr lang="en-US" smtClean="0"/>
              <a:pPr/>
              <a:t>172</a:t>
            </a:fld>
            <a:endParaRPr lang="en-US" dirty="0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D23D4550-8F1C-1363-FB05-ADB62E166DC0}"/>
              </a:ext>
            </a:extLst>
          </p:cNvPr>
          <p:cNvSpPr txBox="1">
            <a:spLocks/>
          </p:cNvSpPr>
          <p:nvPr/>
        </p:nvSpPr>
        <p:spPr>
          <a:xfrm>
            <a:off x="838200" y="2541615"/>
            <a:ext cx="7194550" cy="495300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Carrying Forward Concepts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91A1F114-4A9C-BA23-AA69-32FEF1518751}"/>
              </a:ext>
            </a:extLst>
          </p:cNvPr>
          <p:cNvSpPr txBox="1">
            <a:spLocks/>
          </p:cNvSpPr>
          <p:nvPr/>
        </p:nvSpPr>
        <p:spPr>
          <a:xfrm>
            <a:off x="838200" y="3162300"/>
            <a:ext cx="16383000" cy="5867400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Threat actors and motivations — understanding capability, intent, and targeting patterns</a:t>
            </a:r>
          </a:p>
          <a:p>
            <a:r>
              <a:rPr lang="en-US" dirty="0"/>
              <a:t>Social engineering fundamentals — phishing, pretexting, influence techniques, and human‑factor vulnerabilities</a:t>
            </a:r>
          </a:p>
          <a:p>
            <a:r>
              <a:rPr lang="en-US" dirty="0"/>
              <a:t>Malware behaviors — ransomware, trojans, worms, fileless attacks, and how they propagate</a:t>
            </a:r>
          </a:p>
          <a:p>
            <a:r>
              <a:rPr lang="en-US" dirty="0"/>
              <a:t>Attack vectors &amp; techniques — credential attacks, network exploitation, application‑level attacks, and physical intrusion</a:t>
            </a:r>
          </a:p>
          <a:p>
            <a:r>
              <a:rPr lang="en-US" dirty="0"/>
              <a:t>Vulnerability management workflow — scanning, analysis, prioritization, remediation</a:t>
            </a:r>
          </a:p>
          <a:p>
            <a:r>
              <a:rPr lang="en-US" dirty="0"/>
              <a:t>Wireless &amp; mobile security essentials — encryption standards, device risks, OS hardening</a:t>
            </a:r>
          </a:p>
        </p:txBody>
      </p:sp>
    </p:spTree>
    <p:extLst>
      <p:ext uri="{BB962C8B-B14F-4D97-AF65-F5344CB8AC3E}">
        <p14:creationId xmlns:p14="http://schemas.microsoft.com/office/powerpoint/2010/main" val="3691717019"/>
      </p:ext>
    </p:extLst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15194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002F131-3EC2-A96F-712C-165BEDF670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1D2D2A72-1644-1538-5B88-19212A0EFA34}"/>
              </a:ext>
            </a:extLst>
          </p:cNvPr>
          <p:cNvGrpSpPr/>
          <p:nvPr/>
        </p:nvGrpSpPr>
        <p:grpSpPr>
          <a:xfrm rot="-5400000">
            <a:off x="12015831" y="4014831"/>
            <a:ext cx="10287000" cy="2257339"/>
            <a:chOff x="0" y="0"/>
            <a:chExt cx="2709333" cy="59452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B4E34D86-B71A-3400-8E83-ADFF0EBD5309}"/>
                </a:ext>
              </a:extLst>
            </p:cNvPr>
            <p:cNvSpPr/>
            <p:nvPr/>
          </p:nvSpPr>
          <p:spPr>
            <a:xfrm>
              <a:off x="0" y="0"/>
              <a:ext cx="2709333" cy="594525"/>
            </a:xfrm>
            <a:custGeom>
              <a:avLst/>
              <a:gdLst/>
              <a:ahLst/>
              <a:cxnLst/>
              <a:rect l="l" t="t" r="r" b="b"/>
              <a:pathLst>
                <a:path w="2709333" h="594525">
                  <a:moveTo>
                    <a:pt x="0" y="0"/>
                  </a:moveTo>
                  <a:lnTo>
                    <a:pt x="2709333" y="0"/>
                  </a:lnTo>
                  <a:lnTo>
                    <a:pt x="2709333" y="594525"/>
                  </a:lnTo>
                  <a:lnTo>
                    <a:pt x="0" y="594525"/>
                  </a:lnTo>
                  <a:close/>
                </a:path>
              </a:pathLst>
            </a:custGeom>
            <a:solidFill>
              <a:srgbClr val="0283FD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7EC00DC4-41B4-43B2-61B2-7F98C2C943F8}"/>
                </a:ext>
              </a:extLst>
            </p:cNvPr>
            <p:cNvSpPr txBox="1"/>
            <p:nvPr/>
          </p:nvSpPr>
          <p:spPr>
            <a:xfrm>
              <a:off x="0" y="-66675"/>
              <a:ext cx="2709333" cy="6612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3024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4E1220F2-8A8B-44C7-828A-4AF9D0E386E6}"/>
              </a:ext>
            </a:extLst>
          </p:cNvPr>
          <p:cNvGrpSpPr/>
          <p:nvPr/>
        </p:nvGrpSpPr>
        <p:grpSpPr>
          <a:xfrm>
            <a:off x="179467" y="6643814"/>
            <a:ext cx="8126333" cy="3488267"/>
            <a:chOff x="0" y="0"/>
            <a:chExt cx="844714" cy="36259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1B772E43-B9C4-138D-6830-53CBA061E5F8}"/>
                </a:ext>
              </a:extLst>
            </p:cNvPr>
            <p:cNvSpPr/>
            <p:nvPr/>
          </p:nvSpPr>
          <p:spPr>
            <a:xfrm>
              <a:off x="0" y="0"/>
              <a:ext cx="844714" cy="362598"/>
            </a:xfrm>
            <a:custGeom>
              <a:avLst/>
              <a:gdLst/>
              <a:ahLst/>
              <a:cxnLst/>
              <a:rect l="l" t="t" r="r" b="b"/>
              <a:pathLst>
                <a:path w="844714" h="362598">
                  <a:moveTo>
                    <a:pt x="203200" y="0"/>
                  </a:moveTo>
                  <a:lnTo>
                    <a:pt x="844714" y="0"/>
                  </a:lnTo>
                  <a:lnTo>
                    <a:pt x="641514" y="362598"/>
                  </a:lnTo>
                  <a:lnTo>
                    <a:pt x="0" y="362598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283FD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FFD7E869-2443-B94B-AFDE-4EFA01566FB7}"/>
                </a:ext>
              </a:extLst>
            </p:cNvPr>
            <p:cNvSpPr txBox="1"/>
            <p:nvPr/>
          </p:nvSpPr>
          <p:spPr>
            <a:xfrm>
              <a:off x="101600" y="-28575"/>
              <a:ext cx="641514" cy="391173"/>
            </a:xfrm>
            <a:prstGeom prst="rect">
              <a:avLst/>
            </a:prstGeom>
          </p:spPr>
          <p:txBody>
            <a:bodyPr lIns="47790" tIns="47790" rIns="47790" bIns="4779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1843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D70A3045-9DA6-A70C-A529-490014DC57BE}"/>
              </a:ext>
            </a:extLst>
          </p:cNvPr>
          <p:cNvGrpSpPr/>
          <p:nvPr/>
        </p:nvGrpSpPr>
        <p:grpSpPr>
          <a:xfrm>
            <a:off x="-73552" y="7047924"/>
            <a:ext cx="16030661" cy="3336996"/>
            <a:chOff x="0" y="0"/>
            <a:chExt cx="6165409" cy="1271237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1837325C-1496-9EF7-9240-01729BDF60C8}"/>
                </a:ext>
              </a:extLst>
            </p:cNvPr>
            <p:cNvSpPr/>
            <p:nvPr/>
          </p:nvSpPr>
          <p:spPr>
            <a:xfrm>
              <a:off x="0" y="0"/>
              <a:ext cx="6165409" cy="1271237"/>
            </a:xfrm>
            <a:custGeom>
              <a:avLst/>
              <a:gdLst/>
              <a:ahLst/>
              <a:cxnLst/>
              <a:rect l="l" t="t" r="r" b="b"/>
              <a:pathLst>
                <a:path w="6165409" h="1271237">
                  <a:moveTo>
                    <a:pt x="0" y="0"/>
                  </a:moveTo>
                  <a:lnTo>
                    <a:pt x="6165409" y="0"/>
                  </a:lnTo>
                  <a:lnTo>
                    <a:pt x="6165409" y="1271237"/>
                  </a:lnTo>
                  <a:lnTo>
                    <a:pt x="0" y="127123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A39DF14D-6655-11EA-8EC7-91302CECC8B1}"/>
                </a:ext>
              </a:extLst>
            </p:cNvPr>
            <p:cNvSpPr txBox="1"/>
            <p:nvPr/>
          </p:nvSpPr>
          <p:spPr>
            <a:xfrm>
              <a:off x="0" y="-28575"/>
              <a:ext cx="6165409" cy="1299812"/>
            </a:xfrm>
            <a:prstGeom prst="rect">
              <a:avLst/>
            </a:prstGeom>
          </p:spPr>
          <p:txBody>
            <a:bodyPr lIns="47790" tIns="47790" rIns="47790" bIns="4779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1843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sp>
        <p:nvSpPr>
          <p:cNvPr id="12" name="TextBox 12">
            <a:extLst>
              <a:ext uri="{FF2B5EF4-FFF2-40B4-BE49-F238E27FC236}">
                <a16:creationId xmlns:a16="http://schemas.microsoft.com/office/drawing/2014/main" id="{7B61FC48-B80D-035A-5232-D79E3B5B1E31}"/>
              </a:ext>
            </a:extLst>
          </p:cNvPr>
          <p:cNvSpPr txBox="1"/>
          <p:nvPr/>
        </p:nvSpPr>
        <p:spPr>
          <a:xfrm>
            <a:off x="1111666" y="3432993"/>
            <a:ext cx="14771892" cy="598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4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Day 3 – Block 1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A1C3629F-64F5-42B9-6B9F-0252069C1348}"/>
              </a:ext>
            </a:extLst>
          </p:cNvPr>
          <p:cNvSpPr txBox="1"/>
          <p:nvPr/>
        </p:nvSpPr>
        <p:spPr>
          <a:xfrm>
            <a:off x="1111666" y="9653992"/>
            <a:ext cx="12263263" cy="3619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0" i="0" u="none" strike="noStrike" kern="1200" cap="none" spc="0" normalizeH="0" baseline="0" noProof="0">
                <a:ln>
                  <a:noFill/>
                </a:ln>
                <a:solidFill>
                  <a:srgbClr val="252525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CALIFORNIA INSTITUTE OF APPLIED TECHNOLOGY</a:t>
            </a:r>
          </a:p>
        </p:txBody>
      </p:sp>
      <p:sp>
        <p:nvSpPr>
          <p:cNvPr id="15" name="AutoShape 15">
            <a:extLst>
              <a:ext uri="{FF2B5EF4-FFF2-40B4-BE49-F238E27FC236}">
                <a16:creationId xmlns:a16="http://schemas.microsoft.com/office/drawing/2014/main" id="{8CFFAAE6-EF2B-3408-DC40-CFF1C46E924E}"/>
              </a:ext>
            </a:extLst>
          </p:cNvPr>
          <p:cNvSpPr/>
          <p:nvPr/>
        </p:nvSpPr>
        <p:spPr>
          <a:xfrm>
            <a:off x="8010568" y="9858838"/>
            <a:ext cx="7625672" cy="0"/>
          </a:xfrm>
          <a:prstGeom prst="line">
            <a:avLst/>
          </a:prstGeom>
          <a:ln w="19050" cap="flat">
            <a:solidFill>
              <a:srgbClr val="0283F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7" name="Freeform 5">
            <a:extLst>
              <a:ext uri="{FF2B5EF4-FFF2-40B4-BE49-F238E27FC236}">
                <a16:creationId xmlns:a16="http://schemas.microsoft.com/office/drawing/2014/main" id="{33B947D5-CDCE-D6FE-5233-F00D74707EE3}"/>
              </a:ext>
            </a:extLst>
          </p:cNvPr>
          <p:cNvSpPr/>
          <p:nvPr/>
        </p:nvSpPr>
        <p:spPr>
          <a:xfrm>
            <a:off x="1111666" y="355081"/>
            <a:ext cx="4247850" cy="631936"/>
          </a:xfrm>
          <a:custGeom>
            <a:avLst/>
            <a:gdLst/>
            <a:ahLst/>
            <a:cxnLst/>
            <a:rect l="l" t="t" r="r" b="b"/>
            <a:pathLst>
              <a:path w="4247850" h="631936">
                <a:moveTo>
                  <a:pt x="0" y="0"/>
                </a:moveTo>
                <a:lnTo>
                  <a:pt x="4247850" y="0"/>
                </a:lnTo>
                <a:lnTo>
                  <a:pt x="4247850" y="631935"/>
                </a:lnTo>
                <a:lnTo>
                  <a:pt x="0" y="63193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5" r="-5"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46A5012-A800-A16B-8FEC-434C99D7310A}"/>
              </a:ext>
            </a:extLst>
          </p:cNvPr>
          <p:cNvSpPr txBox="1"/>
          <p:nvPr/>
        </p:nvSpPr>
        <p:spPr>
          <a:xfrm>
            <a:off x="1111666" y="7106062"/>
            <a:ext cx="9480134" cy="22159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2400" dirty="0"/>
              <a:t>Enterprise Security Architecture</a:t>
            </a:r>
          </a:p>
          <a:p>
            <a:pPr lvl="1"/>
            <a:r>
              <a:rPr lang="en-US" altLang="en-US" dirty="0"/>
              <a:t>Zero-Trust</a:t>
            </a:r>
          </a:p>
          <a:p>
            <a:pPr lvl="1"/>
            <a:r>
              <a:rPr lang="en-US" altLang="en-US" dirty="0"/>
              <a:t>SASE</a:t>
            </a:r>
          </a:p>
          <a:p>
            <a:pPr lvl="1"/>
            <a:r>
              <a:rPr lang="en-US" altLang="en-US" dirty="0"/>
              <a:t>Network Segmentation</a:t>
            </a:r>
          </a:p>
          <a:p>
            <a:pPr lvl="1"/>
            <a:r>
              <a:rPr lang="en-US" altLang="en-US" dirty="0"/>
              <a:t>Secure Design</a:t>
            </a:r>
          </a:p>
          <a:p>
            <a:r>
              <a:rPr lang="en-US" altLang="en-US" sz="2400" dirty="0"/>
              <a:t>Crucial Exams</a:t>
            </a:r>
          </a:p>
          <a:p>
            <a:pPr lvl="1"/>
            <a:r>
              <a:rPr lang="en-US" altLang="en-US" dirty="0"/>
              <a:t>Security Architecture</a:t>
            </a:r>
          </a:p>
        </p:txBody>
      </p:sp>
    </p:spTree>
    <p:extLst>
      <p:ext uri="{BB962C8B-B14F-4D97-AF65-F5344CB8AC3E}">
        <p14:creationId xmlns:p14="http://schemas.microsoft.com/office/powerpoint/2010/main" val="2443604102"/>
      </p:ext>
    </p:extLst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C2C14A-1E95-17DD-04C1-C0A98BF714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60775EB-50E2-AB00-E7E2-35031713F7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Slide </a:t>
            </a:r>
            <a:fld id="{4CA2B2DB-B91D-4166-98BF-65A0DA7EEE6D}" type="slidenum">
              <a:rPr kumimoji="0" lang="en-US" sz="1800" b="0" i="1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174</a:t>
            </a:fld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91410E-AA1D-7B66-98C6-E34C69370E2A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2536823"/>
            <a:ext cx="16192500" cy="3063877"/>
          </a:xfrm>
        </p:spPr>
        <p:txBody>
          <a:bodyPr/>
          <a:lstStyle/>
          <a:p>
            <a:pPr marL="0" indent="0">
              <a:buNone/>
            </a:pPr>
            <a:r>
              <a:rPr lang="en-US" sz="3600" b="1" dirty="0"/>
              <a:t>Zero Trust </a:t>
            </a:r>
            <a:r>
              <a:rPr lang="en-US" sz="3600" dirty="0"/>
              <a:t>is a network security concept centered on not trusting any entity or device by default.</a:t>
            </a:r>
          </a:p>
          <a:p>
            <a:r>
              <a:rPr lang="en-US" dirty="0"/>
              <a:t>Allows access based on various known factors rather than relying on inherent trust</a:t>
            </a:r>
          </a:p>
          <a:p>
            <a:r>
              <a:rPr lang="en-US" dirty="0"/>
              <a:t>Establishes trust through mechanisms such as authentication, authorization, and validation of security posture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43183F9-2167-A3CD-D267-8D529D03136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17A264E4-EDB4-EE64-87F7-E7FE086589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60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Zero Trust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3155476681"/>
      </p:ext>
    </p:extLst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BF8D65-1B8A-467D-FFE9-A6CDDE47BE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B5BA75A-2653-5FB4-3CB6-2DC0CBD2C6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Slide </a:t>
            </a:r>
            <a:fld id="{4CA2B2DB-B91D-4166-98BF-65A0DA7EEE6D}" type="slidenum">
              <a:rPr kumimoji="0" lang="en-US" sz="1800" b="0" i="1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175</a:t>
            </a:fld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8DCBB30-F385-3E38-BA89-1F6BF939946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0A853AB-5929-D621-4BE5-5DD9124086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60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Zero Trust</a:t>
            </a:r>
            <a:endParaRPr lang="en-US" i="1" dirty="0"/>
          </a:p>
        </p:txBody>
      </p:sp>
      <p:pic>
        <p:nvPicPr>
          <p:cNvPr id="3" name="Content Placeholder 6" descr="A diagram of a system&#10;&#10;AI-generated content may be incorrect.">
            <a:extLst>
              <a:ext uri="{FF2B5EF4-FFF2-40B4-BE49-F238E27FC236}">
                <a16:creationId xmlns:a16="http://schemas.microsoft.com/office/drawing/2014/main" id="{95B1FA10-B2C3-28EE-FE96-5A82153A7BE4}"/>
              </a:ext>
            </a:extLst>
          </p:cNvPr>
          <p:cNvPicPr>
            <a:picLocks noGrp="1" noChangeAspect="1"/>
          </p:cNvPicPr>
          <p:nvPr>
            <p:ph sz="quarter" idx="12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864229" y="2502574"/>
            <a:ext cx="8559542" cy="52818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60207180"/>
      </p:ext>
    </p:extLst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802AFE-500D-4107-3817-E981A37F2A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297368D-6588-6565-38BF-F7A12153B2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Slide </a:t>
            </a:r>
            <a:fld id="{4CA2B2DB-B91D-4166-98BF-65A0DA7EEE6D}" type="slidenum">
              <a:rPr kumimoji="0" lang="en-US" sz="1800" b="0" i="1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176</a:t>
            </a:fld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0ADD70-F76B-4A6E-00BC-C60DF6E0768E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2536823"/>
            <a:ext cx="16192500" cy="4206877"/>
          </a:xfrm>
        </p:spPr>
        <p:txBody>
          <a:bodyPr/>
          <a:lstStyle/>
          <a:p>
            <a:r>
              <a:rPr lang="en-US" sz="3600" dirty="0"/>
              <a:t>Adaptive identity</a:t>
            </a:r>
          </a:p>
          <a:p>
            <a:r>
              <a:rPr lang="en-US" sz="3600" dirty="0"/>
              <a:t>Threat scope reduction</a:t>
            </a:r>
          </a:p>
          <a:p>
            <a:r>
              <a:rPr lang="en-US" sz="3600" dirty="0"/>
              <a:t>Policy-driven access control</a:t>
            </a:r>
          </a:p>
          <a:p>
            <a:r>
              <a:rPr lang="en-US" sz="3600" dirty="0"/>
              <a:t>Secured zones</a:t>
            </a:r>
          </a:p>
          <a:p>
            <a:r>
              <a:rPr lang="en-US" sz="3600" dirty="0"/>
              <a:t>Policy engine</a:t>
            </a:r>
          </a:p>
          <a:p>
            <a:r>
              <a:rPr lang="en-US" sz="3600" dirty="0"/>
              <a:t>Policy administrator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96B921E-5A2C-5FDE-B7D0-4B9D3866BC9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4A96B18-3825-87FE-1A82-5DBDD258DD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60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Zero Trust – Control Plane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4213591464"/>
      </p:ext>
    </p:extLst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04672A-C307-7681-8D96-B9B65CD64E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E038A1F-3401-444C-AB0E-3E92D72117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Slide </a:t>
            </a:r>
            <a:fld id="{4CA2B2DB-B91D-4166-98BF-65A0DA7EEE6D}" type="slidenum">
              <a:rPr kumimoji="0" lang="en-US" sz="1800" b="0" i="1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177</a:t>
            </a:fld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B78694-514F-8150-0E1B-81C71DFD8896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2536823"/>
            <a:ext cx="16192500" cy="4206877"/>
          </a:xfrm>
        </p:spPr>
        <p:txBody>
          <a:bodyPr/>
          <a:lstStyle/>
          <a:p>
            <a:r>
              <a:rPr lang="en-US" sz="3600" dirty="0"/>
              <a:t>Subject/system</a:t>
            </a:r>
          </a:p>
          <a:p>
            <a:r>
              <a:rPr lang="en-US" sz="3600" dirty="0"/>
              <a:t>Policy enforcement point (PEP)</a:t>
            </a:r>
          </a:p>
          <a:p>
            <a:r>
              <a:rPr lang="en-US" sz="3600" dirty="0"/>
              <a:t>Implicit trust zones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9DA1D9F-6FE5-F95C-4E57-D62A7DDBAB9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4A33A1F-C695-B13D-E7EB-599414577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60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Zero Trust – Data Plane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2994909636"/>
      </p:ext>
    </p:extLst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D7EE4F-4D60-90C3-BE50-B1FC3A8238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2B90D4C-4A0C-9315-0412-21B0729D59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Slide </a:t>
            </a:r>
            <a:fld id="{4CA2B2DB-B91D-4166-98BF-65A0DA7EEE6D}" type="slidenum">
              <a:rPr kumimoji="0" lang="en-US" sz="1800" b="0" i="1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178</a:t>
            </a:fld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40C23D-50C2-D1DA-BDAF-94C725812E6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2536823"/>
            <a:ext cx="16192500" cy="6035677"/>
          </a:xfrm>
        </p:spPr>
        <p:txBody>
          <a:bodyPr/>
          <a:lstStyle/>
          <a:p>
            <a:pPr marL="0" indent="0">
              <a:spcBef>
                <a:spcPts val="300"/>
              </a:spcBef>
              <a:buNone/>
            </a:pPr>
            <a:r>
              <a:rPr lang="en-US" altLang="en-US" sz="3600" b="1" dirty="0"/>
              <a:t>Cloud computing </a:t>
            </a:r>
            <a:r>
              <a:rPr lang="en-US" altLang="en-US" sz="3600" dirty="0"/>
              <a:t>offers on-demand services that extend computer or network capabilities.</a:t>
            </a:r>
          </a:p>
          <a:p>
            <a:pPr>
              <a:spcBef>
                <a:spcPts val="300"/>
              </a:spcBef>
            </a:pPr>
            <a:r>
              <a:rPr lang="en-US" altLang="en-US" sz="3600" b="1" dirty="0"/>
              <a:t>Benefits</a:t>
            </a:r>
          </a:p>
          <a:p>
            <a:pPr lvl="1">
              <a:spcBef>
                <a:spcPts val="300"/>
              </a:spcBef>
            </a:pPr>
            <a:r>
              <a:rPr lang="en-US" altLang="en-US" sz="3200" dirty="0"/>
              <a:t>Lower cost</a:t>
            </a:r>
          </a:p>
          <a:p>
            <a:pPr lvl="1">
              <a:spcBef>
                <a:spcPts val="300"/>
              </a:spcBef>
            </a:pPr>
            <a:r>
              <a:rPr lang="en-US" altLang="en-US" sz="3200" dirty="0"/>
              <a:t>Reduced administration and maintenance</a:t>
            </a:r>
          </a:p>
          <a:p>
            <a:pPr lvl="1">
              <a:spcBef>
                <a:spcPts val="300"/>
              </a:spcBef>
            </a:pPr>
            <a:r>
              <a:rPr lang="en-US" altLang="en-US" sz="3200" dirty="0"/>
              <a:t>Increased reliability</a:t>
            </a:r>
          </a:p>
          <a:p>
            <a:pPr lvl="1">
              <a:spcBef>
                <a:spcPts val="300"/>
              </a:spcBef>
            </a:pPr>
            <a:r>
              <a:rPr lang="en-US" altLang="en-US" sz="3200" dirty="0"/>
              <a:t>Improved scalability</a:t>
            </a:r>
          </a:p>
          <a:p>
            <a:pPr lvl="1">
              <a:spcBef>
                <a:spcPts val="300"/>
              </a:spcBef>
            </a:pPr>
            <a:r>
              <a:rPr lang="en-US" altLang="en-US" sz="3200" dirty="0"/>
              <a:t>Higher performance (potentially)</a:t>
            </a:r>
          </a:p>
          <a:p>
            <a:pPr>
              <a:spcBef>
                <a:spcPts val="300"/>
              </a:spcBef>
            </a:pPr>
            <a:r>
              <a:rPr lang="en-US" altLang="en-US" sz="3600" b="1" dirty="0"/>
              <a:t>Concerns </a:t>
            </a:r>
          </a:p>
          <a:p>
            <a:pPr lvl="1">
              <a:spcBef>
                <a:spcPts val="300"/>
              </a:spcBef>
            </a:pPr>
            <a:r>
              <a:rPr lang="en-US" altLang="en-US" sz="3200" dirty="0"/>
              <a:t>Lack of administrative control</a:t>
            </a:r>
          </a:p>
          <a:p>
            <a:pPr lvl="1">
              <a:spcBef>
                <a:spcPts val="300"/>
              </a:spcBef>
            </a:pPr>
            <a:r>
              <a:rPr lang="en-US" altLang="en-US" sz="3200" dirty="0"/>
              <a:t>Security  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D5AC2D8-A615-64F0-FA4B-66E75C8D1FD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393270E8-A6CE-FA18-C11C-8D689B4998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60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Cloud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1792794183"/>
      </p:ext>
    </p:extLst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70E2D9-E463-A1F1-E6A3-B599F0BC26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7BB39B7-D664-1923-2A12-0C308F1BDE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Slide </a:t>
            </a:r>
            <a:fld id="{4CA2B2DB-B91D-4166-98BF-65A0DA7EEE6D}" type="slidenum">
              <a:rPr kumimoji="0" lang="en-US" sz="1800" b="0" i="1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179</a:t>
            </a:fld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1614C9-39C0-6DA8-6B50-75AB7D04691B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2536823"/>
            <a:ext cx="16192500" cy="6035677"/>
          </a:xfrm>
        </p:spPr>
        <p:txBody>
          <a:bodyPr/>
          <a:lstStyle/>
          <a:p>
            <a:pPr marL="0" indent="0">
              <a:spcBef>
                <a:spcPts val="300"/>
              </a:spcBef>
              <a:buNone/>
            </a:pPr>
            <a:r>
              <a:rPr lang="en-US" altLang="en-US" sz="3900" b="1" dirty="0"/>
              <a:t>Infrastructure as Code (</a:t>
            </a:r>
            <a:r>
              <a:rPr lang="en-US" altLang="en-US" sz="3900" b="1" dirty="0" err="1"/>
              <a:t>IaC</a:t>
            </a:r>
            <a:r>
              <a:rPr lang="en-US" altLang="en-US" sz="3900" b="1" dirty="0"/>
              <a:t>) </a:t>
            </a:r>
            <a:r>
              <a:rPr lang="en-US" altLang="en-US" sz="3900" dirty="0"/>
              <a:t>involves managing and provisioning computer data centers through machine-readable definition files.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Replaces physical hardware configuration and interactive configuration tools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Provides the scalability and integrations necessary for modern applications and deployments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93FEACB-19F9-6CAB-1668-0F31A8CB01E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8415B05-DC2C-B220-0E02-FA9BDAB0CE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60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Infrastructure as Code (</a:t>
            </a:r>
            <a:r>
              <a:rPr kumimoji="0" lang="en-US" sz="6000" b="0" i="0" u="none" strike="noStrike" kern="0" cap="none" spc="0" normalizeH="0" baseline="0" noProof="0" dirty="0" err="1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IaC</a:t>
            </a:r>
            <a:r>
              <a:rPr kumimoji="0" lang="en-US" sz="60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)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4193294649"/>
      </p:ext>
    </p:extLst>
  </p:cSld>
  <p:clrMapOvr>
    <a:masterClrMapping/>
  </p:clrMapOvr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39D4D6-925F-8BF1-70D7-F202E2DB48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CA800B2-F03F-BD27-9949-56642E2B2D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Slide </a:t>
            </a:r>
            <a:fld id="{4CA2B2DB-B91D-4166-98BF-65A0DA7EEE6D}" type="slidenum">
              <a:rPr kumimoji="0" lang="en-US" sz="1800" b="0" i="1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180</a:t>
            </a:fld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03FB38-43A5-D8F2-3E40-D491EE0DDC29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2536823"/>
            <a:ext cx="16192500" cy="2835277"/>
          </a:xfrm>
        </p:spPr>
        <p:txBody>
          <a:bodyPr/>
          <a:lstStyle/>
          <a:p>
            <a:pPr marL="0" indent="0">
              <a:spcBef>
                <a:spcPts val="300"/>
              </a:spcBef>
              <a:buNone/>
            </a:pPr>
            <a:r>
              <a:rPr lang="en-US" altLang="en-US" sz="4000" b="1" dirty="0"/>
              <a:t>Serverless architecture</a:t>
            </a:r>
            <a:r>
              <a:rPr lang="en-US" altLang="en-US" sz="4000" dirty="0"/>
              <a:t> uses cloud platforms like AWS, Azure, and Google Cloud to host and develop code.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Doesn’t mean the absence of servers; rather, cloud providers dynamically manage server allocation and provisioning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0E5EE94-FFDC-D1AF-A201-261C0B85CA5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08FDCA6E-CF16-1457-0893-AD93DA406E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60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Serverless</a:t>
            </a:r>
            <a:endParaRPr lang="en-US" i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80040AA-323C-EB70-3792-82D55A77EB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96600" y="4458221"/>
            <a:ext cx="4972581" cy="407565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78FD852-F583-C7B4-E85E-14D130C56296}"/>
              </a:ext>
            </a:extLst>
          </p:cNvPr>
          <p:cNvSpPr txBox="1"/>
          <p:nvPr/>
        </p:nvSpPr>
        <p:spPr>
          <a:xfrm>
            <a:off x="1911518" y="5372100"/>
            <a:ext cx="7911765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/>
              <a:t>Example: AWS Lambda is a popular serverless architecture. Shown here is a “function” or application in AWS Lambda.</a:t>
            </a:r>
          </a:p>
        </p:txBody>
      </p:sp>
    </p:spTree>
    <p:extLst>
      <p:ext uri="{BB962C8B-B14F-4D97-AF65-F5344CB8AC3E}">
        <p14:creationId xmlns:p14="http://schemas.microsoft.com/office/powerpoint/2010/main" val="4064899084"/>
      </p:ext>
    </p:extLst>
  </p:cSld>
  <p:clrMapOvr>
    <a:masterClrMapping/>
  </p:clrMapOvr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C3C93A-FDBD-1376-E973-139E7924FE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D56CBFE-DA6F-C284-06F9-0C10FBFB26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Slide </a:t>
            </a:r>
            <a:fld id="{4CA2B2DB-B91D-4166-98BF-65A0DA7EEE6D}" type="slidenum">
              <a:rPr kumimoji="0" lang="en-US" sz="1800" b="0" i="1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181</a:t>
            </a:fld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FC26AB-400A-8A77-E84A-AFB2B35CDB39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2536823"/>
            <a:ext cx="16192500" cy="2835277"/>
          </a:xfrm>
        </p:spPr>
        <p:txBody>
          <a:bodyPr/>
          <a:lstStyle/>
          <a:p>
            <a:pPr marL="0" indent="0">
              <a:spcBef>
                <a:spcPts val="300"/>
              </a:spcBef>
              <a:buNone/>
            </a:pPr>
            <a:r>
              <a:rPr lang="en-US" altLang="en-US" sz="4000" b="1" dirty="0"/>
              <a:t>Network infrastructure </a:t>
            </a:r>
            <a:r>
              <a:rPr lang="en-US" altLang="en-US" sz="4000" dirty="0"/>
              <a:t>encompasses an organization’s essential hardware and software for network connectivity, communication, operations, and management.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82F1263-D523-425B-74F9-AB7CB25E34F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8809E85-D1A9-A5FF-4399-AD4A900A7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60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Network Infrastructure</a:t>
            </a:r>
            <a:endParaRPr lang="en-US" i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5056CCA-C878-E428-A0AC-2F4658BB6C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7822" y="4980033"/>
            <a:ext cx="9012356" cy="385916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88C7E69-ED1B-08AD-DE7C-23B8291A8B7D}"/>
              </a:ext>
            </a:extLst>
          </p:cNvPr>
          <p:cNvSpPr txBox="1"/>
          <p:nvPr/>
        </p:nvSpPr>
        <p:spPr>
          <a:xfrm>
            <a:off x="4299285" y="4410805"/>
            <a:ext cx="927033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3366CC"/>
              </a:buClr>
              <a:buSzPct val="65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en-US" sz="3600" b="0" i="0" u="none" strike="noStrike" kern="0" cap="none" spc="0" normalizeH="0" baseline="0" noProof="0" dirty="0">
                <a:ln>
                  <a:noFill/>
                </a:ln>
                <a:solidFill>
                  <a:srgbClr val="AAAAAA">
                    <a:lumMod val="50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Evolution of Network Infrastructure</a:t>
            </a:r>
          </a:p>
        </p:txBody>
      </p:sp>
    </p:spTree>
    <p:extLst>
      <p:ext uri="{BB962C8B-B14F-4D97-AF65-F5344CB8AC3E}">
        <p14:creationId xmlns:p14="http://schemas.microsoft.com/office/powerpoint/2010/main" val="1769549763"/>
      </p:ext>
    </p:extLst>
  </p:cSld>
  <p:clrMapOvr>
    <a:masterClrMapping/>
  </p:clrMapOvr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7E342C-CEE3-A0E7-136E-0C3DC73B8D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060DB10-0E25-269F-8D25-48D102BE34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Slide </a:t>
            </a:r>
            <a:fld id="{4CA2B2DB-B91D-4166-98BF-65A0DA7EEE6D}" type="slidenum">
              <a:rPr kumimoji="0" lang="en-US" sz="1800" b="0" i="1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182</a:t>
            </a:fld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BA012D-FBD5-A90C-F21E-A3D511B2459B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2536823"/>
            <a:ext cx="16192500" cy="2835277"/>
          </a:xfrm>
        </p:spPr>
        <p:txBody>
          <a:bodyPr/>
          <a:lstStyle/>
          <a:p>
            <a:pPr marL="0" indent="0">
              <a:spcBef>
                <a:spcPts val="900"/>
              </a:spcBef>
              <a:buNone/>
            </a:pPr>
            <a:r>
              <a:rPr lang="en-US" altLang="en-US" sz="4400" b="1" dirty="0"/>
              <a:t>On-premises computing architecture </a:t>
            </a:r>
            <a:r>
              <a:rPr lang="en-US" altLang="en-US" sz="4400" dirty="0"/>
              <a:t>involves housing and managing hardware, software, servers, and network resources within an organization's physical location.</a:t>
            </a:r>
          </a:p>
          <a:p>
            <a:pPr>
              <a:spcBef>
                <a:spcPts val="900"/>
              </a:spcBef>
            </a:pPr>
            <a:r>
              <a:rPr lang="en-US" altLang="en-US" sz="4000" dirty="0"/>
              <a:t>Organizations have complete control over and responsibility for their IT infrastructures, including management, maintenance, and security.</a:t>
            </a:r>
          </a:p>
          <a:p>
            <a:pPr>
              <a:spcBef>
                <a:spcPts val="900"/>
              </a:spcBef>
            </a:pPr>
            <a:r>
              <a:rPr lang="en-US" altLang="en-US" sz="4000" dirty="0"/>
              <a:t>May involve increased costs and complexity, requiring dedicated personnel and equipment for effective management and maintenance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61DE4ED-35E8-1910-BFCB-1EBE6F04E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4500A582-33B7-6343-0885-4146438913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60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On-Premises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1614984661"/>
      </p:ext>
    </p:extLst>
  </p:cSld>
  <p:clrMapOvr>
    <a:masterClrMapping/>
  </p:clrMapOvr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8F5E64-4C62-2D37-3D61-CC46552E21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247DE45-3E5F-D142-9DF7-869BF62939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Slide </a:t>
            </a:r>
            <a:fld id="{4CA2B2DB-B91D-4166-98BF-65A0DA7EEE6D}" type="slidenum">
              <a:rPr kumimoji="0" lang="en-US" sz="1800" b="0" i="1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183</a:t>
            </a:fld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08919B-5886-3ED7-CECD-AA7C9E91335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2536823"/>
            <a:ext cx="16192500" cy="6035677"/>
          </a:xfrm>
        </p:spPr>
        <p:txBody>
          <a:bodyPr/>
          <a:lstStyle/>
          <a:p>
            <a:pPr>
              <a:spcBef>
                <a:spcPts val="900"/>
              </a:spcBef>
            </a:pPr>
            <a:r>
              <a:rPr lang="en-US" altLang="en-US" sz="3900" b="1" dirty="0"/>
              <a:t>Centralized access control</a:t>
            </a:r>
          </a:p>
          <a:p>
            <a:pPr lvl="1">
              <a:spcBef>
                <a:spcPts val="900"/>
              </a:spcBef>
            </a:pPr>
            <a:r>
              <a:rPr lang="en-US" altLang="en-US" sz="3600" dirty="0"/>
              <a:t>	One entity is responsible for administering access to resources.</a:t>
            </a:r>
          </a:p>
          <a:p>
            <a:pPr lvl="1">
              <a:spcBef>
                <a:spcPts val="900"/>
              </a:spcBef>
            </a:pPr>
            <a:r>
              <a:rPr lang="en-US" altLang="en-US" sz="3600" dirty="0"/>
              <a:t>	Characterized by consolidating control, data storage, and processing in a 	single location or server</a:t>
            </a:r>
          </a:p>
          <a:p>
            <a:pPr lvl="1">
              <a:spcBef>
                <a:spcPts val="900"/>
              </a:spcBef>
            </a:pPr>
            <a:r>
              <a:rPr lang="en-US" altLang="en-US" sz="3600" dirty="0"/>
              <a:t>	Offers uniformity and consistency in decision-making</a:t>
            </a:r>
          </a:p>
          <a:p>
            <a:pPr>
              <a:spcBef>
                <a:spcPts val="900"/>
              </a:spcBef>
            </a:pPr>
            <a:r>
              <a:rPr lang="en-US" altLang="en-US" sz="3900" b="1" dirty="0"/>
              <a:t>Decentralized access control</a:t>
            </a:r>
          </a:p>
          <a:p>
            <a:pPr lvl="1">
              <a:spcBef>
                <a:spcPts val="900"/>
              </a:spcBef>
            </a:pPr>
            <a:r>
              <a:rPr lang="en-US" altLang="en-US" sz="3600" dirty="0"/>
              <a:t>	More than one entity is responsible for administering access to resources.</a:t>
            </a:r>
          </a:p>
          <a:p>
            <a:pPr lvl="1">
              <a:spcBef>
                <a:spcPts val="900"/>
              </a:spcBef>
            </a:pPr>
            <a:r>
              <a:rPr lang="en-US" altLang="en-US" sz="3600" dirty="0"/>
              <a:t>	Distributes data and control across multiple locations, servers, or nodes</a:t>
            </a:r>
          </a:p>
          <a:p>
            <a:pPr lvl="1">
              <a:spcBef>
                <a:spcPts val="900"/>
              </a:spcBef>
            </a:pPr>
            <a:r>
              <a:rPr lang="en-US" altLang="en-US" sz="3600" dirty="0"/>
              <a:t>	Offers higher resilience, flexibility, and autonomy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86546AE-FD3B-B184-662A-AA44827A8C3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AD7D00ED-2634-F227-145E-4A0AEBD073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60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Centralized versus Decentralized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1340170756"/>
      </p:ext>
    </p:extLst>
  </p:cSld>
  <p:clrMapOvr>
    <a:masterClrMapping/>
  </p:clrMapOvr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FF1E2D-0C8C-F98F-89A6-E7BAB45B86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3F7F04B-B5EC-5430-F8CC-A8A359CBEA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Slide </a:t>
            </a:r>
            <a:fld id="{4CA2B2DB-B91D-4166-98BF-65A0DA7EEE6D}" type="slidenum">
              <a:rPr kumimoji="0" lang="en-US" sz="1800" b="0" i="1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184</a:t>
            </a:fld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FA58C4-030F-7CC8-815B-219D38A6FE7A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2536823"/>
            <a:ext cx="16192500" cy="6035677"/>
          </a:xfrm>
        </p:spPr>
        <p:txBody>
          <a:bodyPr/>
          <a:lstStyle/>
          <a:p>
            <a:pPr>
              <a:spcBef>
                <a:spcPts val="900"/>
              </a:spcBef>
            </a:pPr>
            <a:r>
              <a:rPr lang="en-US" altLang="en-US" sz="3900" b="1" dirty="0"/>
              <a:t>Containerization</a:t>
            </a:r>
          </a:p>
          <a:p>
            <a:pPr lvl="1">
              <a:spcBef>
                <a:spcPts val="900"/>
              </a:spcBef>
            </a:pPr>
            <a:r>
              <a:rPr lang="en-US" altLang="en-US" sz="3600" dirty="0"/>
              <a:t>	Packaging applications in containers makes sharing and deployment 	easier</a:t>
            </a:r>
          </a:p>
          <a:p>
            <a:pPr lvl="1">
              <a:spcBef>
                <a:spcPts val="900"/>
              </a:spcBef>
            </a:pPr>
            <a:r>
              <a:rPr lang="en-US" altLang="en-US" sz="3600" dirty="0"/>
              <a:t>	Applications consist of language runtimes, libraries, and source code, 	which can introduce dependencies</a:t>
            </a:r>
          </a:p>
          <a:p>
            <a:pPr>
              <a:spcBef>
                <a:spcPts val="900"/>
              </a:spcBef>
            </a:pPr>
            <a:r>
              <a:rPr lang="en-US" altLang="en-US" sz="3900" b="1" dirty="0"/>
              <a:t>Virtualization</a:t>
            </a:r>
          </a:p>
          <a:p>
            <a:pPr lvl="1">
              <a:spcBef>
                <a:spcPts val="900"/>
              </a:spcBef>
            </a:pPr>
            <a:r>
              <a:rPr lang="en-US" altLang="en-US" sz="3600" dirty="0"/>
              <a:t>	Creates multiple simulated environments or dedicated resources from a 	single physical hardware system</a:t>
            </a:r>
          </a:p>
          <a:p>
            <a:pPr lvl="1">
              <a:spcBef>
                <a:spcPts val="900"/>
              </a:spcBef>
            </a:pPr>
            <a:r>
              <a:rPr lang="en-US" altLang="en-US" sz="3600" dirty="0"/>
              <a:t>	Benefits include cost reduction, resource optimization, and scalability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7295E01-0E04-29D2-F19D-1B739B60300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9ACFDA6-979B-2CA6-12C2-3E273F32E2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60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Containerization and Virtualization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673268830"/>
      </p:ext>
    </p:extLst>
  </p:cSld>
  <p:clrMapOvr>
    <a:masterClrMapping/>
  </p:clrMapOvr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0DF37C-EEC7-3DA2-A8EC-A7CB952074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EC10BA1-20CC-B0C1-E218-E7348CAF7D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Slide </a:t>
            </a:r>
            <a:fld id="{4CA2B2DB-B91D-4166-98BF-65A0DA7EEE6D}" type="slidenum">
              <a:rPr kumimoji="0" lang="en-US" sz="1800" b="0" i="1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185</a:t>
            </a:fld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F2D356-BB11-E22A-E671-8D3283509CE9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2536823"/>
            <a:ext cx="16192500" cy="6035677"/>
          </a:xfrm>
        </p:spPr>
        <p:txBody>
          <a:bodyPr/>
          <a:lstStyle/>
          <a:p>
            <a:pPr marL="0" indent="0">
              <a:spcBef>
                <a:spcPts val="900"/>
              </a:spcBef>
              <a:buNone/>
            </a:pPr>
            <a:r>
              <a:rPr lang="en-US" altLang="en-US" sz="3900" b="1" dirty="0"/>
              <a:t>IoT</a:t>
            </a:r>
            <a:r>
              <a:rPr lang="en-US" altLang="en-US" sz="3900" dirty="0"/>
              <a:t> encompasses interconnected physical devices that exchange data over the Internet or other networks.</a:t>
            </a:r>
          </a:p>
          <a:p>
            <a:pPr>
              <a:spcBef>
                <a:spcPts val="900"/>
              </a:spcBef>
            </a:pPr>
            <a:r>
              <a:rPr lang="en-US" altLang="en-US" sz="3900" b="1" dirty="0"/>
              <a:t>Components</a:t>
            </a:r>
          </a:p>
          <a:p>
            <a:pPr lvl="1">
              <a:spcBef>
                <a:spcPts val="900"/>
              </a:spcBef>
            </a:pPr>
            <a:r>
              <a:rPr lang="en-US" altLang="en-US" sz="3600" dirty="0"/>
              <a:t>	Sensors</a:t>
            </a:r>
          </a:p>
          <a:p>
            <a:pPr lvl="1">
              <a:spcBef>
                <a:spcPts val="900"/>
              </a:spcBef>
            </a:pPr>
            <a:r>
              <a:rPr lang="en-US" altLang="en-US" sz="3600" dirty="0"/>
              <a:t>	Smart devices</a:t>
            </a:r>
          </a:p>
          <a:p>
            <a:pPr lvl="1">
              <a:spcBef>
                <a:spcPts val="900"/>
              </a:spcBef>
            </a:pPr>
            <a:r>
              <a:rPr lang="en-US" altLang="en-US" sz="3600" dirty="0"/>
              <a:t>	Wearables</a:t>
            </a:r>
          </a:p>
          <a:p>
            <a:pPr lvl="1">
              <a:spcBef>
                <a:spcPts val="900"/>
              </a:spcBef>
            </a:pPr>
            <a:r>
              <a:rPr lang="en-US" altLang="en-US" sz="3600" dirty="0"/>
              <a:t>	Facility automation</a:t>
            </a:r>
          </a:p>
          <a:p>
            <a:pPr>
              <a:spcBef>
                <a:spcPts val="900"/>
              </a:spcBef>
            </a:pPr>
            <a:r>
              <a:rPr lang="en-US" altLang="en-US" sz="3900" b="1" dirty="0"/>
              <a:t>Weak Defaults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50D789E-DEA6-0875-0FC4-6907B412442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15E7A09E-B408-5F44-6CB1-27EE18C66A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60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Internet of Things IoT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996862146"/>
      </p:ext>
    </p:extLst>
  </p:cSld>
  <p:clrMapOvr>
    <a:masterClrMapping/>
  </p:clrMapOvr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252A18-3F3B-41DF-55F2-98FFBDF0A2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EB21810-EC8A-BAA6-1891-ADCD6E4881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Slide </a:t>
            </a:r>
            <a:fld id="{4CA2B2DB-B91D-4166-98BF-65A0DA7EEE6D}" type="slidenum">
              <a:rPr kumimoji="0" lang="en-US" sz="1800" b="0" i="1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186</a:t>
            </a:fld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8FE0DC-88D5-0AAF-0E48-D5B1AD849122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2536823"/>
            <a:ext cx="16192500" cy="6035677"/>
          </a:xfrm>
        </p:spPr>
        <p:txBody>
          <a:bodyPr/>
          <a:lstStyle/>
          <a:p>
            <a:pPr marL="0" indent="0">
              <a:spcBef>
                <a:spcPts val="900"/>
              </a:spcBef>
              <a:buNone/>
            </a:pPr>
            <a:r>
              <a:rPr lang="en-US" altLang="en-US" sz="3900" b="1" dirty="0"/>
              <a:t>ICS</a:t>
            </a:r>
            <a:r>
              <a:rPr lang="en-US" altLang="en-US" sz="3900" dirty="0"/>
              <a:t>s and </a:t>
            </a:r>
            <a:r>
              <a:rPr lang="en-US" altLang="en-US" sz="3900" b="1" dirty="0"/>
              <a:t>SCADA</a:t>
            </a:r>
            <a:r>
              <a:rPr lang="en-US" altLang="en-US" sz="3900" dirty="0"/>
              <a:t> enable organizations to monitor equipment processes, collect data, perform analysis, and remotely control devices and processes.</a:t>
            </a:r>
          </a:p>
          <a:p>
            <a:pPr>
              <a:spcBef>
                <a:spcPts val="900"/>
              </a:spcBef>
            </a:pPr>
            <a:r>
              <a:rPr lang="en-US" altLang="en-US" sz="3900" dirty="0"/>
              <a:t>Play a crucial role in maintaining efficiency, enabling data-driven decisions, and mitigating downtime in industrial settings</a:t>
            </a:r>
          </a:p>
          <a:p>
            <a:pPr>
              <a:spcBef>
                <a:spcPts val="900"/>
              </a:spcBef>
            </a:pPr>
            <a:r>
              <a:rPr lang="en-US" altLang="en-US" sz="3900" dirty="0"/>
              <a:t>To defend against cyberattacks, SCADA networks should be isolated from corporate networks.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12812B6-BA20-204A-1ABA-83B7DE5B039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47A9F34-6AF9-4D26-505D-7C9AB79D9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Industrial Control Systems ICS/Supervisory Control and Data Acquisition SCADA</a:t>
            </a:r>
            <a:endParaRPr lang="en-US" sz="3600" i="1" dirty="0"/>
          </a:p>
        </p:txBody>
      </p:sp>
    </p:spTree>
    <p:extLst>
      <p:ext uri="{BB962C8B-B14F-4D97-AF65-F5344CB8AC3E}">
        <p14:creationId xmlns:p14="http://schemas.microsoft.com/office/powerpoint/2010/main" val="2467315679"/>
      </p:ext>
    </p:extLst>
  </p:cSld>
  <p:clrMapOvr>
    <a:masterClrMapping/>
  </p:clrMapOvr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98425D-F4AC-8BBE-BCB0-1AF24B89F7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AA6F558-53B0-C263-4315-FCD11020FD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Slide </a:t>
            </a:r>
            <a:fld id="{4CA2B2DB-B91D-4166-98BF-65A0DA7EEE6D}" type="slidenum">
              <a:rPr kumimoji="0" lang="en-US" sz="1800" b="0" i="1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187</a:t>
            </a:fld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0E81AC-83DE-4323-9A0A-797FF1680598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2536823"/>
            <a:ext cx="16192500" cy="6035677"/>
          </a:xfrm>
        </p:spPr>
        <p:txBody>
          <a:bodyPr/>
          <a:lstStyle/>
          <a:p>
            <a:pPr marL="0" indent="0">
              <a:spcBef>
                <a:spcPts val="900"/>
              </a:spcBef>
              <a:buNone/>
            </a:pPr>
            <a:r>
              <a:rPr lang="en-US" altLang="en-US" sz="3900" dirty="0"/>
              <a:t>An </a:t>
            </a:r>
            <a:r>
              <a:rPr lang="en-US" altLang="en-US" sz="3900" b="1" dirty="0"/>
              <a:t>RTOS</a:t>
            </a:r>
            <a:r>
              <a:rPr lang="en-US" altLang="en-US" sz="3900" dirty="0"/>
              <a:t> rapidly switches between tasks, giving the illusion of simultaneous execution of multiple programs on a single processing core.</a:t>
            </a:r>
          </a:p>
          <a:p>
            <a:pPr>
              <a:spcBef>
                <a:spcPts val="900"/>
              </a:spcBef>
            </a:pPr>
            <a:r>
              <a:rPr lang="en-US" altLang="en-US" sz="3600" dirty="0"/>
              <a:t>Provides hard real-time responses with fast and deterministic reactions to external events</a:t>
            </a:r>
          </a:p>
          <a:p>
            <a:pPr>
              <a:spcBef>
                <a:spcPts val="900"/>
              </a:spcBef>
            </a:pPr>
            <a:r>
              <a:rPr lang="en-US" altLang="en-US" sz="3600" b="1" dirty="0"/>
              <a:t>Security measures</a:t>
            </a:r>
            <a:endParaRPr lang="en-US" altLang="en-US" sz="3600" dirty="0"/>
          </a:p>
          <a:p>
            <a:pPr lvl="1">
              <a:spcBef>
                <a:spcPts val="900"/>
              </a:spcBef>
            </a:pPr>
            <a:r>
              <a:rPr lang="en-US" altLang="en-US" sz="3600" dirty="0"/>
              <a:t>	Minimize the attack surface by disabling unnecessary features, services, 	and access.</a:t>
            </a:r>
          </a:p>
          <a:p>
            <a:pPr lvl="1">
              <a:spcBef>
                <a:spcPts val="900"/>
              </a:spcBef>
            </a:pPr>
            <a:r>
              <a:rPr lang="en-US" altLang="en-US" sz="3600" dirty="0"/>
              <a:t>	Assume that external systems are insecure.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0F4B613-BFBD-5D92-DE79-C67728A552F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10ECD6B-9BFF-F711-2D71-6B37B3B31B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60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Real-Time Operating System RTOS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2744929458"/>
      </p:ext>
    </p:extLst>
  </p:cSld>
  <p:clrMapOvr>
    <a:masterClrMapping/>
  </p:clrMapOvr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51D67D-E13B-CFBD-B7FD-4701D9B658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38E7FF8-19DA-1D27-23E6-903801C533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Slide </a:t>
            </a:r>
            <a:fld id="{4CA2B2DB-B91D-4166-98BF-65A0DA7EEE6D}" type="slidenum">
              <a:rPr kumimoji="0" lang="en-US" sz="1800" b="0" i="1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188</a:t>
            </a:fld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CE1030-1F39-2A18-57BB-88DAF701DB7D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2536823"/>
            <a:ext cx="16192500" cy="6035677"/>
          </a:xfrm>
        </p:spPr>
        <p:txBody>
          <a:bodyPr/>
          <a:lstStyle/>
          <a:p>
            <a:pPr marL="0" indent="0">
              <a:spcBef>
                <a:spcPts val="900"/>
              </a:spcBef>
              <a:buNone/>
            </a:pPr>
            <a:r>
              <a:rPr lang="en-US" altLang="en-US" sz="4400" b="1" dirty="0"/>
              <a:t>Embedded systems </a:t>
            </a:r>
            <a:r>
              <a:rPr lang="en-US" altLang="en-US" sz="4400" dirty="0"/>
              <a:t>are specialized computer systems designed for specific functions within larger systems, often with significant design constraints.</a:t>
            </a:r>
          </a:p>
          <a:p>
            <a:pPr>
              <a:spcBef>
                <a:spcPts val="900"/>
              </a:spcBef>
            </a:pPr>
            <a:r>
              <a:rPr lang="en-US" altLang="en-US" sz="4000" dirty="0"/>
              <a:t>Constraints include cost, long lifecycle, real-time requirements, and reliability needs.</a:t>
            </a:r>
          </a:p>
          <a:p>
            <a:pPr>
              <a:spcBef>
                <a:spcPts val="900"/>
              </a:spcBef>
            </a:pPr>
            <a:r>
              <a:rPr lang="en-US" altLang="en-US" sz="4000" dirty="0"/>
              <a:t>Often optimized for lifecycle and business-driven factors rather than security or maximum computing throughput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E416341-E5D8-E007-3B90-803F886B72F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A6EF056-AB3C-498C-5B39-4302BC5E71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60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Embedded Systems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517357547"/>
      </p:ext>
    </p:extLst>
  </p:cSld>
  <p:clrMapOvr>
    <a:masterClrMapping/>
  </p:clrMapOvr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822C33-9F78-172F-F5F5-7EE0880812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6A78416-A7CA-5538-7236-B75A0CFEF5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Slide </a:t>
            </a:r>
            <a:fld id="{4CA2B2DB-B91D-4166-98BF-65A0DA7EEE6D}" type="slidenum">
              <a:rPr kumimoji="0" lang="en-US" sz="1800" b="0" i="1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189</a:t>
            </a:fld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40F1AF-5B0A-CFD2-1E7F-F610DEB6915F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2536823"/>
            <a:ext cx="16192500" cy="6035677"/>
          </a:xfrm>
        </p:spPr>
        <p:txBody>
          <a:bodyPr/>
          <a:lstStyle/>
          <a:p>
            <a:pPr marL="0" indent="0">
              <a:spcBef>
                <a:spcPts val="900"/>
              </a:spcBef>
              <a:buNone/>
            </a:pPr>
            <a:r>
              <a:rPr lang="en-US" altLang="en-US" sz="3900" b="1" dirty="0"/>
              <a:t>High availability </a:t>
            </a:r>
            <a:r>
              <a:rPr lang="en-US" altLang="en-US" sz="3900" dirty="0"/>
              <a:t>refers to operational performance, usually uptime. It ensures users' ability to access a system or service without interruptions.</a:t>
            </a:r>
          </a:p>
          <a:p>
            <a:pPr>
              <a:spcBef>
                <a:spcPts val="900"/>
              </a:spcBef>
            </a:pPr>
            <a:r>
              <a:rPr lang="en-US" altLang="en-US" sz="3600" b="1" dirty="0"/>
              <a:t>Principles of system design</a:t>
            </a:r>
          </a:p>
          <a:p>
            <a:pPr lvl="1">
              <a:spcBef>
                <a:spcPts val="900"/>
              </a:spcBef>
            </a:pPr>
            <a:r>
              <a:rPr lang="en-US" altLang="en-US" sz="3600" dirty="0"/>
              <a:t>	Eliminate single points of failure</a:t>
            </a:r>
          </a:p>
          <a:p>
            <a:pPr lvl="1">
              <a:spcBef>
                <a:spcPts val="900"/>
              </a:spcBef>
            </a:pPr>
            <a:r>
              <a:rPr lang="en-US" altLang="en-US" sz="3600" dirty="0"/>
              <a:t>	Reliable crossover</a:t>
            </a:r>
          </a:p>
          <a:p>
            <a:pPr lvl="1">
              <a:spcBef>
                <a:spcPts val="900"/>
              </a:spcBef>
            </a:pPr>
            <a:r>
              <a:rPr lang="en-US" altLang="en-US" sz="3600" dirty="0"/>
              <a:t>	Detection of failures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92D82E7-B998-67C7-38B6-167AFB8DB29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747349C-9DEB-46DE-2FBE-FE0F0765F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60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High Availability HA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3430274560"/>
      </p:ext>
    </p:extLst>
  </p:cSld>
  <p:clrMapOvr>
    <a:masterClrMapping/>
  </p:clrMapOvr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5A17D7-7E8A-7A73-659A-F77D8A7FFC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C48D7BF-2600-3E67-5441-9051BCDEB7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Slide </a:t>
            </a:r>
            <a:fld id="{4CA2B2DB-B91D-4166-98BF-65A0DA7EEE6D}" type="slidenum">
              <a:rPr kumimoji="0" lang="en-US" sz="1800" b="0" i="1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190</a:t>
            </a:fld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2D1153-3993-8E5F-A1D6-04076E94E10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2536823"/>
            <a:ext cx="16192500" cy="6340477"/>
          </a:xfrm>
        </p:spPr>
        <p:txBody>
          <a:bodyPr/>
          <a:lstStyle/>
          <a:p>
            <a:pPr>
              <a:spcBef>
                <a:spcPts val="900"/>
              </a:spcBef>
            </a:pPr>
            <a:r>
              <a:rPr lang="en-US" altLang="en-US" b="1" dirty="0"/>
              <a:t>Availability</a:t>
            </a:r>
            <a:r>
              <a:rPr lang="en-US" altLang="en-US" dirty="0"/>
              <a:t>: Ensuring continuous business operations with redundant components, load balancing, and failover mechanisms</a:t>
            </a:r>
          </a:p>
          <a:p>
            <a:pPr>
              <a:spcBef>
                <a:spcPts val="900"/>
              </a:spcBef>
            </a:pPr>
            <a:r>
              <a:rPr lang="en-US" altLang="en-US" b="1" dirty="0"/>
              <a:t>Resilience</a:t>
            </a:r>
            <a:r>
              <a:rPr lang="en-US" altLang="en-US" dirty="0"/>
              <a:t>: Building comprehensive preventive measures and recovery strategies to withstand failures and attacks</a:t>
            </a:r>
          </a:p>
          <a:p>
            <a:pPr>
              <a:spcBef>
                <a:spcPts val="900"/>
              </a:spcBef>
            </a:pPr>
            <a:r>
              <a:rPr lang="en-US" altLang="en-US" b="1" dirty="0"/>
              <a:t>Cost</a:t>
            </a:r>
            <a:r>
              <a:rPr lang="en-US" altLang="en-US" dirty="0"/>
              <a:t>: Balancing expenses in acquisition, implementation, operation, and maintenance while optimizing resource utilization</a:t>
            </a:r>
          </a:p>
          <a:p>
            <a:pPr>
              <a:spcBef>
                <a:spcPts val="900"/>
              </a:spcBef>
            </a:pPr>
            <a:r>
              <a:rPr lang="en-US" altLang="en-US" b="1" dirty="0"/>
              <a:t>Responsiveness</a:t>
            </a:r>
            <a:r>
              <a:rPr lang="en-US" altLang="en-US" dirty="0"/>
              <a:t>: Optimizing performance and automating tasks to efficiently meet user demands</a:t>
            </a:r>
          </a:p>
          <a:p>
            <a:pPr>
              <a:spcBef>
                <a:spcPts val="900"/>
              </a:spcBef>
            </a:pPr>
            <a:r>
              <a:rPr lang="en-US" altLang="en-US" b="1" dirty="0"/>
              <a:t>Scalability</a:t>
            </a:r>
            <a:r>
              <a:rPr lang="en-US" altLang="en-US" dirty="0"/>
              <a:t>: Designing systems capable of growing or shrinking in response to changes in demand</a:t>
            </a:r>
          </a:p>
          <a:p>
            <a:pPr>
              <a:spcBef>
                <a:spcPts val="900"/>
              </a:spcBef>
            </a:pPr>
            <a:r>
              <a:rPr lang="en-US" altLang="en-US" b="1" dirty="0"/>
              <a:t>Ease of deployment</a:t>
            </a:r>
            <a:r>
              <a:rPr lang="en-US" altLang="en-US" dirty="0"/>
              <a:t>: Simplifying implementation through standardized configurations and automation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3EF055-5984-1F9A-D5BE-41DD8BADCB4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AF2CB8E1-E83E-2B51-A5D5-6D0D418A7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60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Considerations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484526942"/>
      </p:ext>
    </p:extLst>
  </p:cSld>
  <p:clrMapOvr>
    <a:masterClrMapping/>
  </p:clrMapOvr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2A2F1F-8BD6-D782-7270-45C7F5B21B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C8CA461-6AFF-9DAA-72BA-1FF3019320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Slide </a:t>
            </a:r>
            <a:fld id="{4CA2B2DB-B91D-4166-98BF-65A0DA7EEE6D}" type="slidenum">
              <a:rPr kumimoji="0" lang="en-US" sz="1800" b="0" i="1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191</a:t>
            </a:fld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37F1CA-4803-2B1A-F1C1-1DAF26BFD10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2536823"/>
            <a:ext cx="16192500" cy="5045077"/>
          </a:xfrm>
        </p:spPr>
        <p:txBody>
          <a:bodyPr/>
          <a:lstStyle/>
          <a:p>
            <a:pPr>
              <a:spcBef>
                <a:spcPts val="900"/>
              </a:spcBef>
            </a:pPr>
            <a:r>
              <a:rPr lang="en-US" altLang="en-US" b="1" dirty="0"/>
              <a:t>Risk transference</a:t>
            </a:r>
            <a:r>
              <a:rPr lang="en-US" altLang="en-US" dirty="0"/>
              <a:t>: Strategically shifting risks to other parties while maintaining accountability</a:t>
            </a:r>
          </a:p>
          <a:p>
            <a:pPr>
              <a:spcBef>
                <a:spcPts val="900"/>
              </a:spcBef>
            </a:pPr>
            <a:r>
              <a:rPr lang="en-US" altLang="en-US" b="1" dirty="0"/>
              <a:t>Ease of recovery</a:t>
            </a:r>
            <a:r>
              <a:rPr lang="en-US" altLang="en-US" dirty="0"/>
              <a:t>: Establishing robust disaster recovery and business continuity plans to minimize downtime</a:t>
            </a:r>
          </a:p>
          <a:p>
            <a:pPr>
              <a:spcBef>
                <a:spcPts val="900"/>
              </a:spcBef>
            </a:pPr>
            <a:r>
              <a:rPr lang="en-US" altLang="en-US" b="1" dirty="0"/>
              <a:t>Patch availability</a:t>
            </a:r>
            <a:r>
              <a:rPr lang="en-US" altLang="en-US" dirty="0"/>
              <a:t>: Ensuring timely access to software updates and fixes</a:t>
            </a:r>
          </a:p>
          <a:p>
            <a:pPr>
              <a:spcBef>
                <a:spcPts val="900"/>
              </a:spcBef>
            </a:pPr>
            <a:r>
              <a:rPr lang="en-US" altLang="en-US" b="1" dirty="0"/>
              <a:t>Inability to patch</a:t>
            </a:r>
            <a:r>
              <a:rPr lang="en-US" altLang="en-US" dirty="0"/>
              <a:t>: The challenge of being unable to apply critical security updates, often because of legacy systems or technical constraints</a:t>
            </a:r>
          </a:p>
          <a:p>
            <a:pPr>
              <a:spcBef>
                <a:spcPts val="900"/>
              </a:spcBef>
            </a:pPr>
            <a:r>
              <a:rPr lang="en-US" altLang="en-US" b="1" dirty="0"/>
              <a:t>Power</a:t>
            </a:r>
            <a:r>
              <a:rPr lang="en-US" altLang="en-US" dirty="0"/>
              <a:t>: Optimizing energy efficiency and resilience against power-based attacks across the entire network</a:t>
            </a:r>
          </a:p>
          <a:p>
            <a:pPr>
              <a:spcBef>
                <a:spcPts val="900"/>
              </a:spcBef>
            </a:pPr>
            <a:r>
              <a:rPr lang="en-US" altLang="en-US" b="1" dirty="0"/>
              <a:t>Computing resources</a:t>
            </a:r>
            <a:r>
              <a:rPr lang="en-US" altLang="en-US" dirty="0"/>
              <a:t>: Effectively distributing and optimizing hardware and software components for data processing and computation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9C7C0C2-1620-2BFD-D6E4-CBA927A8AF1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A3D0627-E77E-B7CB-28A5-32E514E639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60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Considerations </a:t>
            </a:r>
            <a:r>
              <a:rPr kumimoji="0" lang="en-US" sz="6000" b="0" i="1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(cont.)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378685038"/>
      </p:ext>
    </p:extLst>
  </p:cSld>
  <p:clrMapOvr>
    <a:masterClrMapping/>
  </p:clrMapOvr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CF3F01-4D8F-511C-2B3A-A7D2493225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EA5024D-DA64-425A-0499-98151AF774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Slide </a:t>
            </a:r>
            <a:fld id="{4CA2B2DB-B91D-4166-98BF-65A0DA7EEE6D}" type="slidenum">
              <a:rPr kumimoji="0" lang="en-US" sz="1800" b="0" i="1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192</a:t>
            </a:fld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E4FE1E-419A-41E8-8359-6C83B82074A2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2536823"/>
            <a:ext cx="16192500" cy="5045077"/>
          </a:xfrm>
        </p:spPr>
        <p:txBody>
          <a:bodyPr/>
          <a:lstStyle/>
          <a:p>
            <a:r>
              <a:rPr lang="en-US" b="1" dirty="0"/>
              <a:t>SASE</a:t>
            </a:r>
            <a:r>
              <a:rPr lang="en-US" dirty="0"/>
              <a:t> is a cybersecurity and networking framework. It converges </a:t>
            </a:r>
            <a:r>
              <a:rPr lang="en-US" b="1" dirty="0"/>
              <a:t>network security functions</a:t>
            </a:r>
            <a:r>
              <a:rPr lang="en-US" dirty="0"/>
              <a:t> with </a:t>
            </a:r>
            <a:r>
              <a:rPr lang="en-US" b="1" dirty="0"/>
              <a:t>WAN (Wide Area Network) capabilities</a:t>
            </a:r>
            <a:r>
              <a:rPr lang="en-US" dirty="0"/>
              <a:t> into a single cloud-delivered service model.</a:t>
            </a:r>
          </a:p>
          <a:p>
            <a:pPr marL="0" indent="0">
              <a:buNone/>
            </a:pPr>
            <a:endParaRPr lang="en-US" b="1" dirty="0"/>
          </a:p>
          <a:p>
            <a:r>
              <a:rPr lang="en-US" dirty="0"/>
              <a:t>SASE delivers secure, optimized access to users regardless of location by combining </a:t>
            </a:r>
            <a:r>
              <a:rPr lang="en-US" b="1" dirty="0"/>
              <a:t>network connectivity</a:t>
            </a:r>
            <a:r>
              <a:rPr lang="en-US" dirty="0"/>
              <a:t> and </a:t>
            </a:r>
            <a:r>
              <a:rPr lang="en-US" b="1" dirty="0"/>
              <a:t>security services</a:t>
            </a:r>
            <a:r>
              <a:rPr lang="en-US" dirty="0"/>
              <a:t> from the cloud.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6EBA153-8668-C51D-427B-C42E51E1819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0394C25-12E1-7649-691E-366FEDAE6B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60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SASE (Secure Access Service Edge)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353763850"/>
      </p:ext>
    </p:extLst>
  </p:cSld>
  <p:clrMapOvr>
    <a:masterClrMapping/>
  </p:clrMapOvr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15194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87C0B37-9590-EB16-F60E-768B94C005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964D83C2-0466-8EB6-F452-ECDA774D9997}"/>
              </a:ext>
            </a:extLst>
          </p:cNvPr>
          <p:cNvGrpSpPr/>
          <p:nvPr/>
        </p:nvGrpSpPr>
        <p:grpSpPr>
          <a:xfrm rot="-5400000">
            <a:off x="12015831" y="4014831"/>
            <a:ext cx="10287000" cy="2257339"/>
            <a:chOff x="0" y="0"/>
            <a:chExt cx="2709333" cy="59452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D619192C-3108-B268-4B66-E959691D21B6}"/>
                </a:ext>
              </a:extLst>
            </p:cNvPr>
            <p:cNvSpPr/>
            <p:nvPr/>
          </p:nvSpPr>
          <p:spPr>
            <a:xfrm>
              <a:off x="0" y="0"/>
              <a:ext cx="2709333" cy="594525"/>
            </a:xfrm>
            <a:custGeom>
              <a:avLst/>
              <a:gdLst/>
              <a:ahLst/>
              <a:cxnLst/>
              <a:rect l="l" t="t" r="r" b="b"/>
              <a:pathLst>
                <a:path w="2709333" h="594525">
                  <a:moveTo>
                    <a:pt x="0" y="0"/>
                  </a:moveTo>
                  <a:lnTo>
                    <a:pt x="2709333" y="0"/>
                  </a:lnTo>
                  <a:lnTo>
                    <a:pt x="2709333" y="594525"/>
                  </a:lnTo>
                  <a:lnTo>
                    <a:pt x="0" y="594525"/>
                  </a:lnTo>
                  <a:close/>
                </a:path>
              </a:pathLst>
            </a:custGeom>
            <a:solidFill>
              <a:srgbClr val="0283FD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DF0FED74-3DF9-8050-F19A-9BA3545DCF01}"/>
                </a:ext>
              </a:extLst>
            </p:cNvPr>
            <p:cNvSpPr txBox="1"/>
            <p:nvPr/>
          </p:nvSpPr>
          <p:spPr>
            <a:xfrm>
              <a:off x="0" y="-66675"/>
              <a:ext cx="2709333" cy="6612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3024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B92F9034-06C0-9CEE-71BD-72773EBED647}"/>
              </a:ext>
            </a:extLst>
          </p:cNvPr>
          <p:cNvGrpSpPr/>
          <p:nvPr/>
        </p:nvGrpSpPr>
        <p:grpSpPr>
          <a:xfrm>
            <a:off x="179467" y="6643814"/>
            <a:ext cx="8126333" cy="3488267"/>
            <a:chOff x="0" y="0"/>
            <a:chExt cx="844714" cy="36259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9B9071C2-19D5-9C22-2DDB-CEBAD220C785}"/>
                </a:ext>
              </a:extLst>
            </p:cNvPr>
            <p:cNvSpPr/>
            <p:nvPr/>
          </p:nvSpPr>
          <p:spPr>
            <a:xfrm>
              <a:off x="0" y="0"/>
              <a:ext cx="844714" cy="362598"/>
            </a:xfrm>
            <a:custGeom>
              <a:avLst/>
              <a:gdLst/>
              <a:ahLst/>
              <a:cxnLst/>
              <a:rect l="l" t="t" r="r" b="b"/>
              <a:pathLst>
                <a:path w="844714" h="362598">
                  <a:moveTo>
                    <a:pt x="203200" y="0"/>
                  </a:moveTo>
                  <a:lnTo>
                    <a:pt x="844714" y="0"/>
                  </a:lnTo>
                  <a:lnTo>
                    <a:pt x="641514" y="362598"/>
                  </a:lnTo>
                  <a:lnTo>
                    <a:pt x="0" y="362598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283FD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B5FCC32C-C7C3-AFB0-DC98-7AAD9BC852D0}"/>
                </a:ext>
              </a:extLst>
            </p:cNvPr>
            <p:cNvSpPr txBox="1"/>
            <p:nvPr/>
          </p:nvSpPr>
          <p:spPr>
            <a:xfrm>
              <a:off x="101600" y="-28575"/>
              <a:ext cx="641514" cy="391173"/>
            </a:xfrm>
            <a:prstGeom prst="rect">
              <a:avLst/>
            </a:prstGeom>
          </p:spPr>
          <p:txBody>
            <a:bodyPr lIns="47790" tIns="47790" rIns="47790" bIns="4779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1843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808720B5-6893-0926-BCB2-9689FFF04748}"/>
              </a:ext>
            </a:extLst>
          </p:cNvPr>
          <p:cNvGrpSpPr/>
          <p:nvPr/>
        </p:nvGrpSpPr>
        <p:grpSpPr>
          <a:xfrm>
            <a:off x="-73552" y="7047924"/>
            <a:ext cx="16030661" cy="3336996"/>
            <a:chOff x="0" y="0"/>
            <a:chExt cx="6165409" cy="1271237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1C9A3E4D-F967-D568-5A08-0113CB564373}"/>
                </a:ext>
              </a:extLst>
            </p:cNvPr>
            <p:cNvSpPr/>
            <p:nvPr/>
          </p:nvSpPr>
          <p:spPr>
            <a:xfrm>
              <a:off x="0" y="0"/>
              <a:ext cx="6165409" cy="1271237"/>
            </a:xfrm>
            <a:custGeom>
              <a:avLst/>
              <a:gdLst/>
              <a:ahLst/>
              <a:cxnLst/>
              <a:rect l="l" t="t" r="r" b="b"/>
              <a:pathLst>
                <a:path w="6165409" h="1271237">
                  <a:moveTo>
                    <a:pt x="0" y="0"/>
                  </a:moveTo>
                  <a:lnTo>
                    <a:pt x="6165409" y="0"/>
                  </a:lnTo>
                  <a:lnTo>
                    <a:pt x="6165409" y="1271237"/>
                  </a:lnTo>
                  <a:lnTo>
                    <a:pt x="0" y="127123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86982377-02AA-87F5-9708-9A5A917A8FF9}"/>
                </a:ext>
              </a:extLst>
            </p:cNvPr>
            <p:cNvSpPr txBox="1"/>
            <p:nvPr/>
          </p:nvSpPr>
          <p:spPr>
            <a:xfrm>
              <a:off x="0" y="-28575"/>
              <a:ext cx="6165409" cy="1299812"/>
            </a:xfrm>
            <a:prstGeom prst="rect">
              <a:avLst/>
            </a:prstGeom>
          </p:spPr>
          <p:txBody>
            <a:bodyPr lIns="47790" tIns="47790" rIns="47790" bIns="4779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1843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sp>
        <p:nvSpPr>
          <p:cNvPr id="12" name="TextBox 12">
            <a:extLst>
              <a:ext uri="{FF2B5EF4-FFF2-40B4-BE49-F238E27FC236}">
                <a16:creationId xmlns:a16="http://schemas.microsoft.com/office/drawing/2014/main" id="{C3A47ED8-FF4D-C2D3-51FC-114465549DE7}"/>
              </a:ext>
            </a:extLst>
          </p:cNvPr>
          <p:cNvSpPr txBox="1"/>
          <p:nvPr/>
        </p:nvSpPr>
        <p:spPr>
          <a:xfrm>
            <a:off x="1111666" y="3432993"/>
            <a:ext cx="14771892" cy="598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4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Day 3 – Block 2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673EBD9D-E65D-2841-06FB-0C347739B83E}"/>
              </a:ext>
            </a:extLst>
          </p:cNvPr>
          <p:cNvSpPr txBox="1"/>
          <p:nvPr/>
        </p:nvSpPr>
        <p:spPr>
          <a:xfrm>
            <a:off x="1111666" y="9653992"/>
            <a:ext cx="12263263" cy="3619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0" i="0" u="none" strike="noStrike" kern="1200" cap="none" spc="0" normalizeH="0" baseline="0" noProof="0">
                <a:ln>
                  <a:noFill/>
                </a:ln>
                <a:solidFill>
                  <a:srgbClr val="252525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CALIFORNIA INSTITUTE OF APPLIED TECHNOLOGY</a:t>
            </a:r>
          </a:p>
        </p:txBody>
      </p:sp>
      <p:sp>
        <p:nvSpPr>
          <p:cNvPr id="15" name="AutoShape 15">
            <a:extLst>
              <a:ext uri="{FF2B5EF4-FFF2-40B4-BE49-F238E27FC236}">
                <a16:creationId xmlns:a16="http://schemas.microsoft.com/office/drawing/2014/main" id="{5816A865-F672-F94F-80B9-68BD7301AC6D}"/>
              </a:ext>
            </a:extLst>
          </p:cNvPr>
          <p:cNvSpPr/>
          <p:nvPr/>
        </p:nvSpPr>
        <p:spPr>
          <a:xfrm>
            <a:off x="8010568" y="9858838"/>
            <a:ext cx="7625672" cy="0"/>
          </a:xfrm>
          <a:prstGeom prst="line">
            <a:avLst/>
          </a:prstGeom>
          <a:ln w="19050" cap="flat">
            <a:solidFill>
              <a:srgbClr val="0283F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7" name="Freeform 5">
            <a:extLst>
              <a:ext uri="{FF2B5EF4-FFF2-40B4-BE49-F238E27FC236}">
                <a16:creationId xmlns:a16="http://schemas.microsoft.com/office/drawing/2014/main" id="{4B998258-5D6F-8CEB-CA9D-045A61F7E056}"/>
              </a:ext>
            </a:extLst>
          </p:cNvPr>
          <p:cNvSpPr/>
          <p:nvPr/>
        </p:nvSpPr>
        <p:spPr>
          <a:xfrm>
            <a:off x="1111666" y="355081"/>
            <a:ext cx="4247850" cy="631936"/>
          </a:xfrm>
          <a:custGeom>
            <a:avLst/>
            <a:gdLst/>
            <a:ahLst/>
            <a:cxnLst/>
            <a:rect l="l" t="t" r="r" b="b"/>
            <a:pathLst>
              <a:path w="4247850" h="631936">
                <a:moveTo>
                  <a:pt x="0" y="0"/>
                </a:moveTo>
                <a:lnTo>
                  <a:pt x="4247850" y="0"/>
                </a:lnTo>
                <a:lnTo>
                  <a:pt x="4247850" y="631935"/>
                </a:lnTo>
                <a:lnTo>
                  <a:pt x="0" y="63193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5" r="-5"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EE62AE8-6405-A4B8-2A7F-D7CC1B5FBCD6}"/>
              </a:ext>
            </a:extLst>
          </p:cNvPr>
          <p:cNvSpPr txBox="1"/>
          <p:nvPr/>
        </p:nvSpPr>
        <p:spPr>
          <a:xfrm>
            <a:off x="1111666" y="7106062"/>
            <a:ext cx="9480134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2400" dirty="0"/>
              <a:t>Secure Network Design</a:t>
            </a:r>
          </a:p>
          <a:p>
            <a:pPr lvl="1"/>
            <a:r>
              <a:rPr lang="en-US" altLang="en-US" dirty="0"/>
              <a:t>VPN Technologies</a:t>
            </a:r>
          </a:p>
          <a:p>
            <a:pPr lvl="1"/>
            <a:r>
              <a:rPr lang="en-US" altLang="en-US" dirty="0"/>
              <a:t>Network Access Control</a:t>
            </a:r>
          </a:p>
          <a:p>
            <a:pPr lvl="1"/>
            <a:r>
              <a:rPr lang="en-US" altLang="en-US" dirty="0"/>
              <a:t>Micro-segmentation</a:t>
            </a:r>
          </a:p>
          <a:p>
            <a:r>
              <a:rPr lang="en-US" altLang="en-US" sz="2400" dirty="0"/>
              <a:t>uCertify Lab</a:t>
            </a:r>
          </a:p>
          <a:p>
            <a:pPr lvl="1"/>
            <a:r>
              <a:rPr lang="en-US" altLang="en-US" dirty="0"/>
              <a:t>11.2.2 Configuring a VPN</a:t>
            </a:r>
          </a:p>
        </p:txBody>
      </p:sp>
    </p:spTree>
    <p:extLst>
      <p:ext uri="{BB962C8B-B14F-4D97-AF65-F5344CB8AC3E}">
        <p14:creationId xmlns:p14="http://schemas.microsoft.com/office/powerpoint/2010/main" val="3792202731"/>
      </p:ext>
    </p:extLst>
  </p:cSld>
  <p:clrMapOvr>
    <a:masterClrMapping/>
  </p:clrMapOvr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4DB8C2-8619-A5A5-B074-A1215CF5E2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2AB295A-8249-7E7F-ADCA-4A8E4010B3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Slide </a:t>
            </a:r>
            <a:fld id="{4CA2B2DB-B91D-4166-98BF-65A0DA7EEE6D}" type="slidenum">
              <a:rPr kumimoji="0" lang="en-US" sz="1800" b="0" i="1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194</a:t>
            </a:fld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1CE92A-5A96-519A-E60D-B6CCD170721F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2536823"/>
            <a:ext cx="16192500" cy="1127125"/>
          </a:xfrm>
        </p:spPr>
        <p:txBody>
          <a:bodyPr/>
          <a:lstStyle/>
          <a:p>
            <a:pPr marL="0" indent="0">
              <a:spcBef>
                <a:spcPts val="300"/>
              </a:spcBef>
              <a:buNone/>
            </a:pPr>
            <a:r>
              <a:rPr lang="en-US" altLang="en-US" sz="2800" dirty="0"/>
              <a:t>A </a:t>
            </a:r>
            <a:r>
              <a:rPr lang="en-US" altLang="en-US" sz="2800" b="1" dirty="0"/>
              <a:t>virtual private network </a:t>
            </a:r>
            <a:r>
              <a:rPr lang="en-US" altLang="en-US" sz="2800" dirty="0"/>
              <a:t>(VPN) establishes a secure connection between two or more devices over the Internet, even if they are not on the same private network.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D7F92D3-5F9F-0DC5-83DE-D552A22F2F1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240A75B-BC50-0D8A-9762-C8613057CF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60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Virtual Private Network VPN</a:t>
            </a:r>
            <a:endParaRPr lang="en-US" i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C9CFF19-C9AC-EAFF-8C4E-BFC572D8CD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8359" y="3661943"/>
            <a:ext cx="11032182" cy="4323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9054001"/>
      </p:ext>
    </p:extLst>
  </p:cSld>
  <p:clrMapOvr>
    <a:masterClrMapping/>
  </p:clrMapOvr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2CA3B5-6E8F-5EA9-1854-E55B2DA186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D9C0301-61AC-7068-2364-73FF6BBA57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Slide </a:t>
            </a:r>
            <a:fld id="{4CA2B2DB-B91D-4166-98BF-65A0DA7EEE6D}" type="slidenum">
              <a:rPr kumimoji="0" lang="en-US" sz="1800" b="0" i="1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195</a:t>
            </a:fld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4158442F-1C40-C9C7-42D0-E6762A2B1702}"/>
              </a:ext>
            </a:extLst>
          </p:cNvPr>
          <p:cNvPicPr>
            <a:picLocks noGrp="1" noChangeAspect="1"/>
          </p:cNvPicPr>
          <p:nvPr>
            <p:ph sz="quarter" idx="12"/>
          </p:nvPr>
        </p:nvPicPr>
        <p:blipFill>
          <a:blip r:embed="rId3"/>
          <a:stretch>
            <a:fillRect/>
          </a:stretch>
        </p:blipFill>
        <p:spPr>
          <a:xfrm>
            <a:off x="4214694" y="2508250"/>
            <a:ext cx="9858611" cy="5940089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2A2C0B6-EC90-9580-B489-C8D0F3B6A47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BD4C813A-8ABC-AA57-76E6-51E0E84440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60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Types of Virtual Private Networks (VPN)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3842797259"/>
      </p:ext>
    </p:extLst>
  </p:cSld>
  <p:clrMapOvr>
    <a:masterClrMapping/>
  </p:clrMapOvr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17B2C8-7501-330F-8AA6-C8F56F0EF7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0355FBB-E763-B509-DD9B-8711A0E972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Slide </a:t>
            </a:r>
            <a:fld id="{4CA2B2DB-B91D-4166-98BF-65A0DA7EEE6D}" type="slidenum">
              <a:rPr kumimoji="0" lang="en-US" sz="1800" b="0" i="1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196</a:t>
            </a:fld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7A0A09-29E9-7112-851F-0B6F1677FE1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2536823"/>
            <a:ext cx="16192500" cy="4359277"/>
          </a:xfrm>
        </p:spPr>
        <p:txBody>
          <a:bodyPr/>
          <a:lstStyle/>
          <a:p>
            <a:pPr marL="0" indent="0">
              <a:spcBef>
                <a:spcPts val="300"/>
              </a:spcBef>
              <a:buNone/>
            </a:pPr>
            <a:r>
              <a:rPr lang="en-US" altLang="en-US" sz="3600" b="1" dirty="0"/>
              <a:t>Remote access </a:t>
            </a:r>
            <a:r>
              <a:rPr lang="en-US" altLang="en-US" sz="3600" dirty="0"/>
              <a:t>allows authorized users to connect to a network, system, or application from a location outside the organization's physical premises.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Remote access technologies</a:t>
            </a:r>
          </a:p>
          <a:p>
            <a:pPr lvl="1">
              <a:spcBef>
                <a:spcPts val="300"/>
              </a:spcBef>
            </a:pPr>
            <a:r>
              <a:rPr lang="en-US" altLang="en-US" sz="3300" dirty="0"/>
              <a:t>	Remote Access Service (RAS)</a:t>
            </a:r>
          </a:p>
          <a:p>
            <a:pPr lvl="1">
              <a:spcBef>
                <a:spcPts val="300"/>
              </a:spcBef>
            </a:pPr>
            <a:r>
              <a:rPr lang="en-US" altLang="en-US" sz="3300" dirty="0"/>
              <a:t>	Virtual Private Networks (VPNs)</a:t>
            </a:r>
          </a:p>
          <a:p>
            <a:pPr lvl="1">
              <a:spcBef>
                <a:spcPts val="300"/>
              </a:spcBef>
            </a:pPr>
            <a:r>
              <a:rPr lang="en-US" altLang="en-US" sz="3300" dirty="0"/>
              <a:t>	Terminal Access Controller Access Control System Plus (TACACS+)</a:t>
            </a:r>
          </a:p>
          <a:p>
            <a:pPr lvl="1">
              <a:spcBef>
                <a:spcPts val="300"/>
              </a:spcBef>
            </a:pPr>
            <a:r>
              <a:rPr lang="en-US" altLang="en-US" sz="3300" dirty="0"/>
              <a:t>	Challenge-Handshake Authentication Protocol (CHAP)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157DFD-71D5-DD11-D43C-129D77E4702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ADBCD79F-9C3B-7354-5502-7F22268195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60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Remote Access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1524794771"/>
      </p:ext>
    </p:extLst>
  </p:cSld>
  <p:clrMapOvr>
    <a:masterClrMapping/>
  </p:clrMapOvr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25EBA5-BB39-4198-246A-67DF2CA9BA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7C08A02-35B7-3EBB-313E-889259444D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Slide </a:t>
            </a:r>
            <a:fld id="{4CA2B2DB-B91D-4166-98BF-65A0DA7EEE6D}" type="slidenum">
              <a:rPr kumimoji="0" lang="en-US" sz="1800" b="0" i="1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197</a:t>
            </a:fld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C8B4BC-4EEC-AAEB-CC92-32E87D4EA552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2536823"/>
            <a:ext cx="16192500" cy="4359277"/>
          </a:xfrm>
        </p:spPr>
        <p:txBody>
          <a:bodyPr/>
          <a:lstStyle/>
          <a:p>
            <a:pPr marL="0" indent="0">
              <a:spcBef>
                <a:spcPts val="900"/>
              </a:spcBef>
              <a:buNone/>
            </a:pPr>
            <a:r>
              <a:rPr lang="en-US" altLang="en-US" sz="4000" b="1" dirty="0"/>
              <a:t>Tunneling</a:t>
            </a:r>
            <a:r>
              <a:rPr lang="en-US" altLang="en-US" sz="4000" dirty="0"/>
              <a:t> creates a secure pathway for data transmission across networks via encapsulation.</a:t>
            </a:r>
          </a:p>
          <a:p>
            <a:pPr>
              <a:spcBef>
                <a:spcPts val="900"/>
              </a:spcBef>
            </a:pPr>
            <a:r>
              <a:rPr lang="en-US" altLang="en-US" sz="3600" dirty="0"/>
              <a:t>Protocols like </a:t>
            </a:r>
            <a:r>
              <a:rPr lang="en-US" altLang="en-US" sz="3600" b="1" dirty="0"/>
              <a:t>Transport Layer Security (TLS) </a:t>
            </a:r>
            <a:r>
              <a:rPr lang="en-US" altLang="en-US" sz="3600" dirty="0"/>
              <a:t>and </a:t>
            </a:r>
            <a:r>
              <a:rPr lang="en-US" altLang="en-US" sz="3600" b="1" dirty="0"/>
              <a:t>Internet Protocol Security (IPsec) </a:t>
            </a:r>
            <a:r>
              <a:rPr lang="en-US" altLang="en-US" sz="3600" dirty="0"/>
              <a:t>enhance the security of tunneling by providing encryption and integrity mechanisms.</a:t>
            </a:r>
          </a:p>
          <a:p>
            <a:pPr>
              <a:spcBef>
                <a:spcPts val="900"/>
              </a:spcBef>
            </a:pPr>
            <a:r>
              <a:rPr lang="en-US" altLang="en-US" sz="3600" b="1" dirty="0"/>
              <a:t>IKE</a:t>
            </a:r>
            <a:r>
              <a:rPr lang="en-US" altLang="en-US" sz="3600" dirty="0"/>
              <a:t>, the key management protocol for IPsec, has two phases. Phase 1 negotiates the ISAKMP SA, and Phase 2 negotiates the IPsec Sas.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A7BE72-A26A-2598-C777-36B4623E5C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E6D6C054-2B05-59BE-4123-3653154297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60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Tunneling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3497110017"/>
      </p:ext>
    </p:extLst>
  </p:cSld>
  <p:clrMapOvr>
    <a:masterClrMapping/>
  </p:clrMapOvr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75E1F6-3A01-BF87-D02B-877B11016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7F54BAF-6483-4CA0-2926-49172497A4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Slide </a:t>
            </a:r>
            <a:fld id="{4CA2B2DB-B91D-4166-98BF-65A0DA7EEE6D}" type="slidenum">
              <a:rPr kumimoji="0" lang="en-US" sz="1800" b="0" i="1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198</a:t>
            </a:fld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4AC893-F2EC-9B67-D2F8-6F6EB494FBD8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2536823"/>
            <a:ext cx="16192500" cy="6035677"/>
          </a:xfrm>
        </p:spPr>
        <p:txBody>
          <a:bodyPr/>
          <a:lstStyle/>
          <a:p>
            <a:pPr marL="0" indent="0">
              <a:spcBef>
                <a:spcPts val="900"/>
              </a:spcBef>
              <a:buNone/>
            </a:pPr>
            <a:r>
              <a:rPr lang="en-US" altLang="en-US" sz="3900" b="1" dirty="0"/>
              <a:t>NAC </a:t>
            </a:r>
            <a:r>
              <a:rPr lang="en-US" altLang="en-US" sz="3900" dirty="0"/>
              <a:t>is a method to enforce policy-driven security solutions at the network entry level.</a:t>
            </a:r>
          </a:p>
          <a:p>
            <a:pPr>
              <a:spcBef>
                <a:spcPts val="900"/>
              </a:spcBef>
            </a:pPr>
            <a:r>
              <a:rPr lang="en-US" altLang="en-US" sz="3600" dirty="0"/>
              <a:t>Checks if devices comply with predefined security rules before granting access to the network</a:t>
            </a:r>
          </a:p>
          <a:p>
            <a:pPr>
              <a:spcBef>
                <a:spcPts val="900"/>
              </a:spcBef>
            </a:pPr>
            <a:r>
              <a:rPr lang="en-US" altLang="en-US" sz="4200" dirty="0"/>
              <a:t>Drawbacks</a:t>
            </a:r>
          </a:p>
          <a:p>
            <a:pPr lvl="1">
              <a:spcBef>
                <a:spcPts val="900"/>
              </a:spcBef>
            </a:pPr>
            <a:r>
              <a:rPr lang="en-US" altLang="en-US" sz="3600" dirty="0"/>
              <a:t>	Adds complexity to network administration  </a:t>
            </a:r>
          </a:p>
          <a:p>
            <a:pPr lvl="1">
              <a:spcBef>
                <a:spcPts val="900"/>
              </a:spcBef>
            </a:pPr>
            <a:r>
              <a:rPr lang="en-US" altLang="en-US" sz="3600" dirty="0"/>
              <a:t>	Can be circumvented, compromising network security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1A572C8-4952-5F0B-F9BA-D5B27738576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1D256F4D-FC9D-819C-3754-34E5E3BBD5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60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Network Access Control NAC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891521056"/>
      </p:ext>
    </p:extLst>
  </p:cSld>
  <p:clrMapOvr>
    <a:masterClrMapping/>
  </p:clrMapOvr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43A95D-3A12-429E-DD45-DB814146C7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712FB01-2568-BFC6-B6F2-D1D235B839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Slide </a:t>
            </a:r>
            <a:fld id="{4CA2B2DB-B91D-4166-98BF-65A0DA7EEE6D}" type="slidenum">
              <a:rPr kumimoji="0" lang="en-US" sz="1800" b="0" i="1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199</a:t>
            </a:fld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9A5400-6A56-F513-1862-DD98B9A8BB9E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2536823"/>
            <a:ext cx="16192500" cy="6035677"/>
          </a:xfrm>
        </p:spPr>
        <p:txBody>
          <a:bodyPr/>
          <a:lstStyle/>
          <a:p>
            <a:pPr marL="0" indent="0">
              <a:spcBef>
                <a:spcPts val="600"/>
              </a:spcBef>
              <a:buNone/>
            </a:pPr>
            <a:r>
              <a:rPr lang="en-US" altLang="en-US" sz="4000" dirty="0"/>
              <a:t>Micro-segmentation divides the network into very small, isolated segments—down to individual workloads or applications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80FEF4D-9352-8F68-E445-FC08885DBE5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3AA3F7C-22FE-4A68-B0FC-EDEB9A0B91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60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Micro-segmentation</a:t>
            </a:r>
            <a:endParaRPr lang="en-US" i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C683E52-D47C-37A3-4FCC-BBD912EE17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0791" y="3874538"/>
            <a:ext cx="10106418" cy="4697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5869255"/>
      </p:ext>
    </p:extLst>
  </p:cSld>
  <p:clrMapOvr>
    <a:masterClrMapping/>
  </p:clrMapOvr>
</p:sld>
</file>

<file path=ppt/slides/slide2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303BC6-A75C-C4AE-022F-789A0B35DB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1AED14C-9034-1F1F-5E9A-4B1491768C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Slide </a:t>
            </a:r>
            <a:fld id="{4CA2B2DB-B91D-4166-98BF-65A0DA7EEE6D}" type="slidenum">
              <a:rPr kumimoji="0" lang="en-US" sz="1800" b="0" i="1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200</a:t>
            </a:fld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4A0252-37DD-D88D-FA6E-60EA12691C6A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228600" y="2536823"/>
            <a:ext cx="17830800" cy="6035677"/>
          </a:xfrm>
        </p:spPr>
        <p:txBody>
          <a:bodyPr/>
          <a:lstStyle/>
          <a:p>
            <a:pPr marL="0" indent="0">
              <a:spcBef>
                <a:spcPts val="600"/>
              </a:spcBef>
              <a:buNone/>
            </a:pPr>
            <a:r>
              <a:rPr lang="en-US" altLang="en-US" sz="2800" b="1" dirty="0"/>
              <a:t>Scenario - Remote Access Gone Wrong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altLang="en-US" sz="2800" dirty="0"/>
              <a:t>A contractor connects to the company network using a client‑based VPN from their personal laptop. The VPN uses SSL tunneling with only a username and a password. The device has no NAC check, and once connected, the VPN drops the user directly into the internal network with broad access. </a:t>
            </a:r>
          </a:p>
          <a:p>
            <a:pPr marL="0" indent="0">
              <a:spcBef>
                <a:spcPts val="600"/>
              </a:spcBef>
              <a:buNone/>
            </a:pPr>
            <a:endParaRPr lang="en-US" altLang="en-US" sz="2800" dirty="0"/>
          </a:p>
          <a:p>
            <a:pPr marL="0" indent="0">
              <a:spcBef>
                <a:spcPts val="600"/>
              </a:spcBef>
              <a:buNone/>
            </a:pPr>
            <a:r>
              <a:rPr lang="en-US" altLang="en-US" sz="2800" dirty="0"/>
              <a:t>Unbeknownst to the contractor, their laptop is infected with malware. After the VPN connection is established, the attacker uses the active tunnel to:</a:t>
            </a:r>
          </a:p>
          <a:p>
            <a:pPr>
              <a:spcBef>
                <a:spcPts val="600"/>
              </a:spcBef>
            </a:pPr>
            <a:r>
              <a:rPr lang="en-US" altLang="en-US" sz="2800" dirty="0"/>
              <a:t>Scan internal hosts</a:t>
            </a:r>
          </a:p>
          <a:p>
            <a:pPr>
              <a:spcBef>
                <a:spcPts val="600"/>
              </a:spcBef>
            </a:pPr>
            <a:r>
              <a:rPr lang="en-US" altLang="en-US" sz="2800" dirty="0"/>
              <a:t>Access an unsegmented file share</a:t>
            </a:r>
          </a:p>
          <a:p>
            <a:pPr>
              <a:spcBef>
                <a:spcPts val="600"/>
              </a:spcBef>
            </a:pPr>
            <a:r>
              <a:rPr lang="en-US" altLang="en-US" sz="2800" dirty="0"/>
              <a:t>Move laterally into a sensitive application subnet</a:t>
            </a:r>
          </a:p>
          <a:p>
            <a:pPr>
              <a:spcBef>
                <a:spcPts val="600"/>
              </a:spcBef>
            </a:pPr>
            <a:r>
              <a:rPr lang="en-US" altLang="en-US" sz="2800" dirty="0"/>
              <a:t>Exfiltrate data through the encrypted VPN tunnel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altLang="en-US" sz="2800" dirty="0"/>
              <a:t>***The organization discovers the breach three days later during routine log review.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F1F4C2-B42F-DC84-0CF6-0D0A6445459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3C5D3D7A-634C-CCCF-4883-CBB706C8DD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60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Secure Network Design Case Study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2111407052"/>
      </p:ext>
    </p:extLst>
  </p:cSld>
  <p:clrMapOvr>
    <a:masterClrMapping/>
  </p:clrMapOvr>
</p:sld>
</file>

<file path=ppt/slides/slide20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15194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E5B6887-C81F-CB89-A8F6-3ED8E3F914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7A4B441B-62F0-57DE-8080-29B95ED71615}"/>
              </a:ext>
            </a:extLst>
          </p:cNvPr>
          <p:cNvGrpSpPr/>
          <p:nvPr/>
        </p:nvGrpSpPr>
        <p:grpSpPr>
          <a:xfrm rot="-5400000">
            <a:off x="12015831" y="4014831"/>
            <a:ext cx="10287000" cy="2257339"/>
            <a:chOff x="0" y="0"/>
            <a:chExt cx="2709333" cy="59452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A4987058-325B-4E3D-4473-88DD735309E0}"/>
                </a:ext>
              </a:extLst>
            </p:cNvPr>
            <p:cNvSpPr/>
            <p:nvPr/>
          </p:nvSpPr>
          <p:spPr>
            <a:xfrm>
              <a:off x="0" y="0"/>
              <a:ext cx="2709333" cy="594525"/>
            </a:xfrm>
            <a:custGeom>
              <a:avLst/>
              <a:gdLst/>
              <a:ahLst/>
              <a:cxnLst/>
              <a:rect l="l" t="t" r="r" b="b"/>
              <a:pathLst>
                <a:path w="2709333" h="594525">
                  <a:moveTo>
                    <a:pt x="0" y="0"/>
                  </a:moveTo>
                  <a:lnTo>
                    <a:pt x="2709333" y="0"/>
                  </a:lnTo>
                  <a:lnTo>
                    <a:pt x="2709333" y="594525"/>
                  </a:lnTo>
                  <a:lnTo>
                    <a:pt x="0" y="594525"/>
                  </a:lnTo>
                  <a:close/>
                </a:path>
              </a:pathLst>
            </a:custGeom>
            <a:solidFill>
              <a:srgbClr val="0283FD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96FAD4D-B2CC-9D68-A216-D35AF5D3C063}"/>
                </a:ext>
              </a:extLst>
            </p:cNvPr>
            <p:cNvSpPr txBox="1"/>
            <p:nvPr/>
          </p:nvSpPr>
          <p:spPr>
            <a:xfrm>
              <a:off x="0" y="-66675"/>
              <a:ext cx="2709333" cy="6612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3024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01CFFA53-93B2-3782-6FA7-EFDA5BE0BB50}"/>
              </a:ext>
            </a:extLst>
          </p:cNvPr>
          <p:cNvGrpSpPr/>
          <p:nvPr/>
        </p:nvGrpSpPr>
        <p:grpSpPr>
          <a:xfrm>
            <a:off x="179467" y="6643814"/>
            <a:ext cx="8126333" cy="3488267"/>
            <a:chOff x="0" y="0"/>
            <a:chExt cx="844714" cy="36259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0C5C6B99-6F5A-9DAE-E351-CEA4660F73C4}"/>
                </a:ext>
              </a:extLst>
            </p:cNvPr>
            <p:cNvSpPr/>
            <p:nvPr/>
          </p:nvSpPr>
          <p:spPr>
            <a:xfrm>
              <a:off x="0" y="0"/>
              <a:ext cx="844714" cy="362598"/>
            </a:xfrm>
            <a:custGeom>
              <a:avLst/>
              <a:gdLst/>
              <a:ahLst/>
              <a:cxnLst/>
              <a:rect l="l" t="t" r="r" b="b"/>
              <a:pathLst>
                <a:path w="844714" h="362598">
                  <a:moveTo>
                    <a:pt x="203200" y="0"/>
                  </a:moveTo>
                  <a:lnTo>
                    <a:pt x="844714" y="0"/>
                  </a:lnTo>
                  <a:lnTo>
                    <a:pt x="641514" y="362598"/>
                  </a:lnTo>
                  <a:lnTo>
                    <a:pt x="0" y="362598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283FD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07B3CFD7-3BF4-7A72-ED87-9B5051AA04EA}"/>
                </a:ext>
              </a:extLst>
            </p:cNvPr>
            <p:cNvSpPr txBox="1"/>
            <p:nvPr/>
          </p:nvSpPr>
          <p:spPr>
            <a:xfrm>
              <a:off x="101600" y="-28575"/>
              <a:ext cx="641514" cy="391173"/>
            </a:xfrm>
            <a:prstGeom prst="rect">
              <a:avLst/>
            </a:prstGeom>
          </p:spPr>
          <p:txBody>
            <a:bodyPr lIns="47790" tIns="47790" rIns="47790" bIns="4779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1843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6B5D0951-5B6B-6B28-C76B-48A7B9F18198}"/>
              </a:ext>
            </a:extLst>
          </p:cNvPr>
          <p:cNvGrpSpPr/>
          <p:nvPr/>
        </p:nvGrpSpPr>
        <p:grpSpPr>
          <a:xfrm>
            <a:off x="-73552" y="7047924"/>
            <a:ext cx="16030661" cy="3336996"/>
            <a:chOff x="0" y="0"/>
            <a:chExt cx="6165409" cy="1271237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3A45023A-C66D-B446-2BCF-45B561DCE14B}"/>
                </a:ext>
              </a:extLst>
            </p:cNvPr>
            <p:cNvSpPr/>
            <p:nvPr/>
          </p:nvSpPr>
          <p:spPr>
            <a:xfrm>
              <a:off x="0" y="0"/>
              <a:ext cx="6165409" cy="1271237"/>
            </a:xfrm>
            <a:custGeom>
              <a:avLst/>
              <a:gdLst/>
              <a:ahLst/>
              <a:cxnLst/>
              <a:rect l="l" t="t" r="r" b="b"/>
              <a:pathLst>
                <a:path w="6165409" h="1271237">
                  <a:moveTo>
                    <a:pt x="0" y="0"/>
                  </a:moveTo>
                  <a:lnTo>
                    <a:pt x="6165409" y="0"/>
                  </a:lnTo>
                  <a:lnTo>
                    <a:pt x="6165409" y="1271237"/>
                  </a:lnTo>
                  <a:lnTo>
                    <a:pt x="0" y="127123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E63E9A2F-DB90-BE82-933E-B00D13BA2FF7}"/>
                </a:ext>
              </a:extLst>
            </p:cNvPr>
            <p:cNvSpPr txBox="1"/>
            <p:nvPr/>
          </p:nvSpPr>
          <p:spPr>
            <a:xfrm>
              <a:off x="0" y="-28575"/>
              <a:ext cx="6165409" cy="1299812"/>
            </a:xfrm>
            <a:prstGeom prst="rect">
              <a:avLst/>
            </a:prstGeom>
          </p:spPr>
          <p:txBody>
            <a:bodyPr lIns="47790" tIns="47790" rIns="47790" bIns="4779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1843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sp>
        <p:nvSpPr>
          <p:cNvPr id="12" name="TextBox 12">
            <a:extLst>
              <a:ext uri="{FF2B5EF4-FFF2-40B4-BE49-F238E27FC236}">
                <a16:creationId xmlns:a16="http://schemas.microsoft.com/office/drawing/2014/main" id="{FF795BCD-4243-86E4-54E5-607C8F135B5C}"/>
              </a:ext>
            </a:extLst>
          </p:cNvPr>
          <p:cNvSpPr txBox="1"/>
          <p:nvPr/>
        </p:nvSpPr>
        <p:spPr>
          <a:xfrm>
            <a:off x="1111666" y="3432993"/>
            <a:ext cx="14771892" cy="598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4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Day 3 – Block 3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E74CBB07-4B8D-E6A9-B065-00B43FE31F92}"/>
              </a:ext>
            </a:extLst>
          </p:cNvPr>
          <p:cNvSpPr txBox="1"/>
          <p:nvPr/>
        </p:nvSpPr>
        <p:spPr>
          <a:xfrm>
            <a:off x="1111666" y="9653992"/>
            <a:ext cx="12263263" cy="3619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0" i="0" u="none" strike="noStrike" kern="1200" cap="none" spc="0" normalizeH="0" baseline="0" noProof="0">
                <a:ln>
                  <a:noFill/>
                </a:ln>
                <a:solidFill>
                  <a:srgbClr val="252525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CALIFORNIA INSTITUTE OF APPLIED TECHNOLOGY</a:t>
            </a:r>
          </a:p>
        </p:txBody>
      </p:sp>
      <p:sp>
        <p:nvSpPr>
          <p:cNvPr id="15" name="AutoShape 15">
            <a:extLst>
              <a:ext uri="{FF2B5EF4-FFF2-40B4-BE49-F238E27FC236}">
                <a16:creationId xmlns:a16="http://schemas.microsoft.com/office/drawing/2014/main" id="{FC1AEDB8-1A86-4340-17EA-299764ADBA25}"/>
              </a:ext>
            </a:extLst>
          </p:cNvPr>
          <p:cNvSpPr/>
          <p:nvPr/>
        </p:nvSpPr>
        <p:spPr>
          <a:xfrm>
            <a:off x="8010568" y="9858838"/>
            <a:ext cx="7625672" cy="0"/>
          </a:xfrm>
          <a:prstGeom prst="line">
            <a:avLst/>
          </a:prstGeom>
          <a:ln w="19050" cap="flat">
            <a:solidFill>
              <a:srgbClr val="0283F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7" name="Freeform 5">
            <a:extLst>
              <a:ext uri="{FF2B5EF4-FFF2-40B4-BE49-F238E27FC236}">
                <a16:creationId xmlns:a16="http://schemas.microsoft.com/office/drawing/2014/main" id="{11923697-C309-34AB-EE4A-E797FABFCBB1}"/>
              </a:ext>
            </a:extLst>
          </p:cNvPr>
          <p:cNvSpPr/>
          <p:nvPr/>
        </p:nvSpPr>
        <p:spPr>
          <a:xfrm>
            <a:off x="1111666" y="355081"/>
            <a:ext cx="4247850" cy="631936"/>
          </a:xfrm>
          <a:custGeom>
            <a:avLst/>
            <a:gdLst/>
            <a:ahLst/>
            <a:cxnLst/>
            <a:rect l="l" t="t" r="r" b="b"/>
            <a:pathLst>
              <a:path w="4247850" h="631936">
                <a:moveTo>
                  <a:pt x="0" y="0"/>
                </a:moveTo>
                <a:lnTo>
                  <a:pt x="4247850" y="0"/>
                </a:lnTo>
                <a:lnTo>
                  <a:pt x="4247850" y="631935"/>
                </a:lnTo>
                <a:lnTo>
                  <a:pt x="0" y="63193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5" r="-5"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3622845-E5B5-D594-93A8-45D10218D493}"/>
              </a:ext>
            </a:extLst>
          </p:cNvPr>
          <p:cNvSpPr txBox="1"/>
          <p:nvPr/>
        </p:nvSpPr>
        <p:spPr>
          <a:xfrm>
            <a:off x="1111666" y="7106062"/>
            <a:ext cx="9480134" cy="24314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dirty="0"/>
              <a:t>Identity &amp; Access Management</a:t>
            </a:r>
          </a:p>
          <a:p>
            <a:pPr lvl="1"/>
            <a:r>
              <a:rPr lang="en-US" altLang="en-US" sz="1400" dirty="0"/>
              <a:t>Active Directory</a:t>
            </a:r>
          </a:p>
          <a:p>
            <a:pPr lvl="1"/>
            <a:r>
              <a:rPr lang="en-US" altLang="en-US" sz="1400" dirty="0"/>
              <a:t>LDAP</a:t>
            </a:r>
          </a:p>
          <a:p>
            <a:pPr lvl="1"/>
            <a:r>
              <a:rPr lang="en-US" altLang="en-US" sz="1400" dirty="0" err="1"/>
              <a:t>Oauth</a:t>
            </a:r>
            <a:endParaRPr lang="en-US" altLang="en-US" sz="1400" dirty="0"/>
          </a:p>
          <a:p>
            <a:pPr lvl="1"/>
            <a:r>
              <a:rPr lang="en-US" altLang="en-US" sz="1400" dirty="0"/>
              <a:t>SAML</a:t>
            </a:r>
          </a:p>
          <a:p>
            <a:pPr lvl="1"/>
            <a:r>
              <a:rPr lang="en-US" altLang="en-US" sz="1400" dirty="0"/>
              <a:t>Federation</a:t>
            </a:r>
          </a:p>
          <a:p>
            <a:pPr lvl="1"/>
            <a:r>
              <a:rPr lang="en-US" altLang="en-US" sz="1400" dirty="0"/>
              <a:t>RBAC</a:t>
            </a:r>
          </a:p>
          <a:p>
            <a:pPr lvl="1"/>
            <a:r>
              <a:rPr lang="en-US" altLang="en-US" sz="1400" dirty="0"/>
              <a:t>ABAC</a:t>
            </a:r>
          </a:p>
          <a:p>
            <a:r>
              <a:rPr lang="en-US" altLang="en-US" dirty="0"/>
              <a:t>uCertify Lab</a:t>
            </a:r>
          </a:p>
          <a:p>
            <a:pPr lvl="1"/>
            <a:r>
              <a:rPr lang="en-US" altLang="en-US" sz="1400" dirty="0"/>
              <a:t>19.5.1 Examining Active Directory Objects</a:t>
            </a:r>
          </a:p>
        </p:txBody>
      </p:sp>
    </p:spTree>
    <p:extLst>
      <p:ext uri="{BB962C8B-B14F-4D97-AF65-F5344CB8AC3E}">
        <p14:creationId xmlns:p14="http://schemas.microsoft.com/office/powerpoint/2010/main" val="2506432614"/>
      </p:ext>
    </p:extLst>
  </p:cSld>
  <p:clrMapOvr>
    <a:masterClrMapping/>
  </p:clrMapOvr>
</p:sld>
</file>

<file path=ppt/slides/slide2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2A73A8-B7F9-41FC-3E01-22D98CFCF0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C7480A8-B48A-6A40-FC63-0D173A85B5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Slide </a:t>
            </a:r>
            <a:fld id="{4CA2B2DB-B91D-4166-98BF-65A0DA7EEE6D}" type="slidenum">
              <a:rPr kumimoji="0" lang="en-US" sz="1800" b="0" i="1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</a:t>
            </a:fld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83A18E-3D69-3DB1-F0A2-76AECBDDAD64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2536823"/>
            <a:ext cx="16192500" cy="6035677"/>
          </a:xfrm>
        </p:spPr>
        <p:txBody>
          <a:bodyPr/>
          <a:lstStyle/>
          <a:p>
            <a:pPr marL="0" indent="0">
              <a:spcBef>
                <a:spcPts val="900"/>
              </a:spcBef>
              <a:buNone/>
            </a:pPr>
            <a:r>
              <a:rPr lang="en-US" altLang="en-US" sz="4000" b="1" dirty="0"/>
              <a:t>Interoperability</a:t>
            </a:r>
            <a:r>
              <a:rPr lang="en-US" altLang="en-US" sz="4000" dirty="0"/>
              <a:t> is the ability of different systems to work together. It’s crucial for </a:t>
            </a:r>
            <a:r>
              <a:rPr lang="en-US" altLang="en-US" sz="4000" b="1" dirty="0"/>
              <a:t>identity and access management (IAM) systems</a:t>
            </a:r>
            <a:r>
              <a:rPr lang="en-US" altLang="en-US" sz="4000" dirty="0"/>
              <a:t>. </a:t>
            </a:r>
          </a:p>
          <a:p>
            <a:pPr>
              <a:spcBef>
                <a:spcPts val="900"/>
              </a:spcBef>
            </a:pPr>
            <a:r>
              <a:rPr lang="en-US" altLang="en-US" sz="3600" dirty="0"/>
              <a:t>IAM systems need to integrate seamlessly with various databases, applications, and authentication protocols. Lack of integration interferes with needs for access and auditing. </a:t>
            </a:r>
          </a:p>
          <a:p>
            <a:pPr>
              <a:spcBef>
                <a:spcPts val="900"/>
              </a:spcBef>
            </a:pPr>
            <a:r>
              <a:rPr lang="en-US" altLang="en-US" sz="3600" dirty="0"/>
              <a:t>Collaboration with external partners requires secure cross-boundary authentication and authorization.</a:t>
            </a:r>
          </a:p>
          <a:p>
            <a:pPr>
              <a:spcBef>
                <a:spcPts val="900"/>
              </a:spcBef>
            </a:pPr>
            <a:r>
              <a:rPr lang="en-US" altLang="en-US" sz="3600" b="1" dirty="0"/>
              <a:t>Interoperable IAM systems </a:t>
            </a:r>
            <a:r>
              <a:rPr lang="en-US" altLang="en-US" sz="3600" dirty="0"/>
              <a:t>can adapt to new technologies and compliance requirements without overhauling existing infrastructure.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1E642E8-748C-F4BF-C98F-29B597E2315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D0340D7-3E34-98B3-D884-FA2AAFD4D8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60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Interoperability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4034193916"/>
      </p:ext>
    </p:extLst>
  </p:cSld>
  <p:clrMapOvr>
    <a:masterClrMapping/>
  </p:clrMapOvr>
</p:sld>
</file>

<file path=ppt/slides/slide2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7C8F31-8A4A-6D4F-5F8F-AB10A6FDC6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50C608A-6F21-28B3-95C1-ABE19E8D21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Slide </a:t>
            </a:r>
            <a:fld id="{4CA2B2DB-B91D-4166-98BF-65A0DA7EEE6D}" type="slidenum">
              <a:rPr kumimoji="0" lang="en-US" sz="1800" b="0" i="1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203</a:t>
            </a:fld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0E5B55-4D40-8789-DD2A-C0B302710E6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2536823"/>
            <a:ext cx="16192500" cy="6035677"/>
          </a:xfrm>
        </p:spPr>
        <p:txBody>
          <a:bodyPr/>
          <a:lstStyle/>
          <a:p>
            <a:pPr marL="0" indent="0">
              <a:spcBef>
                <a:spcPts val="900"/>
              </a:spcBef>
              <a:buNone/>
            </a:pPr>
            <a:r>
              <a:rPr lang="en-US" altLang="en-US" sz="3900" b="1" dirty="0"/>
              <a:t>Single sign-on </a:t>
            </a:r>
            <a:r>
              <a:rPr lang="en-US" altLang="en-US" sz="3900" dirty="0"/>
              <a:t>enables one set of credentials for access to multiple services or applications.</a:t>
            </a:r>
          </a:p>
          <a:p>
            <a:pPr>
              <a:spcBef>
                <a:spcPts val="900"/>
              </a:spcBef>
            </a:pPr>
            <a:r>
              <a:rPr lang="en-US" altLang="en-US" sz="3600" dirty="0"/>
              <a:t>Minimizes the number of times a user needs to authenticate after initial login</a:t>
            </a:r>
          </a:p>
          <a:p>
            <a:pPr>
              <a:spcBef>
                <a:spcPts val="900"/>
              </a:spcBef>
            </a:pPr>
            <a:r>
              <a:rPr lang="en-US" altLang="en-US" sz="3600" b="1" dirty="0"/>
              <a:t>SSO protocols</a:t>
            </a:r>
          </a:p>
          <a:p>
            <a:pPr lvl="1">
              <a:spcBef>
                <a:spcPts val="900"/>
              </a:spcBef>
            </a:pPr>
            <a:r>
              <a:rPr lang="en-US" altLang="en-US" sz="3300" dirty="0"/>
              <a:t>	LDAP (Lightweight Directory Access Protocol)  </a:t>
            </a:r>
          </a:p>
          <a:p>
            <a:pPr lvl="1">
              <a:spcBef>
                <a:spcPts val="900"/>
              </a:spcBef>
            </a:pPr>
            <a:r>
              <a:rPr lang="en-US" altLang="en-US" sz="3300" dirty="0"/>
              <a:t>	OAuth (Open Authorization)  </a:t>
            </a:r>
          </a:p>
          <a:p>
            <a:pPr lvl="1">
              <a:spcBef>
                <a:spcPts val="900"/>
              </a:spcBef>
            </a:pPr>
            <a:r>
              <a:rPr lang="en-US" altLang="en-US" sz="3300" dirty="0"/>
              <a:t>	SAML (Security Assertion Markup Language)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5653054-8C24-0149-F100-851393595CE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81CD981-5556-AF44-FA1A-C25C7480FB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60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Single Sign-On SSO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596573423"/>
      </p:ext>
    </p:extLst>
  </p:cSld>
  <p:clrMapOvr>
    <a:masterClrMapping/>
  </p:clrMapOvr>
</p:sld>
</file>

<file path=ppt/slides/slide2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8651E9-2DB7-7952-8D1F-2D869A3F0A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68F775B-B28C-0ADA-66F4-213F0A720B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Slide </a:t>
            </a:r>
            <a:fld id="{4CA2B2DB-B91D-4166-98BF-65A0DA7EEE6D}" type="slidenum">
              <a:rPr kumimoji="0" lang="en-US" sz="1800" b="0" i="1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204</a:t>
            </a:fld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5C50D3-321E-0593-D9E1-69CDF6F43C4C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2536823"/>
            <a:ext cx="5150632" cy="3749677"/>
          </a:xfrm>
        </p:spPr>
        <p:txBody>
          <a:bodyPr/>
          <a:lstStyle/>
          <a:p>
            <a:pPr marL="0" indent="0">
              <a:spcBef>
                <a:spcPts val="900"/>
              </a:spcBef>
              <a:buNone/>
            </a:pPr>
            <a:r>
              <a:rPr lang="en-US" altLang="en-US" sz="3900" dirty="0"/>
              <a:t>One system authenticates users and sends their authentication information to other systems.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2D5993-C995-C428-724A-4A6E41FC470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3DB4B04-2E28-182D-C0E4-EE10752AB1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60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Federation</a:t>
            </a:r>
            <a:endParaRPr lang="en-US" i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DC9B44D-9231-49A4-58AB-25C26BC235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8832" y="1409700"/>
            <a:ext cx="11041868" cy="6774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3598888"/>
      </p:ext>
    </p:extLst>
  </p:cSld>
  <p:clrMapOvr>
    <a:masterClrMapping/>
  </p:clrMapOvr>
</p:sld>
</file>

<file path=ppt/slides/slide2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28AB6C-BF75-029E-1069-6F96FC7B35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149208E-FC51-A245-230F-2F18993A5E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Slide </a:t>
            </a:r>
            <a:fld id="{4CA2B2DB-B91D-4166-98BF-65A0DA7EEE6D}" type="slidenum">
              <a:rPr kumimoji="0" lang="en-US" sz="1800" b="0" i="1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205</a:t>
            </a:fld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648D06-F8A9-D30C-8C48-FE5968946894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2536823"/>
            <a:ext cx="16192500" cy="6035677"/>
          </a:xfrm>
        </p:spPr>
        <p:txBody>
          <a:bodyPr/>
          <a:lstStyle/>
          <a:p>
            <a:pPr>
              <a:spcBef>
                <a:spcPts val="900"/>
              </a:spcBef>
            </a:pPr>
            <a:r>
              <a:rPr lang="en-US" altLang="en-US" sz="3900" b="1" dirty="0"/>
              <a:t>Password standards</a:t>
            </a:r>
            <a:r>
              <a:rPr lang="en-US" altLang="en-US" sz="3900" dirty="0"/>
              <a:t> define rules for creating, managing, and storing passwords.</a:t>
            </a:r>
          </a:p>
          <a:p>
            <a:pPr>
              <a:spcBef>
                <a:spcPts val="900"/>
              </a:spcBef>
            </a:pPr>
            <a:endParaRPr lang="en-US" altLang="en-US" sz="1200" dirty="0"/>
          </a:p>
          <a:p>
            <a:pPr>
              <a:spcBef>
                <a:spcPts val="900"/>
              </a:spcBef>
            </a:pPr>
            <a:r>
              <a:rPr lang="en-US" altLang="en-US" sz="3900" b="1" dirty="0"/>
              <a:t>Access control standards</a:t>
            </a:r>
            <a:r>
              <a:rPr lang="en-US" altLang="en-US" sz="3900" dirty="0"/>
              <a:t> determine who has access to specific resources within the organization's network and systems.</a:t>
            </a:r>
          </a:p>
          <a:p>
            <a:pPr lvl="1">
              <a:spcBef>
                <a:spcPts val="900"/>
              </a:spcBef>
            </a:pPr>
            <a:r>
              <a:rPr lang="en-US" altLang="en-US" sz="3600" dirty="0"/>
              <a:t>	Attribute-based access control (ABAC)</a:t>
            </a:r>
          </a:p>
          <a:p>
            <a:pPr lvl="1">
              <a:spcBef>
                <a:spcPts val="900"/>
              </a:spcBef>
            </a:pPr>
            <a:r>
              <a:rPr lang="en-US" altLang="en-US" sz="3600" dirty="0"/>
              <a:t>	Role-based access control (RBAC)</a:t>
            </a:r>
          </a:p>
          <a:p>
            <a:pPr lvl="1">
              <a:spcBef>
                <a:spcPts val="900"/>
              </a:spcBef>
            </a:pPr>
            <a:r>
              <a:rPr lang="en-US" altLang="en-US" sz="3600" dirty="0"/>
              <a:t>	Discretionary access control (DAC)</a:t>
            </a:r>
          </a:p>
          <a:p>
            <a:pPr lvl="1">
              <a:spcBef>
                <a:spcPts val="900"/>
              </a:spcBef>
            </a:pPr>
            <a:r>
              <a:rPr lang="en-US" altLang="en-US" sz="3600" dirty="0"/>
              <a:t>	Mandatory access control (MAC)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9B84929-66D0-B2A0-8E70-63A3912DD94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925A02E-5675-4EFB-FCA0-1BA6681CF7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60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Types of Standards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2571442329"/>
      </p:ext>
    </p:extLst>
  </p:cSld>
  <p:clrMapOvr>
    <a:masterClrMapping/>
  </p:clrMapOvr>
</p:sld>
</file>

<file path=ppt/slides/slide2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2FDCAB-47EB-580B-E548-9DF977CF00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3D878B5-C770-9785-4705-1061238E90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Slide </a:t>
            </a:r>
            <a:fld id="{4CA2B2DB-B91D-4166-98BF-65A0DA7EEE6D}" type="slidenum">
              <a:rPr kumimoji="0" lang="en-US" sz="1800" b="0" i="1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206</a:t>
            </a:fld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914FAF-B1BC-6E5A-A574-C83B9997A4E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2536823"/>
            <a:ext cx="16192500" cy="6035677"/>
          </a:xfrm>
        </p:spPr>
        <p:txBody>
          <a:bodyPr/>
          <a:lstStyle/>
          <a:p>
            <a:pPr>
              <a:spcBef>
                <a:spcPts val="900"/>
              </a:spcBef>
            </a:pPr>
            <a:r>
              <a:rPr lang="en-US" altLang="en-US" sz="3900" b="1" dirty="0"/>
              <a:t>Centralized access control</a:t>
            </a:r>
          </a:p>
          <a:p>
            <a:pPr lvl="1">
              <a:spcBef>
                <a:spcPts val="900"/>
              </a:spcBef>
            </a:pPr>
            <a:r>
              <a:rPr lang="en-US" altLang="en-US" sz="3600" dirty="0"/>
              <a:t>One entity is responsible for administering access to resources.</a:t>
            </a:r>
          </a:p>
          <a:p>
            <a:pPr lvl="1">
              <a:spcBef>
                <a:spcPts val="900"/>
              </a:spcBef>
            </a:pPr>
            <a:r>
              <a:rPr lang="en-US" altLang="en-US" sz="3600" dirty="0"/>
              <a:t>Characterized by consolidating control, data storage, and processing in a single location or server</a:t>
            </a:r>
          </a:p>
          <a:p>
            <a:pPr lvl="1">
              <a:spcBef>
                <a:spcPts val="900"/>
              </a:spcBef>
            </a:pPr>
            <a:r>
              <a:rPr lang="en-US" altLang="en-US" sz="3600" dirty="0"/>
              <a:t>Offers uniformity and consistency in decision-making</a:t>
            </a:r>
          </a:p>
          <a:p>
            <a:pPr>
              <a:spcBef>
                <a:spcPts val="900"/>
              </a:spcBef>
            </a:pPr>
            <a:r>
              <a:rPr lang="en-US" altLang="en-US" sz="3900" b="1" dirty="0"/>
              <a:t>Decentralized access control</a:t>
            </a:r>
          </a:p>
          <a:p>
            <a:pPr lvl="1">
              <a:spcBef>
                <a:spcPts val="900"/>
              </a:spcBef>
            </a:pPr>
            <a:r>
              <a:rPr lang="en-US" altLang="en-US" sz="3600" dirty="0"/>
              <a:t>More than one entity is responsible for administering access to resources.</a:t>
            </a:r>
          </a:p>
          <a:p>
            <a:pPr lvl="1">
              <a:spcBef>
                <a:spcPts val="900"/>
              </a:spcBef>
            </a:pPr>
            <a:r>
              <a:rPr lang="en-US" altLang="en-US" sz="3600" dirty="0"/>
              <a:t>Distributes data and control across multiple locations, servers, or nodes</a:t>
            </a:r>
          </a:p>
          <a:p>
            <a:pPr lvl="1">
              <a:spcBef>
                <a:spcPts val="900"/>
              </a:spcBef>
            </a:pPr>
            <a:r>
              <a:rPr lang="en-US" altLang="en-US" sz="3600" dirty="0"/>
              <a:t>Offers higher resilience, flexibility, and autonomy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BC7509B-7E82-9B13-91FC-550793E336B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9542BFE-6E46-8706-17F5-E41AE660CF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60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Centralized versus Decentralized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1548299307"/>
      </p:ext>
    </p:extLst>
  </p:cSld>
  <p:clrMapOvr>
    <a:masterClrMapping/>
  </p:clrMapOvr>
</p:sld>
</file>

<file path=ppt/slides/slide2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B2B433-10B5-DC53-340A-00D59EBC75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A524E01-A489-1ADF-17FF-00ED6D4B1F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Slide </a:t>
            </a:r>
            <a:fld id="{4CA2B2DB-B91D-4166-98BF-65A0DA7EEE6D}" type="slidenum">
              <a:rPr kumimoji="0" lang="en-US" sz="1800" b="0" i="1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207</a:t>
            </a:fld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B270B869-97E3-305D-581F-42F68324D986}"/>
              </a:ext>
            </a:extLst>
          </p:cNvPr>
          <p:cNvPicPr>
            <a:picLocks noGrp="1" noChangeAspect="1"/>
          </p:cNvPicPr>
          <p:nvPr>
            <p:ph sz="quarter" idx="12"/>
          </p:nvPr>
        </p:nvPicPr>
        <p:blipFill>
          <a:blip r:embed="rId3"/>
          <a:stretch>
            <a:fillRect/>
          </a:stretch>
        </p:blipFill>
        <p:spPr>
          <a:xfrm>
            <a:off x="5538313" y="2549105"/>
            <a:ext cx="6792273" cy="6011114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A9F66E-DD8F-7260-C945-2A3B5ADEDF4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952C4DD-B93A-DC29-19AF-7D575E9987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60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Centralized versus Decentralized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4117049082"/>
      </p:ext>
    </p:extLst>
  </p:cSld>
  <p:clrMapOvr>
    <a:masterClrMapping/>
  </p:clrMapOvr>
</p:sld>
</file>

<file path=ppt/slides/slide20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15194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D738C11-925B-5AE0-FE39-06441E2EB2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E72C291B-6F8B-A8D9-BF62-B0453F8E0183}"/>
              </a:ext>
            </a:extLst>
          </p:cNvPr>
          <p:cNvGrpSpPr/>
          <p:nvPr/>
        </p:nvGrpSpPr>
        <p:grpSpPr>
          <a:xfrm rot="-5400000">
            <a:off x="12015831" y="4014831"/>
            <a:ext cx="10287000" cy="2257339"/>
            <a:chOff x="0" y="0"/>
            <a:chExt cx="2709333" cy="59452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865CAD46-32F3-A18E-BBE8-0D00E34BFF31}"/>
                </a:ext>
              </a:extLst>
            </p:cNvPr>
            <p:cNvSpPr/>
            <p:nvPr/>
          </p:nvSpPr>
          <p:spPr>
            <a:xfrm>
              <a:off x="0" y="0"/>
              <a:ext cx="2709333" cy="594525"/>
            </a:xfrm>
            <a:custGeom>
              <a:avLst/>
              <a:gdLst/>
              <a:ahLst/>
              <a:cxnLst/>
              <a:rect l="l" t="t" r="r" b="b"/>
              <a:pathLst>
                <a:path w="2709333" h="594525">
                  <a:moveTo>
                    <a:pt x="0" y="0"/>
                  </a:moveTo>
                  <a:lnTo>
                    <a:pt x="2709333" y="0"/>
                  </a:lnTo>
                  <a:lnTo>
                    <a:pt x="2709333" y="594525"/>
                  </a:lnTo>
                  <a:lnTo>
                    <a:pt x="0" y="594525"/>
                  </a:lnTo>
                  <a:close/>
                </a:path>
              </a:pathLst>
            </a:custGeom>
            <a:solidFill>
              <a:srgbClr val="0283FD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67A63432-6E91-5C6F-AF3F-12C86F5267F0}"/>
                </a:ext>
              </a:extLst>
            </p:cNvPr>
            <p:cNvSpPr txBox="1"/>
            <p:nvPr/>
          </p:nvSpPr>
          <p:spPr>
            <a:xfrm>
              <a:off x="0" y="-66675"/>
              <a:ext cx="2709333" cy="6612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3024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372951D1-EB61-34A4-AEDD-7404C5C5522C}"/>
              </a:ext>
            </a:extLst>
          </p:cNvPr>
          <p:cNvGrpSpPr/>
          <p:nvPr/>
        </p:nvGrpSpPr>
        <p:grpSpPr>
          <a:xfrm>
            <a:off x="179467" y="6643814"/>
            <a:ext cx="8126333" cy="3488267"/>
            <a:chOff x="0" y="0"/>
            <a:chExt cx="844714" cy="36259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93B258BF-224D-25D0-C788-0B5FE3714527}"/>
                </a:ext>
              </a:extLst>
            </p:cNvPr>
            <p:cNvSpPr/>
            <p:nvPr/>
          </p:nvSpPr>
          <p:spPr>
            <a:xfrm>
              <a:off x="0" y="0"/>
              <a:ext cx="844714" cy="362598"/>
            </a:xfrm>
            <a:custGeom>
              <a:avLst/>
              <a:gdLst/>
              <a:ahLst/>
              <a:cxnLst/>
              <a:rect l="l" t="t" r="r" b="b"/>
              <a:pathLst>
                <a:path w="844714" h="362598">
                  <a:moveTo>
                    <a:pt x="203200" y="0"/>
                  </a:moveTo>
                  <a:lnTo>
                    <a:pt x="844714" y="0"/>
                  </a:lnTo>
                  <a:lnTo>
                    <a:pt x="641514" y="362598"/>
                  </a:lnTo>
                  <a:lnTo>
                    <a:pt x="0" y="362598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283FD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E7B352B1-A1D6-4B74-E2A1-06876BE3A1B5}"/>
                </a:ext>
              </a:extLst>
            </p:cNvPr>
            <p:cNvSpPr txBox="1"/>
            <p:nvPr/>
          </p:nvSpPr>
          <p:spPr>
            <a:xfrm>
              <a:off x="101600" y="-28575"/>
              <a:ext cx="641514" cy="391173"/>
            </a:xfrm>
            <a:prstGeom prst="rect">
              <a:avLst/>
            </a:prstGeom>
          </p:spPr>
          <p:txBody>
            <a:bodyPr lIns="47790" tIns="47790" rIns="47790" bIns="4779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1843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2A9A4039-333C-FAD5-B0D4-D14A8C638A22}"/>
              </a:ext>
            </a:extLst>
          </p:cNvPr>
          <p:cNvGrpSpPr/>
          <p:nvPr/>
        </p:nvGrpSpPr>
        <p:grpSpPr>
          <a:xfrm>
            <a:off x="-73552" y="7047924"/>
            <a:ext cx="16030661" cy="3336996"/>
            <a:chOff x="0" y="0"/>
            <a:chExt cx="6165409" cy="1271237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4F6387CF-9B14-E763-BD27-EF3D405F0ECE}"/>
                </a:ext>
              </a:extLst>
            </p:cNvPr>
            <p:cNvSpPr/>
            <p:nvPr/>
          </p:nvSpPr>
          <p:spPr>
            <a:xfrm>
              <a:off x="0" y="0"/>
              <a:ext cx="6165409" cy="1271237"/>
            </a:xfrm>
            <a:custGeom>
              <a:avLst/>
              <a:gdLst/>
              <a:ahLst/>
              <a:cxnLst/>
              <a:rect l="l" t="t" r="r" b="b"/>
              <a:pathLst>
                <a:path w="6165409" h="1271237">
                  <a:moveTo>
                    <a:pt x="0" y="0"/>
                  </a:moveTo>
                  <a:lnTo>
                    <a:pt x="6165409" y="0"/>
                  </a:lnTo>
                  <a:lnTo>
                    <a:pt x="6165409" y="1271237"/>
                  </a:lnTo>
                  <a:lnTo>
                    <a:pt x="0" y="127123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F3D59740-514A-C6B3-2E01-FD1449D810D0}"/>
                </a:ext>
              </a:extLst>
            </p:cNvPr>
            <p:cNvSpPr txBox="1"/>
            <p:nvPr/>
          </p:nvSpPr>
          <p:spPr>
            <a:xfrm>
              <a:off x="0" y="-28575"/>
              <a:ext cx="6165409" cy="1299812"/>
            </a:xfrm>
            <a:prstGeom prst="rect">
              <a:avLst/>
            </a:prstGeom>
          </p:spPr>
          <p:txBody>
            <a:bodyPr lIns="47790" tIns="47790" rIns="47790" bIns="4779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1843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sp>
        <p:nvSpPr>
          <p:cNvPr id="12" name="TextBox 12">
            <a:extLst>
              <a:ext uri="{FF2B5EF4-FFF2-40B4-BE49-F238E27FC236}">
                <a16:creationId xmlns:a16="http://schemas.microsoft.com/office/drawing/2014/main" id="{F000F53B-6E45-6EFB-0566-1317D23A4727}"/>
              </a:ext>
            </a:extLst>
          </p:cNvPr>
          <p:cNvSpPr txBox="1"/>
          <p:nvPr/>
        </p:nvSpPr>
        <p:spPr>
          <a:xfrm>
            <a:off x="1111666" y="3432993"/>
            <a:ext cx="14771892" cy="598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4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Day 3 – Block 4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8FBAE333-251A-1DA8-B17B-432F52D11EA2}"/>
              </a:ext>
            </a:extLst>
          </p:cNvPr>
          <p:cNvSpPr txBox="1"/>
          <p:nvPr/>
        </p:nvSpPr>
        <p:spPr>
          <a:xfrm>
            <a:off x="1111666" y="9653992"/>
            <a:ext cx="12263263" cy="3619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0" i="0" u="none" strike="noStrike" kern="1200" cap="none" spc="0" normalizeH="0" baseline="0" noProof="0">
                <a:ln>
                  <a:noFill/>
                </a:ln>
                <a:solidFill>
                  <a:srgbClr val="252525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CALIFORNIA INSTITUTE OF APPLIED TECHNOLOGY</a:t>
            </a:r>
          </a:p>
        </p:txBody>
      </p:sp>
      <p:sp>
        <p:nvSpPr>
          <p:cNvPr id="15" name="AutoShape 15">
            <a:extLst>
              <a:ext uri="{FF2B5EF4-FFF2-40B4-BE49-F238E27FC236}">
                <a16:creationId xmlns:a16="http://schemas.microsoft.com/office/drawing/2014/main" id="{71CEBCBB-75BA-9FEF-5F1A-D7AB3D9472CF}"/>
              </a:ext>
            </a:extLst>
          </p:cNvPr>
          <p:cNvSpPr/>
          <p:nvPr/>
        </p:nvSpPr>
        <p:spPr>
          <a:xfrm>
            <a:off x="8010568" y="9858838"/>
            <a:ext cx="7625672" cy="0"/>
          </a:xfrm>
          <a:prstGeom prst="line">
            <a:avLst/>
          </a:prstGeom>
          <a:ln w="19050" cap="flat">
            <a:solidFill>
              <a:srgbClr val="0283F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7" name="Freeform 5">
            <a:extLst>
              <a:ext uri="{FF2B5EF4-FFF2-40B4-BE49-F238E27FC236}">
                <a16:creationId xmlns:a16="http://schemas.microsoft.com/office/drawing/2014/main" id="{87A69CFC-590F-E8B8-F42D-4BA065DC889D}"/>
              </a:ext>
            </a:extLst>
          </p:cNvPr>
          <p:cNvSpPr/>
          <p:nvPr/>
        </p:nvSpPr>
        <p:spPr>
          <a:xfrm>
            <a:off x="1111666" y="355081"/>
            <a:ext cx="4247850" cy="631936"/>
          </a:xfrm>
          <a:custGeom>
            <a:avLst/>
            <a:gdLst/>
            <a:ahLst/>
            <a:cxnLst/>
            <a:rect l="l" t="t" r="r" b="b"/>
            <a:pathLst>
              <a:path w="4247850" h="631936">
                <a:moveTo>
                  <a:pt x="0" y="0"/>
                </a:moveTo>
                <a:lnTo>
                  <a:pt x="4247850" y="0"/>
                </a:lnTo>
                <a:lnTo>
                  <a:pt x="4247850" y="631935"/>
                </a:lnTo>
                <a:lnTo>
                  <a:pt x="0" y="63193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5" r="-5"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5E9F8B0-6C4F-D28C-F8BE-8B7FD5435445}"/>
              </a:ext>
            </a:extLst>
          </p:cNvPr>
          <p:cNvSpPr txBox="1"/>
          <p:nvPr/>
        </p:nvSpPr>
        <p:spPr>
          <a:xfrm>
            <a:off x="1111666" y="7106062"/>
            <a:ext cx="9480134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2000" dirty="0"/>
              <a:t>Endpoint Security Solutions</a:t>
            </a:r>
          </a:p>
          <a:p>
            <a:pPr lvl="1"/>
            <a:r>
              <a:rPr lang="en-US" altLang="en-US" sz="1600" dirty="0"/>
              <a:t>EDR/XDR</a:t>
            </a:r>
          </a:p>
          <a:p>
            <a:pPr lvl="1"/>
            <a:r>
              <a:rPr lang="en-US" altLang="en-US" sz="1600" dirty="0"/>
              <a:t>Application Whitelisting</a:t>
            </a:r>
          </a:p>
          <a:p>
            <a:pPr lvl="1"/>
            <a:r>
              <a:rPr lang="en-US" altLang="en-US" sz="1600" dirty="0"/>
              <a:t>DLP</a:t>
            </a:r>
          </a:p>
          <a:p>
            <a:pPr lvl="1"/>
            <a:r>
              <a:rPr lang="en-US" altLang="en-US" sz="1600" dirty="0"/>
              <a:t>Mobile Device Management</a:t>
            </a:r>
          </a:p>
          <a:p>
            <a:r>
              <a:rPr lang="en-US" altLang="en-US" sz="2000" dirty="0"/>
              <a:t>Crucial Exams</a:t>
            </a:r>
          </a:p>
          <a:p>
            <a:pPr lvl="1"/>
            <a:r>
              <a:rPr lang="en-US" altLang="en-US" sz="1600" dirty="0"/>
              <a:t>Security Architecture </a:t>
            </a:r>
          </a:p>
        </p:txBody>
      </p:sp>
    </p:spTree>
    <p:extLst>
      <p:ext uri="{BB962C8B-B14F-4D97-AF65-F5344CB8AC3E}">
        <p14:creationId xmlns:p14="http://schemas.microsoft.com/office/powerpoint/2010/main" val="3448334208"/>
      </p:ext>
    </p:extLst>
  </p:cSld>
  <p:clrMapOvr>
    <a:masterClrMapping/>
  </p:clrMapOvr>
</p:sld>
</file>

<file path=ppt/slides/slide2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45D67E-98F6-4970-DD6D-810154ECB8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1AE9CE2-F1BB-F88A-B2DD-B1CE861885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Slide </a:t>
            </a:r>
            <a:fld id="{4CA2B2DB-B91D-4166-98BF-65A0DA7EEE6D}" type="slidenum">
              <a:rPr kumimoji="0" lang="en-US" sz="1800" b="0" i="1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209</a:t>
            </a:fld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703980-0B1E-6F35-D95F-A510083EA72C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2536823"/>
            <a:ext cx="16192500" cy="6035677"/>
          </a:xfrm>
        </p:spPr>
        <p:txBody>
          <a:bodyPr/>
          <a:lstStyle/>
          <a:p>
            <a:pPr marL="0" indent="0">
              <a:spcBef>
                <a:spcPts val="900"/>
              </a:spcBef>
              <a:buNone/>
            </a:pPr>
            <a:r>
              <a:rPr lang="en-US" altLang="en-US" sz="4400" b="1" dirty="0"/>
              <a:t>DLP</a:t>
            </a:r>
            <a:r>
              <a:rPr lang="en-US" altLang="en-US" sz="4400" dirty="0"/>
              <a:t> is a comprehensive approach to preventing users from sending sensitive or critical information outside the corporate network.</a:t>
            </a:r>
          </a:p>
          <a:p>
            <a:pPr>
              <a:spcBef>
                <a:spcPts val="900"/>
              </a:spcBef>
            </a:pPr>
            <a:r>
              <a:rPr lang="en-US" altLang="en-US" sz="4000" dirty="0"/>
              <a:t>Describes software products that let network administrators control data access and transfer</a:t>
            </a:r>
          </a:p>
          <a:p>
            <a:pPr>
              <a:spcBef>
                <a:spcPts val="900"/>
              </a:spcBef>
            </a:pPr>
            <a:r>
              <a:rPr lang="en-US" altLang="en-US" sz="4000" dirty="0"/>
              <a:t>Alerts administrators to unauthorized data transfer attempts</a:t>
            </a:r>
          </a:p>
          <a:p>
            <a:pPr>
              <a:spcBef>
                <a:spcPts val="900"/>
              </a:spcBef>
            </a:pPr>
            <a:r>
              <a:rPr lang="en-US" altLang="en-US" sz="4000" dirty="0"/>
              <a:t>Aids in incident response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EF8FA39-5D15-580C-366E-28C102163B7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22BA51DE-3FC2-2001-D4CC-C98BCB99DD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60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Data Loss Prevention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2413645668"/>
      </p:ext>
    </p:extLst>
  </p:cSld>
  <p:clrMapOvr>
    <a:masterClrMapping/>
  </p:clrMapOvr>
</p:sld>
</file>

<file path=ppt/slides/slide2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8BAE12-2808-2C8F-EA93-887AA27AA5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D48916F-958E-FFF9-9D5F-A60DDEE626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Slide </a:t>
            </a:r>
            <a:fld id="{4CA2B2DB-B91D-4166-98BF-65A0DA7EEE6D}" type="slidenum">
              <a:rPr kumimoji="0" lang="en-US" sz="1800" b="0" i="1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210</a:t>
            </a:fld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0DB3F6-F8C0-8187-47D5-07337522F962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2536823"/>
            <a:ext cx="16192500" cy="6035677"/>
          </a:xfrm>
        </p:spPr>
        <p:txBody>
          <a:bodyPr/>
          <a:lstStyle/>
          <a:p>
            <a:pPr marL="0" indent="0">
              <a:spcBef>
                <a:spcPts val="900"/>
              </a:spcBef>
              <a:buNone/>
            </a:pPr>
            <a:r>
              <a:rPr lang="en-US" altLang="en-US" sz="3900" b="1" dirty="0"/>
              <a:t>NAC </a:t>
            </a:r>
            <a:r>
              <a:rPr lang="en-US" altLang="en-US" sz="3900" dirty="0"/>
              <a:t>is a method to enforce policy-driven security solutions at the network entry level.</a:t>
            </a:r>
          </a:p>
          <a:p>
            <a:pPr>
              <a:spcBef>
                <a:spcPts val="900"/>
              </a:spcBef>
            </a:pPr>
            <a:r>
              <a:rPr lang="en-US" altLang="en-US" sz="3600" dirty="0"/>
              <a:t>Checks if devices comply with predefined security rules before granting access to the network</a:t>
            </a:r>
          </a:p>
          <a:p>
            <a:pPr>
              <a:spcBef>
                <a:spcPts val="900"/>
              </a:spcBef>
            </a:pPr>
            <a:r>
              <a:rPr lang="en-US" altLang="en-US" sz="4200" dirty="0"/>
              <a:t>Drawbacks</a:t>
            </a:r>
          </a:p>
          <a:p>
            <a:pPr lvl="1">
              <a:spcBef>
                <a:spcPts val="900"/>
              </a:spcBef>
            </a:pPr>
            <a:r>
              <a:rPr lang="en-US" altLang="en-US" sz="3600" dirty="0"/>
              <a:t>	Adds complexity to network administration  </a:t>
            </a:r>
          </a:p>
          <a:p>
            <a:pPr lvl="1">
              <a:spcBef>
                <a:spcPts val="900"/>
              </a:spcBef>
            </a:pPr>
            <a:r>
              <a:rPr lang="en-US" altLang="en-US" sz="3600" dirty="0"/>
              <a:t>	Can be circumvented, compromising network security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1BDF27A-D167-52F6-D2E2-4DD6E6465CE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2F31A370-5F0A-D00B-A49B-1090873E28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60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Network Access Control NAC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1296844272"/>
      </p:ext>
    </p:extLst>
  </p:cSld>
  <p:clrMapOvr>
    <a:masterClrMapping/>
  </p:clrMapOvr>
</p:sld>
</file>

<file path=ppt/slides/slide2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67AFCE-BD7A-5F7F-C282-0F01956E0F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3650C6D-1A88-E91F-87C7-69C8FB8DEF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Slide </a:t>
            </a:r>
            <a:fld id="{4CA2B2DB-B91D-4166-98BF-65A0DA7EEE6D}" type="slidenum">
              <a:rPr kumimoji="0" lang="en-US" sz="1800" b="0" i="1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211</a:t>
            </a:fld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9446A7-C5A2-0E4E-6823-57A441CF7476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2536823"/>
            <a:ext cx="16192500" cy="6035677"/>
          </a:xfrm>
        </p:spPr>
        <p:txBody>
          <a:bodyPr/>
          <a:lstStyle/>
          <a:p>
            <a:pPr marL="0" indent="0">
              <a:spcBef>
                <a:spcPts val="900"/>
              </a:spcBef>
              <a:buNone/>
            </a:pPr>
            <a:r>
              <a:rPr lang="en-US" altLang="en-US" sz="4400" b="1" dirty="0"/>
              <a:t>Endpoint Detection and Response (EDR) systems</a:t>
            </a:r>
          </a:p>
          <a:p>
            <a:pPr>
              <a:spcBef>
                <a:spcPts val="900"/>
              </a:spcBef>
            </a:pPr>
            <a:r>
              <a:rPr lang="en-US" altLang="en-US" sz="4000" dirty="0"/>
              <a:t>Monitor endpoints such as desktop computers, laptops, and mobile devices</a:t>
            </a:r>
          </a:p>
          <a:p>
            <a:pPr>
              <a:spcBef>
                <a:spcPts val="900"/>
              </a:spcBef>
            </a:pPr>
            <a:r>
              <a:rPr lang="en-US" altLang="en-US" sz="4000" dirty="0"/>
              <a:t>Detect and respond to signs of malicious activities  </a:t>
            </a:r>
          </a:p>
          <a:p>
            <a:pPr marL="0" indent="0">
              <a:spcBef>
                <a:spcPts val="900"/>
              </a:spcBef>
              <a:buNone/>
            </a:pPr>
            <a:r>
              <a:rPr lang="en-US" altLang="en-US" sz="4400" b="1" dirty="0"/>
              <a:t>Extended Detection and Response (XDR) systems</a:t>
            </a:r>
          </a:p>
          <a:p>
            <a:pPr>
              <a:spcBef>
                <a:spcPts val="900"/>
              </a:spcBef>
            </a:pPr>
            <a:r>
              <a:rPr lang="en-US" altLang="en-US" sz="4000" dirty="0"/>
              <a:t>Take a holistic view of network security, correlating data across various channels and layers like email, cloud, and network traffic</a:t>
            </a:r>
          </a:p>
          <a:p>
            <a:pPr>
              <a:spcBef>
                <a:spcPts val="900"/>
              </a:spcBef>
            </a:pPr>
            <a:r>
              <a:rPr lang="en-US" altLang="en-US" sz="4000" dirty="0"/>
              <a:t>Identify complex, multi-stage attacks that may evade EDR systems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D9FA68A-E3CC-184F-11FB-45771AF57DA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ED84C404-EAEF-A090-8480-835F38447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Endpoint Detection and Response EDR/Extended Detection and Response XDR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63984736"/>
      </p:ext>
    </p:extLst>
  </p:cSld>
  <p:clrMapOvr>
    <a:masterClrMapping/>
  </p:clrMapOvr>
</p:sld>
</file>

<file path=ppt/slides/slide2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4A29EA-9606-27F7-E89B-9F6186E4AF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29F0697-1FCA-D033-BE62-5F188264BD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Slide </a:t>
            </a:r>
            <a:fld id="{4CA2B2DB-B91D-4166-98BF-65A0DA7EEE6D}" type="slidenum">
              <a:rPr kumimoji="0" lang="en-US" sz="1800" b="0" i="1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212</a:t>
            </a:fld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BA2F95-6DE7-9F34-26DD-3CDABF6505D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2536823"/>
            <a:ext cx="16192500" cy="6035677"/>
          </a:xfrm>
        </p:spPr>
        <p:txBody>
          <a:bodyPr/>
          <a:lstStyle/>
          <a:p>
            <a:pPr marL="0" indent="0">
              <a:spcBef>
                <a:spcPts val="900"/>
              </a:spcBef>
              <a:buNone/>
            </a:pPr>
            <a:r>
              <a:rPr lang="en-US" altLang="en-US" sz="4400" b="1" dirty="0"/>
              <a:t>User behavior analytics </a:t>
            </a:r>
            <a:r>
              <a:rPr lang="en-US" altLang="en-US" sz="4400" dirty="0"/>
              <a:t>use machine learning algorithms to track, collect, and assess user behavior on a network.</a:t>
            </a:r>
          </a:p>
          <a:p>
            <a:pPr>
              <a:spcBef>
                <a:spcPts val="900"/>
              </a:spcBef>
            </a:pPr>
            <a:r>
              <a:rPr lang="en-US" altLang="en-US" sz="4000" dirty="0"/>
              <a:t>Analytics help IT detect unusual activity that could indicate security threats, such as sudden changes in file access patterns.</a:t>
            </a:r>
          </a:p>
          <a:p>
            <a:pPr>
              <a:spcBef>
                <a:spcPts val="900"/>
              </a:spcBef>
            </a:pPr>
            <a:r>
              <a:rPr lang="en-US" altLang="en-US" sz="4000" dirty="0"/>
              <a:t>Alert tuning is important to avoid excessive false positives. 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92A96C3-7573-004C-3A86-B57DCD07EB0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2BED8D7C-963B-530C-0CE6-A6114CD9CE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60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User Behavior Analytics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799737136"/>
      </p:ext>
    </p:extLst>
  </p:cSld>
  <p:clrMapOvr>
    <a:masterClrMapping/>
  </p:clrMapOvr>
</p:sld>
</file>

<file path=ppt/slides/slide2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E5AF7F-7E1E-9CF8-6E3D-4DAB0E5DE3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174B535-D8EB-75AD-8E77-185E5E5980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Slide </a:t>
            </a:r>
            <a:fld id="{4CA2B2DB-B91D-4166-98BF-65A0DA7EEE6D}" type="slidenum">
              <a:rPr kumimoji="0" lang="en-US" sz="1800" b="0" i="1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213</a:t>
            </a:fld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4C7A75-8277-C2E8-3742-D8EB3CFDD69B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2536823"/>
            <a:ext cx="16192500" cy="6035677"/>
          </a:xfrm>
        </p:spPr>
        <p:txBody>
          <a:bodyPr/>
          <a:lstStyle/>
          <a:p>
            <a:pPr marL="0" indent="0">
              <a:spcBef>
                <a:spcPts val="900"/>
              </a:spcBef>
              <a:buNone/>
            </a:pPr>
            <a:r>
              <a:rPr lang="en-US" altLang="en-US" sz="3900" b="1" dirty="0"/>
              <a:t>Secure baselines </a:t>
            </a:r>
            <a:r>
              <a:rPr lang="en-US" altLang="en-US" sz="3900" dirty="0"/>
              <a:t>are standardized sets of minimum configurations and security controls for systems and software.</a:t>
            </a:r>
          </a:p>
          <a:p>
            <a:pPr lvl="1">
              <a:spcBef>
                <a:spcPts val="900"/>
              </a:spcBef>
            </a:pPr>
            <a:r>
              <a:rPr lang="en-US" altLang="en-US" sz="3600" b="1" dirty="0"/>
              <a:t>Asset tagging</a:t>
            </a:r>
            <a:r>
              <a:rPr lang="en-US" altLang="en-US" sz="3600" dirty="0"/>
              <a:t>: Assigning unique identifiers to each asset for easier tracking</a:t>
            </a:r>
          </a:p>
          <a:p>
            <a:pPr lvl="1">
              <a:spcBef>
                <a:spcPts val="900"/>
              </a:spcBef>
            </a:pPr>
            <a:r>
              <a:rPr lang="en-US" altLang="en-US" sz="3600" b="1" dirty="0"/>
              <a:t>Version control</a:t>
            </a:r>
            <a:r>
              <a:rPr lang="en-US" altLang="en-US" sz="3600" dirty="0"/>
              <a:t>: Documenting all software versions used by the organization; helps identify outdated or unsupported versions that may pose security risks</a:t>
            </a:r>
          </a:p>
          <a:p>
            <a:pPr lvl="1">
              <a:spcBef>
                <a:spcPts val="900"/>
              </a:spcBef>
            </a:pPr>
            <a:r>
              <a:rPr lang="en-US" altLang="en-US" sz="3600" b="1" dirty="0"/>
              <a:t>Scheduled scans</a:t>
            </a:r>
            <a:r>
              <a:rPr lang="en-US" altLang="en-US" sz="3600" dirty="0"/>
              <a:t>: Scheduling regular vulnerability scans to identify any new weaknesses  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0FA4F82-21B4-9474-352F-CC1D62568EC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46228CB6-C815-49BC-53C5-C6B681F9CB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60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Secure Baselines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326251138"/>
      </p:ext>
    </p:extLst>
  </p:cSld>
  <p:clrMapOvr>
    <a:masterClrMapping/>
  </p:clrMapOvr>
</p:sld>
</file>

<file path=ppt/slides/slide2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FDE743-B200-2041-D00B-511AD1F80E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7A60EC0-B67E-6CE3-282B-08A5475701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Slide </a:t>
            </a:r>
            <a:fld id="{4CA2B2DB-B91D-4166-98BF-65A0DA7EEE6D}" type="slidenum">
              <a:rPr kumimoji="0" lang="en-US" sz="1800" b="0" i="1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214</a:t>
            </a:fld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CB6B0C-4D94-CB2B-7154-D771FCFD5B99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2536823"/>
            <a:ext cx="16192500" cy="6035677"/>
          </a:xfrm>
        </p:spPr>
        <p:txBody>
          <a:bodyPr/>
          <a:lstStyle/>
          <a:p>
            <a:pPr>
              <a:spcBef>
                <a:spcPts val="900"/>
              </a:spcBef>
            </a:pPr>
            <a:r>
              <a:rPr lang="en-US" altLang="en-US" b="1" dirty="0"/>
              <a:t>Manual review: </a:t>
            </a:r>
            <a:r>
              <a:rPr lang="en-US" altLang="en-US" dirty="0"/>
              <a:t>A human reviews data, logs, and systems to help prioritize vulnerabilities based on actual organizational risk. Human judgment and intuition can identify issues that automated tools miss. </a:t>
            </a:r>
          </a:p>
          <a:p>
            <a:pPr>
              <a:spcBef>
                <a:spcPts val="900"/>
              </a:spcBef>
            </a:pPr>
            <a:r>
              <a:rPr lang="en-US" altLang="en-US" b="1" dirty="0"/>
              <a:t>Disable unnecessary services</a:t>
            </a:r>
            <a:r>
              <a:rPr lang="en-US" altLang="en-US" dirty="0"/>
              <a:t>: Turn off services and features not required for the system’s primary function.</a:t>
            </a:r>
          </a:p>
          <a:p>
            <a:pPr>
              <a:spcBef>
                <a:spcPts val="900"/>
              </a:spcBef>
            </a:pPr>
            <a:r>
              <a:rPr lang="en-US" altLang="en-US" b="1" dirty="0"/>
              <a:t>User access control</a:t>
            </a:r>
            <a:r>
              <a:rPr lang="en-US" altLang="en-US" dirty="0"/>
              <a:t>: Limit user permissions to what is necessary for their roles.</a:t>
            </a:r>
          </a:p>
          <a:p>
            <a:pPr>
              <a:spcBef>
                <a:spcPts val="900"/>
              </a:spcBef>
            </a:pPr>
            <a:r>
              <a:rPr lang="en-US" altLang="en-US" b="1" dirty="0"/>
              <a:t>Change log</a:t>
            </a:r>
            <a:r>
              <a:rPr lang="en-US" altLang="en-US" dirty="0"/>
              <a:t>: Maintain a record of any changes made to the baseline, who made them, and why.</a:t>
            </a:r>
          </a:p>
          <a:p>
            <a:pPr>
              <a:spcBef>
                <a:spcPts val="900"/>
              </a:spcBef>
            </a:pPr>
            <a:r>
              <a:rPr lang="en-US" altLang="en-US" b="1" dirty="0"/>
              <a:t>Audit trail: </a:t>
            </a:r>
            <a:r>
              <a:rPr lang="en-US" altLang="en-US" dirty="0"/>
              <a:t>Ensure that documentation is in a format that can be easily audited for compliance purposes.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2DF9BB4-A4D0-872C-61F9-4286645E08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BC77351B-2D1B-8838-94BC-85EA8B8F4B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60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Secure Baselines </a:t>
            </a:r>
            <a:r>
              <a:rPr kumimoji="0" lang="en-US" sz="6000" b="0" i="1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(cont.)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3392013647"/>
      </p:ext>
    </p:extLst>
  </p:cSld>
  <p:clrMapOvr>
    <a:masterClrMapping/>
  </p:clrMapOvr>
</p:sld>
</file>

<file path=ppt/slides/slide2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9C3CFD-ABDB-150F-D066-B557B775C8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3170E9F-083B-7DF3-07D5-4A8E25AFC0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Slide </a:t>
            </a:r>
            <a:fld id="{4CA2B2DB-B91D-4166-98BF-65A0DA7EEE6D}" type="slidenum">
              <a:rPr kumimoji="0" lang="en-US" sz="1800" b="0" i="1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215</a:t>
            </a:fld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C0B438-465A-C715-CC4D-37F724C714B0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2536823"/>
            <a:ext cx="16192500" cy="6035677"/>
          </a:xfrm>
        </p:spPr>
        <p:txBody>
          <a:bodyPr/>
          <a:lstStyle/>
          <a:p>
            <a:pPr>
              <a:spcBef>
                <a:spcPts val="900"/>
              </a:spcBef>
            </a:pPr>
            <a:r>
              <a:rPr lang="en-US" altLang="en-US" b="1" dirty="0"/>
              <a:t>Validation testing</a:t>
            </a:r>
            <a:r>
              <a:rPr lang="en-US" altLang="en-US" dirty="0"/>
              <a:t>: Confirm that the baseline settings do not disrupt necessary functions.</a:t>
            </a:r>
          </a:p>
          <a:p>
            <a:pPr>
              <a:spcBef>
                <a:spcPts val="900"/>
              </a:spcBef>
            </a:pPr>
            <a:r>
              <a:rPr lang="en-US" altLang="en-US" b="1" dirty="0"/>
              <a:t>Rollback plan: </a:t>
            </a:r>
            <a:r>
              <a:rPr lang="en-US" altLang="en-US" dirty="0"/>
              <a:t>Have a plan to revert changes in the event of unforeseen issues during deployment.</a:t>
            </a:r>
          </a:p>
          <a:p>
            <a:pPr>
              <a:spcBef>
                <a:spcPts val="900"/>
              </a:spcBef>
            </a:pPr>
            <a:r>
              <a:rPr lang="en-US" altLang="en-US" b="1" dirty="0"/>
              <a:t>Patch management</a:t>
            </a:r>
            <a:r>
              <a:rPr lang="en-US" altLang="en-US" dirty="0"/>
              <a:t>: Regularly update software and systems to patch known vulnerabilities.</a:t>
            </a:r>
          </a:p>
          <a:p>
            <a:pPr>
              <a:spcBef>
                <a:spcPts val="900"/>
              </a:spcBef>
            </a:pPr>
            <a:r>
              <a:rPr lang="en-US" altLang="en-US" b="1" dirty="0"/>
              <a:t>Review and update</a:t>
            </a:r>
            <a:r>
              <a:rPr lang="en-US" altLang="en-US" dirty="0"/>
              <a:t>: Periodically review the secure baseline to ensure that it aligns with current best practices in cybersecurity.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1DC9131-3AAA-E366-130D-B7FF64E801F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0F8B9353-4DE2-6393-B1F0-1BB29C7D0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60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Secure Baselines </a:t>
            </a:r>
            <a:r>
              <a:rPr kumimoji="0" lang="en-US" sz="6000" b="0" i="1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(cont.)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1913472561"/>
      </p:ext>
    </p:extLst>
  </p:cSld>
  <p:clrMapOvr>
    <a:masterClrMapping/>
  </p:clrMapOvr>
</p:sld>
</file>

<file path=ppt/slides/slide2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F992D4-1DBE-F1E0-9203-D4A487D3DB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14E5102-FFE4-6787-A3C1-CD500D80C1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Slide </a:t>
            </a:r>
            <a:fld id="{4CA2B2DB-B91D-4166-98BF-65A0DA7EEE6D}" type="slidenum">
              <a:rPr kumimoji="0" lang="en-US" sz="1800" b="0" i="1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216</a:t>
            </a:fld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611D07-DFC2-2DB7-7632-E9E7492D95B0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2536823"/>
            <a:ext cx="16192500" cy="6035677"/>
          </a:xfrm>
        </p:spPr>
        <p:txBody>
          <a:bodyPr/>
          <a:lstStyle/>
          <a:p>
            <a:pPr marL="0" indent="0">
              <a:spcBef>
                <a:spcPts val="900"/>
              </a:spcBef>
              <a:buNone/>
            </a:pPr>
            <a:r>
              <a:rPr lang="en-US" altLang="en-US" b="1" dirty="0"/>
              <a:t>Hardening targets </a:t>
            </a:r>
            <a:r>
              <a:rPr lang="en-US" altLang="en-US" dirty="0"/>
              <a:t>is the process of strengthening the security defenses of computing resources to resist attacks.</a:t>
            </a:r>
          </a:p>
          <a:p>
            <a:pPr>
              <a:spcBef>
                <a:spcPts val="900"/>
              </a:spcBef>
            </a:pPr>
            <a:r>
              <a:rPr lang="en-US" altLang="en-US" dirty="0"/>
              <a:t>Common hardening techniques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B7686EE-4C57-D148-E782-E1B46C5DFC2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08F143F1-B625-6F69-237B-EF726C8378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60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Hardening </a:t>
            </a:r>
            <a:r>
              <a:rPr lang="en-US" sz="6000" b="0" kern="0" dirty="0">
                <a:solidFill>
                  <a:srgbClr val="0B0506"/>
                </a:solidFill>
                <a:latin typeface="Arial"/>
              </a:rPr>
              <a:t>Targets</a:t>
            </a:r>
            <a:endParaRPr lang="en-US" i="1" dirty="0"/>
          </a:p>
        </p:txBody>
      </p:sp>
      <p:sp>
        <p:nvSpPr>
          <p:cNvPr id="3" name="Rectangle 1027">
            <a:extLst>
              <a:ext uri="{FF2B5EF4-FFF2-40B4-BE49-F238E27FC236}">
                <a16:creationId xmlns:a16="http://schemas.microsoft.com/office/drawing/2014/main" id="{77C655B0-EC3E-B18A-3A35-615FFF5B2F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86100" y="4456605"/>
            <a:ext cx="12344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37160" tIns="68580" rIns="137160" bIns="68580" numCol="2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ts val="9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669925" indent="-3254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accent1"/>
                </a:solidFill>
                <a:latin typeface="+mn-lt"/>
              </a:defRPr>
            </a:lvl2pPr>
            <a:lvl3pPr marL="1022350" indent="-3508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accent1"/>
                </a:solidFill>
                <a:latin typeface="+mn-lt"/>
              </a:defRPr>
            </a:lvl3pPr>
            <a:lvl4pPr marL="1339850" indent="-3159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accent1"/>
                </a:solidFill>
                <a:latin typeface="+mn-lt"/>
              </a:defRPr>
            </a:lvl4pPr>
            <a:lvl5pPr marL="1681163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accent1"/>
                </a:solidFill>
                <a:latin typeface="+mn-lt"/>
              </a:defRPr>
            </a:lvl5pPr>
            <a:lvl6pPr marL="21383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accent1"/>
                </a:solidFill>
                <a:latin typeface="+mn-lt"/>
              </a:defRPr>
            </a:lvl6pPr>
            <a:lvl7pPr marL="25955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accent1"/>
                </a:solidFill>
                <a:latin typeface="+mn-lt"/>
              </a:defRPr>
            </a:lvl7pPr>
            <a:lvl8pPr marL="30527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accent1"/>
                </a:solidFill>
                <a:latin typeface="+mn-lt"/>
              </a:defRPr>
            </a:lvl8pPr>
            <a:lvl9pPr marL="35099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accent1"/>
                </a:solidFill>
                <a:latin typeface="+mn-lt"/>
              </a:defRPr>
            </a:lvl9pPr>
          </a:lstStyle>
          <a:p>
            <a:pPr marL="516731" marR="0" lvl="1" indent="0" algn="l" defTabSz="1371600" rtl="0" eaLnBrk="1" fontAlgn="base" latinLnBrk="0" hangingPunct="1">
              <a:lnSpc>
                <a:spcPct val="100000"/>
              </a:lnSpc>
              <a:spcBef>
                <a:spcPts val="900"/>
              </a:spcBef>
              <a:spcAft>
                <a:spcPct val="0"/>
              </a:spcAft>
              <a:buClr>
                <a:srgbClr val="3333CC"/>
              </a:buClr>
              <a:buSzPct val="60000"/>
              <a:buNone/>
              <a:tabLst/>
              <a:defRPr/>
            </a:pPr>
            <a:r>
              <a:rPr lang="en-US" altLang="en-US" sz="3200" dirty="0">
                <a:solidFill>
                  <a:schemeClr val="tx1"/>
                </a:solidFill>
              </a:rPr>
              <a:t>Firmware updates</a:t>
            </a:r>
          </a:p>
          <a:p>
            <a:pPr marL="516731" marR="0" lvl="1" indent="0" algn="l" defTabSz="1371600" rtl="0" eaLnBrk="1" fontAlgn="base" latinLnBrk="0" hangingPunct="1">
              <a:lnSpc>
                <a:spcPct val="100000"/>
              </a:lnSpc>
              <a:spcBef>
                <a:spcPts val="900"/>
              </a:spcBef>
              <a:spcAft>
                <a:spcPct val="0"/>
              </a:spcAft>
              <a:buClr>
                <a:srgbClr val="3333CC"/>
              </a:buClr>
              <a:buSzPct val="60000"/>
              <a:buNone/>
              <a:tabLst/>
              <a:defRPr/>
            </a:pPr>
            <a:r>
              <a:rPr lang="en-US" altLang="en-US" sz="3200" dirty="0">
                <a:solidFill>
                  <a:schemeClr val="tx1"/>
                </a:solidFill>
              </a:rPr>
              <a:t>Network segmentation</a:t>
            </a:r>
          </a:p>
          <a:p>
            <a:pPr marL="516731" marR="0" lvl="1" indent="0" algn="l" defTabSz="1371600" rtl="0" eaLnBrk="1" fontAlgn="base" latinLnBrk="0" hangingPunct="1">
              <a:lnSpc>
                <a:spcPct val="100000"/>
              </a:lnSpc>
              <a:spcBef>
                <a:spcPts val="900"/>
              </a:spcBef>
              <a:spcAft>
                <a:spcPct val="0"/>
              </a:spcAft>
              <a:buClr>
                <a:srgbClr val="3333CC"/>
              </a:buClr>
              <a:buSzPct val="60000"/>
              <a:buNone/>
              <a:tabLst/>
              <a:defRPr/>
            </a:pPr>
            <a:r>
              <a:rPr lang="en-US" altLang="en-US" sz="3200" dirty="0">
                <a:solidFill>
                  <a:schemeClr val="tx1"/>
                </a:solidFill>
              </a:rPr>
              <a:t>VLANs</a:t>
            </a:r>
          </a:p>
          <a:p>
            <a:pPr marL="516731" marR="0" lvl="1" indent="0" algn="l" defTabSz="1371600" rtl="0" eaLnBrk="1" fontAlgn="base" latinLnBrk="0" hangingPunct="1">
              <a:lnSpc>
                <a:spcPct val="100000"/>
              </a:lnSpc>
              <a:spcBef>
                <a:spcPts val="900"/>
              </a:spcBef>
              <a:spcAft>
                <a:spcPct val="0"/>
              </a:spcAft>
              <a:buClr>
                <a:srgbClr val="3333CC"/>
              </a:buClr>
              <a:buSzPct val="60000"/>
              <a:buNone/>
              <a:tabLst/>
              <a:defRPr/>
            </a:pPr>
            <a:r>
              <a:rPr lang="en-US" altLang="en-US" sz="3200" dirty="0">
                <a:solidFill>
                  <a:schemeClr val="tx1"/>
                </a:solidFill>
              </a:rPr>
              <a:t>Air-gapping</a:t>
            </a:r>
          </a:p>
          <a:p>
            <a:pPr marL="516731" marR="0" lvl="1" indent="0" algn="l" defTabSz="1371600" rtl="0" eaLnBrk="1" fontAlgn="base" latinLnBrk="0" hangingPunct="1">
              <a:lnSpc>
                <a:spcPct val="100000"/>
              </a:lnSpc>
              <a:spcBef>
                <a:spcPts val="900"/>
              </a:spcBef>
              <a:spcAft>
                <a:spcPct val="0"/>
              </a:spcAft>
              <a:buClr>
                <a:srgbClr val="3333CC"/>
              </a:buClr>
              <a:buSzPct val="60000"/>
              <a:buNone/>
              <a:tabLst/>
              <a:defRPr/>
            </a:pPr>
            <a:r>
              <a:rPr lang="en-US" altLang="en-US" sz="3200" dirty="0">
                <a:solidFill>
                  <a:schemeClr val="tx1"/>
                </a:solidFill>
              </a:rPr>
              <a:t>Disabling unnecessary features</a:t>
            </a:r>
          </a:p>
          <a:p>
            <a:pPr marL="516731" marR="0" lvl="1" indent="0" algn="l" defTabSz="1371600" rtl="0" eaLnBrk="1" fontAlgn="base" latinLnBrk="0" hangingPunct="1">
              <a:lnSpc>
                <a:spcPct val="100000"/>
              </a:lnSpc>
              <a:spcBef>
                <a:spcPts val="900"/>
              </a:spcBef>
              <a:spcAft>
                <a:spcPct val="0"/>
              </a:spcAft>
              <a:buClr>
                <a:srgbClr val="3333CC"/>
              </a:buClr>
              <a:buSzPct val="60000"/>
              <a:buNone/>
              <a:tabLst/>
              <a:defRPr/>
            </a:pPr>
            <a:r>
              <a:rPr lang="en-US" altLang="en-US" sz="3200" dirty="0">
                <a:solidFill>
                  <a:schemeClr val="tx1"/>
                </a:solidFill>
              </a:rPr>
              <a:t>Real-time monitoring</a:t>
            </a:r>
          </a:p>
          <a:p>
            <a:pPr marL="516731" marR="0" lvl="1" indent="0" algn="l" defTabSz="1371600" rtl="0" eaLnBrk="1" fontAlgn="base" latinLnBrk="0" hangingPunct="1">
              <a:lnSpc>
                <a:spcPct val="100000"/>
              </a:lnSpc>
              <a:spcBef>
                <a:spcPts val="900"/>
              </a:spcBef>
              <a:spcAft>
                <a:spcPct val="0"/>
              </a:spcAft>
              <a:buClr>
                <a:srgbClr val="3333CC"/>
              </a:buClr>
              <a:buSzPct val="60000"/>
              <a:buNone/>
              <a:tabLst/>
              <a:defRPr/>
            </a:pPr>
            <a:r>
              <a:rPr lang="en-US" altLang="en-US" sz="3200" dirty="0">
                <a:solidFill>
                  <a:schemeClr val="tx1"/>
                </a:solidFill>
              </a:rPr>
              <a:t>Data encryption</a:t>
            </a:r>
          </a:p>
          <a:p>
            <a:pPr marL="516731" marR="0" lvl="1" indent="0" algn="l" defTabSz="1371600" rtl="0" eaLnBrk="1" fontAlgn="base" latinLnBrk="0" hangingPunct="1">
              <a:lnSpc>
                <a:spcPct val="100000"/>
              </a:lnSpc>
              <a:spcBef>
                <a:spcPts val="900"/>
              </a:spcBef>
              <a:spcAft>
                <a:spcPct val="0"/>
              </a:spcAft>
              <a:buClr>
                <a:srgbClr val="3333CC"/>
              </a:buClr>
              <a:buSzPct val="60000"/>
              <a:buNone/>
              <a:tabLst/>
              <a:defRPr/>
            </a:pPr>
            <a:r>
              <a:rPr lang="en-US" altLang="en-US" sz="3200" dirty="0">
                <a:solidFill>
                  <a:schemeClr val="tx1"/>
                </a:solidFill>
              </a:rPr>
              <a:t>Changing default passwords</a:t>
            </a:r>
          </a:p>
          <a:p>
            <a:pPr marL="516731" marR="0" lvl="1" indent="0" algn="l" defTabSz="1371600" rtl="0" eaLnBrk="1" fontAlgn="base" latinLnBrk="0" hangingPunct="1">
              <a:lnSpc>
                <a:spcPct val="100000"/>
              </a:lnSpc>
              <a:spcBef>
                <a:spcPts val="900"/>
              </a:spcBef>
              <a:spcAft>
                <a:spcPct val="0"/>
              </a:spcAft>
              <a:buClr>
                <a:srgbClr val="3333CC"/>
              </a:buClr>
              <a:buSzPct val="60000"/>
              <a:buNone/>
              <a:tabLst/>
              <a:defRPr/>
            </a:pPr>
            <a:r>
              <a:rPr lang="en-US" altLang="en-US" sz="3200" dirty="0">
                <a:solidFill>
                  <a:schemeClr val="tx1"/>
                </a:solidFill>
              </a:rPr>
              <a:t>Ensuring network-level security</a:t>
            </a:r>
          </a:p>
        </p:txBody>
      </p:sp>
    </p:spTree>
    <p:extLst>
      <p:ext uri="{BB962C8B-B14F-4D97-AF65-F5344CB8AC3E}">
        <p14:creationId xmlns:p14="http://schemas.microsoft.com/office/powerpoint/2010/main" val="130795855"/>
      </p:ext>
    </p:extLst>
  </p:cSld>
  <p:clrMapOvr>
    <a:masterClrMapping/>
  </p:clrMapOvr>
</p:sld>
</file>

<file path=ppt/slides/slide2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C190B4-F198-27F8-064A-64114EB0B1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A2741C7-D565-F4A6-75C9-7CAB9C92CC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Slide </a:t>
            </a:r>
            <a:fld id="{4CA2B2DB-B91D-4166-98BF-65A0DA7EEE6D}" type="slidenum">
              <a:rPr kumimoji="0" lang="en-US" sz="1800" b="0" i="1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217</a:t>
            </a:fld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CDA3AD-D539-23C8-BCD9-01241D84536A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2536823"/>
            <a:ext cx="16192500" cy="6035677"/>
          </a:xfrm>
        </p:spPr>
        <p:txBody>
          <a:bodyPr/>
          <a:lstStyle/>
          <a:p>
            <a:pPr>
              <a:spcBef>
                <a:spcPts val="900"/>
              </a:spcBef>
            </a:pPr>
            <a:r>
              <a:rPr lang="en-US" altLang="en-US" sz="3900" b="1" dirty="0"/>
              <a:t>Containerization</a:t>
            </a:r>
          </a:p>
          <a:p>
            <a:pPr lvl="1">
              <a:spcBef>
                <a:spcPts val="900"/>
              </a:spcBef>
            </a:pPr>
            <a:r>
              <a:rPr lang="en-US" altLang="en-US" sz="3600" dirty="0"/>
              <a:t>	Packaging applications in containers makes sharing and deployment 	easier</a:t>
            </a:r>
          </a:p>
          <a:p>
            <a:pPr lvl="1">
              <a:spcBef>
                <a:spcPts val="900"/>
              </a:spcBef>
            </a:pPr>
            <a:r>
              <a:rPr lang="en-US" altLang="en-US" sz="3600" dirty="0"/>
              <a:t>	Applications consist of language runtimes, libraries, and source code, 	which can introduce dependencies</a:t>
            </a:r>
          </a:p>
          <a:p>
            <a:pPr>
              <a:spcBef>
                <a:spcPts val="900"/>
              </a:spcBef>
            </a:pPr>
            <a:r>
              <a:rPr lang="en-US" altLang="en-US" sz="3900" b="1" dirty="0"/>
              <a:t>Virtualization</a:t>
            </a:r>
          </a:p>
          <a:p>
            <a:pPr lvl="1">
              <a:spcBef>
                <a:spcPts val="900"/>
              </a:spcBef>
            </a:pPr>
            <a:r>
              <a:rPr lang="en-US" altLang="en-US" sz="3600" dirty="0"/>
              <a:t>	Creates multiple simulated environments or dedicated resources from a 	single physical hardware system</a:t>
            </a:r>
          </a:p>
          <a:p>
            <a:pPr lvl="1">
              <a:spcBef>
                <a:spcPts val="900"/>
              </a:spcBef>
            </a:pPr>
            <a:r>
              <a:rPr lang="en-US" altLang="en-US" sz="3600" dirty="0"/>
              <a:t>	Benefits include cost reduction, resource optimization, and scalability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FE5F208-CA25-0756-4832-351F46170DF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A1F171FB-9EDB-EB80-B997-DF83F3B475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60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Containerization and Virtualization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852023954"/>
      </p:ext>
    </p:extLst>
  </p:cSld>
  <p:clrMapOvr>
    <a:masterClrMapping/>
  </p:clrMapOvr>
</p:sld>
</file>

<file path=ppt/slides/slide2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70BAB5-1830-F8E5-8226-9FF9F07E86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FD62A9F-86F3-09A3-5B37-DF3A60D1A5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Slide </a:t>
            </a:r>
            <a:fld id="{4CA2B2DB-B91D-4166-98BF-65A0DA7EEE6D}" type="slidenum">
              <a:rPr kumimoji="0" lang="en-US" sz="1800" b="0" i="1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218</a:t>
            </a:fld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CA0859F8-6116-FDD8-CFE5-AFB53142157B}"/>
              </a:ext>
            </a:extLst>
          </p:cNvPr>
          <p:cNvPicPr>
            <a:picLocks noGrp="1" noChangeAspect="1"/>
          </p:cNvPicPr>
          <p:nvPr>
            <p:ph sz="quarter" idx="12"/>
          </p:nvPr>
        </p:nvPicPr>
        <p:blipFill>
          <a:blip r:embed="rId3"/>
          <a:stretch>
            <a:fillRect/>
          </a:stretch>
        </p:blipFill>
        <p:spPr>
          <a:xfrm>
            <a:off x="3700228" y="2536825"/>
            <a:ext cx="10468444" cy="5856990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AD1E93A-7079-200D-9D9C-977871EF074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43522FA5-09DA-E370-F6A1-DBE2BDA9C0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60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Containerization and Virtualization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2236474994"/>
      </p:ext>
    </p:extLst>
  </p:cSld>
  <p:clrMapOvr>
    <a:masterClrMapping/>
  </p:clrMapOvr>
</p:sld>
</file>

<file path=ppt/slides/slide2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A3DC49-AA71-0E6D-018E-563423C630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108C4E6-8B9A-FF14-7EDE-66FBFF9714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Slide </a:t>
            </a:r>
            <a:fld id="{4CA2B2DB-B91D-4166-98BF-65A0DA7EEE6D}" type="slidenum">
              <a:rPr kumimoji="0" lang="en-US" sz="1800" b="0" i="1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219</a:t>
            </a:fld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2A03AD1-8556-3456-299C-A8976FD6067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https://www.sentinelone.com/cybersecurity-101/identity-security/zero-trust-architecture/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50DC0AA-9A4F-9C8F-9C6E-C9F3AE4F23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60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Lunch</a:t>
            </a:r>
            <a:endParaRPr lang="en-US" i="1" dirty="0"/>
          </a:p>
        </p:txBody>
      </p:sp>
      <p:pic>
        <p:nvPicPr>
          <p:cNvPr id="8" name="Picture 4" descr="Zero Trust Architecture Diagram | SentinelOne">
            <a:extLst>
              <a:ext uri="{FF2B5EF4-FFF2-40B4-BE49-F238E27FC236}">
                <a16:creationId xmlns:a16="http://schemas.microsoft.com/office/drawing/2014/main" id="{405E2BF7-ECF7-0072-F6C7-4DEB58FA10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0" y="2324100"/>
            <a:ext cx="12287250" cy="6429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18949654"/>
      </p:ext>
    </p:extLst>
  </p:cSld>
  <p:clrMapOvr>
    <a:masterClrMapping/>
  </p:clrMapOvr>
</p:sld>
</file>

<file path=ppt/slides/slide2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15194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8EBC259-387E-1E5A-47EA-0670DA5B1B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2F4F6695-7AF1-F360-011F-07CAE1708A66}"/>
              </a:ext>
            </a:extLst>
          </p:cNvPr>
          <p:cNvGrpSpPr/>
          <p:nvPr/>
        </p:nvGrpSpPr>
        <p:grpSpPr>
          <a:xfrm rot="-5400000">
            <a:off x="12015831" y="4014831"/>
            <a:ext cx="10287000" cy="2257339"/>
            <a:chOff x="0" y="0"/>
            <a:chExt cx="2709333" cy="59452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5E20A504-658F-9BFC-96F0-926610E1D1DA}"/>
                </a:ext>
              </a:extLst>
            </p:cNvPr>
            <p:cNvSpPr/>
            <p:nvPr/>
          </p:nvSpPr>
          <p:spPr>
            <a:xfrm>
              <a:off x="0" y="0"/>
              <a:ext cx="2709333" cy="594525"/>
            </a:xfrm>
            <a:custGeom>
              <a:avLst/>
              <a:gdLst/>
              <a:ahLst/>
              <a:cxnLst/>
              <a:rect l="l" t="t" r="r" b="b"/>
              <a:pathLst>
                <a:path w="2709333" h="594525">
                  <a:moveTo>
                    <a:pt x="0" y="0"/>
                  </a:moveTo>
                  <a:lnTo>
                    <a:pt x="2709333" y="0"/>
                  </a:lnTo>
                  <a:lnTo>
                    <a:pt x="2709333" y="594525"/>
                  </a:lnTo>
                  <a:lnTo>
                    <a:pt x="0" y="594525"/>
                  </a:lnTo>
                  <a:close/>
                </a:path>
              </a:pathLst>
            </a:custGeom>
            <a:solidFill>
              <a:srgbClr val="0283FD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DCB87251-8D56-8F40-ED4B-7E58F76E2563}"/>
                </a:ext>
              </a:extLst>
            </p:cNvPr>
            <p:cNvSpPr txBox="1"/>
            <p:nvPr/>
          </p:nvSpPr>
          <p:spPr>
            <a:xfrm>
              <a:off x="0" y="-66675"/>
              <a:ext cx="2709333" cy="6612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3024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A1E9A4E1-2E2A-A427-46B3-4F9DD16D1A47}"/>
              </a:ext>
            </a:extLst>
          </p:cNvPr>
          <p:cNvGrpSpPr/>
          <p:nvPr/>
        </p:nvGrpSpPr>
        <p:grpSpPr>
          <a:xfrm>
            <a:off x="179467" y="6643814"/>
            <a:ext cx="8126333" cy="3488267"/>
            <a:chOff x="0" y="0"/>
            <a:chExt cx="844714" cy="36259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0F2BA1C2-FAC3-EAF3-0F43-EDBB2B2B1871}"/>
                </a:ext>
              </a:extLst>
            </p:cNvPr>
            <p:cNvSpPr/>
            <p:nvPr/>
          </p:nvSpPr>
          <p:spPr>
            <a:xfrm>
              <a:off x="0" y="0"/>
              <a:ext cx="844714" cy="362598"/>
            </a:xfrm>
            <a:custGeom>
              <a:avLst/>
              <a:gdLst/>
              <a:ahLst/>
              <a:cxnLst/>
              <a:rect l="l" t="t" r="r" b="b"/>
              <a:pathLst>
                <a:path w="844714" h="362598">
                  <a:moveTo>
                    <a:pt x="203200" y="0"/>
                  </a:moveTo>
                  <a:lnTo>
                    <a:pt x="844714" y="0"/>
                  </a:lnTo>
                  <a:lnTo>
                    <a:pt x="641514" y="362598"/>
                  </a:lnTo>
                  <a:lnTo>
                    <a:pt x="0" y="362598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283FD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E486767A-5FAD-C42B-4DFE-45634EC914DF}"/>
                </a:ext>
              </a:extLst>
            </p:cNvPr>
            <p:cNvSpPr txBox="1"/>
            <p:nvPr/>
          </p:nvSpPr>
          <p:spPr>
            <a:xfrm>
              <a:off x="101600" y="-28575"/>
              <a:ext cx="641514" cy="391173"/>
            </a:xfrm>
            <a:prstGeom prst="rect">
              <a:avLst/>
            </a:prstGeom>
          </p:spPr>
          <p:txBody>
            <a:bodyPr lIns="47790" tIns="47790" rIns="47790" bIns="4779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1843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FBD1AF75-BB36-6A1E-B7CB-137CEF80BF83}"/>
              </a:ext>
            </a:extLst>
          </p:cNvPr>
          <p:cNvGrpSpPr/>
          <p:nvPr/>
        </p:nvGrpSpPr>
        <p:grpSpPr>
          <a:xfrm>
            <a:off x="-73552" y="7047924"/>
            <a:ext cx="16030661" cy="3336996"/>
            <a:chOff x="0" y="0"/>
            <a:chExt cx="6165409" cy="1271237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92157194-016A-12BB-B549-CF7ED9C8AAFB}"/>
                </a:ext>
              </a:extLst>
            </p:cNvPr>
            <p:cNvSpPr/>
            <p:nvPr/>
          </p:nvSpPr>
          <p:spPr>
            <a:xfrm>
              <a:off x="0" y="0"/>
              <a:ext cx="6165409" cy="1271237"/>
            </a:xfrm>
            <a:custGeom>
              <a:avLst/>
              <a:gdLst/>
              <a:ahLst/>
              <a:cxnLst/>
              <a:rect l="l" t="t" r="r" b="b"/>
              <a:pathLst>
                <a:path w="6165409" h="1271237">
                  <a:moveTo>
                    <a:pt x="0" y="0"/>
                  </a:moveTo>
                  <a:lnTo>
                    <a:pt x="6165409" y="0"/>
                  </a:lnTo>
                  <a:lnTo>
                    <a:pt x="6165409" y="1271237"/>
                  </a:lnTo>
                  <a:lnTo>
                    <a:pt x="0" y="127123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0401FC91-3E34-FFD0-5FD2-736597D85046}"/>
                </a:ext>
              </a:extLst>
            </p:cNvPr>
            <p:cNvSpPr txBox="1"/>
            <p:nvPr/>
          </p:nvSpPr>
          <p:spPr>
            <a:xfrm>
              <a:off x="0" y="-28575"/>
              <a:ext cx="6165409" cy="1299812"/>
            </a:xfrm>
            <a:prstGeom prst="rect">
              <a:avLst/>
            </a:prstGeom>
          </p:spPr>
          <p:txBody>
            <a:bodyPr lIns="47790" tIns="47790" rIns="47790" bIns="4779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1843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sp>
        <p:nvSpPr>
          <p:cNvPr id="12" name="TextBox 12">
            <a:extLst>
              <a:ext uri="{FF2B5EF4-FFF2-40B4-BE49-F238E27FC236}">
                <a16:creationId xmlns:a16="http://schemas.microsoft.com/office/drawing/2014/main" id="{F4BC4DE9-C072-A451-5B8E-80091AE39EA4}"/>
              </a:ext>
            </a:extLst>
          </p:cNvPr>
          <p:cNvSpPr txBox="1"/>
          <p:nvPr/>
        </p:nvSpPr>
        <p:spPr>
          <a:xfrm>
            <a:off x="1111666" y="3432993"/>
            <a:ext cx="14771892" cy="598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4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Day 3 – Block 5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E09D4A11-4AE5-9033-DD68-640BF0DD371F}"/>
              </a:ext>
            </a:extLst>
          </p:cNvPr>
          <p:cNvSpPr txBox="1"/>
          <p:nvPr/>
        </p:nvSpPr>
        <p:spPr>
          <a:xfrm>
            <a:off x="1111666" y="9653992"/>
            <a:ext cx="12263263" cy="3619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0" i="0" u="none" strike="noStrike" kern="1200" cap="none" spc="0" normalizeH="0" baseline="0" noProof="0">
                <a:ln>
                  <a:noFill/>
                </a:ln>
                <a:solidFill>
                  <a:srgbClr val="252525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CALIFORNIA INSTITUTE OF APPLIED TECHNOLOGY</a:t>
            </a:r>
          </a:p>
        </p:txBody>
      </p:sp>
      <p:sp>
        <p:nvSpPr>
          <p:cNvPr id="15" name="AutoShape 15">
            <a:extLst>
              <a:ext uri="{FF2B5EF4-FFF2-40B4-BE49-F238E27FC236}">
                <a16:creationId xmlns:a16="http://schemas.microsoft.com/office/drawing/2014/main" id="{BDCACE6D-CFEF-2392-2A75-976E886568E5}"/>
              </a:ext>
            </a:extLst>
          </p:cNvPr>
          <p:cNvSpPr/>
          <p:nvPr/>
        </p:nvSpPr>
        <p:spPr>
          <a:xfrm>
            <a:off x="8010568" y="9858838"/>
            <a:ext cx="7625672" cy="0"/>
          </a:xfrm>
          <a:prstGeom prst="line">
            <a:avLst/>
          </a:prstGeom>
          <a:ln w="19050" cap="flat">
            <a:solidFill>
              <a:srgbClr val="0283F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7" name="Freeform 5">
            <a:extLst>
              <a:ext uri="{FF2B5EF4-FFF2-40B4-BE49-F238E27FC236}">
                <a16:creationId xmlns:a16="http://schemas.microsoft.com/office/drawing/2014/main" id="{94093902-70CD-3332-1687-31B29B1BF585}"/>
              </a:ext>
            </a:extLst>
          </p:cNvPr>
          <p:cNvSpPr/>
          <p:nvPr/>
        </p:nvSpPr>
        <p:spPr>
          <a:xfrm>
            <a:off x="1111666" y="355081"/>
            <a:ext cx="4247850" cy="631936"/>
          </a:xfrm>
          <a:custGeom>
            <a:avLst/>
            <a:gdLst/>
            <a:ahLst/>
            <a:cxnLst/>
            <a:rect l="l" t="t" r="r" b="b"/>
            <a:pathLst>
              <a:path w="4247850" h="631936">
                <a:moveTo>
                  <a:pt x="0" y="0"/>
                </a:moveTo>
                <a:lnTo>
                  <a:pt x="4247850" y="0"/>
                </a:lnTo>
                <a:lnTo>
                  <a:pt x="4247850" y="631935"/>
                </a:lnTo>
                <a:lnTo>
                  <a:pt x="0" y="63193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5" r="-5"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1051C61-A2B9-3929-A366-8EEA1B1B5B91}"/>
              </a:ext>
            </a:extLst>
          </p:cNvPr>
          <p:cNvSpPr txBox="1"/>
          <p:nvPr/>
        </p:nvSpPr>
        <p:spPr>
          <a:xfrm>
            <a:off x="1111666" y="7106062"/>
            <a:ext cx="948013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2000" dirty="0"/>
              <a:t>Secure Communications</a:t>
            </a:r>
          </a:p>
          <a:p>
            <a:pPr lvl="1"/>
            <a:r>
              <a:rPr lang="en-US" altLang="en-US" sz="1600" dirty="0"/>
              <a:t>Email Security (S/MIME, PGP)</a:t>
            </a:r>
          </a:p>
          <a:p>
            <a:pPr lvl="1"/>
            <a:r>
              <a:rPr lang="en-US" altLang="en-US" sz="1600" dirty="0"/>
              <a:t>Secure Protocols (TLS, SSH, HTTPS)</a:t>
            </a:r>
          </a:p>
          <a:p>
            <a:r>
              <a:rPr lang="en-US" altLang="en-US" sz="2000" dirty="0"/>
              <a:t>Crucial Exams</a:t>
            </a:r>
          </a:p>
          <a:p>
            <a:pPr lvl="1"/>
            <a:r>
              <a:rPr lang="en-US" altLang="en-US" sz="1600" dirty="0"/>
              <a:t>Security Architecture</a:t>
            </a:r>
          </a:p>
        </p:txBody>
      </p:sp>
    </p:spTree>
    <p:extLst>
      <p:ext uri="{BB962C8B-B14F-4D97-AF65-F5344CB8AC3E}">
        <p14:creationId xmlns:p14="http://schemas.microsoft.com/office/powerpoint/2010/main" val="4141996048"/>
      </p:ext>
    </p:extLst>
  </p:cSld>
  <p:clrMapOvr>
    <a:masterClrMapping/>
  </p:clrMapOvr>
</p:sld>
</file>

<file path=ppt/slides/slide2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4B4757-6AA9-1250-77E7-2FE124940C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CA08F83-2B46-A574-CA7B-300AFF33E4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Slide </a:t>
            </a:r>
            <a:fld id="{4CA2B2DB-B91D-4166-98BF-65A0DA7EEE6D}" type="slidenum">
              <a:rPr kumimoji="0" lang="en-US" sz="1800" b="0" i="1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221</a:t>
            </a:fld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698E82-3F39-08B8-9F2C-ABBBCC09A26B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2536823"/>
            <a:ext cx="16192500" cy="2073277"/>
          </a:xfrm>
        </p:spPr>
        <p:txBody>
          <a:bodyPr/>
          <a:lstStyle/>
          <a:p>
            <a:pPr marL="0" indent="0">
              <a:spcBef>
                <a:spcPts val="300"/>
              </a:spcBef>
              <a:buNone/>
            </a:pPr>
            <a:r>
              <a:rPr lang="en-US" altLang="en-US" sz="4000" dirty="0"/>
              <a:t>A </a:t>
            </a:r>
            <a:r>
              <a:rPr lang="en-US" altLang="en-US" sz="4000" b="1" dirty="0"/>
              <a:t>virtual private network </a:t>
            </a:r>
            <a:r>
              <a:rPr lang="en-US" altLang="en-US" sz="4000" dirty="0"/>
              <a:t>(VPN) establishes a secure connection between two or more devices over the Internet, even if they are not on the same private network.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B0EF537-1614-6B8D-0240-1076086F8F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AD3EE9B6-0619-0A50-C4B6-081B0E6824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60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Virtual Private Network VPN</a:t>
            </a:r>
            <a:endParaRPr lang="en-US" i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45B0469-E6BA-1E0D-5201-39B7C676E9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27909" y="4553878"/>
            <a:ext cx="11032182" cy="4323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2687772"/>
      </p:ext>
    </p:extLst>
  </p:cSld>
  <p:clrMapOvr>
    <a:masterClrMapping/>
  </p:clrMapOvr>
</p:sld>
</file>

<file path=ppt/slides/slide2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F96641-B00A-697E-4E6B-D273C09378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7755CDC-EECC-5CC6-82D2-93AACD191B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Slide </a:t>
            </a:r>
            <a:fld id="{4CA2B2DB-B91D-4166-98BF-65A0DA7EEE6D}" type="slidenum">
              <a:rPr kumimoji="0" lang="en-US" sz="1800" b="0" i="1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222</a:t>
            </a:fld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3242E0-68AF-8B89-95A6-F930D4A27916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2536823"/>
            <a:ext cx="16192500" cy="6111877"/>
          </a:xfrm>
        </p:spPr>
        <p:txBody>
          <a:bodyPr/>
          <a:lstStyle/>
          <a:p>
            <a:pPr marL="0" indent="0">
              <a:spcBef>
                <a:spcPts val="300"/>
              </a:spcBef>
              <a:buNone/>
            </a:pPr>
            <a:r>
              <a:rPr lang="en-US" altLang="en-US" sz="3600" b="1" dirty="0"/>
              <a:t>Remote access </a:t>
            </a:r>
            <a:r>
              <a:rPr lang="en-US" altLang="en-US" sz="3600" dirty="0"/>
              <a:t>allows authorized users to connect to a network, system, or application from a location outside the organization's physical premises.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Remote access technologies</a:t>
            </a:r>
          </a:p>
          <a:p>
            <a:pPr lvl="1">
              <a:spcBef>
                <a:spcPts val="300"/>
              </a:spcBef>
            </a:pPr>
            <a:r>
              <a:rPr lang="en-US" altLang="en-US" sz="3300" dirty="0"/>
              <a:t>	Remote Access Service (RAS)</a:t>
            </a:r>
          </a:p>
          <a:p>
            <a:pPr lvl="1">
              <a:spcBef>
                <a:spcPts val="300"/>
              </a:spcBef>
            </a:pPr>
            <a:r>
              <a:rPr lang="en-US" altLang="en-US" sz="3300" dirty="0"/>
              <a:t>	Virtual Private Networks (VPNs)</a:t>
            </a:r>
          </a:p>
          <a:p>
            <a:pPr lvl="1">
              <a:spcBef>
                <a:spcPts val="300"/>
              </a:spcBef>
            </a:pPr>
            <a:r>
              <a:rPr lang="en-US" altLang="en-US" sz="3300" dirty="0"/>
              <a:t>	Terminal Access Controller Access Control System Plus (TACACS+)</a:t>
            </a:r>
          </a:p>
          <a:p>
            <a:pPr lvl="1">
              <a:spcBef>
                <a:spcPts val="300"/>
              </a:spcBef>
            </a:pPr>
            <a:r>
              <a:rPr lang="en-US" altLang="en-US" sz="3300" dirty="0"/>
              <a:t>	Challenge-Handshake Authentication Protocol (CHAP)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8430A0B-3FE0-6F15-4B1A-7EACD14E26E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229BF831-2979-0271-289B-6072C09E70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60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Remote Access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170057924"/>
      </p:ext>
    </p:extLst>
  </p:cSld>
  <p:clrMapOvr>
    <a:masterClrMapping/>
  </p:clrMapOvr>
</p:sld>
</file>

<file path=ppt/slides/slide2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60C1A3-BEEF-0C02-8638-BE3CFFC86D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D379645-1C2D-8B1B-A5C5-4CC7621F68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Slide </a:t>
            </a:r>
            <a:fld id="{4CA2B2DB-B91D-4166-98BF-65A0DA7EEE6D}" type="slidenum">
              <a:rPr kumimoji="0" lang="en-US" sz="1800" b="0" i="1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223</a:t>
            </a:fld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B54974-E117-AB7A-5D22-FC6B837F9040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2536823"/>
            <a:ext cx="16192500" cy="6111877"/>
          </a:xfrm>
        </p:spPr>
        <p:txBody>
          <a:bodyPr/>
          <a:lstStyle/>
          <a:p>
            <a:pPr marL="0" indent="0">
              <a:spcBef>
                <a:spcPts val="900"/>
              </a:spcBef>
              <a:buNone/>
            </a:pPr>
            <a:r>
              <a:rPr lang="en-US" altLang="en-US" sz="4000" b="1" dirty="0"/>
              <a:t>Tunneling</a:t>
            </a:r>
            <a:r>
              <a:rPr lang="en-US" altLang="en-US" sz="4000" dirty="0"/>
              <a:t> creates a secure pathway for data transmission across networks via encapsulation.</a:t>
            </a:r>
          </a:p>
          <a:p>
            <a:pPr>
              <a:spcBef>
                <a:spcPts val="900"/>
              </a:spcBef>
            </a:pPr>
            <a:r>
              <a:rPr lang="en-US" altLang="en-US" sz="3600" dirty="0"/>
              <a:t>Protocols like </a:t>
            </a:r>
            <a:r>
              <a:rPr lang="en-US" altLang="en-US" sz="3600" b="1" dirty="0"/>
              <a:t>Transport Layer Security (TLS) </a:t>
            </a:r>
            <a:r>
              <a:rPr lang="en-US" altLang="en-US" sz="3600" dirty="0"/>
              <a:t>and </a:t>
            </a:r>
            <a:r>
              <a:rPr lang="en-US" altLang="en-US" sz="3600" b="1" dirty="0"/>
              <a:t>Internet Protocol Security (IPsec) </a:t>
            </a:r>
            <a:r>
              <a:rPr lang="en-US" altLang="en-US" sz="3600" dirty="0"/>
              <a:t>enhance the security of tunneling by providing encryption and integrity mechanisms.</a:t>
            </a:r>
          </a:p>
          <a:p>
            <a:pPr>
              <a:spcBef>
                <a:spcPts val="900"/>
              </a:spcBef>
            </a:pPr>
            <a:r>
              <a:rPr lang="en-US" altLang="en-US" sz="3600" b="1" dirty="0"/>
              <a:t>IKE</a:t>
            </a:r>
            <a:r>
              <a:rPr lang="en-US" altLang="en-US" sz="3600" dirty="0"/>
              <a:t>, the key management protocol for IPsec, has two phases. Phase 1 negotiates the ISAKMP SA, and Phase 2 negotiates the IPsec Sas.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883B34A-093D-4731-B00E-31E05761D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82A4F68-3BC8-AC03-2781-30C84438E4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60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Tunneling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2629393433"/>
      </p:ext>
    </p:extLst>
  </p:cSld>
  <p:clrMapOvr>
    <a:masterClrMapping/>
  </p:clrMapOvr>
</p:sld>
</file>

<file path=ppt/slides/slide2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B3C5CE-317C-44C1-9FFF-4B7A25DC84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E7D89BA-688E-FB2C-ECD3-1332AF586F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Slide </a:t>
            </a:r>
            <a:fld id="{4CA2B2DB-B91D-4166-98BF-65A0DA7EEE6D}" type="slidenum">
              <a:rPr kumimoji="0" lang="en-US" sz="1800" b="0" i="1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224</a:t>
            </a:fld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52B604-D9F2-7EC0-6771-1D67AC17143A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2536823"/>
            <a:ext cx="16192500" cy="6111877"/>
          </a:xfrm>
        </p:spPr>
        <p:txBody>
          <a:bodyPr/>
          <a:lstStyle/>
          <a:p>
            <a:pPr marL="0" indent="0">
              <a:spcBef>
                <a:spcPts val="900"/>
              </a:spcBef>
              <a:buNone/>
            </a:pPr>
            <a:r>
              <a:rPr lang="en-US" altLang="en-US" sz="4000" b="1" dirty="0"/>
              <a:t>SD-WAN</a:t>
            </a:r>
            <a:r>
              <a:rPr lang="en-US" altLang="en-US" sz="4000" dirty="0"/>
              <a:t> is a networking architecture that uses software-based controls to optimize and manage data traffic across a wide-area network (WAN).</a:t>
            </a:r>
          </a:p>
          <a:p>
            <a:pPr>
              <a:spcBef>
                <a:spcPts val="900"/>
              </a:spcBef>
            </a:pPr>
            <a:r>
              <a:rPr lang="en-US" altLang="en-US" sz="4000" dirty="0"/>
              <a:t>Enhances network management flexibility by separating control mechanisms from network hardware</a:t>
            </a:r>
          </a:p>
          <a:p>
            <a:pPr>
              <a:spcBef>
                <a:spcPts val="900"/>
              </a:spcBef>
            </a:pPr>
            <a:r>
              <a:rPr lang="en-US" altLang="en-US" sz="4000" dirty="0"/>
              <a:t>Simplifies network management, improves performance, and enhances reliability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273CF0-1E66-CA31-7027-22A771A6AD7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BFE6B603-4968-AB2E-1C4D-BA07772365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60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Software-Defined Wide Area Network SD-WAN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1625177464"/>
      </p:ext>
    </p:extLst>
  </p:cSld>
  <p:clrMapOvr>
    <a:masterClrMapping/>
  </p:clrMapOvr>
</p:sld>
</file>

<file path=ppt/slides/slide2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4EE396-E51E-4C59-AB7F-E6101A76EA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19A5D25-B2BF-438E-47FA-3B75D4B365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Slide </a:t>
            </a:r>
            <a:fld id="{4CA2B2DB-B91D-4166-98BF-65A0DA7EEE6D}" type="slidenum">
              <a:rPr kumimoji="0" lang="en-US" sz="1800" b="0" i="1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225</a:t>
            </a:fld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40C899CD-7A3B-9666-2379-7E6F4F1D7C8C}"/>
              </a:ext>
            </a:extLst>
          </p:cNvPr>
          <p:cNvPicPr>
            <a:picLocks noGrp="1" noChangeAspect="1"/>
          </p:cNvPicPr>
          <p:nvPr>
            <p:ph sz="quarter" idx="12"/>
          </p:nvPr>
        </p:nvPicPr>
        <p:blipFill>
          <a:blip r:embed="rId3"/>
          <a:stretch>
            <a:fillRect/>
          </a:stretch>
        </p:blipFill>
        <p:spPr>
          <a:xfrm>
            <a:off x="3559754" y="2536825"/>
            <a:ext cx="10749391" cy="6316310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4358BD7-D589-D521-F214-A3BF40FCD4C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2BD99F5-C2E2-92A2-0B85-0D3AAD836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60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MPLS vs SD-WAN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1793700755"/>
      </p:ext>
    </p:extLst>
  </p:cSld>
  <p:clrMapOvr>
    <a:masterClrMapping/>
  </p:clrMapOvr>
</p:sld>
</file>

<file path=ppt/slides/slide2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6DB57F-E062-B7E6-7E94-EFF203E0E7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6AB7A19-1B6D-8BA6-8DEA-6D398A0DFC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Slide </a:t>
            </a:r>
            <a:fld id="{4CA2B2DB-B91D-4166-98BF-65A0DA7EEE6D}" type="slidenum">
              <a:rPr kumimoji="0" lang="en-US" sz="1800" b="0" i="1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226</a:t>
            </a:fld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CCA49A-D2AF-0E7B-162A-ABF1BA0465B8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2536823"/>
            <a:ext cx="16192500" cy="6111877"/>
          </a:xfrm>
        </p:spPr>
        <p:txBody>
          <a:bodyPr/>
          <a:lstStyle/>
          <a:p>
            <a:pPr marL="0" indent="0">
              <a:spcBef>
                <a:spcPts val="300"/>
              </a:spcBef>
              <a:buNone/>
            </a:pPr>
            <a:r>
              <a:rPr lang="en-US" altLang="en-US" sz="4000" b="1" dirty="0"/>
              <a:t>Secure Access Service Edge (SASE)</a:t>
            </a:r>
            <a:r>
              <a:rPr lang="en-US" altLang="en-US" sz="4000" dirty="0"/>
              <a:t> is a cloud-native architecture that merges network security functions with WAN capabilities. </a:t>
            </a:r>
          </a:p>
          <a:p>
            <a:pPr>
              <a:spcBef>
                <a:spcPts val="300"/>
              </a:spcBef>
            </a:pPr>
            <a:r>
              <a:rPr lang="en-US" altLang="en-US" sz="4000" dirty="0"/>
              <a:t>Integrates network and security services into a unified platform, simplifying management and ensuring secure access </a:t>
            </a:r>
          </a:p>
          <a:p>
            <a:pPr>
              <a:spcBef>
                <a:spcPts val="300"/>
              </a:spcBef>
            </a:pPr>
            <a:r>
              <a:rPr lang="en-US" altLang="en-US" sz="4000" dirty="0"/>
              <a:t>Provides secure and seamless access to resources regardless of user location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AFAFB1-CE86-9FBA-62C8-C625C25F1F2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73F93090-7D3D-05E9-7D0A-A9E94523D9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60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Secure Access Service Edge SASE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1869616620"/>
      </p:ext>
    </p:extLst>
  </p:cSld>
  <p:clrMapOvr>
    <a:masterClrMapping/>
  </p:clrMapOvr>
</p:sld>
</file>

<file path=ppt/slides/slide2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F9E03B-AD69-CA6A-4719-5FA636338C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1496C58-22DD-96A8-37F1-C3CFA004A7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Slide </a:t>
            </a:r>
            <a:fld id="{4CA2B2DB-B91D-4166-98BF-65A0DA7EEE6D}" type="slidenum">
              <a:rPr kumimoji="0" lang="en-US" sz="1800" b="0" i="1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227</a:t>
            </a:fld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1BB596-8411-7F41-5C24-D694314DBA2D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2536823"/>
            <a:ext cx="16192500" cy="6111877"/>
          </a:xfrm>
        </p:spPr>
        <p:txBody>
          <a:bodyPr/>
          <a:lstStyle/>
          <a:p>
            <a:pPr marL="0" indent="0">
              <a:spcBef>
                <a:spcPts val="900"/>
              </a:spcBef>
              <a:buNone/>
            </a:pPr>
            <a:r>
              <a:rPr lang="en-US" altLang="en-US" sz="4400" dirty="0"/>
              <a:t>The </a:t>
            </a:r>
            <a:r>
              <a:rPr lang="en-US" altLang="en-US" sz="4400" b="1" dirty="0"/>
              <a:t>implementation of secure protocols</a:t>
            </a:r>
            <a:r>
              <a:rPr lang="en-US" altLang="en-US" sz="4400" dirty="0"/>
              <a:t> refers to creating encrypted pathways for communication.</a:t>
            </a:r>
          </a:p>
          <a:p>
            <a:pPr>
              <a:spcBef>
                <a:spcPts val="900"/>
              </a:spcBef>
            </a:pPr>
            <a:r>
              <a:rPr lang="en-US" altLang="en-US" sz="4000" b="1" dirty="0"/>
              <a:t>Protocol selection</a:t>
            </a:r>
            <a:r>
              <a:rPr lang="en-US" altLang="en-US" sz="4000" dirty="0"/>
              <a:t>: Choosing the appropriate communication standard for data exchange (e.g., HTTPS)</a:t>
            </a:r>
          </a:p>
          <a:p>
            <a:pPr>
              <a:spcBef>
                <a:spcPts val="900"/>
              </a:spcBef>
            </a:pPr>
            <a:r>
              <a:rPr lang="en-US" altLang="en-US" sz="4000" b="1" dirty="0"/>
              <a:t>Port selection</a:t>
            </a:r>
            <a:r>
              <a:rPr lang="en-US" altLang="en-US" sz="4000" dirty="0"/>
              <a:t>: Choosing specific entry and exit points (ports) in the network for data  </a:t>
            </a:r>
          </a:p>
          <a:p>
            <a:pPr>
              <a:spcBef>
                <a:spcPts val="900"/>
              </a:spcBef>
            </a:pPr>
            <a:r>
              <a:rPr lang="en-US" altLang="en-US" sz="4000" b="1" dirty="0"/>
              <a:t>Transport method selection</a:t>
            </a:r>
            <a:r>
              <a:rPr lang="en-US" altLang="en-US" sz="4000" dirty="0"/>
              <a:t>: Choosing a method of securely transporting data packets across the network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F3C1B32-BAC8-E7D0-D8D6-BB3E1565289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FF0E770-F95C-B783-D4BB-370C799DA5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60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Implementation of Secure Protocols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4100610771"/>
      </p:ext>
    </p:extLst>
  </p:cSld>
  <p:clrMapOvr>
    <a:masterClrMapping/>
  </p:clrMapOvr>
</p:sld>
</file>

<file path=ppt/slides/slide2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080E85-25CA-618B-9A19-554DDFF215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FA91C0B-4789-A75A-2E67-CF31D794F9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Slide </a:t>
            </a:r>
            <a:fld id="{4CA2B2DB-B91D-4166-98BF-65A0DA7EEE6D}" type="slidenum">
              <a:rPr kumimoji="0" lang="en-US" sz="1800" b="0" i="1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228</a:t>
            </a:fld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6570D3-5C6E-C20B-6323-E02758FCAE6A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2536823"/>
            <a:ext cx="16192500" cy="1616077"/>
          </a:xfrm>
        </p:spPr>
        <p:txBody>
          <a:bodyPr/>
          <a:lstStyle/>
          <a:p>
            <a:pPr marL="0" indent="0">
              <a:buNone/>
            </a:pPr>
            <a:r>
              <a:rPr lang="en-US" altLang="en-US" sz="4400" dirty="0"/>
              <a:t>Data security and encryption is essential, whether the data is at rest, in transit, or in use.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B52F98-CF06-1051-73E9-60544F5E5BD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4AFC05AE-A2D5-40C9-DF91-E4F8D3B3F7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60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Transport/Communication</a:t>
            </a:r>
            <a:endParaRPr lang="en-US" i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AF2A202-8A41-83C7-D752-539BD7CF4E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3089" y="3895852"/>
            <a:ext cx="10661821" cy="4476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2782707"/>
      </p:ext>
    </p:extLst>
  </p:cSld>
  <p:clrMapOvr>
    <a:masterClrMapping/>
  </p:clrMapOvr>
</p:sld>
</file>

<file path=ppt/slides/slide2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B38D31-6222-775F-D106-CE6058E265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21E4831-BDE7-CC6E-A6A3-FC56EA127B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Slide </a:t>
            </a:r>
            <a:fld id="{4CA2B2DB-B91D-4166-98BF-65A0DA7EEE6D}" type="slidenum">
              <a:rPr kumimoji="0" lang="en-US" sz="1800" b="0" i="1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229</a:t>
            </a:fld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3E506F-FE41-BED5-1A18-7042722D48FE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2536823"/>
            <a:ext cx="16192500" cy="6416677"/>
          </a:xfrm>
        </p:spPr>
        <p:txBody>
          <a:bodyPr/>
          <a:lstStyle/>
          <a:p>
            <a:pPr marL="0" indent="0">
              <a:spcBef>
                <a:spcPts val="900"/>
              </a:spcBef>
              <a:buNone/>
            </a:pPr>
            <a:r>
              <a:rPr lang="en-US" altLang="en-US" sz="3600" b="1" dirty="0"/>
              <a:t>Email security</a:t>
            </a:r>
            <a:r>
              <a:rPr lang="en-US" altLang="en-US" sz="3600" dirty="0"/>
              <a:t> involves measures used to secure the access and content of email accounts or services.</a:t>
            </a:r>
          </a:p>
          <a:p>
            <a:pPr>
              <a:spcBef>
                <a:spcPts val="900"/>
              </a:spcBef>
            </a:pPr>
            <a:r>
              <a:rPr lang="en-US" altLang="en-US" b="1" dirty="0"/>
              <a:t>Domain-Based Message Authentication, Reporting and Conformance (DMARC) </a:t>
            </a:r>
            <a:r>
              <a:rPr lang="en-US" altLang="en-US" dirty="0"/>
              <a:t>helps receivers verify the authenticity of emails from specific domains </a:t>
            </a:r>
          </a:p>
          <a:p>
            <a:pPr>
              <a:spcBef>
                <a:spcPts val="900"/>
              </a:spcBef>
            </a:pPr>
            <a:r>
              <a:rPr lang="en-US" altLang="en-US" b="1" dirty="0"/>
              <a:t>DMARC process</a:t>
            </a:r>
            <a:endParaRPr lang="en-US" altLang="en-US" dirty="0"/>
          </a:p>
          <a:p>
            <a:pPr lvl="1">
              <a:spcBef>
                <a:spcPts val="900"/>
              </a:spcBef>
            </a:pPr>
            <a:r>
              <a:rPr lang="en-US" altLang="en-US" dirty="0"/>
              <a:t>	SPF check</a:t>
            </a:r>
          </a:p>
          <a:p>
            <a:pPr lvl="1">
              <a:spcBef>
                <a:spcPts val="900"/>
              </a:spcBef>
            </a:pPr>
            <a:r>
              <a:rPr lang="en-US" altLang="en-US" dirty="0"/>
              <a:t>	DKIM check</a:t>
            </a:r>
          </a:p>
          <a:p>
            <a:pPr lvl="1">
              <a:spcBef>
                <a:spcPts val="900"/>
              </a:spcBef>
            </a:pPr>
            <a:r>
              <a:rPr lang="en-US" altLang="en-US" dirty="0"/>
              <a:t>	DMARC policy retrieval</a:t>
            </a:r>
          </a:p>
          <a:p>
            <a:pPr lvl="1">
              <a:spcBef>
                <a:spcPts val="900"/>
              </a:spcBef>
            </a:pPr>
            <a:r>
              <a:rPr lang="en-US" altLang="en-US" dirty="0"/>
              <a:t>	Policy enforcement</a:t>
            </a:r>
          </a:p>
          <a:p>
            <a:pPr lvl="1">
              <a:spcBef>
                <a:spcPts val="900"/>
              </a:spcBef>
            </a:pPr>
            <a:r>
              <a:rPr lang="en-US" altLang="en-US" dirty="0"/>
              <a:t>	Reporting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EEC8F04-A194-D0E8-53B5-BAC4C1BADEF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40BFFDE6-16B0-9794-AEFC-0C9C0FEF98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60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Email Security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4265992888"/>
      </p:ext>
    </p:extLst>
  </p:cSld>
  <p:clrMapOvr>
    <a:masterClrMapping/>
  </p:clrMapOvr>
</p:sld>
</file>

<file path=ppt/slides/slide2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15194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2B654E3-00BD-5B96-E442-0CD705588D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4B9A58B3-4075-1D3B-5CB5-C9E876854BBF}"/>
              </a:ext>
            </a:extLst>
          </p:cNvPr>
          <p:cNvGrpSpPr/>
          <p:nvPr/>
        </p:nvGrpSpPr>
        <p:grpSpPr>
          <a:xfrm rot="-5400000">
            <a:off x="12015831" y="4014831"/>
            <a:ext cx="10287000" cy="2257339"/>
            <a:chOff x="0" y="0"/>
            <a:chExt cx="2709333" cy="59452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579E02E0-8E3B-AD31-CA32-79A75DD3B99A}"/>
                </a:ext>
              </a:extLst>
            </p:cNvPr>
            <p:cNvSpPr/>
            <p:nvPr/>
          </p:nvSpPr>
          <p:spPr>
            <a:xfrm>
              <a:off x="0" y="0"/>
              <a:ext cx="2709333" cy="594525"/>
            </a:xfrm>
            <a:custGeom>
              <a:avLst/>
              <a:gdLst/>
              <a:ahLst/>
              <a:cxnLst/>
              <a:rect l="l" t="t" r="r" b="b"/>
              <a:pathLst>
                <a:path w="2709333" h="594525">
                  <a:moveTo>
                    <a:pt x="0" y="0"/>
                  </a:moveTo>
                  <a:lnTo>
                    <a:pt x="2709333" y="0"/>
                  </a:lnTo>
                  <a:lnTo>
                    <a:pt x="2709333" y="594525"/>
                  </a:lnTo>
                  <a:lnTo>
                    <a:pt x="0" y="594525"/>
                  </a:lnTo>
                  <a:close/>
                </a:path>
              </a:pathLst>
            </a:custGeom>
            <a:solidFill>
              <a:srgbClr val="0283FD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22CDDA50-A032-460D-F96C-55C78A8935BF}"/>
                </a:ext>
              </a:extLst>
            </p:cNvPr>
            <p:cNvSpPr txBox="1"/>
            <p:nvPr/>
          </p:nvSpPr>
          <p:spPr>
            <a:xfrm>
              <a:off x="0" y="-66675"/>
              <a:ext cx="2709333" cy="6612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3024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66A37597-EC5D-B972-D7EB-C5678865C739}"/>
              </a:ext>
            </a:extLst>
          </p:cNvPr>
          <p:cNvGrpSpPr/>
          <p:nvPr/>
        </p:nvGrpSpPr>
        <p:grpSpPr>
          <a:xfrm>
            <a:off x="179467" y="6643814"/>
            <a:ext cx="8126333" cy="3488267"/>
            <a:chOff x="0" y="0"/>
            <a:chExt cx="844714" cy="36259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4F0E3E7B-4E02-D32D-1023-25C8C2578EBE}"/>
                </a:ext>
              </a:extLst>
            </p:cNvPr>
            <p:cNvSpPr/>
            <p:nvPr/>
          </p:nvSpPr>
          <p:spPr>
            <a:xfrm>
              <a:off x="0" y="0"/>
              <a:ext cx="844714" cy="362598"/>
            </a:xfrm>
            <a:custGeom>
              <a:avLst/>
              <a:gdLst/>
              <a:ahLst/>
              <a:cxnLst/>
              <a:rect l="l" t="t" r="r" b="b"/>
              <a:pathLst>
                <a:path w="844714" h="362598">
                  <a:moveTo>
                    <a:pt x="203200" y="0"/>
                  </a:moveTo>
                  <a:lnTo>
                    <a:pt x="844714" y="0"/>
                  </a:lnTo>
                  <a:lnTo>
                    <a:pt x="641514" y="362598"/>
                  </a:lnTo>
                  <a:lnTo>
                    <a:pt x="0" y="362598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283FD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C0C6A234-6ED7-5E72-1801-4FEFF8C01697}"/>
                </a:ext>
              </a:extLst>
            </p:cNvPr>
            <p:cNvSpPr txBox="1"/>
            <p:nvPr/>
          </p:nvSpPr>
          <p:spPr>
            <a:xfrm>
              <a:off x="101600" y="-28575"/>
              <a:ext cx="641514" cy="391173"/>
            </a:xfrm>
            <a:prstGeom prst="rect">
              <a:avLst/>
            </a:prstGeom>
          </p:spPr>
          <p:txBody>
            <a:bodyPr lIns="47790" tIns="47790" rIns="47790" bIns="4779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1843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73B30180-5717-1B7F-DD36-92C95264CE5C}"/>
              </a:ext>
            </a:extLst>
          </p:cNvPr>
          <p:cNvGrpSpPr/>
          <p:nvPr/>
        </p:nvGrpSpPr>
        <p:grpSpPr>
          <a:xfrm>
            <a:off x="-73552" y="7047924"/>
            <a:ext cx="16030661" cy="3336996"/>
            <a:chOff x="0" y="0"/>
            <a:chExt cx="6165409" cy="1271237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2E67D696-47A1-0E63-4A1C-C60A1F878CE3}"/>
                </a:ext>
              </a:extLst>
            </p:cNvPr>
            <p:cNvSpPr/>
            <p:nvPr/>
          </p:nvSpPr>
          <p:spPr>
            <a:xfrm>
              <a:off x="0" y="0"/>
              <a:ext cx="6165409" cy="1271237"/>
            </a:xfrm>
            <a:custGeom>
              <a:avLst/>
              <a:gdLst/>
              <a:ahLst/>
              <a:cxnLst/>
              <a:rect l="l" t="t" r="r" b="b"/>
              <a:pathLst>
                <a:path w="6165409" h="1271237">
                  <a:moveTo>
                    <a:pt x="0" y="0"/>
                  </a:moveTo>
                  <a:lnTo>
                    <a:pt x="6165409" y="0"/>
                  </a:lnTo>
                  <a:lnTo>
                    <a:pt x="6165409" y="1271237"/>
                  </a:lnTo>
                  <a:lnTo>
                    <a:pt x="0" y="127123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10263755-F79D-375F-DACE-548D1C8EB016}"/>
                </a:ext>
              </a:extLst>
            </p:cNvPr>
            <p:cNvSpPr txBox="1"/>
            <p:nvPr/>
          </p:nvSpPr>
          <p:spPr>
            <a:xfrm>
              <a:off x="0" y="-28575"/>
              <a:ext cx="6165409" cy="1299812"/>
            </a:xfrm>
            <a:prstGeom prst="rect">
              <a:avLst/>
            </a:prstGeom>
          </p:spPr>
          <p:txBody>
            <a:bodyPr lIns="47790" tIns="47790" rIns="47790" bIns="4779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1843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sp>
        <p:nvSpPr>
          <p:cNvPr id="12" name="TextBox 12">
            <a:extLst>
              <a:ext uri="{FF2B5EF4-FFF2-40B4-BE49-F238E27FC236}">
                <a16:creationId xmlns:a16="http://schemas.microsoft.com/office/drawing/2014/main" id="{BAACC87C-A38C-74E2-4C36-B0F164377888}"/>
              </a:ext>
            </a:extLst>
          </p:cNvPr>
          <p:cNvSpPr txBox="1"/>
          <p:nvPr/>
        </p:nvSpPr>
        <p:spPr>
          <a:xfrm>
            <a:off x="1111666" y="3432993"/>
            <a:ext cx="14771892" cy="598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4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Day 3 – Block 6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7816E423-778E-6574-B261-9B5271CF4DC8}"/>
              </a:ext>
            </a:extLst>
          </p:cNvPr>
          <p:cNvSpPr txBox="1"/>
          <p:nvPr/>
        </p:nvSpPr>
        <p:spPr>
          <a:xfrm>
            <a:off x="1111666" y="9653992"/>
            <a:ext cx="12263263" cy="3619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0" i="0" u="none" strike="noStrike" kern="1200" cap="none" spc="0" normalizeH="0" baseline="0" noProof="0">
                <a:ln>
                  <a:noFill/>
                </a:ln>
                <a:solidFill>
                  <a:srgbClr val="252525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CALIFORNIA INSTITUTE OF APPLIED TECHNOLOGY</a:t>
            </a:r>
          </a:p>
        </p:txBody>
      </p:sp>
      <p:sp>
        <p:nvSpPr>
          <p:cNvPr id="15" name="AutoShape 15">
            <a:extLst>
              <a:ext uri="{FF2B5EF4-FFF2-40B4-BE49-F238E27FC236}">
                <a16:creationId xmlns:a16="http://schemas.microsoft.com/office/drawing/2014/main" id="{2BDFF504-55CD-87A9-9C44-7B3B01D65A07}"/>
              </a:ext>
            </a:extLst>
          </p:cNvPr>
          <p:cNvSpPr/>
          <p:nvPr/>
        </p:nvSpPr>
        <p:spPr>
          <a:xfrm>
            <a:off x="8010568" y="9858838"/>
            <a:ext cx="7625672" cy="0"/>
          </a:xfrm>
          <a:prstGeom prst="line">
            <a:avLst/>
          </a:prstGeom>
          <a:ln w="19050" cap="flat">
            <a:solidFill>
              <a:srgbClr val="0283F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7" name="Freeform 5">
            <a:extLst>
              <a:ext uri="{FF2B5EF4-FFF2-40B4-BE49-F238E27FC236}">
                <a16:creationId xmlns:a16="http://schemas.microsoft.com/office/drawing/2014/main" id="{52C1C4B6-9A0F-38E1-4125-F388BDA648B6}"/>
              </a:ext>
            </a:extLst>
          </p:cNvPr>
          <p:cNvSpPr/>
          <p:nvPr/>
        </p:nvSpPr>
        <p:spPr>
          <a:xfrm>
            <a:off x="1111666" y="355081"/>
            <a:ext cx="4247850" cy="631936"/>
          </a:xfrm>
          <a:custGeom>
            <a:avLst/>
            <a:gdLst/>
            <a:ahLst/>
            <a:cxnLst/>
            <a:rect l="l" t="t" r="r" b="b"/>
            <a:pathLst>
              <a:path w="4247850" h="631936">
                <a:moveTo>
                  <a:pt x="0" y="0"/>
                </a:moveTo>
                <a:lnTo>
                  <a:pt x="4247850" y="0"/>
                </a:lnTo>
                <a:lnTo>
                  <a:pt x="4247850" y="631935"/>
                </a:lnTo>
                <a:lnTo>
                  <a:pt x="0" y="63193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5" r="-5"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5DA7144-C559-D8B8-4856-1089C9CF7C9B}"/>
              </a:ext>
            </a:extLst>
          </p:cNvPr>
          <p:cNvSpPr txBox="1"/>
          <p:nvPr/>
        </p:nvSpPr>
        <p:spPr>
          <a:xfrm>
            <a:off x="1111666" y="7106062"/>
            <a:ext cx="9480134" cy="21852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2000" dirty="0"/>
              <a:t>Application Security</a:t>
            </a:r>
          </a:p>
          <a:p>
            <a:pPr lvl="1"/>
            <a:r>
              <a:rPr lang="en-US" altLang="en-US" sz="1600" dirty="0"/>
              <a:t>SAST</a:t>
            </a:r>
          </a:p>
          <a:p>
            <a:pPr lvl="1"/>
            <a:r>
              <a:rPr lang="en-US" altLang="en-US" sz="1600" dirty="0"/>
              <a:t>DAST</a:t>
            </a:r>
          </a:p>
          <a:p>
            <a:pPr lvl="1"/>
            <a:r>
              <a:rPr lang="en-US" altLang="en-US" sz="1600" dirty="0"/>
              <a:t>Code Review</a:t>
            </a:r>
          </a:p>
          <a:p>
            <a:pPr lvl="1"/>
            <a:r>
              <a:rPr lang="en-US" altLang="en-US" sz="1600" dirty="0"/>
              <a:t>Secure SDLC</a:t>
            </a:r>
          </a:p>
          <a:p>
            <a:pPr lvl="1"/>
            <a:r>
              <a:rPr lang="en-US" altLang="en-US" sz="1600" dirty="0" err="1"/>
              <a:t>DevSecOps</a:t>
            </a:r>
            <a:endParaRPr lang="en-US" altLang="en-US" sz="1600" dirty="0"/>
          </a:p>
          <a:p>
            <a:r>
              <a:rPr lang="en-US" altLang="en-US" sz="2000" dirty="0"/>
              <a:t>uCertify Lab</a:t>
            </a:r>
          </a:p>
          <a:p>
            <a:pPr lvl="1"/>
            <a:r>
              <a:rPr lang="en-US" altLang="en-US" sz="1600" dirty="0"/>
              <a:t>7.1.3 Examining Application Vulnerabilities</a:t>
            </a:r>
          </a:p>
        </p:txBody>
      </p:sp>
    </p:spTree>
    <p:extLst>
      <p:ext uri="{BB962C8B-B14F-4D97-AF65-F5344CB8AC3E}">
        <p14:creationId xmlns:p14="http://schemas.microsoft.com/office/powerpoint/2010/main" val="3832837743"/>
      </p:ext>
    </p:extLst>
  </p:cSld>
  <p:clrMapOvr>
    <a:masterClrMapping/>
  </p:clrMapOvr>
</p:sld>
</file>

<file path=ppt/slides/slide2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FBA819-98C3-61EC-E3B7-720D46CAF2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36390AB-7D96-90DC-48F7-2CA8038140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Slide </a:t>
            </a:r>
            <a:fld id="{4CA2B2DB-B91D-4166-98BF-65A0DA7EEE6D}" type="slidenum">
              <a:rPr kumimoji="0" lang="en-US" sz="1800" b="0" i="1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231</a:t>
            </a:fld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AFB0E1-29A5-CF09-C6AC-2A738EBC993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2536823"/>
            <a:ext cx="16192500" cy="6416677"/>
          </a:xfrm>
        </p:spPr>
        <p:txBody>
          <a:bodyPr/>
          <a:lstStyle/>
          <a:p>
            <a:pPr marL="0" indent="0">
              <a:spcBef>
                <a:spcPts val="900"/>
              </a:spcBef>
              <a:buNone/>
            </a:pPr>
            <a:r>
              <a:rPr lang="en-US" altLang="en-US" sz="3900" b="1" dirty="0"/>
              <a:t>Application security </a:t>
            </a:r>
            <a:r>
              <a:rPr lang="en-US" altLang="en-US" sz="3900" dirty="0"/>
              <a:t>refers to the security measures implemented at the application level.</a:t>
            </a:r>
          </a:p>
          <a:p>
            <a:pPr>
              <a:spcBef>
                <a:spcPts val="900"/>
              </a:spcBef>
            </a:pPr>
            <a:r>
              <a:rPr lang="en-US" altLang="en-US" sz="3600" b="1" dirty="0"/>
              <a:t>Input validation</a:t>
            </a:r>
            <a:r>
              <a:rPr lang="en-US" altLang="en-US" sz="3600" dirty="0"/>
              <a:t> ensures data integrity by verifying the type and content of user or application input, preventing vulnerabilities like XSS and SQLi.</a:t>
            </a:r>
          </a:p>
          <a:p>
            <a:pPr>
              <a:spcBef>
                <a:spcPts val="900"/>
              </a:spcBef>
            </a:pPr>
            <a:r>
              <a:rPr lang="en-US" altLang="en-US" sz="3600" b="1" dirty="0"/>
              <a:t>Secure cookies </a:t>
            </a:r>
            <a:r>
              <a:rPr lang="en-US" altLang="en-US" sz="3600" dirty="0"/>
              <a:t>implement the secure attribute in HTTP response cookies to prevent unauthorized access and transmission of sensitive information.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D52F259-9B17-4206-6B17-52C7FD6221F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2EC75D68-DB52-30DB-66E5-5F28870AAA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60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Application Security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2785547239"/>
      </p:ext>
    </p:extLst>
  </p:cSld>
  <p:clrMapOvr>
    <a:masterClrMapping/>
  </p:clrMapOvr>
</p:sld>
</file>

<file path=ppt/slides/slide2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A63992-5489-51D9-28FC-8077C02E93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28A2D11-AD91-83A0-EFFC-B1207917A8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Slide </a:t>
            </a:r>
            <a:fld id="{4CA2B2DB-B91D-4166-98BF-65A0DA7EEE6D}" type="slidenum">
              <a:rPr kumimoji="0" lang="en-US" sz="1800" b="0" i="1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232</a:t>
            </a:fld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364481-5FCB-748F-0DA8-065CA0F286D6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2536823"/>
            <a:ext cx="16192500" cy="6416677"/>
          </a:xfrm>
        </p:spPr>
        <p:txBody>
          <a:bodyPr/>
          <a:lstStyle/>
          <a:p>
            <a:pPr>
              <a:spcBef>
                <a:spcPts val="900"/>
              </a:spcBef>
            </a:pPr>
            <a:r>
              <a:rPr lang="en-US" altLang="en-US" b="1" dirty="0"/>
              <a:t>Static Application Security Testing (SAST)</a:t>
            </a:r>
            <a:r>
              <a:rPr lang="en-US" altLang="en-US" dirty="0"/>
              <a:t>: Analyze source code or binaries without executing the program</a:t>
            </a:r>
          </a:p>
          <a:p>
            <a:pPr>
              <a:spcBef>
                <a:spcPts val="900"/>
              </a:spcBef>
            </a:pPr>
            <a:r>
              <a:rPr lang="en-US" altLang="en-US" b="1" dirty="0"/>
              <a:t>Dynamic Application Security Testing (DAST)</a:t>
            </a:r>
            <a:r>
              <a:rPr lang="en-US" altLang="en-US" dirty="0"/>
              <a:t>: Test applications while running to find vulnerabilities not visible in the code</a:t>
            </a:r>
          </a:p>
          <a:p>
            <a:pPr>
              <a:spcBef>
                <a:spcPts val="900"/>
              </a:spcBef>
            </a:pPr>
            <a:r>
              <a:rPr lang="en-US" altLang="en-US" b="1" dirty="0"/>
              <a:t>Interactive Application Security Testing (IAST)</a:t>
            </a:r>
            <a:r>
              <a:rPr lang="en-US" altLang="en-US" dirty="0"/>
              <a:t>: Combine SAST and DAST for comprehensive analysis</a:t>
            </a:r>
          </a:p>
          <a:p>
            <a:pPr>
              <a:spcBef>
                <a:spcPts val="900"/>
              </a:spcBef>
            </a:pPr>
            <a:r>
              <a:rPr lang="en-US" altLang="en-US" b="1" dirty="0"/>
              <a:t>Threat intelligence platforms (TIPs)</a:t>
            </a:r>
            <a:r>
              <a:rPr lang="en-US" altLang="en-US" dirty="0"/>
              <a:t>:</a:t>
            </a:r>
            <a:r>
              <a:rPr lang="en-US" altLang="en-US" b="1" dirty="0"/>
              <a:t> </a:t>
            </a:r>
            <a:r>
              <a:rPr lang="en-US" altLang="en-US" dirty="0"/>
              <a:t>Gather data from various sources to provide threat insights</a:t>
            </a:r>
          </a:p>
          <a:p>
            <a:pPr>
              <a:spcBef>
                <a:spcPts val="900"/>
              </a:spcBef>
            </a:pPr>
            <a:r>
              <a:rPr lang="en-US" altLang="en-US" b="1" dirty="0"/>
              <a:t>Security information and event management (SIEM) systems</a:t>
            </a:r>
            <a:r>
              <a:rPr lang="en-US" altLang="en-US" dirty="0"/>
              <a:t>: Provide real-time analysis of security alerts generated by network hardware and applications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64A59E-28E9-BE10-FC05-9D29D3DFA40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B22EF9A8-621F-93B2-CDA7-58FE9273DB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60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Vulnerability Scan Tools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1015050223"/>
      </p:ext>
    </p:extLst>
  </p:cSld>
  <p:clrMapOvr>
    <a:masterClrMapping/>
  </p:clrMapOvr>
</p:sld>
</file>

<file path=ppt/slides/slide2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61E810-7D67-BA60-30D1-E3433E6A16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24E38B9-2FA9-EDFB-53C4-7A23007350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Slide </a:t>
            </a:r>
            <a:fld id="{4CA2B2DB-B91D-4166-98BF-65A0DA7EEE6D}" type="slidenum">
              <a:rPr kumimoji="0" lang="en-US" sz="1800" b="0" i="1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233</a:t>
            </a:fld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2E0F7C-DE5D-6558-FDF2-AA8C0FA54718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2536823"/>
            <a:ext cx="16192500" cy="6416677"/>
          </a:xfrm>
        </p:spPr>
        <p:txBody>
          <a:bodyPr/>
          <a:lstStyle/>
          <a:p>
            <a:pPr marL="0" indent="0">
              <a:spcBef>
                <a:spcPts val="900"/>
              </a:spcBef>
              <a:buNone/>
            </a:pPr>
            <a:r>
              <a:rPr lang="en-US" altLang="en-US" sz="3600" b="1" dirty="0"/>
              <a:t>Application security: </a:t>
            </a:r>
            <a:r>
              <a:rPr lang="en-US" altLang="en-US" sz="3600" dirty="0"/>
              <a:t>Identifying and mitigating vulnerabilities in software applications</a:t>
            </a:r>
          </a:p>
          <a:p>
            <a:pPr>
              <a:spcBef>
                <a:spcPts val="900"/>
              </a:spcBef>
            </a:pPr>
            <a:r>
              <a:rPr lang="en-US" altLang="en-US" b="1" dirty="0"/>
              <a:t>Static analysis (SAST) </a:t>
            </a:r>
            <a:r>
              <a:rPr lang="en-US" altLang="en-US" dirty="0"/>
              <a:t>examines source code or binaries without execution, enabling early identification and resolution of security flaws</a:t>
            </a:r>
          </a:p>
          <a:p>
            <a:pPr>
              <a:spcBef>
                <a:spcPts val="900"/>
              </a:spcBef>
            </a:pPr>
            <a:r>
              <a:rPr lang="en-US" altLang="en-US" b="1" dirty="0"/>
              <a:t>Dynamic analysis (DAST) </a:t>
            </a:r>
            <a:r>
              <a:rPr lang="en-US" altLang="en-US" dirty="0"/>
              <a:t>tests applications during operation, simulating attacks to uncover vulnerabilities that static analysis might miss</a:t>
            </a:r>
          </a:p>
          <a:p>
            <a:pPr>
              <a:spcBef>
                <a:spcPts val="900"/>
              </a:spcBef>
            </a:pPr>
            <a:r>
              <a:rPr lang="en-US" altLang="en-US" b="1" dirty="0"/>
              <a:t>Package monitoring</a:t>
            </a:r>
            <a:r>
              <a:rPr lang="en-US" altLang="en-US" dirty="0"/>
              <a:t> continuously surveilles third-party software packages and libraries for security vulnerabilities.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C6A73BC-30A8-F428-ABB0-BA165330D8F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BE811500-4D78-2BDD-B1E5-9D7728DECA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60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Application Security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1575453453"/>
      </p:ext>
    </p:extLst>
  </p:cSld>
  <p:clrMapOvr>
    <a:masterClrMapping/>
  </p:clrMapOvr>
</p:sld>
</file>

<file path=ppt/slides/slide2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6B1254-943E-6EA0-D0F4-1817D308BB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DE1C099-662C-DA8F-B0BA-530ACBDEC4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Slide </a:t>
            </a:r>
            <a:fld id="{4CA2B2DB-B91D-4166-98BF-65A0DA7EEE6D}" type="slidenum">
              <a:rPr kumimoji="0" lang="en-US" sz="1800" b="0" i="1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234</a:t>
            </a:fld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520825-D3DB-CF5F-6F53-13C75A0600DC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2536823"/>
            <a:ext cx="16192500" cy="6416677"/>
          </a:xfrm>
        </p:spPr>
        <p:txBody>
          <a:bodyPr/>
          <a:lstStyle/>
          <a:p>
            <a:pPr marL="0" indent="0">
              <a:spcBef>
                <a:spcPts val="900"/>
              </a:spcBef>
              <a:buNone/>
            </a:pPr>
            <a:r>
              <a:rPr lang="en-US" altLang="en-US" sz="3900" b="1" dirty="0"/>
              <a:t>Static code analysis</a:t>
            </a:r>
            <a:r>
              <a:rPr lang="en-US" altLang="en-US" sz="3900" dirty="0"/>
              <a:t> uses SAST tools to scan source code for vulnerabilities early in the development lifecycle.</a:t>
            </a:r>
          </a:p>
          <a:p>
            <a:pPr lvl="1">
              <a:spcBef>
                <a:spcPts val="900"/>
              </a:spcBef>
            </a:pPr>
            <a:r>
              <a:rPr lang="en-US" altLang="en-US" sz="3600" dirty="0"/>
              <a:t>Provides real-time feedback to developers </a:t>
            </a:r>
          </a:p>
          <a:p>
            <a:pPr lvl="1">
              <a:spcBef>
                <a:spcPts val="900"/>
              </a:spcBef>
            </a:pPr>
            <a:r>
              <a:rPr lang="en-US" altLang="en-US" sz="3600" dirty="0"/>
              <a:t>Enables prompt issue resolution</a:t>
            </a:r>
          </a:p>
          <a:p>
            <a:pPr marL="0" indent="0">
              <a:spcBef>
                <a:spcPts val="900"/>
              </a:spcBef>
              <a:buNone/>
            </a:pPr>
            <a:endParaRPr lang="en-US" altLang="en-US" sz="3900" b="1" dirty="0"/>
          </a:p>
          <a:p>
            <a:pPr marL="0" indent="0">
              <a:spcBef>
                <a:spcPts val="900"/>
              </a:spcBef>
              <a:buNone/>
            </a:pPr>
            <a:r>
              <a:rPr lang="en-US" altLang="en-US" sz="3900" b="1" dirty="0"/>
              <a:t>Code signing</a:t>
            </a:r>
            <a:r>
              <a:rPr lang="en-US" altLang="en-US" sz="3900" dirty="0"/>
              <a:t> digitally signs executables and scripts to verify authenticity and integrity.</a:t>
            </a:r>
          </a:p>
          <a:p>
            <a:pPr lvl="1">
              <a:spcBef>
                <a:spcPts val="900"/>
              </a:spcBef>
            </a:pPr>
            <a:r>
              <a:rPr lang="en-US" altLang="en-US" sz="3600" dirty="0"/>
              <a:t>Ensures software has not been altered or corrupted </a:t>
            </a:r>
          </a:p>
          <a:p>
            <a:pPr lvl="1">
              <a:spcBef>
                <a:spcPts val="900"/>
              </a:spcBef>
            </a:pPr>
            <a:r>
              <a:rPr lang="en-US" altLang="en-US" sz="3600" dirty="0"/>
              <a:t>Prevents malicious tampering during transmission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1ED1272-D9C0-A9E1-9DA4-354B814E379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3071B20-8F71-68AF-CE0D-5868431587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60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Application Security </a:t>
            </a:r>
            <a:r>
              <a:rPr kumimoji="0" lang="en-US" sz="6000" b="0" i="1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(cont.)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2478013457"/>
      </p:ext>
    </p:extLst>
  </p:cSld>
  <p:clrMapOvr>
    <a:masterClrMapping/>
  </p:clrMapOvr>
</p:sld>
</file>

<file path=ppt/slides/slide2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1FF85F-D4E4-9FE0-8457-B31AEEBB93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B803365-C66E-78BE-D68D-D72ED855A1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Slide </a:t>
            </a:r>
            <a:fld id="{4CA2B2DB-B91D-4166-98BF-65A0DA7EEE6D}" type="slidenum">
              <a:rPr kumimoji="0" lang="en-US" sz="1800" b="0" i="1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235</a:t>
            </a:fld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9DBD70-3FAF-7FB5-7739-8A7423982EF6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2536823"/>
            <a:ext cx="16192500" cy="6416677"/>
          </a:xfrm>
        </p:spPr>
        <p:txBody>
          <a:bodyPr/>
          <a:lstStyle/>
          <a:p>
            <a:pPr marL="0" indent="0">
              <a:spcBef>
                <a:spcPts val="900"/>
              </a:spcBef>
              <a:buNone/>
            </a:pPr>
            <a:r>
              <a:rPr lang="en-US" altLang="en-US" sz="4400" b="1" dirty="0"/>
              <a:t>Sandboxing</a:t>
            </a:r>
            <a:r>
              <a:rPr lang="en-US" altLang="en-US" sz="4400" dirty="0"/>
              <a:t> creates a confined execution environment for running untrusted or suspicious code safely.</a:t>
            </a:r>
          </a:p>
          <a:p>
            <a:pPr>
              <a:spcBef>
                <a:spcPts val="900"/>
              </a:spcBef>
            </a:pPr>
            <a:r>
              <a:rPr lang="en-US" altLang="en-US" sz="4000" dirty="0"/>
              <a:t>Adds an additional layer of security</a:t>
            </a:r>
          </a:p>
          <a:p>
            <a:pPr>
              <a:spcBef>
                <a:spcPts val="900"/>
              </a:spcBef>
            </a:pPr>
            <a:r>
              <a:rPr lang="en-US" altLang="en-US" sz="4000" dirty="0"/>
              <a:t>Reduces the risk of malware infection via email attachments while maintaining workflow efficiency for employees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A6994DC-8AE4-D22E-C142-B9529D1857C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A22B616F-027B-4D6E-A8A5-30D49146C7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60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Sandboxing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3980774976"/>
      </p:ext>
    </p:extLst>
  </p:cSld>
  <p:clrMapOvr>
    <a:masterClrMapping/>
  </p:clrMapOvr>
</p:sld>
</file>

<file path=ppt/slides/slide2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0B3BB1-6B28-119C-1159-C16A11C147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82AB6DA-3047-9509-B824-F35DE48B8D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Slide </a:t>
            </a:r>
            <a:fld id="{4CA2B2DB-B91D-4166-98BF-65A0DA7EEE6D}" type="slidenum">
              <a:rPr kumimoji="0" lang="en-US" sz="1800" b="0" i="1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236</a:t>
            </a:fld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D1D14D-17BE-4189-A50D-68ACCC90D23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2536823"/>
            <a:ext cx="16192500" cy="6416677"/>
          </a:xfrm>
        </p:spPr>
        <p:txBody>
          <a:bodyPr/>
          <a:lstStyle/>
          <a:p>
            <a:pPr marL="0" indent="0">
              <a:spcBef>
                <a:spcPts val="900"/>
              </a:spcBef>
              <a:buNone/>
            </a:pPr>
            <a:r>
              <a:rPr lang="en-US" altLang="en-US" sz="4000" dirty="0"/>
              <a:t>The </a:t>
            </a:r>
            <a:r>
              <a:rPr lang="en-US" altLang="en-US" sz="4000" b="1" dirty="0"/>
              <a:t>application layer </a:t>
            </a:r>
            <a:r>
              <a:rPr lang="en-US" altLang="en-US" sz="4000" dirty="0"/>
              <a:t>is a gateway to user interactions and data, making it a common target of attacks. </a:t>
            </a:r>
            <a:r>
              <a:rPr lang="en-US" altLang="en-US" sz="3600" dirty="0"/>
              <a:t> </a:t>
            </a:r>
          </a:p>
          <a:p>
            <a:pPr>
              <a:spcBef>
                <a:spcPts val="900"/>
              </a:spcBef>
            </a:pPr>
            <a:r>
              <a:rPr lang="en-US" altLang="en-US" sz="3600" b="1" dirty="0"/>
              <a:t>Buffer overflow</a:t>
            </a:r>
            <a:r>
              <a:rPr lang="en-US" altLang="en-US" sz="3600" dirty="0"/>
              <a:t> involves a program writing more data to a buffer than it can hold, introducing vulnerability.</a:t>
            </a:r>
          </a:p>
          <a:p>
            <a:pPr>
              <a:spcBef>
                <a:spcPts val="900"/>
              </a:spcBef>
            </a:pPr>
            <a:r>
              <a:rPr lang="en-US" altLang="en-US" sz="3600" b="1" dirty="0"/>
              <a:t>Memory injection </a:t>
            </a:r>
            <a:r>
              <a:rPr lang="en-US" altLang="en-US" sz="3600" dirty="0"/>
              <a:t>involves injecting malicious code into a system's memory. </a:t>
            </a:r>
          </a:p>
          <a:p>
            <a:pPr>
              <a:spcBef>
                <a:spcPts val="900"/>
              </a:spcBef>
            </a:pPr>
            <a:r>
              <a:rPr lang="en-US" altLang="en-US" sz="3600" dirty="0"/>
              <a:t>A </a:t>
            </a:r>
            <a:r>
              <a:rPr lang="en-US" altLang="en-US" sz="3600" b="1" dirty="0"/>
              <a:t>race condition </a:t>
            </a:r>
            <a:r>
              <a:rPr lang="en-US" altLang="en-US" sz="3600" dirty="0"/>
              <a:t>weakness occurs when multiple processes or threads try to access a system at once.</a:t>
            </a:r>
          </a:p>
          <a:p>
            <a:pPr>
              <a:spcBef>
                <a:spcPts val="900"/>
              </a:spcBef>
            </a:pPr>
            <a:r>
              <a:rPr lang="en-US" altLang="en-US" sz="3600" dirty="0"/>
              <a:t>A </a:t>
            </a:r>
            <a:r>
              <a:rPr lang="en-US" altLang="en-US" sz="3600" b="1" dirty="0"/>
              <a:t>malicious update </a:t>
            </a:r>
            <a:r>
              <a:rPr lang="en-US" altLang="en-US" sz="3600" dirty="0"/>
              <a:t>involves altering software or firmware with harmful code via an update that appears legitimate. 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6198F49-D627-C356-AB22-3FC15F4166C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E3EFBFC2-043A-193B-2EFA-325D7DDD37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60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Application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3938001570"/>
      </p:ext>
    </p:extLst>
  </p:cSld>
  <p:clrMapOvr>
    <a:masterClrMapping/>
  </p:clrMapOvr>
</p:sld>
</file>

<file path=ppt/slides/slide2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ACE2E6-D2D9-2EAE-1225-9A67813949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471850B-980B-067F-5D71-8156894FE2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Slide </a:t>
            </a:r>
            <a:fld id="{4CA2B2DB-B91D-4166-98BF-65A0DA7EEE6D}" type="slidenum">
              <a:rPr kumimoji="0" lang="en-US" sz="1800" b="0" i="1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237</a:t>
            </a:fld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C8F254-BFC9-F407-4FD6-3317623410B4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2536823"/>
            <a:ext cx="16192500" cy="6416677"/>
          </a:xfrm>
        </p:spPr>
        <p:txBody>
          <a:bodyPr/>
          <a:lstStyle/>
          <a:p>
            <a:pPr marL="0" indent="0">
              <a:spcBef>
                <a:spcPts val="900"/>
              </a:spcBef>
              <a:buNone/>
            </a:pPr>
            <a:r>
              <a:rPr lang="en-US" altLang="en-US" sz="4400" b="1" dirty="0"/>
              <a:t>Integrations</a:t>
            </a:r>
            <a:r>
              <a:rPr lang="en-US" altLang="en-US" sz="4400" dirty="0"/>
              <a:t> </a:t>
            </a:r>
            <a:r>
              <a:rPr lang="en-US" altLang="en-US" sz="4400" b="1" dirty="0"/>
              <a:t>and APIs </a:t>
            </a:r>
            <a:r>
              <a:rPr lang="en-US" altLang="en-US" sz="4400" dirty="0"/>
              <a:t>automate the linking of computing services and software applications to establish coherent systems.</a:t>
            </a:r>
          </a:p>
          <a:p>
            <a:pPr>
              <a:spcBef>
                <a:spcPts val="900"/>
              </a:spcBef>
            </a:pPr>
            <a:r>
              <a:rPr lang="en-US" altLang="en-US" sz="4000" b="1" dirty="0"/>
              <a:t>APIs</a:t>
            </a:r>
            <a:r>
              <a:rPr lang="en-US" altLang="en-US" sz="4000" dirty="0"/>
              <a:t> enable different software entities to seamlessly communicate with each other.</a:t>
            </a:r>
          </a:p>
          <a:p>
            <a:pPr>
              <a:spcBef>
                <a:spcPts val="900"/>
              </a:spcBef>
            </a:pPr>
            <a:r>
              <a:rPr lang="en-US" altLang="en-US" sz="4000" dirty="0"/>
              <a:t>Automation is overall beneficial but requires ongoing maintenance and monitoring for errors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C8D5747-71D0-A184-6530-DD166ABA6A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6DBBFC1-827F-7234-0171-69556F9438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48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Integrations and Application Programming Interfaces APIs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549192567"/>
      </p:ext>
    </p:extLst>
  </p:cSld>
  <p:clrMapOvr>
    <a:masterClrMapping/>
  </p:clrMapOvr>
</p:sld>
</file>

<file path=ppt/slides/slide2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5B4E77-F0DB-0865-762F-FB87CFAD55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3E28FC9-6E03-3806-9D3D-96D1DDFD49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Slide </a:t>
            </a:r>
            <a:fld id="{4CA2B2DB-B91D-4166-98BF-65A0DA7EEE6D}" type="slidenum">
              <a:rPr kumimoji="0" lang="en-US" sz="1800" b="0" i="1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238</a:t>
            </a:fld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4E8F62-02EC-EEEF-EC97-88C96955A8BE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2536823"/>
            <a:ext cx="16192500" cy="6416677"/>
          </a:xfrm>
        </p:spPr>
        <p:txBody>
          <a:bodyPr/>
          <a:lstStyle/>
          <a:p>
            <a:pPr marL="0" indent="0">
              <a:spcBef>
                <a:spcPts val="900"/>
              </a:spcBef>
              <a:buNone/>
            </a:pPr>
            <a:r>
              <a:rPr lang="en-US" altLang="en-US" sz="4400" b="1" dirty="0"/>
              <a:t>Web-based vulnerabilities </a:t>
            </a:r>
            <a:r>
              <a:rPr lang="en-US" altLang="en-US" sz="4400" dirty="0"/>
              <a:t>are weaknesses in web applications and services. </a:t>
            </a:r>
          </a:p>
          <a:p>
            <a:pPr>
              <a:spcBef>
                <a:spcPts val="900"/>
              </a:spcBef>
            </a:pPr>
            <a:r>
              <a:rPr lang="en-US" altLang="en-US" sz="4000" b="1" dirty="0"/>
              <a:t>Structured Query Language injection (SQLi) </a:t>
            </a:r>
            <a:r>
              <a:rPr lang="en-US" altLang="en-US" sz="4000" dirty="0"/>
              <a:t>vulnerabilities are flaws that attackers can use to manipulate SQL queries in web applications.</a:t>
            </a:r>
          </a:p>
          <a:p>
            <a:pPr>
              <a:spcBef>
                <a:spcPts val="900"/>
              </a:spcBef>
            </a:pPr>
            <a:r>
              <a:rPr lang="en-US" altLang="en-US" sz="4000" b="1" dirty="0"/>
              <a:t>Cross-site scripting (XSS) </a:t>
            </a:r>
            <a:r>
              <a:rPr lang="en-US" altLang="en-US" sz="4000" dirty="0"/>
              <a:t>vulnerabilities</a:t>
            </a:r>
            <a:r>
              <a:rPr lang="en-US" altLang="en-US" sz="4000" b="1" dirty="0"/>
              <a:t> </a:t>
            </a:r>
            <a:r>
              <a:rPr lang="en-US" altLang="en-US" sz="4000" dirty="0"/>
              <a:t>enable the injection of malicious scripts into web pages.</a:t>
            </a:r>
            <a:endParaRPr lang="en-US" altLang="en-US" sz="4000" b="1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9A6864F-2494-7A9C-8BC1-421D08FA0D8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86DA5CD-9970-71FA-5274-21D38E3516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60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Web-Based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1316914870"/>
      </p:ext>
    </p:extLst>
  </p:cSld>
  <p:clrMapOvr>
    <a:masterClrMapping/>
  </p:clrMapOvr>
</p:sld>
</file>

<file path=ppt/slides/slide2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22B632-DA8E-4462-F21D-D922DED73E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9986776-CA72-4C1A-5599-06710701A6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Slide </a:t>
            </a:r>
            <a:fld id="{4CA2B2DB-B91D-4166-98BF-65A0DA7EEE6D}" type="slidenum">
              <a:rPr kumimoji="0" lang="en-US" sz="1800" b="0" i="1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239</a:t>
            </a:fld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1FA33B-E697-8F6E-86BD-7AEE58DDCF6F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2536823"/>
            <a:ext cx="16192500" cy="6416677"/>
          </a:xfrm>
        </p:spPr>
        <p:txBody>
          <a:bodyPr/>
          <a:lstStyle/>
          <a:p>
            <a:pPr marL="0" indent="0">
              <a:spcBef>
                <a:spcPts val="600"/>
              </a:spcBef>
              <a:buNone/>
            </a:pPr>
            <a:r>
              <a:rPr lang="en-US" sz="2800" dirty="0">
                <a:solidFill>
                  <a:schemeClr val="tx1">
                    <a:lumMod val="75000"/>
                  </a:schemeClr>
                </a:solidFill>
                <a:latin typeface="Arial" charset="0"/>
              </a:rPr>
              <a:t>The </a:t>
            </a:r>
            <a:r>
              <a:rPr lang="en-US" b="1" dirty="0">
                <a:solidFill>
                  <a:schemeClr val="tx1">
                    <a:lumMod val="75000"/>
                  </a:schemeClr>
                </a:solidFill>
                <a:latin typeface="Arial" charset="0"/>
              </a:rPr>
              <a:t>Secure Software Development Lifecycle (SSDLC)</a:t>
            </a:r>
            <a:r>
              <a:rPr lang="en-US" sz="2800" dirty="0">
                <a:solidFill>
                  <a:schemeClr val="tx1">
                    <a:lumMod val="75000"/>
                  </a:schemeClr>
                </a:solidFill>
                <a:latin typeface="Arial" charset="0"/>
              </a:rPr>
              <a:t> builds security into every development phase.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tx1">
                    <a:lumMod val="75000"/>
                  </a:schemeClr>
                </a:solidFill>
                <a:latin typeface="Arial" charset="0"/>
              </a:rPr>
              <a:t>Steps include:</a:t>
            </a:r>
          </a:p>
          <a:p>
            <a:pPr lvl="0"/>
            <a:r>
              <a:rPr lang="en-US" sz="2400" dirty="0">
                <a:solidFill>
                  <a:schemeClr val="tx1">
                    <a:lumMod val="75000"/>
                  </a:schemeClr>
                </a:solidFill>
                <a:latin typeface="Arial" charset="0"/>
              </a:rPr>
              <a:t>Security requirements and threat modeling during planning</a:t>
            </a:r>
          </a:p>
          <a:p>
            <a:pPr lvl="0"/>
            <a:r>
              <a:rPr lang="en-US" sz="2400" dirty="0">
                <a:solidFill>
                  <a:schemeClr val="tx1">
                    <a:lumMod val="75000"/>
                  </a:schemeClr>
                </a:solidFill>
                <a:latin typeface="Arial" charset="0"/>
              </a:rPr>
              <a:t>Secure coding during development</a:t>
            </a:r>
          </a:p>
          <a:p>
            <a:pPr lvl="0"/>
            <a:r>
              <a:rPr lang="en-US" sz="2400" dirty="0">
                <a:solidFill>
                  <a:schemeClr val="tx1">
                    <a:lumMod val="75000"/>
                  </a:schemeClr>
                </a:solidFill>
                <a:latin typeface="Arial" charset="0"/>
              </a:rPr>
              <a:t>SAST/DAST during testing</a:t>
            </a:r>
          </a:p>
          <a:p>
            <a:pPr lvl="0"/>
            <a:r>
              <a:rPr lang="en-US" sz="2400" dirty="0">
                <a:solidFill>
                  <a:schemeClr val="tx1">
                    <a:lumMod val="75000"/>
                  </a:schemeClr>
                </a:solidFill>
                <a:latin typeface="Arial" charset="0"/>
              </a:rPr>
              <a:t>Code signing and validation before release</a:t>
            </a:r>
          </a:p>
          <a:p>
            <a:pPr lvl="0"/>
            <a:r>
              <a:rPr lang="en-US" sz="2400" dirty="0">
                <a:solidFill>
                  <a:schemeClr val="tx1">
                    <a:lumMod val="75000"/>
                  </a:schemeClr>
                </a:solidFill>
                <a:latin typeface="Arial" charset="0"/>
              </a:rPr>
              <a:t>Monitoring and patching in production</a:t>
            </a:r>
            <a:br>
              <a:rPr lang="en-US" sz="2400" dirty="0">
                <a:solidFill>
                  <a:schemeClr val="tx1">
                    <a:lumMod val="75000"/>
                  </a:schemeClr>
                </a:solidFill>
                <a:latin typeface="Arial" charset="0"/>
              </a:rPr>
            </a:br>
            <a:endParaRPr lang="en-US" sz="2400" dirty="0">
              <a:solidFill>
                <a:schemeClr val="tx1">
                  <a:lumMod val="75000"/>
                </a:schemeClr>
              </a:solidFill>
              <a:latin typeface="Arial" charset="0"/>
            </a:endParaRPr>
          </a:p>
          <a:p>
            <a:pPr marL="0" indent="0">
              <a:buNone/>
            </a:pPr>
            <a:r>
              <a:rPr lang="en-US" b="1" dirty="0" err="1">
                <a:solidFill>
                  <a:schemeClr val="tx1">
                    <a:lumMod val="75000"/>
                  </a:schemeClr>
                </a:solidFill>
                <a:latin typeface="Arial" charset="0"/>
              </a:rPr>
              <a:t>DevSecOps</a:t>
            </a:r>
            <a:r>
              <a:rPr lang="en-US" sz="2800" dirty="0">
                <a:solidFill>
                  <a:schemeClr val="tx1">
                    <a:lumMod val="75000"/>
                  </a:schemeClr>
                </a:solidFill>
                <a:latin typeface="Arial" charset="0"/>
              </a:rPr>
              <a:t> integrates these steps into automated pipelines — often called “shift-left security.”</a:t>
            </a:r>
          </a:p>
          <a:p>
            <a:pPr marL="0" indent="0">
              <a:buNone/>
            </a:pPr>
            <a:br>
              <a:rPr lang="en-US" sz="2400" dirty="0">
                <a:solidFill>
                  <a:schemeClr val="tx1">
                    <a:lumMod val="75000"/>
                  </a:schemeClr>
                </a:solidFill>
                <a:latin typeface="Arial" charset="0"/>
              </a:rPr>
            </a:br>
            <a:r>
              <a:rPr lang="en-US" sz="2400" dirty="0">
                <a:solidFill>
                  <a:schemeClr val="tx1">
                    <a:lumMod val="75000"/>
                  </a:schemeClr>
                </a:solidFill>
                <a:latin typeface="Arial" charset="0"/>
              </a:rPr>
              <a:t> Security tests run early and continuously inside CI/CD systems.</a:t>
            </a:r>
            <a:br>
              <a:rPr lang="en-US" sz="2400" dirty="0">
                <a:solidFill>
                  <a:schemeClr val="tx1">
                    <a:lumMod val="75000"/>
                  </a:schemeClr>
                </a:solidFill>
                <a:latin typeface="Arial" charset="0"/>
              </a:rPr>
            </a:br>
            <a:r>
              <a:rPr lang="en-US" sz="2400" dirty="0">
                <a:solidFill>
                  <a:schemeClr val="tx1">
                    <a:lumMod val="75000"/>
                  </a:schemeClr>
                </a:solidFill>
                <a:latin typeface="Arial" charset="0"/>
              </a:rPr>
              <a:t> It’s about collaboration: developers, operations, and security all share responsibility.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57E25CB-A316-80A9-50F1-3E63C54AB6B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C4A0D5C-7F0E-B880-522F-CF09B1D276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60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Secure SDLC &amp; </a:t>
            </a:r>
            <a:r>
              <a:rPr kumimoji="0" lang="en-US" sz="6000" b="0" i="0" u="none" strike="noStrike" kern="0" cap="none" spc="0" normalizeH="0" baseline="0" noProof="0" dirty="0" err="1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DevSecOps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271082535"/>
      </p:ext>
    </p:extLst>
  </p:cSld>
  <p:clrMapOvr>
    <a:masterClrMapping/>
  </p:clrMapOvr>
</p:sld>
</file>

<file path=ppt/slides/slide2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C38A70-24C9-AE70-4276-D05E04369A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0F48C5B-4269-4E31-9E7B-DF152771E8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Slide </a:t>
            </a:r>
            <a:fld id="{4CA2B2DB-B91D-4166-98BF-65A0DA7EEE6D}" type="slidenum">
              <a:rPr kumimoji="0" lang="en-US" sz="1800" b="0" i="1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240</a:t>
            </a:fld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4FC2D4C2-8CA2-B5C8-2FF7-2A3B03B95802}"/>
              </a:ext>
            </a:extLst>
          </p:cNvPr>
          <p:cNvPicPr>
            <a:picLocks noGrp="1" noChangeAspect="1"/>
          </p:cNvPicPr>
          <p:nvPr>
            <p:ph sz="quarter" idx="12"/>
          </p:nvPr>
        </p:nvPicPr>
        <p:blipFill>
          <a:blip r:embed="rId3"/>
          <a:stretch>
            <a:fillRect/>
          </a:stretch>
        </p:blipFill>
        <p:spPr>
          <a:xfrm>
            <a:off x="5793322" y="1638300"/>
            <a:ext cx="6701355" cy="7239000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818750D-A5E3-182A-FD16-2FF96540580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8C1FE8C-3EEE-315F-B020-CD76EE5AB7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60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Secure SDLC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3040995293"/>
      </p:ext>
    </p:extLst>
  </p:cSld>
  <p:clrMapOvr>
    <a:masterClrMapping/>
  </p:clrMapOvr>
</p:sld>
</file>

<file path=ppt/slides/slide2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15194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06ED638-1D13-3621-0736-DD350BE99F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2E2193D7-EF73-BA2D-A525-7CB3678C89E2}"/>
              </a:ext>
            </a:extLst>
          </p:cNvPr>
          <p:cNvGrpSpPr/>
          <p:nvPr/>
        </p:nvGrpSpPr>
        <p:grpSpPr>
          <a:xfrm rot="-5400000">
            <a:off x="12015831" y="4014831"/>
            <a:ext cx="10287000" cy="2257339"/>
            <a:chOff x="0" y="0"/>
            <a:chExt cx="2709333" cy="59452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1C43D071-78A8-837A-7865-0F802CEACA57}"/>
                </a:ext>
              </a:extLst>
            </p:cNvPr>
            <p:cNvSpPr/>
            <p:nvPr/>
          </p:nvSpPr>
          <p:spPr>
            <a:xfrm>
              <a:off x="0" y="0"/>
              <a:ext cx="2709333" cy="594525"/>
            </a:xfrm>
            <a:custGeom>
              <a:avLst/>
              <a:gdLst/>
              <a:ahLst/>
              <a:cxnLst/>
              <a:rect l="l" t="t" r="r" b="b"/>
              <a:pathLst>
                <a:path w="2709333" h="594525">
                  <a:moveTo>
                    <a:pt x="0" y="0"/>
                  </a:moveTo>
                  <a:lnTo>
                    <a:pt x="2709333" y="0"/>
                  </a:lnTo>
                  <a:lnTo>
                    <a:pt x="2709333" y="594525"/>
                  </a:lnTo>
                  <a:lnTo>
                    <a:pt x="0" y="594525"/>
                  </a:lnTo>
                  <a:close/>
                </a:path>
              </a:pathLst>
            </a:custGeom>
            <a:solidFill>
              <a:srgbClr val="0283FD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2B9D268A-8532-92D2-53D6-1E14E4746CEF}"/>
                </a:ext>
              </a:extLst>
            </p:cNvPr>
            <p:cNvSpPr txBox="1"/>
            <p:nvPr/>
          </p:nvSpPr>
          <p:spPr>
            <a:xfrm>
              <a:off x="0" y="-66675"/>
              <a:ext cx="2709333" cy="6612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3024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F1A0E7BC-9DA8-AE40-7D56-EED758AC0216}"/>
              </a:ext>
            </a:extLst>
          </p:cNvPr>
          <p:cNvGrpSpPr/>
          <p:nvPr/>
        </p:nvGrpSpPr>
        <p:grpSpPr>
          <a:xfrm>
            <a:off x="179467" y="6643814"/>
            <a:ext cx="8126333" cy="3488267"/>
            <a:chOff x="0" y="0"/>
            <a:chExt cx="844714" cy="36259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07919594-FA2D-579B-B81C-A198DF16DCD7}"/>
                </a:ext>
              </a:extLst>
            </p:cNvPr>
            <p:cNvSpPr/>
            <p:nvPr/>
          </p:nvSpPr>
          <p:spPr>
            <a:xfrm>
              <a:off x="0" y="0"/>
              <a:ext cx="844714" cy="362598"/>
            </a:xfrm>
            <a:custGeom>
              <a:avLst/>
              <a:gdLst/>
              <a:ahLst/>
              <a:cxnLst/>
              <a:rect l="l" t="t" r="r" b="b"/>
              <a:pathLst>
                <a:path w="844714" h="362598">
                  <a:moveTo>
                    <a:pt x="203200" y="0"/>
                  </a:moveTo>
                  <a:lnTo>
                    <a:pt x="844714" y="0"/>
                  </a:lnTo>
                  <a:lnTo>
                    <a:pt x="641514" y="362598"/>
                  </a:lnTo>
                  <a:lnTo>
                    <a:pt x="0" y="362598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283FD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CA2FF40B-DDF1-03CD-3EB2-B94694B8B660}"/>
                </a:ext>
              </a:extLst>
            </p:cNvPr>
            <p:cNvSpPr txBox="1"/>
            <p:nvPr/>
          </p:nvSpPr>
          <p:spPr>
            <a:xfrm>
              <a:off x="101600" y="-28575"/>
              <a:ext cx="641514" cy="391173"/>
            </a:xfrm>
            <a:prstGeom prst="rect">
              <a:avLst/>
            </a:prstGeom>
          </p:spPr>
          <p:txBody>
            <a:bodyPr lIns="47790" tIns="47790" rIns="47790" bIns="4779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1843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05A4D989-AB8C-F482-4EEC-09BEDC0988E1}"/>
              </a:ext>
            </a:extLst>
          </p:cNvPr>
          <p:cNvGrpSpPr/>
          <p:nvPr/>
        </p:nvGrpSpPr>
        <p:grpSpPr>
          <a:xfrm>
            <a:off x="-73552" y="7047924"/>
            <a:ext cx="16030661" cy="3336996"/>
            <a:chOff x="0" y="0"/>
            <a:chExt cx="6165409" cy="1271237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E2ABF6F5-BB47-01C2-2DA9-212552DE4DB0}"/>
                </a:ext>
              </a:extLst>
            </p:cNvPr>
            <p:cNvSpPr/>
            <p:nvPr/>
          </p:nvSpPr>
          <p:spPr>
            <a:xfrm>
              <a:off x="0" y="0"/>
              <a:ext cx="6165409" cy="1271237"/>
            </a:xfrm>
            <a:custGeom>
              <a:avLst/>
              <a:gdLst/>
              <a:ahLst/>
              <a:cxnLst/>
              <a:rect l="l" t="t" r="r" b="b"/>
              <a:pathLst>
                <a:path w="6165409" h="1271237">
                  <a:moveTo>
                    <a:pt x="0" y="0"/>
                  </a:moveTo>
                  <a:lnTo>
                    <a:pt x="6165409" y="0"/>
                  </a:lnTo>
                  <a:lnTo>
                    <a:pt x="6165409" y="1271237"/>
                  </a:lnTo>
                  <a:lnTo>
                    <a:pt x="0" y="127123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BFB556A5-A31C-1682-8FBE-BFC0A89A348D}"/>
                </a:ext>
              </a:extLst>
            </p:cNvPr>
            <p:cNvSpPr txBox="1"/>
            <p:nvPr/>
          </p:nvSpPr>
          <p:spPr>
            <a:xfrm>
              <a:off x="0" y="-28575"/>
              <a:ext cx="6165409" cy="1299812"/>
            </a:xfrm>
            <a:prstGeom prst="rect">
              <a:avLst/>
            </a:prstGeom>
          </p:spPr>
          <p:txBody>
            <a:bodyPr lIns="47790" tIns="47790" rIns="47790" bIns="4779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1843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sp>
        <p:nvSpPr>
          <p:cNvPr id="12" name="TextBox 12">
            <a:extLst>
              <a:ext uri="{FF2B5EF4-FFF2-40B4-BE49-F238E27FC236}">
                <a16:creationId xmlns:a16="http://schemas.microsoft.com/office/drawing/2014/main" id="{C2A89C8C-528D-735C-91D7-BD79C932AB77}"/>
              </a:ext>
            </a:extLst>
          </p:cNvPr>
          <p:cNvSpPr txBox="1"/>
          <p:nvPr/>
        </p:nvSpPr>
        <p:spPr>
          <a:xfrm>
            <a:off x="1111666" y="3432993"/>
            <a:ext cx="14771892" cy="598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4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Day 3 – Block 7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BF971A66-64F1-F4E4-D778-7C32B4DAA602}"/>
              </a:ext>
            </a:extLst>
          </p:cNvPr>
          <p:cNvSpPr txBox="1"/>
          <p:nvPr/>
        </p:nvSpPr>
        <p:spPr>
          <a:xfrm>
            <a:off x="1111666" y="9653992"/>
            <a:ext cx="12263263" cy="3619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0" i="0" u="none" strike="noStrike" kern="1200" cap="none" spc="0" normalizeH="0" baseline="0" noProof="0">
                <a:ln>
                  <a:noFill/>
                </a:ln>
                <a:solidFill>
                  <a:srgbClr val="252525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CALIFORNIA INSTITUTE OF APPLIED TECHNOLOGY</a:t>
            </a:r>
          </a:p>
        </p:txBody>
      </p:sp>
      <p:sp>
        <p:nvSpPr>
          <p:cNvPr id="15" name="AutoShape 15">
            <a:extLst>
              <a:ext uri="{FF2B5EF4-FFF2-40B4-BE49-F238E27FC236}">
                <a16:creationId xmlns:a16="http://schemas.microsoft.com/office/drawing/2014/main" id="{2D72DBA8-C79E-4C3A-2874-F55AD1371122}"/>
              </a:ext>
            </a:extLst>
          </p:cNvPr>
          <p:cNvSpPr/>
          <p:nvPr/>
        </p:nvSpPr>
        <p:spPr>
          <a:xfrm>
            <a:off x="8010568" y="9858838"/>
            <a:ext cx="7625672" cy="0"/>
          </a:xfrm>
          <a:prstGeom prst="line">
            <a:avLst/>
          </a:prstGeom>
          <a:ln w="19050" cap="flat">
            <a:solidFill>
              <a:srgbClr val="0283F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7" name="Freeform 5">
            <a:extLst>
              <a:ext uri="{FF2B5EF4-FFF2-40B4-BE49-F238E27FC236}">
                <a16:creationId xmlns:a16="http://schemas.microsoft.com/office/drawing/2014/main" id="{99AE35A3-0CB5-6CDB-0A47-65049E1746C4}"/>
              </a:ext>
            </a:extLst>
          </p:cNvPr>
          <p:cNvSpPr/>
          <p:nvPr/>
        </p:nvSpPr>
        <p:spPr>
          <a:xfrm>
            <a:off x="1111666" y="355081"/>
            <a:ext cx="4247850" cy="631936"/>
          </a:xfrm>
          <a:custGeom>
            <a:avLst/>
            <a:gdLst/>
            <a:ahLst/>
            <a:cxnLst/>
            <a:rect l="l" t="t" r="r" b="b"/>
            <a:pathLst>
              <a:path w="4247850" h="631936">
                <a:moveTo>
                  <a:pt x="0" y="0"/>
                </a:moveTo>
                <a:lnTo>
                  <a:pt x="4247850" y="0"/>
                </a:lnTo>
                <a:lnTo>
                  <a:pt x="4247850" y="631935"/>
                </a:lnTo>
                <a:lnTo>
                  <a:pt x="0" y="63193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5" r="-5"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835D36A-5BCF-67B5-87D6-92F5B82F9B73}"/>
              </a:ext>
            </a:extLst>
          </p:cNvPr>
          <p:cNvSpPr txBox="1"/>
          <p:nvPr/>
        </p:nvSpPr>
        <p:spPr>
          <a:xfrm>
            <a:off x="1111666" y="7106062"/>
            <a:ext cx="9480134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2000" dirty="0"/>
              <a:t>Domain 3 PBQ Workshop</a:t>
            </a:r>
          </a:p>
          <a:p>
            <a:pPr lvl="1" indent="-487680"/>
            <a:r>
              <a:rPr lang="en-US" altLang="en-US" sz="1600" dirty="0"/>
              <a:t>	Complex Architecture PBQs</a:t>
            </a:r>
            <a:endParaRPr lang="en-US" altLang="en-US" sz="1600" dirty="0">
              <a:cs typeface="Arial"/>
            </a:endParaRPr>
          </a:p>
          <a:p>
            <a:r>
              <a:rPr lang="en-US" altLang="en-US" sz="2000" dirty="0"/>
              <a:t>Crucial Exams</a:t>
            </a:r>
          </a:p>
          <a:p>
            <a:pPr lvl="1" indent="-487680"/>
            <a:r>
              <a:rPr lang="en-US" altLang="en-US" sz="1600" dirty="0"/>
              <a:t>	Cloud Web Application Firewall Setup PBQ</a:t>
            </a:r>
          </a:p>
          <a:p>
            <a:pPr lvl="1" indent="-487680"/>
            <a:r>
              <a:rPr lang="en-US" altLang="en-US" sz="1600" dirty="0"/>
              <a:t>	Mobile Device Management Enrollment PBQ</a:t>
            </a:r>
            <a:endParaRPr lang="en-US" altLang="en-US" sz="2000" dirty="0"/>
          </a:p>
        </p:txBody>
      </p:sp>
    </p:spTree>
    <p:extLst>
      <p:ext uri="{BB962C8B-B14F-4D97-AF65-F5344CB8AC3E}">
        <p14:creationId xmlns:p14="http://schemas.microsoft.com/office/powerpoint/2010/main" val="876582436"/>
      </p:ext>
    </p:extLst>
  </p:cSld>
  <p:clrMapOvr>
    <a:masterClrMapping/>
  </p:clrMapOvr>
</p:sld>
</file>

<file path=ppt/slides/slide2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15194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9B92605-B52E-41E6-E639-D7063A02C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A849608B-FF55-2704-C377-650A23B99093}"/>
              </a:ext>
            </a:extLst>
          </p:cNvPr>
          <p:cNvGrpSpPr/>
          <p:nvPr/>
        </p:nvGrpSpPr>
        <p:grpSpPr>
          <a:xfrm rot="-5400000">
            <a:off x="12015831" y="4014831"/>
            <a:ext cx="10287000" cy="2257339"/>
            <a:chOff x="0" y="0"/>
            <a:chExt cx="2709333" cy="59452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F9B2E4C7-D105-DECA-0B15-E715DFB860F8}"/>
                </a:ext>
              </a:extLst>
            </p:cNvPr>
            <p:cNvSpPr/>
            <p:nvPr/>
          </p:nvSpPr>
          <p:spPr>
            <a:xfrm>
              <a:off x="0" y="0"/>
              <a:ext cx="2709333" cy="594525"/>
            </a:xfrm>
            <a:custGeom>
              <a:avLst/>
              <a:gdLst/>
              <a:ahLst/>
              <a:cxnLst/>
              <a:rect l="l" t="t" r="r" b="b"/>
              <a:pathLst>
                <a:path w="2709333" h="594525">
                  <a:moveTo>
                    <a:pt x="0" y="0"/>
                  </a:moveTo>
                  <a:lnTo>
                    <a:pt x="2709333" y="0"/>
                  </a:lnTo>
                  <a:lnTo>
                    <a:pt x="2709333" y="594525"/>
                  </a:lnTo>
                  <a:lnTo>
                    <a:pt x="0" y="594525"/>
                  </a:lnTo>
                  <a:close/>
                </a:path>
              </a:pathLst>
            </a:custGeom>
            <a:solidFill>
              <a:srgbClr val="0283FD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96B8875F-641A-3AE4-5F0A-9B0B672AAD0F}"/>
                </a:ext>
              </a:extLst>
            </p:cNvPr>
            <p:cNvSpPr txBox="1"/>
            <p:nvPr/>
          </p:nvSpPr>
          <p:spPr>
            <a:xfrm>
              <a:off x="0" y="-66675"/>
              <a:ext cx="2709333" cy="6612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3024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D94CC542-5A70-0E25-CD33-FEFB88CD8D83}"/>
              </a:ext>
            </a:extLst>
          </p:cNvPr>
          <p:cNvGrpSpPr/>
          <p:nvPr/>
        </p:nvGrpSpPr>
        <p:grpSpPr>
          <a:xfrm>
            <a:off x="179467" y="6643814"/>
            <a:ext cx="8126333" cy="3488267"/>
            <a:chOff x="0" y="0"/>
            <a:chExt cx="844714" cy="36259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BB1A9C96-7C04-3821-87ED-878D3864EB46}"/>
                </a:ext>
              </a:extLst>
            </p:cNvPr>
            <p:cNvSpPr/>
            <p:nvPr/>
          </p:nvSpPr>
          <p:spPr>
            <a:xfrm>
              <a:off x="0" y="0"/>
              <a:ext cx="844714" cy="362598"/>
            </a:xfrm>
            <a:custGeom>
              <a:avLst/>
              <a:gdLst/>
              <a:ahLst/>
              <a:cxnLst/>
              <a:rect l="l" t="t" r="r" b="b"/>
              <a:pathLst>
                <a:path w="844714" h="362598">
                  <a:moveTo>
                    <a:pt x="203200" y="0"/>
                  </a:moveTo>
                  <a:lnTo>
                    <a:pt x="844714" y="0"/>
                  </a:lnTo>
                  <a:lnTo>
                    <a:pt x="641514" y="362598"/>
                  </a:lnTo>
                  <a:lnTo>
                    <a:pt x="0" y="362598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283FD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53C68BD7-F18C-E887-999B-DA12489F6E40}"/>
                </a:ext>
              </a:extLst>
            </p:cNvPr>
            <p:cNvSpPr txBox="1"/>
            <p:nvPr/>
          </p:nvSpPr>
          <p:spPr>
            <a:xfrm>
              <a:off x="101600" y="-28575"/>
              <a:ext cx="641514" cy="391173"/>
            </a:xfrm>
            <a:prstGeom prst="rect">
              <a:avLst/>
            </a:prstGeom>
          </p:spPr>
          <p:txBody>
            <a:bodyPr lIns="47790" tIns="47790" rIns="47790" bIns="4779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1843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D431F795-62FB-248C-3B0A-3DBE72EDE6D7}"/>
              </a:ext>
            </a:extLst>
          </p:cNvPr>
          <p:cNvGrpSpPr/>
          <p:nvPr/>
        </p:nvGrpSpPr>
        <p:grpSpPr>
          <a:xfrm>
            <a:off x="-73552" y="7047924"/>
            <a:ext cx="16030661" cy="3336996"/>
            <a:chOff x="0" y="0"/>
            <a:chExt cx="6165409" cy="1271237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F00519FC-2446-0BDF-B88C-FC0F6BECB49E}"/>
                </a:ext>
              </a:extLst>
            </p:cNvPr>
            <p:cNvSpPr/>
            <p:nvPr/>
          </p:nvSpPr>
          <p:spPr>
            <a:xfrm>
              <a:off x="0" y="0"/>
              <a:ext cx="6165409" cy="1271237"/>
            </a:xfrm>
            <a:custGeom>
              <a:avLst/>
              <a:gdLst/>
              <a:ahLst/>
              <a:cxnLst/>
              <a:rect l="l" t="t" r="r" b="b"/>
              <a:pathLst>
                <a:path w="6165409" h="1271237">
                  <a:moveTo>
                    <a:pt x="0" y="0"/>
                  </a:moveTo>
                  <a:lnTo>
                    <a:pt x="6165409" y="0"/>
                  </a:lnTo>
                  <a:lnTo>
                    <a:pt x="6165409" y="1271237"/>
                  </a:lnTo>
                  <a:lnTo>
                    <a:pt x="0" y="127123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9AAA082C-6E85-8FFD-C365-E8DB8FD54A77}"/>
                </a:ext>
              </a:extLst>
            </p:cNvPr>
            <p:cNvSpPr txBox="1"/>
            <p:nvPr/>
          </p:nvSpPr>
          <p:spPr>
            <a:xfrm>
              <a:off x="0" y="-28575"/>
              <a:ext cx="6165409" cy="1299812"/>
            </a:xfrm>
            <a:prstGeom prst="rect">
              <a:avLst/>
            </a:prstGeom>
          </p:spPr>
          <p:txBody>
            <a:bodyPr lIns="47790" tIns="47790" rIns="47790" bIns="4779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1843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sp>
        <p:nvSpPr>
          <p:cNvPr id="12" name="TextBox 12">
            <a:extLst>
              <a:ext uri="{FF2B5EF4-FFF2-40B4-BE49-F238E27FC236}">
                <a16:creationId xmlns:a16="http://schemas.microsoft.com/office/drawing/2014/main" id="{95E8216E-EF8A-9B05-24F2-55F5D5EBFC58}"/>
              </a:ext>
            </a:extLst>
          </p:cNvPr>
          <p:cNvSpPr txBox="1"/>
          <p:nvPr/>
        </p:nvSpPr>
        <p:spPr>
          <a:xfrm>
            <a:off x="1111666" y="3432993"/>
            <a:ext cx="14771892" cy="598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4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Day 3 – Block 8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303BF55E-15B5-DF61-D6CF-7BC68F77C07E}"/>
              </a:ext>
            </a:extLst>
          </p:cNvPr>
          <p:cNvSpPr txBox="1"/>
          <p:nvPr/>
        </p:nvSpPr>
        <p:spPr>
          <a:xfrm>
            <a:off x="1111666" y="9653992"/>
            <a:ext cx="12263263" cy="3619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0" i="0" u="none" strike="noStrike" kern="1200" cap="none" spc="0" normalizeH="0" baseline="0" noProof="0">
                <a:ln>
                  <a:noFill/>
                </a:ln>
                <a:solidFill>
                  <a:srgbClr val="252525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CALIFORNIA INSTITUTE OF APPLIED TECHNOLOGY</a:t>
            </a:r>
          </a:p>
        </p:txBody>
      </p:sp>
      <p:sp>
        <p:nvSpPr>
          <p:cNvPr id="15" name="AutoShape 15">
            <a:extLst>
              <a:ext uri="{FF2B5EF4-FFF2-40B4-BE49-F238E27FC236}">
                <a16:creationId xmlns:a16="http://schemas.microsoft.com/office/drawing/2014/main" id="{76BC8266-3947-24BF-AA64-F477D35EB5AC}"/>
              </a:ext>
            </a:extLst>
          </p:cNvPr>
          <p:cNvSpPr/>
          <p:nvPr/>
        </p:nvSpPr>
        <p:spPr>
          <a:xfrm>
            <a:off x="8010568" y="9858838"/>
            <a:ext cx="7625672" cy="0"/>
          </a:xfrm>
          <a:prstGeom prst="line">
            <a:avLst/>
          </a:prstGeom>
          <a:ln w="19050" cap="flat">
            <a:solidFill>
              <a:srgbClr val="0283F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7" name="Freeform 5">
            <a:extLst>
              <a:ext uri="{FF2B5EF4-FFF2-40B4-BE49-F238E27FC236}">
                <a16:creationId xmlns:a16="http://schemas.microsoft.com/office/drawing/2014/main" id="{6134C41F-7BB8-DD12-04BD-479BCABA27AB}"/>
              </a:ext>
            </a:extLst>
          </p:cNvPr>
          <p:cNvSpPr/>
          <p:nvPr/>
        </p:nvSpPr>
        <p:spPr>
          <a:xfrm>
            <a:off x="1111666" y="355081"/>
            <a:ext cx="4247850" cy="631936"/>
          </a:xfrm>
          <a:custGeom>
            <a:avLst/>
            <a:gdLst/>
            <a:ahLst/>
            <a:cxnLst/>
            <a:rect l="l" t="t" r="r" b="b"/>
            <a:pathLst>
              <a:path w="4247850" h="631936">
                <a:moveTo>
                  <a:pt x="0" y="0"/>
                </a:moveTo>
                <a:lnTo>
                  <a:pt x="4247850" y="0"/>
                </a:lnTo>
                <a:lnTo>
                  <a:pt x="4247850" y="631935"/>
                </a:lnTo>
                <a:lnTo>
                  <a:pt x="0" y="63193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5" r="-5"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FD24061-FAB5-4306-77FD-E8775F768DB5}"/>
              </a:ext>
            </a:extLst>
          </p:cNvPr>
          <p:cNvSpPr txBox="1"/>
          <p:nvPr/>
        </p:nvSpPr>
        <p:spPr>
          <a:xfrm>
            <a:off x="1111666" y="7106062"/>
            <a:ext cx="11918534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2000" dirty="0"/>
              <a:t>Day 3 Review &amp; Test Prep</a:t>
            </a:r>
          </a:p>
          <a:p>
            <a:pPr lvl="1" indent="-487680"/>
            <a:r>
              <a:rPr lang="en-US" altLang="en-US" sz="1600" dirty="0"/>
              <a:t>Domain 3 Concept Review</a:t>
            </a:r>
            <a:endParaRPr lang="en-US" altLang="en-US" sz="1600" dirty="0">
              <a:cs typeface="Arial"/>
            </a:endParaRPr>
          </a:p>
          <a:p>
            <a:pPr lvl="1" indent="-487680"/>
            <a:r>
              <a:rPr lang="en-US" altLang="en-US" sz="1600" dirty="0"/>
              <a:t>Practice Exam 25 Questions</a:t>
            </a:r>
            <a:endParaRPr lang="en-US" altLang="en-US" sz="1600" dirty="0">
              <a:cs typeface="Arial"/>
            </a:endParaRPr>
          </a:p>
          <a:p>
            <a:r>
              <a:rPr lang="en-US" altLang="en-US" sz="2000" dirty="0"/>
              <a:t>Crucial Exams</a:t>
            </a:r>
            <a:endParaRPr lang="en-US" altLang="en-US" sz="2000" dirty="0">
              <a:cs typeface="Arial"/>
            </a:endParaRPr>
          </a:p>
          <a:p>
            <a:pPr lvl="1" indent="-487680"/>
            <a:r>
              <a:rPr lang="en-US" altLang="en-US" sz="1600" dirty="0"/>
              <a:t>Review Quiz Results &amp; Address Weak Areas</a:t>
            </a:r>
            <a:endParaRPr lang="en-US" altLang="en-US" sz="1600" dirty="0">
              <a:cs typeface="Arial"/>
            </a:endParaRPr>
          </a:p>
          <a:p>
            <a:r>
              <a:rPr lang="en-US" altLang="en-US" sz="2000" dirty="0"/>
              <a:t>Evening Assignment</a:t>
            </a:r>
            <a:endParaRPr lang="en-US" altLang="en-US" sz="2000" dirty="0">
              <a:cs typeface="Arial"/>
            </a:endParaRPr>
          </a:p>
          <a:p>
            <a:pPr lvl="1" indent="-487680"/>
            <a:r>
              <a:rPr lang="en-US" altLang="en-US" sz="1600" dirty="0"/>
              <a:t>Google - </a:t>
            </a:r>
            <a:r>
              <a:rPr lang="en-US" altLang="en-US" sz="1200" dirty="0"/>
              <a:t>Research the Zero Trust Maturity Model (5 Pillars); NIST Cybersecurity Framework (5 Functions); Shared Responsibility Model (Cloud) - IaaS vs PaaS vs SaaS</a:t>
            </a:r>
            <a:endParaRPr lang="en-US" altLang="en-US" sz="1200" dirty="0">
              <a:cs typeface="Arial"/>
            </a:endParaRPr>
          </a:p>
          <a:p>
            <a:pPr lvl="1" indent="-487680"/>
            <a:r>
              <a:rPr lang="en-US" altLang="en-US" sz="1600" dirty="0"/>
              <a:t>Crucial Exams Flashcards - Threat Management Terms and Concepts</a:t>
            </a:r>
            <a:endParaRPr lang="en-US" altLang="en-US" sz="1600" dirty="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08811149"/>
      </p:ext>
    </p:extLst>
  </p:cSld>
  <p:clrMapOvr>
    <a:masterClrMapping/>
  </p:clrMapOvr>
</p:sld>
</file>

<file path=ppt/slides/slide2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47A00D-4ADC-B78A-8F42-AD194B68B5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4532993-0E55-C0DA-D084-2E5C985918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Slide </a:t>
            </a:r>
            <a:fld id="{4CA2B2DB-B91D-4166-98BF-65A0DA7EEE6D}" type="slidenum">
              <a:rPr lang="en-US" smtClean="0"/>
              <a:pPr/>
              <a:t>243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BB5FD3-0352-499A-CFBA-54DFE7C396E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200" y="2541615"/>
            <a:ext cx="7194550" cy="495300"/>
          </a:xfrm>
        </p:spPr>
        <p:txBody>
          <a:bodyPr/>
          <a:lstStyle/>
          <a:p>
            <a:r>
              <a:rPr lang="en-US" dirty="0"/>
              <a:t>Exam-Critical Topics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7D7688-C107-020A-1244-F80E5E52DE92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3162300"/>
            <a:ext cx="8305800" cy="5867400"/>
          </a:xfrm>
        </p:spPr>
        <p:txBody>
          <a:bodyPr/>
          <a:lstStyle/>
          <a:p>
            <a:r>
              <a:rPr lang="en-US" sz="2000" dirty="0"/>
              <a:t>Enterprise Security Architecture — layered defense, segmentation, trust boundaries, and secure design principles</a:t>
            </a:r>
          </a:p>
          <a:p>
            <a:r>
              <a:rPr lang="en-US" sz="2000" dirty="0"/>
              <a:t>Secure Network Design — zoning, subnetting, NAC, load balancers, proxies, and resilient architectures</a:t>
            </a:r>
          </a:p>
          <a:p>
            <a:r>
              <a:rPr lang="en-US" sz="2000" dirty="0"/>
              <a:t>Identity &amp; Access Management (IAM) — authentication, authorization, federation, SSO, MFA, lifecycle management</a:t>
            </a:r>
          </a:p>
          <a:p>
            <a:r>
              <a:rPr lang="en-US" sz="2000" dirty="0"/>
              <a:t>Endpoint Security Solutions — EDR, antivirus/anti‑malware, host firewalls, device hardening, mobile/remote protections</a:t>
            </a:r>
          </a:p>
          <a:p>
            <a:r>
              <a:rPr lang="en-US" sz="2000" dirty="0"/>
              <a:t>Zero Trust Architecture — “never trust, always verify,” continuous validation, micro‑segmentation</a:t>
            </a:r>
          </a:p>
          <a:p>
            <a:r>
              <a:rPr lang="en-US" sz="2000" dirty="0"/>
              <a:t>Secure Communications — TLS, VPNs, email security, certificate usage, secure protocols</a:t>
            </a:r>
          </a:p>
          <a:p>
            <a:r>
              <a:rPr lang="en-US" sz="2000" dirty="0"/>
              <a:t>Application Security — secure coding practices, input validation, API security, SDLC integration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E918C3F7-A85A-3943-0351-B497BE38479E}"/>
              </a:ext>
            </a:extLst>
          </p:cNvPr>
          <p:cNvSpPr txBox="1">
            <a:spLocks/>
          </p:cNvSpPr>
          <p:nvPr/>
        </p:nvSpPr>
        <p:spPr>
          <a:xfrm>
            <a:off x="10255250" y="2541615"/>
            <a:ext cx="7194550" cy="495300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Foundational Reinforcements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97A85419-B9A4-175E-4F93-012F8EA4CC33}"/>
              </a:ext>
            </a:extLst>
          </p:cNvPr>
          <p:cNvSpPr txBox="1">
            <a:spLocks/>
          </p:cNvSpPr>
          <p:nvPr/>
        </p:nvSpPr>
        <p:spPr>
          <a:xfrm>
            <a:off x="10255250" y="3162300"/>
            <a:ext cx="8032750" cy="3352800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/>
              <a:t>Enterprise design patterns — centralized vs. decentralized models</a:t>
            </a:r>
          </a:p>
          <a:p>
            <a:r>
              <a:rPr lang="en-US" sz="2000" dirty="0"/>
              <a:t>Network resilience concepts — redundancy, failover, high availability</a:t>
            </a:r>
          </a:p>
          <a:p>
            <a:r>
              <a:rPr lang="en-US" sz="2000" dirty="0"/>
              <a:t>Endpoint baselining — configuration standards and posture management</a:t>
            </a:r>
          </a:p>
          <a:p>
            <a:r>
              <a:rPr lang="en-US" sz="2000" dirty="0"/>
              <a:t>Application lifecycle considerations — testing, deployment, and maintenance practices</a:t>
            </a:r>
          </a:p>
        </p:txBody>
      </p:sp>
    </p:spTree>
    <p:extLst>
      <p:ext uri="{BB962C8B-B14F-4D97-AF65-F5344CB8AC3E}">
        <p14:creationId xmlns:p14="http://schemas.microsoft.com/office/powerpoint/2010/main" val="386177852"/>
      </p:ext>
    </p:extLst>
  </p:cSld>
  <p:clrMapOvr>
    <a:masterClrMapping/>
  </p:clrMapOvr>
</p:sld>
</file>

<file path=ppt/slides/slide2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377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2061D82-31A9-9633-35E8-9F600F45F1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0">
            <a:extLst>
              <a:ext uri="{FF2B5EF4-FFF2-40B4-BE49-F238E27FC236}">
                <a16:creationId xmlns:a16="http://schemas.microsoft.com/office/drawing/2014/main" id="{F069079E-A67B-88A9-08E1-898FEDF0188C}"/>
              </a:ext>
            </a:extLst>
          </p:cNvPr>
          <p:cNvGrpSpPr/>
          <p:nvPr/>
        </p:nvGrpSpPr>
        <p:grpSpPr>
          <a:xfrm rot="-5400000">
            <a:off x="8462598" y="461598"/>
            <a:ext cx="1362805" cy="18287998"/>
            <a:chOff x="0" y="0"/>
            <a:chExt cx="358928" cy="4840325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F778909F-A070-B97A-27B3-D512ED0A93C5}"/>
                </a:ext>
              </a:extLst>
            </p:cNvPr>
            <p:cNvSpPr/>
            <p:nvPr/>
          </p:nvSpPr>
          <p:spPr>
            <a:xfrm>
              <a:off x="0" y="0"/>
              <a:ext cx="358928" cy="4840325"/>
            </a:xfrm>
            <a:custGeom>
              <a:avLst/>
              <a:gdLst/>
              <a:ahLst/>
              <a:cxnLst/>
              <a:rect l="l" t="t" r="r" b="b"/>
              <a:pathLst>
                <a:path w="358928" h="4840325">
                  <a:moveTo>
                    <a:pt x="0" y="0"/>
                  </a:moveTo>
                  <a:lnTo>
                    <a:pt x="358928" y="0"/>
                  </a:lnTo>
                  <a:lnTo>
                    <a:pt x="358928" y="4840325"/>
                  </a:lnTo>
                  <a:lnTo>
                    <a:pt x="0" y="4840325"/>
                  </a:lnTo>
                  <a:close/>
                </a:path>
              </a:pathLst>
            </a:custGeom>
            <a:solidFill>
              <a:srgbClr val="F5C46E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80DC27F9-1927-7852-B56A-57F975D6AAC7}"/>
                </a:ext>
              </a:extLst>
            </p:cNvPr>
            <p:cNvSpPr txBox="1"/>
            <p:nvPr/>
          </p:nvSpPr>
          <p:spPr>
            <a:xfrm>
              <a:off x="0" y="-66675"/>
              <a:ext cx="358928" cy="49070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24"/>
                </a:lnSpc>
              </a:pPr>
              <a:endParaRPr/>
            </a:p>
          </p:txBody>
        </p:sp>
      </p:grpSp>
      <p:sp>
        <p:nvSpPr>
          <p:cNvPr id="13" name="TextBox 13">
            <a:extLst>
              <a:ext uri="{FF2B5EF4-FFF2-40B4-BE49-F238E27FC236}">
                <a16:creationId xmlns:a16="http://schemas.microsoft.com/office/drawing/2014/main" id="{0A642678-F763-87DD-B4D6-C512DE7B4303}"/>
              </a:ext>
            </a:extLst>
          </p:cNvPr>
          <p:cNvSpPr txBox="1"/>
          <p:nvPr/>
        </p:nvSpPr>
        <p:spPr>
          <a:xfrm>
            <a:off x="3502264" y="4567400"/>
            <a:ext cx="11283472" cy="10855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394"/>
              </a:lnSpc>
            </a:pPr>
            <a:r>
              <a:rPr lang="en-US" sz="6721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4020731918"/>
      </p:ext>
    </p:extLst>
  </p:cSld>
  <p:clrMapOvr>
    <a:masterClrMapping/>
  </p:clrMapOvr>
</p:sld>
</file>

<file path=ppt/slides/slide2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377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3D1775-946A-A7EE-7022-41189CE819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0">
            <a:extLst>
              <a:ext uri="{FF2B5EF4-FFF2-40B4-BE49-F238E27FC236}">
                <a16:creationId xmlns:a16="http://schemas.microsoft.com/office/drawing/2014/main" id="{8062E4AC-8BCB-B5BA-0C28-CA3EFED7460B}"/>
              </a:ext>
            </a:extLst>
          </p:cNvPr>
          <p:cNvGrpSpPr/>
          <p:nvPr/>
        </p:nvGrpSpPr>
        <p:grpSpPr>
          <a:xfrm rot="-5400000">
            <a:off x="8462598" y="461598"/>
            <a:ext cx="1362805" cy="18287998"/>
            <a:chOff x="0" y="0"/>
            <a:chExt cx="358928" cy="4840325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CFA910AF-7442-9EA5-2704-68C41AB50C21}"/>
                </a:ext>
              </a:extLst>
            </p:cNvPr>
            <p:cNvSpPr/>
            <p:nvPr/>
          </p:nvSpPr>
          <p:spPr>
            <a:xfrm>
              <a:off x="0" y="0"/>
              <a:ext cx="358928" cy="4840325"/>
            </a:xfrm>
            <a:custGeom>
              <a:avLst/>
              <a:gdLst/>
              <a:ahLst/>
              <a:cxnLst/>
              <a:rect l="l" t="t" r="r" b="b"/>
              <a:pathLst>
                <a:path w="358928" h="4840325">
                  <a:moveTo>
                    <a:pt x="0" y="0"/>
                  </a:moveTo>
                  <a:lnTo>
                    <a:pt x="358928" y="0"/>
                  </a:lnTo>
                  <a:lnTo>
                    <a:pt x="358928" y="4840325"/>
                  </a:lnTo>
                  <a:lnTo>
                    <a:pt x="0" y="4840325"/>
                  </a:lnTo>
                  <a:close/>
                </a:path>
              </a:pathLst>
            </a:custGeom>
            <a:solidFill>
              <a:srgbClr val="F5C46E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BB63DBEF-AEAB-5FAD-AFAD-FBCF146AADD5}"/>
                </a:ext>
              </a:extLst>
            </p:cNvPr>
            <p:cNvSpPr txBox="1"/>
            <p:nvPr/>
          </p:nvSpPr>
          <p:spPr>
            <a:xfrm>
              <a:off x="0" y="-66675"/>
              <a:ext cx="358928" cy="49070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24"/>
                </a:lnSpc>
              </a:pPr>
              <a:endParaRPr/>
            </a:p>
          </p:txBody>
        </p:sp>
      </p:grpSp>
      <p:sp>
        <p:nvSpPr>
          <p:cNvPr id="13" name="TextBox 13">
            <a:extLst>
              <a:ext uri="{FF2B5EF4-FFF2-40B4-BE49-F238E27FC236}">
                <a16:creationId xmlns:a16="http://schemas.microsoft.com/office/drawing/2014/main" id="{D93BA4C9-7A53-4C40-5B2D-0958E4A3A0AA}"/>
              </a:ext>
            </a:extLst>
          </p:cNvPr>
          <p:cNvSpPr txBox="1"/>
          <p:nvPr/>
        </p:nvSpPr>
        <p:spPr>
          <a:xfrm>
            <a:off x="3502264" y="4567400"/>
            <a:ext cx="11283472" cy="9489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394"/>
              </a:lnSpc>
            </a:pPr>
            <a:r>
              <a:rPr lang="en-US" sz="6721" b="1" dirty="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Welcome to Day 4!</a:t>
            </a:r>
          </a:p>
        </p:txBody>
      </p:sp>
    </p:spTree>
    <p:extLst>
      <p:ext uri="{BB962C8B-B14F-4D97-AF65-F5344CB8AC3E}">
        <p14:creationId xmlns:p14="http://schemas.microsoft.com/office/powerpoint/2010/main" val="3356680139"/>
      </p:ext>
    </p:extLst>
  </p:cSld>
  <p:clrMapOvr>
    <a:masterClrMapping/>
  </p:clrMapOvr>
</p:sld>
</file>

<file path=ppt/slides/slide2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C63451-5280-6D94-732F-06EC1ED928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C434D3E-6318-B716-C868-573342F34B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Day 4 Topics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9F9DAD-8125-7B1D-A3D1-8C6A98948DE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en-US" dirty="0"/>
              <a:t>Block 1 - Security Operations &amp; Monitoring</a:t>
            </a:r>
          </a:p>
          <a:p>
            <a:r>
              <a:rPr lang="en-US" altLang="en-US" dirty="0"/>
              <a:t>Block 2 - Incident Response Procedures</a:t>
            </a:r>
          </a:p>
          <a:p>
            <a:r>
              <a:rPr lang="en-US" altLang="en-US" dirty="0"/>
              <a:t>Block 3 - Digital Forensics &amp; Investigation</a:t>
            </a:r>
          </a:p>
          <a:p>
            <a:r>
              <a:rPr lang="en-US" altLang="en-US" dirty="0"/>
              <a:t>Block 4 - Business Continuity &amp; DR</a:t>
            </a:r>
          </a:p>
          <a:p>
            <a:r>
              <a:rPr lang="en-US" altLang="en-US" dirty="0"/>
              <a:t>LUNCH	</a:t>
            </a:r>
          </a:p>
          <a:p>
            <a:r>
              <a:rPr lang="en-US" altLang="en-US" dirty="0"/>
              <a:t>Block 5 - Automation &amp; Orchestration</a:t>
            </a:r>
          </a:p>
          <a:p>
            <a:r>
              <a:rPr lang="en-US" altLang="en-US" dirty="0"/>
              <a:t>Block 6 - Vulnerability Management Operations</a:t>
            </a:r>
          </a:p>
          <a:p>
            <a:r>
              <a:rPr lang="en-US" altLang="en-US" dirty="0"/>
              <a:t>Block 7 - Domain 4 PBQ Workshop</a:t>
            </a:r>
          </a:p>
          <a:p>
            <a:r>
              <a:rPr lang="en-US" altLang="en-US" dirty="0"/>
              <a:t>Block 8 - Day 4 Review &amp; Test Prep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7325371"/>
      </p:ext>
    </p:extLst>
  </p:cSld>
  <p:clrMapOvr>
    <a:masterClrMapping/>
  </p:clrMapOvr>
</p:sld>
</file>

<file path=ppt/slides/slide2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59A1E9-4361-2BDC-4262-8B41C250B5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0BC2BF0-F557-654C-A85B-9FC7AD79B2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Slide </a:t>
            </a:r>
            <a:fld id="{4CA2B2DB-B91D-4166-98BF-65A0DA7EEE6D}" type="slidenum">
              <a:rPr lang="en-US" smtClean="0"/>
              <a:pPr/>
              <a:t>247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32F163-C96C-4226-5B88-965FB7C7C67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Carrying Forward Concepts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0C4E4A-3B30-59AA-5767-91A610B8E4CA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sz="2800" dirty="0"/>
              <a:t>Enterprise security architecture — layered defense, segmentation, trust boundaries, and secure design principles</a:t>
            </a:r>
          </a:p>
          <a:p>
            <a:r>
              <a:rPr lang="en-US" sz="2800" dirty="0"/>
              <a:t>Secure network design — zoning, NAC, load balancing, proxies, and resilient architectures</a:t>
            </a:r>
          </a:p>
          <a:p>
            <a:r>
              <a:rPr lang="en-US" sz="2800" dirty="0"/>
              <a:t>Identity &amp; Access Management (IAM) — authentication, authorization, federation, SSO, MFA, and lifecycle management</a:t>
            </a:r>
          </a:p>
          <a:p>
            <a:r>
              <a:rPr lang="en-US" sz="2800" dirty="0"/>
              <a:t>Endpoint security solutions — EDR, anti‑malware, host firewalls, device hardening, and remote/mobile protections</a:t>
            </a:r>
          </a:p>
          <a:p>
            <a:r>
              <a:rPr lang="en-US" sz="2800" dirty="0"/>
              <a:t>Zero Trust principles — continuous verification, micro‑segmentation, identity‑centric access</a:t>
            </a:r>
          </a:p>
          <a:p>
            <a:r>
              <a:rPr lang="en-US" sz="2800" dirty="0"/>
              <a:t>Secure communications — TLS, VPNs, certificates, and protocol selection</a:t>
            </a:r>
          </a:p>
          <a:p>
            <a:r>
              <a:rPr lang="en-US" sz="2800" dirty="0"/>
              <a:t>Application security fundamentals — secure coding, input validation, API security, and SDLC integration</a:t>
            </a:r>
          </a:p>
        </p:txBody>
      </p:sp>
    </p:spTree>
    <p:extLst>
      <p:ext uri="{BB962C8B-B14F-4D97-AF65-F5344CB8AC3E}">
        <p14:creationId xmlns:p14="http://schemas.microsoft.com/office/powerpoint/2010/main" val="34901299"/>
      </p:ext>
    </p:extLst>
  </p:cSld>
  <p:clrMapOvr>
    <a:masterClrMapping/>
  </p:clrMapOvr>
</p:sld>
</file>

<file path=ppt/slides/slide2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15194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C4F2E80-E27F-B4A6-82FF-548C9D3A52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94A2A0D7-1393-11AB-5D07-539EDC1BE23D}"/>
              </a:ext>
            </a:extLst>
          </p:cNvPr>
          <p:cNvGrpSpPr/>
          <p:nvPr/>
        </p:nvGrpSpPr>
        <p:grpSpPr>
          <a:xfrm rot="-5400000">
            <a:off x="12015831" y="4014831"/>
            <a:ext cx="10287000" cy="2257339"/>
            <a:chOff x="0" y="0"/>
            <a:chExt cx="2709333" cy="59452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8D1A2999-6EC5-BEDB-197E-C4F83A06EC30}"/>
                </a:ext>
              </a:extLst>
            </p:cNvPr>
            <p:cNvSpPr/>
            <p:nvPr/>
          </p:nvSpPr>
          <p:spPr>
            <a:xfrm>
              <a:off x="0" y="0"/>
              <a:ext cx="2709333" cy="594525"/>
            </a:xfrm>
            <a:custGeom>
              <a:avLst/>
              <a:gdLst/>
              <a:ahLst/>
              <a:cxnLst/>
              <a:rect l="l" t="t" r="r" b="b"/>
              <a:pathLst>
                <a:path w="2709333" h="594525">
                  <a:moveTo>
                    <a:pt x="0" y="0"/>
                  </a:moveTo>
                  <a:lnTo>
                    <a:pt x="2709333" y="0"/>
                  </a:lnTo>
                  <a:lnTo>
                    <a:pt x="2709333" y="594525"/>
                  </a:lnTo>
                  <a:lnTo>
                    <a:pt x="0" y="594525"/>
                  </a:lnTo>
                  <a:close/>
                </a:path>
              </a:pathLst>
            </a:custGeom>
            <a:solidFill>
              <a:srgbClr val="0283FD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BDB3B177-64AE-A9B1-A8D7-7E0ED4DF51A3}"/>
                </a:ext>
              </a:extLst>
            </p:cNvPr>
            <p:cNvSpPr txBox="1"/>
            <p:nvPr/>
          </p:nvSpPr>
          <p:spPr>
            <a:xfrm>
              <a:off x="0" y="-66675"/>
              <a:ext cx="2709333" cy="6612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3024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CE3457A2-FDE9-6C0B-AB97-AAF4D7921587}"/>
              </a:ext>
            </a:extLst>
          </p:cNvPr>
          <p:cNvGrpSpPr/>
          <p:nvPr/>
        </p:nvGrpSpPr>
        <p:grpSpPr>
          <a:xfrm>
            <a:off x="179467" y="6643814"/>
            <a:ext cx="8126333" cy="3488267"/>
            <a:chOff x="0" y="0"/>
            <a:chExt cx="844714" cy="36259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500CAB25-A92E-10D1-7147-70816E124B36}"/>
                </a:ext>
              </a:extLst>
            </p:cNvPr>
            <p:cNvSpPr/>
            <p:nvPr/>
          </p:nvSpPr>
          <p:spPr>
            <a:xfrm>
              <a:off x="0" y="0"/>
              <a:ext cx="844714" cy="362598"/>
            </a:xfrm>
            <a:custGeom>
              <a:avLst/>
              <a:gdLst/>
              <a:ahLst/>
              <a:cxnLst/>
              <a:rect l="l" t="t" r="r" b="b"/>
              <a:pathLst>
                <a:path w="844714" h="362598">
                  <a:moveTo>
                    <a:pt x="203200" y="0"/>
                  </a:moveTo>
                  <a:lnTo>
                    <a:pt x="844714" y="0"/>
                  </a:lnTo>
                  <a:lnTo>
                    <a:pt x="641514" y="362598"/>
                  </a:lnTo>
                  <a:lnTo>
                    <a:pt x="0" y="362598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283FD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600A68ED-5034-8EC9-F18E-47F4240304AE}"/>
                </a:ext>
              </a:extLst>
            </p:cNvPr>
            <p:cNvSpPr txBox="1"/>
            <p:nvPr/>
          </p:nvSpPr>
          <p:spPr>
            <a:xfrm>
              <a:off x="101600" y="-28575"/>
              <a:ext cx="641514" cy="391173"/>
            </a:xfrm>
            <a:prstGeom prst="rect">
              <a:avLst/>
            </a:prstGeom>
          </p:spPr>
          <p:txBody>
            <a:bodyPr lIns="47790" tIns="47790" rIns="47790" bIns="4779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1843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B69BF800-61D4-8CFF-FA85-76A543834085}"/>
              </a:ext>
            </a:extLst>
          </p:cNvPr>
          <p:cNvGrpSpPr/>
          <p:nvPr/>
        </p:nvGrpSpPr>
        <p:grpSpPr>
          <a:xfrm>
            <a:off x="-73552" y="7047924"/>
            <a:ext cx="16030661" cy="3336996"/>
            <a:chOff x="0" y="0"/>
            <a:chExt cx="6165409" cy="1271237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44F26780-2E97-8C7E-5446-8769D18C5869}"/>
                </a:ext>
              </a:extLst>
            </p:cNvPr>
            <p:cNvSpPr/>
            <p:nvPr/>
          </p:nvSpPr>
          <p:spPr>
            <a:xfrm>
              <a:off x="0" y="0"/>
              <a:ext cx="6165409" cy="1271237"/>
            </a:xfrm>
            <a:custGeom>
              <a:avLst/>
              <a:gdLst/>
              <a:ahLst/>
              <a:cxnLst/>
              <a:rect l="l" t="t" r="r" b="b"/>
              <a:pathLst>
                <a:path w="6165409" h="1271237">
                  <a:moveTo>
                    <a:pt x="0" y="0"/>
                  </a:moveTo>
                  <a:lnTo>
                    <a:pt x="6165409" y="0"/>
                  </a:lnTo>
                  <a:lnTo>
                    <a:pt x="6165409" y="1271237"/>
                  </a:lnTo>
                  <a:lnTo>
                    <a:pt x="0" y="127123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D3F7B9D8-7D14-37B4-607D-6D54F7563804}"/>
                </a:ext>
              </a:extLst>
            </p:cNvPr>
            <p:cNvSpPr txBox="1"/>
            <p:nvPr/>
          </p:nvSpPr>
          <p:spPr>
            <a:xfrm>
              <a:off x="0" y="-28575"/>
              <a:ext cx="6165409" cy="1299812"/>
            </a:xfrm>
            <a:prstGeom prst="rect">
              <a:avLst/>
            </a:prstGeom>
          </p:spPr>
          <p:txBody>
            <a:bodyPr lIns="47790" tIns="47790" rIns="47790" bIns="4779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1843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sp>
        <p:nvSpPr>
          <p:cNvPr id="12" name="TextBox 12">
            <a:extLst>
              <a:ext uri="{FF2B5EF4-FFF2-40B4-BE49-F238E27FC236}">
                <a16:creationId xmlns:a16="http://schemas.microsoft.com/office/drawing/2014/main" id="{8BEA0219-45BD-6E70-9AFF-207CCCDDE2BE}"/>
              </a:ext>
            </a:extLst>
          </p:cNvPr>
          <p:cNvSpPr txBox="1"/>
          <p:nvPr/>
        </p:nvSpPr>
        <p:spPr>
          <a:xfrm>
            <a:off x="1111666" y="3432993"/>
            <a:ext cx="14771892" cy="598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4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Day 4 – Block 1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F304BA3B-5979-7ECF-38DA-08C24BBCA127}"/>
              </a:ext>
            </a:extLst>
          </p:cNvPr>
          <p:cNvSpPr txBox="1"/>
          <p:nvPr/>
        </p:nvSpPr>
        <p:spPr>
          <a:xfrm>
            <a:off x="1111666" y="9653992"/>
            <a:ext cx="12263263" cy="3619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0" i="0" u="none" strike="noStrike" kern="1200" cap="none" spc="0" normalizeH="0" baseline="0" noProof="0">
                <a:ln>
                  <a:noFill/>
                </a:ln>
                <a:solidFill>
                  <a:srgbClr val="252525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CALIFORNIA INSTITUTE OF APPLIED TECHNOLOGY</a:t>
            </a:r>
          </a:p>
        </p:txBody>
      </p:sp>
      <p:sp>
        <p:nvSpPr>
          <p:cNvPr id="15" name="AutoShape 15">
            <a:extLst>
              <a:ext uri="{FF2B5EF4-FFF2-40B4-BE49-F238E27FC236}">
                <a16:creationId xmlns:a16="http://schemas.microsoft.com/office/drawing/2014/main" id="{16E12A6D-EF3E-4228-5887-3ACABBEB69CC}"/>
              </a:ext>
            </a:extLst>
          </p:cNvPr>
          <p:cNvSpPr/>
          <p:nvPr/>
        </p:nvSpPr>
        <p:spPr>
          <a:xfrm>
            <a:off x="8010568" y="9858838"/>
            <a:ext cx="7625672" cy="0"/>
          </a:xfrm>
          <a:prstGeom prst="line">
            <a:avLst/>
          </a:prstGeom>
          <a:ln w="19050" cap="flat">
            <a:solidFill>
              <a:srgbClr val="0283F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7" name="Freeform 5">
            <a:extLst>
              <a:ext uri="{FF2B5EF4-FFF2-40B4-BE49-F238E27FC236}">
                <a16:creationId xmlns:a16="http://schemas.microsoft.com/office/drawing/2014/main" id="{3B01416E-02C8-F2B7-BBEE-7AF9D4356D1C}"/>
              </a:ext>
            </a:extLst>
          </p:cNvPr>
          <p:cNvSpPr/>
          <p:nvPr/>
        </p:nvSpPr>
        <p:spPr>
          <a:xfrm>
            <a:off x="1111666" y="355081"/>
            <a:ext cx="4247850" cy="631936"/>
          </a:xfrm>
          <a:custGeom>
            <a:avLst/>
            <a:gdLst/>
            <a:ahLst/>
            <a:cxnLst/>
            <a:rect l="l" t="t" r="r" b="b"/>
            <a:pathLst>
              <a:path w="4247850" h="631936">
                <a:moveTo>
                  <a:pt x="0" y="0"/>
                </a:moveTo>
                <a:lnTo>
                  <a:pt x="4247850" y="0"/>
                </a:lnTo>
                <a:lnTo>
                  <a:pt x="4247850" y="631935"/>
                </a:lnTo>
                <a:lnTo>
                  <a:pt x="0" y="63193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5" r="-5"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A24D9EF-1345-07AC-2F86-215CBE3746B2}"/>
              </a:ext>
            </a:extLst>
          </p:cNvPr>
          <p:cNvSpPr txBox="1"/>
          <p:nvPr/>
        </p:nvSpPr>
        <p:spPr>
          <a:xfrm>
            <a:off x="1111666" y="7106062"/>
            <a:ext cx="11918534" cy="21544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dirty="0"/>
              <a:t>Security Operations &amp; Monitoring</a:t>
            </a:r>
          </a:p>
          <a:p>
            <a:pPr lvl="1"/>
            <a:r>
              <a:rPr lang="en-US" altLang="en-US" sz="1400" dirty="0"/>
              <a:t>SIEM</a:t>
            </a:r>
          </a:p>
          <a:p>
            <a:pPr lvl="1"/>
            <a:r>
              <a:rPr lang="en-US" altLang="en-US" sz="1400" dirty="0"/>
              <a:t>SOAR</a:t>
            </a:r>
          </a:p>
          <a:p>
            <a:pPr lvl="1"/>
            <a:r>
              <a:rPr lang="en-US" altLang="en-US" sz="1400" dirty="0"/>
              <a:t>Log Analysis</a:t>
            </a:r>
          </a:p>
          <a:p>
            <a:pPr lvl="1"/>
            <a:r>
              <a:rPr lang="en-US" altLang="en-US" sz="1400" dirty="0"/>
              <a:t>Security Metrics</a:t>
            </a:r>
          </a:p>
          <a:p>
            <a:pPr lvl="1"/>
            <a:r>
              <a:rPr lang="en-US" altLang="en-US" sz="1400" dirty="0"/>
              <a:t>KPIs</a:t>
            </a:r>
          </a:p>
          <a:p>
            <a:r>
              <a:rPr lang="en-US" altLang="en-US" dirty="0"/>
              <a:t>uCertify Lab</a:t>
            </a:r>
          </a:p>
          <a:p>
            <a:pPr lvl="1"/>
            <a:r>
              <a:rPr lang="en-US" altLang="en-US" sz="1400" dirty="0"/>
              <a:t>22.1.2 Viewing Windows Event Logs</a:t>
            </a:r>
          </a:p>
          <a:p>
            <a:pPr lvl="1"/>
            <a:r>
              <a:rPr lang="en-US" altLang="en-US" sz="1400" dirty="0"/>
              <a:t>22.1.1 Viewing Linux Event Logs (instructor optional)</a:t>
            </a:r>
          </a:p>
        </p:txBody>
      </p:sp>
    </p:spTree>
    <p:extLst>
      <p:ext uri="{BB962C8B-B14F-4D97-AF65-F5344CB8AC3E}">
        <p14:creationId xmlns:p14="http://schemas.microsoft.com/office/powerpoint/2010/main" val="365745336"/>
      </p:ext>
    </p:extLst>
  </p:cSld>
  <p:clrMapOvr>
    <a:masterClrMapping/>
  </p:clrMapOvr>
</p:sld>
</file>

<file path=ppt/slides/slide2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3B7BB7-23F5-6817-97E5-598E96BDC9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C24EC21-1B6F-B3BF-C93E-8D04405374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Slide </a:t>
            </a:r>
            <a:fld id="{4CA2B2DB-B91D-4166-98BF-65A0DA7EEE6D}" type="slidenum">
              <a:rPr kumimoji="0" lang="en-US" sz="1800" b="0" i="1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249</a:t>
            </a:fld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5E0E96-910D-86CB-E133-DBC21BBDC9AE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2536823"/>
            <a:ext cx="16192500" cy="6416677"/>
          </a:xfrm>
        </p:spPr>
        <p:txBody>
          <a:bodyPr/>
          <a:lstStyle/>
          <a:p>
            <a:pPr marL="0" indent="0">
              <a:spcBef>
                <a:spcPts val="900"/>
              </a:spcBef>
              <a:buNone/>
            </a:pPr>
            <a:r>
              <a:rPr lang="en-US" altLang="en-US" sz="4400" b="1" dirty="0"/>
              <a:t>Monitoring computing resources</a:t>
            </a:r>
            <a:r>
              <a:rPr lang="en-US" altLang="en-US" sz="4400" dirty="0"/>
              <a:t> means continuously overseeing an organization's IT assets to ensure they operate within normal parameters.</a:t>
            </a:r>
          </a:p>
          <a:p>
            <a:pPr>
              <a:spcBef>
                <a:spcPts val="900"/>
              </a:spcBef>
            </a:pPr>
            <a:r>
              <a:rPr lang="en-US" altLang="en-US" sz="4000" b="1" dirty="0"/>
              <a:t>System monitoring</a:t>
            </a:r>
            <a:r>
              <a:rPr lang="en-US" altLang="en-US" sz="4000" dirty="0"/>
              <a:t>: Ensures the entire system (servers, devices, and workstations) is vulnerability-free and performing optimally </a:t>
            </a:r>
          </a:p>
          <a:p>
            <a:pPr>
              <a:spcBef>
                <a:spcPts val="900"/>
              </a:spcBef>
            </a:pPr>
            <a:r>
              <a:rPr lang="en-US" altLang="en-US" sz="4000" b="1" dirty="0"/>
              <a:t>Application monitoring</a:t>
            </a:r>
            <a:r>
              <a:rPr lang="en-US" altLang="en-US" sz="4000" dirty="0"/>
              <a:t>: Ensures software applications are secure, responsive, and optimized for performance</a:t>
            </a:r>
          </a:p>
          <a:p>
            <a:pPr>
              <a:spcBef>
                <a:spcPts val="900"/>
              </a:spcBef>
            </a:pPr>
            <a:r>
              <a:rPr lang="en-US" altLang="en-US" sz="4000" b="1" dirty="0"/>
              <a:t>Infrastructure monitoring</a:t>
            </a:r>
            <a:r>
              <a:rPr lang="en-US" altLang="en-US" sz="4000" dirty="0"/>
              <a:t>: Ensures cohesive and secure operation of all technological components within an organization 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89A89-A4E5-FF94-3DC3-1CC32E38E1A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3A29670E-8873-E8DA-7430-D1A8E98BE5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60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Monitoring and Computing Resources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4138478212"/>
      </p:ext>
    </p:extLst>
  </p:cSld>
  <p:clrMapOvr>
    <a:masterClrMapping/>
  </p:clrMapOvr>
</p:sld>
</file>

<file path=ppt/slides/slide2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4CEB54-13E4-3E47-5290-963EF307AE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A212D8F-5B42-C092-8A5F-4596E04B95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Slide </a:t>
            </a:r>
            <a:fld id="{4CA2B2DB-B91D-4166-98BF-65A0DA7EEE6D}" type="slidenum">
              <a:rPr kumimoji="0" lang="en-US" sz="1800" b="0" i="1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250</a:t>
            </a:fld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C90C67-6054-C7D2-2227-5EE09B913714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2536823"/>
            <a:ext cx="16192500" cy="6416677"/>
          </a:xfrm>
        </p:spPr>
        <p:txBody>
          <a:bodyPr/>
          <a:lstStyle/>
          <a:p>
            <a:pPr marL="0" indent="0">
              <a:spcBef>
                <a:spcPts val="900"/>
              </a:spcBef>
              <a:buNone/>
            </a:pPr>
            <a:r>
              <a:rPr lang="en-US" altLang="en-US" sz="3900" b="1" dirty="0"/>
              <a:t>Log aggregation </a:t>
            </a:r>
            <a:r>
              <a:rPr lang="en-US" altLang="en-US" sz="3900" dirty="0"/>
              <a:t>involves gathering log data from various sources into a centralized repository for examination.</a:t>
            </a:r>
          </a:p>
          <a:p>
            <a:pPr>
              <a:spcBef>
                <a:spcPts val="900"/>
              </a:spcBef>
            </a:pPr>
            <a:r>
              <a:rPr lang="en-US" altLang="en-US" sz="3600" dirty="0"/>
              <a:t>A critical process</a:t>
            </a:r>
          </a:p>
          <a:p>
            <a:pPr>
              <a:spcBef>
                <a:spcPts val="900"/>
              </a:spcBef>
            </a:pPr>
            <a:r>
              <a:rPr lang="en-US" altLang="en-US" sz="3600" dirty="0"/>
              <a:t>Helps turn isolated data points into a coherent narrative</a:t>
            </a:r>
          </a:p>
          <a:p>
            <a:pPr marL="0" indent="0">
              <a:spcBef>
                <a:spcPts val="900"/>
              </a:spcBef>
              <a:buNone/>
            </a:pPr>
            <a:endParaRPr lang="en-US" altLang="en-US" sz="3300" dirty="0"/>
          </a:p>
          <a:p>
            <a:pPr marL="0" indent="0">
              <a:spcBef>
                <a:spcPts val="900"/>
              </a:spcBef>
              <a:buNone/>
            </a:pPr>
            <a:r>
              <a:rPr lang="en-US" altLang="en-US" sz="3600" b="1" dirty="0"/>
              <a:t>Log aggregation tools and processes</a:t>
            </a:r>
          </a:p>
          <a:p>
            <a:pPr lvl="1">
              <a:spcBef>
                <a:spcPts val="900"/>
              </a:spcBef>
            </a:pPr>
            <a:r>
              <a:rPr lang="en-US" altLang="en-US" sz="3600" dirty="0"/>
              <a:t>SIEM  </a:t>
            </a:r>
          </a:p>
          <a:p>
            <a:pPr lvl="1">
              <a:spcBef>
                <a:spcPts val="900"/>
              </a:spcBef>
            </a:pPr>
            <a:r>
              <a:rPr lang="en-US" altLang="en-US" sz="3600" dirty="0"/>
              <a:t>syslog-ng</a:t>
            </a:r>
          </a:p>
          <a:p>
            <a:pPr lvl="1">
              <a:spcBef>
                <a:spcPts val="900"/>
              </a:spcBef>
            </a:pPr>
            <a:r>
              <a:rPr lang="en-US" altLang="en-US" sz="3600" dirty="0" err="1"/>
              <a:t>rsyslog</a:t>
            </a:r>
            <a:endParaRPr lang="en-US" altLang="en-US" sz="36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D13EBC8-060E-6046-D60D-18F7DC69B7A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420C819E-AEFD-1AF2-5C01-62F1ABCFF7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60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Log Aggregation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1922562528"/>
      </p:ext>
    </p:extLst>
  </p:cSld>
  <p:clrMapOvr>
    <a:masterClrMapping/>
  </p:clrMapOvr>
</p:sld>
</file>

<file path=ppt/slides/slide2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5880B1-39E1-2A57-5D53-5BECFE54CC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DC0416A-B3FE-50EE-7724-05943528AF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Slide </a:t>
            </a:r>
            <a:fld id="{4CA2B2DB-B91D-4166-98BF-65A0DA7EEE6D}" type="slidenum">
              <a:rPr kumimoji="0" lang="en-US" sz="1800" b="0" i="1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251</a:t>
            </a:fld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A32A32-7110-8822-C323-E7E31FBE5394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2536823"/>
            <a:ext cx="16192500" cy="6416677"/>
          </a:xfrm>
        </p:spPr>
        <p:txBody>
          <a:bodyPr/>
          <a:lstStyle/>
          <a:p>
            <a:pPr marL="0" indent="0">
              <a:spcBef>
                <a:spcPts val="900"/>
              </a:spcBef>
              <a:buNone/>
            </a:pPr>
            <a:r>
              <a:rPr lang="en-US" altLang="en-US" sz="3900" b="1" dirty="0"/>
              <a:t>Alerting </a:t>
            </a:r>
            <a:r>
              <a:rPr lang="en-US" altLang="en-US" sz="3900" dirty="0"/>
              <a:t>is the early warning system for security infrastructure.</a:t>
            </a:r>
          </a:p>
          <a:p>
            <a:pPr>
              <a:spcBef>
                <a:spcPts val="900"/>
              </a:spcBef>
            </a:pPr>
            <a:r>
              <a:rPr lang="en-US" altLang="en-US" sz="3600" dirty="0"/>
              <a:t>Using predefined rules, alerts indicate when immediate attention is required.</a:t>
            </a:r>
          </a:p>
          <a:p>
            <a:pPr>
              <a:spcBef>
                <a:spcPts val="900"/>
              </a:spcBef>
            </a:pPr>
            <a:r>
              <a:rPr lang="en-US" altLang="en-US" sz="3600" b="1" dirty="0"/>
              <a:t>Alert turning </a:t>
            </a:r>
            <a:r>
              <a:rPr lang="en-US" altLang="en-US" sz="3600" dirty="0"/>
              <a:t>refers to setting the alert sensitivity.</a:t>
            </a:r>
          </a:p>
          <a:p>
            <a:pPr lvl="1">
              <a:spcBef>
                <a:spcPts val="900"/>
              </a:spcBef>
            </a:pPr>
            <a:r>
              <a:rPr lang="en-US" altLang="en-US" sz="3300" dirty="0"/>
              <a:t>	If too stringent, genuine alerts are likely to be ignored among many false 	positives</a:t>
            </a:r>
          </a:p>
          <a:p>
            <a:pPr lvl="1">
              <a:spcBef>
                <a:spcPts val="900"/>
              </a:spcBef>
            </a:pPr>
            <a:r>
              <a:rPr lang="en-US" altLang="en-US" sz="3300" dirty="0"/>
              <a:t>	If too lax, alerts may not trigger when genuine threats occur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119CE5D-E89A-C0E3-F0DB-7616EAC1DE3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9A1550B-793D-F749-5D71-842FC8A923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60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Alerting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4058268830"/>
      </p:ext>
    </p:extLst>
  </p:cSld>
  <p:clrMapOvr>
    <a:masterClrMapping/>
  </p:clrMapOvr>
</p:sld>
</file>

<file path=ppt/slides/slide2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E0D8FC-6624-9FE7-2C53-4328915F77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32BDD84-6C48-904C-6867-EF1DE8DC9D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Slide </a:t>
            </a:r>
            <a:fld id="{4CA2B2DB-B91D-4166-98BF-65A0DA7EEE6D}" type="slidenum">
              <a:rPr kumimoji="0" lang="en-US" sz="1800" b="0" i="1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252</a:t>
            </a:fld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6AEDB9-53BF-0AB3-0268-CE676DAB23E4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2536823"/>
            <a:ext cx="16192500" cy="6416677"/>
          </a:xfrm>
        </p:spPr>
        <p:txBody>
          <a:bodyPr/>
          <a:lstStyle/>
          <a:p>
            <a:pPr marL="0" indent="0">
              <a:spcBef>
                <a:spcPts val="900"/>
              </a:spcBef>
              <a:buNone/>
            </a:pPr>
            <a:r>
              <a:rPr lang="en-US" altLang="en-US" sz="3900" dirty="0"/>
              <a:t>An </a:t>
            </a:r>
            <a:r>
              <a:rPr lang="en-US" altLang="en-US" sz="3900" b="1" dirty="0"/>
              <a:t>SIEM</a:t>
            </a:r>
            <a:r>
              <a:rPr lang="en-US" altLang="en-US" sz="3900" dirty="0"/>
              <a:t> </a:t>
            </a:r>
            <a:r>
              <a:rPr lang="en-US" altLang="en-US" sz="3900" b="1" dirty="0"/>
              <a:t>system</a:t>
            </a:r>
            <a:r>
              <a:rPr lang="en-US" altLang="en-US" sz="3900" dirty="0"/>
              <a:t> is a specialized device or software for security monitoring. It collects, correlates, and analyzes logs from multiple systems.</a:t>
            </a:r>
          </a:p>
          <a:p>
            <a:pPr marL="0" indent="0">
              <a:spcBef>
                <a:spcPts val="900"/>
              </a:spcBef>
              <a:buNone/>
            </a:pPr>
            <a:r>
              <a:rPr lang="en-US" altLang="en-US" sz="3900" b="1" dirty="0"/>
              <a:t>SIEM functions</a:t>
            </a:r>
          </a:p>
          <a:p>
            <a:pPr lvl="1">
              <a:spcBef>
                <a:spcPts val="900"/>
              </a:spcBef>
            </a:pPr>
            <a:r>
              <a:rPr lang="en-US" altLang="en-US" sz="3600" dirty="0"/>
              <a:t>	Log collection</a:t>
            </a:r>
          </a:p>
          <a:p>
            <a:pPr lvl="1">
              <a:spcBef>
                <a:spcPts val="900"/>
              </a:spcBef>
            </a:pPr>
            <a:r>
              <a:rPr lang="en-US" altLang="en-US" sz="3600" dirty="0"/>
              <a:t>	Log normalization</a:t>
            </a:r>
          </a:p>
          <a:p>
            <a:pPr lvl="1">
              <a:spcBef>
                <a:spcPts val="900"/>
              </a:spcBef>
            </a:pPr>
            <a:r>
              <a:rPr lang="en-US" altLang="en-US" sz="3600" dirty="0"/>
              <a:t>	Log aggregation</a:t>
            </a:r>
          </a:p>
          <a:p>
            <a:pPr lvl="1">
              <a:spcBef>
                <a:spcPts val="900"/>
              </a:spcBef>
            </a:pPr>
            <a:r>
              <a:rPr lang="en-US" altLang="en-US" sz="3600" dirty="0"/>
              <a:t>	Log correlation</a:t>
            </a:r>
          </a:p>
          <a:p>
            <a:pPr lvl="1">
              <a:spcBef>
                <a:spcPts val="900"/>
              </a:spcBef>
            </a:pPr>
            <a:r>
              <a:rPr lang="en-US" altLang="en-US" sz="3600" dirty="0"/>
              <a:t>	Reporting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2C5198E-40AA-68C6-3908-D9FCC5955E1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35412677-3898-6FFA-6A1C-5637565380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54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Security Information and Event Management SIEM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3900872084"/>
      </p:ext>
    </p:extLst>
  </p:cSld>
  <p:clrMapOvr>
    <a:masterClrMapping/>
  </p:clrMapOvr>
</p:sld>
</file>

<file path=ppt/slides/slide2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17C142-345C-BED6-1535-628A2A8D9F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BEDA5BC-6231-5377-73D8-EA34BB4883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Slide </a:t>
            </a:r>
            <a:fld id="{4CA2B2DB-B91D-4166-98BF-65A0DA7EEE6D}" type="slidenum">
              <a:rPr kumimoji="0" lang="en-US" sz="1800" b="0" i="1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253</a:t>
            </a:fld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628C02-4B09-A9EA-8CC3-C281A63FED90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2536823"/>
            <a:ext cx="16192500" cy="6416677"/>
          </a:xfrm>
        </p:spPr>
        <p:txBody>
          <a:bodyPr/>
          <a:lstStyle/>
          <a:p>
            <a:pPr marL="0" indent="0">
              <a:spcBef>
                <a:spcPts val="900"/>
              </a:spcBef>
              <a:buNone/>
            </a:pPr>
            <a:r>
              <a:rPr lang="en-US" altLang="en-US" sz="3900" b="1" dirty="0"/>
              <a:t>NetFlow</a:t>
            </a:r>
            <a:r>
              <a:rPr lang="en-US" altLang="en-US" sz="3900" dirty="0"/>
              <a:t> is a protocol that collects and monitors network traffic data.</a:t>
            </a:r>
          </a:p>
          <a:p>
            <a:pPr>
              <a:spcBef>
                <a:spcPts val="900"/>
              </a:spcBef>
            </a:pPr>
            <a:r>
              <a:rPr lang="en-US" altLang="en-US" sz="3600" dirty="0"/>
              <a:t>Provides various traffic insights</a:t>
            </a:r>
          </a:p>
          <a:p>
            <a:pPr lvl="1">
              <a:spcBef>
                <a:spcPts val="900"/>
              </a:spcBef>
            </a:pPr>
            <a:r>
              <a:rPr lang="en-US" altLang="en-US" sz="3600" dirty="0"/>
              <a:t>	Source</a:t>
            </a:r>
          </a:p>
          <a:p>
            <a:pPr lvl="1">
              <a:spcBef>
                <a:spcPts val="900"/>
              </a:spcBef>
            </a:pPr>
            <a:r>
              <a:rPr lang="en-US" altLang="en-US" sz="3600" dirty="0"/>
              <a:t>	Destination</a:t>
            </a:r>
          </a:p>
          <a:p>
            <a:pPr lvl="1">
              <a:spcBef>
                <a:spcPts val="900"/>
              </a:spcBef>
            </a:pPr>
            <a:r>
              <a:rPr lang="en-US" altLang="en-US" sz="3600" dirty="0"/>
              <a:t>	Volume </a:t>
            </a:r>
          </a:p>
          <a:p>
            <a:pPr lvl="1">
              <a:spcBef>
                <a:spcPts val="900"/>
              </a:spcBef>
            </a:pPr>
            <a:r>
              <a:rPr lang="en-US" altLang="en-US" sz="3600" dirty="0"/>
              <a:t>	Paths</a:t>
            </a:r>
          </a:p>
          <a:p>
            <a:pPr>
              <a:spcBef>
                <a:spcPts val="900"/>
              </a:spcBef>
            </a:pPr>
            <a:r>
              <a:rPr lang="en-US" altLang="en-US" sz="3600" dirty="0"/>
              <a:t>Essential for traffic profiling and anomaly detection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52E1D1C-1CE2-78A2-D239-6B392D4C251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6A1ABF0-7086-5DE5-452A-D7D2C6DC03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54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NetFlow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3443703909"/>
      </p:ext>
    </p:extLst>
  </p:cSld>
  <p:clrMapOvr>
    <a:masterClrMapping/>
  </p:clrMapOvr>
</p:sld>
</file>

<file path=ppt/slides/slide2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1CAF12-5F20-CBBE-D820-A9F54947A2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6A05215-34FF-4709-910F-F68343AE2B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Slide </a:t>
            </a:r>
            <a:fld id="{4CA2B2DB-B91D-4166-98BF-65A0DA7EEE6D}" type="slidenum">
              <a:rPr kumimoji="0" lang="en-US" sz="1800" b="0" i="1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254</a:t>
            </a:fld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2D7B46-3300-0634-0D0D-1A701502E04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2536823"/>
            <a:ext cx="16192500" cy="6416677"/>
          </a:xfrm>
        </p:spPr>
        <p:txBody>
          <a:bodyPr/>
          <a:lstStyle/>
          <a:p>
            <a:pPr marL="0" indent="0">
              <a:spcBef>
                <a:spcPts val="900"/>
              </a:spcBef>
              <a:buNone/>
            </a:pPr>
            <a:r>
              <a:rPr lang="en-US" altLang="en-US" sz="4400" b="1" dirty="0"/>
              <a:t>Antivirus software </a:t>
            </a:r>
            <a:r>
              <a:rPr lang="en-US" altLang="en-US" sz="4400" dirty="0"/>
              <a:t>prevents, detects, and removes malware.</a:t>
            </a:r>
          </a:p>
          <a:p>
            <a:pPr>
              <a:spcBef>
                <a:spcPts val="900"/>
              </a:spcBef>
            </a:pPr>
            <a:r>
              <a:rPr lang="en-US" altLang="en-US" sz="4000" dirty="0"/>
              <a:t>Also known as anti-malware</a:t>
            </a:r>
          </a:p>
          <a:p>
            <a:pPr>
              <a:spcBef>
                <a:spcPts val="900"/>
              </a:spcBef>
            </a:pPr>
            <a:r>
              <a:rPr lang="en-US" altLang="en-US" sz="4000" dirty="0"/>
              <a:t>Viruses and Trojans can damage networks and are costly to overcome; ransomware alone has cost victims billions of dollars.</a:t>
            </a:r>
          </a:p>
          <a:p>
            <a:pPr>
              <a:spcBef>
                <a:spcPts val="900"/>
              </a:spcBef>
            </a:pPr>
            <a:r>
              <a:rPr lang="en-US" altLang="en-US" sz="4000" dirty="0"/>
              <a:t>Every endpoint device, including workstations, tablets, and phones, should have antivirus software to ensure comprehensive protection.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FFC4446-D0A7-C97A-89E0-22EAC12DC6A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E7EFED1F-9AD4-18DF-2C46-8B30CC69E5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54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Antivirus Software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1335546159"/>
      </p:ext>
    </p:extLst>
  </p:cSld>
  <p:clrMapOvr>
    <a:masterClrMapping/>
  </p:clrMapOvr>
</p:sld>
</file>

<file path=ppt/slides/slide2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80B284-4139-76C2-935F-915C073F7C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22E5D28-6E7B-3B61-A556-0C5084E1D8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Slide </a:t>
            </a:r>
            <a:fld id="{4CA2B2DB-B91D-4166-98BF-65A0DA7EEE6D}" type="slidenum">
              <a:rPr kumimoji="0" lang="en-US" sz="1800" b="0" i="1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255</a:t>
            </a:fld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67F07C-BD55-C7A0-B3C6-A8503CF650C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2536823"/>
            <a:ext cx="16192500" cy="6416677"/>
          </a:xfrm>
        </p:spPr>
        <p:txBody>
          <a:bodyPr/>
          <a:lstStyle/>
          <a:p>
            <a:pPr marL="0" indent="0">
              <a:spcBef>
                <a:spcPts val="900"/>
              </a:spcBef>
              <a:buNone/>
            </a:pPr>
            <a:r>
              <a:rPr lang="en-US" altLang="en-US" sz="3900" b="1" dirty="0"/>
              <a:t>Data loss prevention (DLP) </a:t>
            </a:r>
            <a:r>
              <a:rPr lang="en-US" altLang="en-US" sz="3900" dirty="0"/>
              <a:t>is a comprehensive data protection strategy that uses tools to detect potential data breaches and prevent exfiltration.</a:t>
            </a:r>
          </a:p>
          <a:p>
            <a:pPr>
              <a:spcBef>
                <a:spcPts val="900"/>
              </a:spcBef>
            </a:pPr>
            <a:r>
              <a:rPr lang="en-US" altLang="en-US" sz="3600" dirty="0"/>
              <a:t>Monitors, detects, and blocks data in use, in motion, and at rest</a:t>
            </a:r>
          </a:p>
          <a:p>
            <a:pPr>
              <a:spcBef>
                <a:spcPts val="900"/>
              </a:spcBef>
            </a:pPr>
            <a:r>
              <a:rPr lang="en-US" altLang="en-US" sz="3600" dirty="0"/>
              <a:t>Enforces policies defined by regulatory bodies</a:t>
            </a:r>
          </a:p>
          <a:p>
            <a:pPr lvl="1">
              <a:spcBef>
                <a:spcPts val="900"/>
              </a:spcBef>
            </a:pPr>
            <a:r>
              <a:rPr lang="en-US" altLang="en-US" sz="3300" dirty="0"/>
              <a:t>	HIPPA</a:t>
            </a:r>
          </a:p>
          <a:p>
            <a:pPr lvl="1">
              <a:spcBef>
                <a:spcPts val="900"/>
              </a:spcBef>
            </a:pPr>
            <a:r>
              <a:rPr lang="en-US" altLang="en-US" sz="3300" dirty="0"/>
              <a:t>	PCI DCS</a:t>
            </a:r>
          </a:p>
          <a:p>
            <a:pPr lvl="1">
              <a:spcBef>
                <a:spcPts val="900"/>
              </a:spcBef>
            </a:pPr>
            <a:r>
              <a:rPr lang="en-US" altLang="en-US" sz="3300" dirty="0"/>
              <a:t>	GDPR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36D5168-D816-023F-FC50-B4476310A7A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26758AFD-B482-A2D7-F1B5-2835A0A776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54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Data Loss Prevention DLP 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3151076224"/>
      </p:ext>
    </p:extLst>
  </p:cSld>
  <p:clrMapOvr>
    <a:masterClrMapping/>
  </p:clrMapOvr>
</p:sld>
</file>

<file path=ppt/slides/slide2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5179A0-F29A-FEA0-ED58-58B7A995E9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15A0CC8-5ED8-57AA-2B97-603CF0C012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Slide </a:t>
            </a:r>
            <a:fld id="{4CA2B2DB-B91D-4166-98BF-65A0DA7EEE6D}" type="slidenum">
              <a:rPr kumimoji="0" lang="en-US" sz="1800" b="0" i="1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256</a:t>
            </a:fld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0D8899-4860-E266-F2D2-CA1F861FCF86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2536823"/>
            <a:ext cx="16192500" cy="6416677"/>
          </a:xfrm>
        </p:spPr>
        <p:txBody>
          <a:bodyPr/>
          <a:lstStyle/>
          <a:p>
            <a:pPr marL="0" indent="0">
              <a:spcBef>
                <a:spcPts val="900"/>
              </a:spcBef>
              <a:buNone/>
            </a:pPr>
            <a:r>
              <a:rPr lang="en-US" altLang="en-US" sz="3900" b="1" dirty="0"/>
              <a:t>SNMPv3 </a:t>
            </a:r>
            <a:r>
              <a:rPr lang="en-US" altLang="en-US" sz="3900" dirty="0"/>
              <a:t>is a popular protocol for managing and monitoring networks. </a:t>
            </a:r>
            <a:r>
              <a:rPr lang="en-US" altLang="en-US" sz="3900" b="1" dirty="0"/>
              <a:t>SNMP traps </a:t>
            </a:r>
            <a:r>
              <a:rPr lang="en-US" altLang="en-US" sz="3900" dirty="0"/>
              <a:t>are alerts sent from SNMP-enabled devices when they have status changes. This facilitates speedy response. </a:t>
            </a:r>
          </a:p>
          <a:p>
            <a:pPr>
              <a:spcBef>
                <a:spcPts val="900"/>
              </a:spcBef>
            </a:pPr>
            <a:r>
              <a:rPr lang="en-US" altLang="en-US" sz="3900" b="1" dirty="0"/>
              <a:t>Optional SNMPv3 features</a:t>
            </a:r>
          </a:p>
          <a:p>
            <a:pPr lvl="1">
              <a:spcBef>
                <a:spcPts val="900"/>
              </a:spcBef>
            </a:pPr>
            <a:r>
              <a:rPr lang="en-US" altLang="en-US" sz="3600" b="1" dirty="0"/>
              <a:t>	Authentication: </a:t>
            </a:r>
            <a:r>
              <a:rPr lang="en-US" altLang="en-US" sz="3600" dirty="0"/>
              <a:t>Verifies the legitimacy of trap sources, preventing 	unauthorized devices from sending false alerts</a:t>
            </a:r>
          </a:p>
          <a:p>
            <a:pPr lvl="1">
              <a:spcBef>
                <a:spcPts val="900"/>
              </a:spcBef>
            </a:pPr>
            <a:r>
              <a:rPr lang="en-US" altLang="en-US" sz="3600" b="1" dirty="0"/>
              <a:t>	Encryption: </a:t>
            </a:r>
            <a:r>
              <a:rPr lang="en-US" altLang="en-US" sz="3600" dirty="0"/>
              <a:t>Offers encryption to maintain the confidentiality of trap 	content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5B3D3EB-77D3-8594-A621-FD11A73917F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CBF5BCD-7EA9-C5AC-ABA3-7CB63702C6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54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Simple Network Management Protocol SNMP Traps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225786946"/>
      </p:ext>
    </p:extLst>
  </p:cSld>
  <p:clrMapOvr>
    <a:masterClrMapping/>
  </p:clrMapOvr>
</p:sld>
</file>

<file path=ppt/slides/slide2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405A3F-F68A-3E5B-BC63-FA37B37B2E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AB487B5-80D9-F59A-C92E-0D97D5B32F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Slide </a:t>
            </a:r>
            <a:fld id="{4CA2B2DB-B91D-4166-98BF-65A0DA7EEE6D}" type="slidenum">
              <a:rPr kumimoji="0" lang="en-US" sz="1800" b="0" i="1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257</a:t>
            </a:fld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03D56D-03CB-AADE-D282-346707386D9E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2536823"/>
            <a:ext cx="16192500" cy="6416677"/>
          </a:xfrm>
        </p:spPr>
        <p:txBody>
          <a:bodyPr/>
          <a:lstStyle/>
          <a:p>
            <a:pPr marL="0" indent="0">
              <a:spcBef>
                <a:spcPts val="900"/>
              </a:spcBef>
              <a:buNone/>
            </a:pPr>
            <a:r>
              <a:rPr lang="en-US" altLang="en-US" sz="3900" b="1" dirty="0"/>
              <a:t>Vulnerability scanners </a:t>
            </a:r>
            <a:r>
              <a:rPr lang="en-US" altLang="en-US" sz="3900" dirty="0"/>
              <a:t>automate the identification of weaknesses in systems and networks.</a:t>
            </a:r>
          </a:p>
          <a:p>
            <a:pPr>
              <a:spcBef>
                <a:spcPts val="900"/>
              </a:spcBef>
            </a:pPr>
            <a:r>
              <a:rPr lang="en-US" altLang="en-US" sz="4200" dirty="0"/>
              <a:t>Work as digital sentries by constantly monitoring  </a:t>
            </a:r>
          </a:p>
          <a:p>
            <a:pPr>
              <a:spcBef>
                <a:spcPts val="900"/>
              </a:spcBef>
            </a:pPr>
            <a:r>
              <a:rPr lang="en-US" altLang="en-US" sz="4200" dirty="0"/>
              <a:t>Stages of vulnerability scanning</a:t>
            </a:r>
          </a:p>
          <a:p>
            <a:pPr lvl="2">
              <a:spcBef>
                <a:spcPts val="900"/>
              </a:spcBef>
            </a:pPr>
            <a:r>
              <a:rPr lang="en-US" altLang="en-US" sz="3200" dirty="0"/>
              <a:t>Pre-assessment</a:t>
            </a:r>
          </a:p>
          <a:p>
            <a:pPr lvl="2">
              <a:spcBef>
                <a:spcPts val="900"/>
              </a:spcBef>
            </a:pPr>
            <a:r>
              <a:rPr lang="en-US" altLang="en-US" sz="3200" dirty="0"/>
              <a:t>Scanning</a:t>
            </a:r>
          </a:p>
          <a:p>
            <a:pPr lvl="2">
              <a:spcBef>
                <a:spcPts val="900"/>
              </a:spcBef>
            </a:pPr>
            <a:r>
              <a:rPr lang="en-US" altLang="en-US" sz="3200" dirty="0"/>
              <a:t>Post-scan analysis</a:t>
            </a:r>
          </a:p>
          <a:p>
            <a:pPr lvl="2">
              <a:spcBef>
                <a:spcPts val="900"/>
              </a:spcBef>
            </a:pPr>
            <a:r>
              <a:rPr lang="en-US" altLang="en-US" sz="3200" dirty="0"/>
              <a:t>Remediation and verification</a:t>
            </a:r>
          </a:p>
          <a:p>
            <a:pPr lvl="2">
              <a:spcBef>
                <a:spcPts val="900"/>
              </a:spcBef>
            </a:pPr>
            <a:r>
              <a:rPr lang="en-US" altLang="en-US" sz="3200" dirty="0"/>
              <a:t>Continuous monitoring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E79A25B-078A-E6F7-213D-6649AA5B5B2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B2D01171-C59E-FE02-53F6-C86002BA1B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54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Vulnerability Scanners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3705899924"/>
      </p:ext>
    </p:extLst>
  </p:cSld>
  <p:clrMapOvr>
    <a:masterClrMapping/>
  </p:clrMapOvr>
</p:sld>
</file>

<file path=ppt/slides/slide2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CC6A9C-E748-CB34-84D0-A7923F08F0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C32897F-600A-A224-6089-F6BEDC673E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Slide </a:t>
            </a:r>
            <a:fld id="{4CA2B2DB-B91D-4166-98BF-65A0DA7EEE6D}" type="slidenum">
              <a:rPr kumimoji="0" lang="en-US" sz="1800" b="0" i="1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258</a:t>
            </a:fld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18D66C-EBA4-02CB-1485-56E26B169636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2536823"/>
            <a:ext cx="16192500" cy="6416677"/>
          </a:xfrm>
        </p:spPr>
        <p:txBody>
          <a:bodyPr/>
          <a:lstStyle/>
          <a:p>
            <a:r>
              <a:rPr lang="en-US" sz="3900" b="1" dirty="0"/>
              <a:t>Deception technology </a:t>
            </a:r>
            <a:r>
              <a:rPr lang="en-US" sz="3900" dirty="0"/>
              <a:t>involves the use of decoys, traps, and other deceptive measures to mislead and thwart attackers.</a:t>
            </a:r>
          </a:p>
          <a:p>
            <a:r>
              <a:rPr lang="en-US" sz="3900" b="1" dirty="0"/>
              <a:t>Disruption technology </a:t>
            </a:r>
            <a:r>
              <a:rPr lang="en-US" sz="3900" dirty="0"/>
              <a:t>involves techniques and tools that disrupt or impair attackers' ability to execute their malicious activities.</a:t>
            </a:r>
          </a:p>
          <a:p>
            <a:r>
              <a:rPr lang="en-US" sz="3900" dirty="0"/>
              <a:t>Examples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261F118-6D3C-6B0E-79AA-C69220C107D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326FDEDF-9329-30E5-F140-9A5149386D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54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Deception and Disruption Technology</a:t>
            </a:r>
            <a:endParaRPr lang="en-US" i="1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2837242-6999-BF8E-09E6-3CAF0C81DFBF}"/>
              </a:ext>
            </a:extLst>
          </p:cNvPr>
          <p:cNvSpPr txBox="1">
            <a:spLocks/>
          </p:cNvSpPr>
          <p:nvPr/>
        </p:nvSpPr>
        <p:spPr bwMode="auto">
          <a:xfrm>
            <a:off x="1600200" y="5981700"/>
            <a:ext cx="12344400" cy="1485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37160" tIns="68580" rIns="137160" bIns="68580" numCol="2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ts val="9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669925" indent="-3254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accent1"/>
                </a:solidFill>
                <a:latin typeface="+mn-lt"/>
              </a:defRPr>
            </a:lvl2pPr>
            <a:lvl3pPr marL="1022350" indent="-3508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accent1"/>
                </a:solidFill>
                <a:latin typeface="+mn-lt"/>
              </a:defRPr>
            </a:lvl3pPr>
            <a:lvl4pPr marL="1339850" indent="-3159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accent1"/>
                </a:solidFill>
                <a:latin typeface="+mn-lt"/>
              </a:defRPr>
            </a:lvl4pPr>
            <a:lvl5pPr marL="1681163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accent1"/>
                </a:solidFill>
                <a:latin typeface="+mn-lt"/>
              </a:defRPr>
            </a:lvl5pPr>
            <a:lvl6pPr marL="21383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accent1"/>
                </a:solidFill>
                <a:latin typeface="+mn-lt"/>
              </a:defRPr>
            </a:lvl6pPr>
            <a:lvl7pPr marL="25955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accent1"/>
                </a:solidFill>
                <a:latin typeface="+mn-lt"/>
              </a:defRPr>
            </a:lvl7pPr>
            <a:lvl8pPr marL="30527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accent1"/>
                </a:solidFill>
                <a:latin typeface="+mn-lt"/>
              </a:defRPr>
            </a:lvl8pPr>
            <a:lvl9pPr marL="35099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accent1"/>
                </a:solidFill>
                <a:latin typeface="+mn-lt"/>
              </a:defRPr>
            </a:lvl9pPr>
          </a:lstStyle>
          <a:p>
            <a:pPr marL="516731" lvl="1" indent="0" defTabSz="1371600">
              <a:buClr>
                <a:srgbClr val="3333CC"/>
              </a:buClr>
              <a:buNone/>
            </a:pPr>
            <a:r>
              <a:rPr lang="en-US" sz="3900" dirty="0">
                <a:solidFill>
                  <a:schemeClr val="tx1"/>
                </a:solidFill>
              </a:rPr>
              <a:t>Honey files</a:t>
            </a:r>
          </a:p>
          <a:p>
            <a:pPr marL="516731" lvl="1" indent="0" defTabSz="1371600">
              <a:buClr>
                <a:srgbClr val="3333CC"/>
              </a:buClr>
              <a:buNone/>
            </a:pPr>
            <a:r>
              <a:rPr lang="en-US" sz="3900" dirty="0">
                <a:solidFill>
                  <a:schemeClr val="tx1"/>
                </a:solidFill>
              </a:rPr>
              <a:t>Honeypots</a:t>
            </a:r>
          </a:p>
          <a:p>
            <a:pPr marL="516731" lvl="1" indent="0" defTabSz="1371600">
              <a:buClr>
                <a:srgbClr val="3333CC"/>
              </a:buClr>
              <a:buNone/>
            </a:pPr>
            <a:r>
              <a:rPr lang="en-US" sz="3900" dirty="0">
                <a:solidFill>
                  <a:schemeClr val="tx1"/>
                </a:solidFill>
              </a:rPr>
              <a:t>Honeynets</a:t>
            </a:r>
          </a:p>
          <a:p>
            <a:pPr marL="516731" lvl="1" indent="0" defTabSz="1371600">
              <a:buClr>
                <a:srgbClr val="3333CC"/>
              </a:buClr>
              <a:buNone/>
            </a:pPr>
            <a:r>
              <a:rPr lang="en-US" sz="3900" dirty="0">
                <a:solidFill>
                  <a:schemeClr val="tx1"/>
                </a:solidFill>
              </a:rPr>
              <a:t>Honeytokens</a:t>
            </a:r>
          </a:p>
        </p:txBody>
      </p:sp>
    </p:spTree>
    <p:extLst>
      <p:ext uri="{BB962C8B-B14F-4D97-AF65-F5344CB8AC3E}">
        <p14:creationId xmlns:p14="http://schemas.microsoft.com/office/powerpoint/2010/main" val="1325806710"/>
      </p:ext>
    </p:extLst>
  </p:cSld>
  <p:clrMapOvr>
    <a:masterClrMapping/>
  </p:clrMapOvr>
</p:sld>
</file>

<file path=ppt/slides/slide2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C02CD7-4067-9599-4A36-27ECAED7E8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EE527F1-E8DC-0402-E039-187FC08069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Slide </a:t>
            </a:r>
            <a:fld id="{4CA2B2DB-B91D-4166-98BF-65A0DA7EEE6D}" type="slidenum">
              <a:rPr kumimoji="0" lang="en-US" sz="1800" b="0" i="1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259</a:t>
            </a:fld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BD7FC9-CCAC-DC95-B80E-D55AD9005E0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2536823"/>
            <a:ext cx="16192500" cy="6416677"/>
          </a:xfrm>
        </p:spPr>
        <p:txBody>
          <a:bodyPr/>
          <a:lstStyle/>
          <a:p>
            <a:pPr marL="0" indent="0">
              <a:buNone/>
            </a:pPr>
            <a:r>
              <a:rPr lang="en-US" sz="4200" b="1" dirty="0"/>
              <a:t>Honey files</a:t>
            </a:r>
            <a:r>
              <a:rPr lang="en-US" sz="4200" dirty="0"/>
              <a:t> are files created to serve as bait for potential attackers, designed to lure them into interaction.</a:t>
            </a:r>
          </a:p>
          <a:p>
            <a:r>
              <a:rPr lang="en-US" sz="3900" dirty="0"/>
              <a:t>Serve as decoys within a network</a:t>
            </a:r>
          </a:p>
          <a:p>
            <a:r>
              <a:rPr lang="en-US" sz="3900" dirty="0"/>
              <a:t>Security teams can study the attackers’ behavior without disturbing normal organizational operations.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4CB4CBE-21E9-494F-1F81-8B1C0FE21DA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3142C661-A56B-B207-1EA0-D50DB1B921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5400" b="0" i="0" u="none" strike="noStrike" kern="0" cap="none" spc="0" normalizeH="0" baseline="0" noProof="0" dirty="0" err="1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Honeyfile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2608280760"/>
      </p:ext>
    </p:extLst>
  </p:cSld>
  <p:clrMapOvr>
    <a:masterClrMapping/>
  </p:clrMapOvr>
</p:sld>
</file>

<file path=ppt/slides/slide2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7C9101-883C-3814-C087-63EFDAB039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1A3033A-29DD-0F72-278E-E2B2743DC1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Slide </a:t>
            </a:r>
            <a:fld id="{4CA2B2DB-B91D-4166-98BF-65A0DA7EEE6D}" type="slidenum">
              <a:rPr kumimoji="0" lang="en-US" sz="1800" b="0" i="1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260</a:t>
            </a:fld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81A8D0-798E-7147-8C08-74BAD4F98714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2536823"/>
            <a:ext cx="16192500" cy="6416677"/>
          </a:xfrm>
        </p:spPr>
        <p:txBody>
          <a:bodyPr/>
          <a:lstStyle/>
          <a:p>
            <a:pPr marL="0" indent="0">
              <a:buNone/>
            </a:pPr>
            <a:r>
              <a:rPr lang="en-US" sz="4800" dirty="0"/>
              <a:t>A </a:t>
            </a:r>
            <a:r>
              <a:rPr lang="en-US" sz="4800" b="1" dirty="0"/>
              <a:t>honeypot</a:t>
            </a:r>
            <a:r>
              <a:rPr lang="en-US" sz="4800" dirty="0"/>
              <a:t> is a decoy system or network segment designed to attract and trap potential attackers.</a:t>
            </a:r>
          </a:p>
          <a:p>
            <a:r>
              <a:rPr lang="en-US" sz="4400" dirty="0"/>
              <a:t>Mimics legitimate systems or services to lure attackers into interacting with it, allowing security teams to monitor and analyze their behavior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4CD9A83-2E77-9908-A71C-D852B5C3D03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983670F-479A-7A33-650B-6F968BAC34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54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Honeypot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46860184"/>
      </p:ext>
    </p:extLst>
  </p:cSld>
  <p:clrMapOvr>
    <a:masterClrMapping/>
  </p:clrMapOvr>
</p:sld>
</file>

<file path=ppt/slides/slide2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19FFCB-FFD5-208E-3751-DD077B0218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D19DBEC-563A-EEBB-EDB9-99CEDF8BBC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Slide </a:t>
            </a:r>
            <a:fld id="{4CA2B2DB-B91D-4166-98BF-65A0DA7EEE6D}" type="slidenum">
              <a:rPr kumimoji="0" lang="en-US" sz="1800" b="0" i="1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261</a:t>
            </a:fld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DF29D3-DFD3-418E-C04E-2C5CC4BE6E12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2536823"/>
            <a:ext cx="16192500" cy="6416677"/>
          </a:xfrm>
        </p:spPr>
        <p:txBody>
          <a:bodyPr/>
          <a:lstStyle/>
          <a:p>
            <a:pPr marL="0" indent="0">
              <a:buNone/>
            </a:pPr>
            <a:r>
              <a:rPr lang="en-US" sz="5400" dirty="0"/>
              <a:t>A </a:t>
            </a:r>
            <a:r>
              <a:rPr lang="en-US" sz="5400" b="1" dirty="0"/>
              <a:t>honeynet</a:t>
            </a:r>
            <a:r>
              <a:rPr lang="en-US" sz="5400" dirty="0"/>
              <a:t> is a network of interconnected honeypots and other decoy systems designed to deceive and trap potential attackers.</a:t>
            </a:r>
          </a:p>
          <a:p>
            <a:r>
              <a:rPr lang="en-US" sz="4800" dirty="0"/>
              <a:t>Provides a comprehensive view of attacker tactics, techniques, and procedures (TTPs) by simulating a full-scale network environment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D37F402-B2CD-5E12-751F-81D168CFFEA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1954F9B-FB8A-7D9A-0980-FABE2BCD70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54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Honeynet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413413125"/>
      </p:ext>
    </p:extLst>
  </p:cSld>
  <p:clrMapOvr>
    <a:masterClrMapping/>
  </p:clrMapOvr>
</p:sld>
</file>

<file path=ppt/slides/slide2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271501-351A-4A95-FCFB-9D3BDAC01A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313069F-77FB-1D12-A6B7-0461B3BD87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Slide </a:t>
            </a:r>
            <a:fld id="{4CA2B2DB-B91D-4166-98BF-65A0DA7EEE6D}" type="slidenum">
              <a:rPr kumimoji="0" lang="en-US" sz="1800" b="0" i="1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262</a:t>
            </a:fld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689A25-516A-BA56-10BE-15F31E5EF309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2536823"/>
            <a:ext cx="16192500" cy="6416677"/>
          </a:xfrm>
        </p:spPr>
        <p:txBody>
          <a:bodyPr/>
          <a:lstStyle/>
          <a:p>
            <a:pPr marL="0" indent="0">
              <a:buNone/>
            </a:pPr>
            <a:r>
              <a:rPr lang="en-US" sz="4800" b="1" dirty="0"/>
              <a:t>Honeytokens</a:t>
            </a:r>
            <a:r>
              <a:rPr lang="en-US" sz="4800" dirty="0"/>
              <a:t> are pieces of fake or fabricated data placed within a system or network to detect unauthorized access or activity.</a:t>
            </a:r>
          </a:p>
          <a:p>
            <a:r>
              <a:rPr lang="en-US" sz="4400" dirty="0"/>
              <a:t>Serve as indicators of compromise, alerting security teams to potential breaches or suspicious behavior</a:t>
            </a:r>
          </a:p>
          <a:p>
            <a:r>
              <a:rPr lang="en-US" sz="4400" dirty="0"/>
              <a:t>Designed to appear as legitimate or valuable data to attackers, which entices attackers to interact with or access them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D4D915A-0037-DD58-C509-6A84CB54EB0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E1B9F666-811B-2C75-039F-230C51B87D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54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Honeytoken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1387479297"/>
      </p:ext>
    </p:extLst>
  </p:cSld>
  <p:clrMapOvr>
    <a:masterClrMapping/>
  </p:clrMapOvr>
</p:sld>
</file>

<file path=ppt/slides/slide26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15194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30AA8C6-5ECC-59CC-2648-5E111D8C59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265F07F5-263A-77D7-7B22-01AFDD642401}"/>
              </a:ext>
            </a:extLst>
          </p:cNvPr>
          <p:cNvGrpSpPr/>
          <p:nvPr/>
        </p:nvGrpSpPr>
        <p:grpSpPr>
          <a:xfrm rot="-5400000">
            <a:off x="12015831" y="4014831"/>
            <a:ext cx="10287000" cy="2257339"/>
            <a:chOff x="0" y="0"/>
            <a:chExt cx="2709333" cy="59452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EF9A9BFE-867A-D192-60E7-5C31AAB73C4C}"/>
                </a:ext>
              </a:extLst>
            </p:cNvPr>
            <p:cNvSpPr/>
            <p:nvPr/>
          </p:nvSpPr>
          <p:spPr>
            <a:xfrm>
              <a:off x="0" y="0"/>
              <a:ext cx="2709333" cy="594525"/>
            </a:xfrm>
            <a:custGeom>
              <a:avLst/>
              <a:gdLst/>
              <a:ahLst/>
              <a:cxnLst/>
              <a:rect l="l" t="t" r="r" b="b"/>
              <a:pathLst>
                <a:path w="2709333" h="594525">
                  <a:moveTo>
                    <a:pt x="0" y="0"/>
                  </a:moveTo>
                  <a:lnTo>
                    <a:pt x="2709333" y="0"/>
                  </a:lnTo>
                  <a:lnTo>
                    <a:pt x="2709333" y="594525"/>
                  </a:lnTo>
                  <a:lnTo>
                    <a:pt x="0" y="594525"/>
                  </a:lnTo>
                  <a:close/>
                </a:path>
              </a:pathLst>
            </a:custGeom>
            <a:solidFill>
              <a:srgbClr val="0283FD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1072A1BA-C418-0BED-2846-6E375D1A272D}"/>
                </a:ext>
              </a:extLst>
            </p:cNvPr>
            <p:cNvSpPr txBox="1"/>
            <p:nvPr/>
          </p:nvSpPr>
          <p:spPr>
            <a:xfrm>
              <a:off x="0" y="-66675"/>
              <a:ext cx="2709333" cy="6612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3024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AE19D6BD-418C-2671-AF56-C1D5266B7BA5}"/>
              </a:ext>
            </a:extLst>
          </p:cNvPr>
          <p:cNvGrpSpPr/>
          <p:nvPr/>
        </p:nvGrpSpPr>
        <p:grpSpPr>
          <a:xfrm>
            <a:off x="179467" y="6643814"/>
            <a:ext cx="8126333" cy="3488267"/>
            <a:chOff x="0" y="0"/>
            <a:chExt cx="844714" cy="36259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698C6719-EB91-B5C2-60C0-54F26F08804A}"/>
                </a:ext>
              </a:extLst>
            </p:cNvPr>
            <p:cNvSpPr/>
            <p:nvPr/>
          </p:nvSpPr>
          <p:spPr>
            <a:xfrm>
              <a:off x="0" y="0"/>
              <a:ext cx="844714" cy="362598"/>
            </a:xfrm>
            <a:custGeom>
              <a:avLst/>
              <a:gdLst/>
              <a:ahLst/>
              <a:cxnLst/>
              <a:rect l="l" t="t" r="r" b="b"/>
              <a:pathLst>
                <a:path w="844714" h="362598">
                  <a:moveTo>
                    <a:pt x="203200" y="0"/>
                  </a:moveTo>
                  <a:lnTo>
                    <a:pt x="844714" y="0"/>
                  </a:lnTo>
                  <a:lnTo>
                    <a:pt x="641514" y="362598"/>
                  </a:lnTo>
                  <a:lnTo>
                    <a:pt x="0" y="362598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283FD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6FE29BBA-38F2-2C93-D5BA-BD6F09BB6E53}"/>
                </a:ext>
              </a:extLst>
            </p:cNvPr>
            <p:cNvSpPr txBox="1"/>
            <p:nvPr/>
          </p:nvSpPr>
          <p:spPr>
            <a:xfrm>
              <a:off x="101600" y="-28575"/>
              <a:ext cx="641514" cy="391173"/>
            </a:xfrm>
            <a:prstGeom prst="rect">
              <a:avLst/>
            </a:prstGeom>
          </p:spPr>
          <p:txBody>
            <a:bodyPr lIns="47790" tIns="47790" rIns="47790" bIns="4779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1843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63D2DF1D-929A-25DC-DB8A-8BF737DCFE05}"/>
              </a:ext>
            </a:extLst>
          </p:cNvPr>
          <p:cNvGrpSpPr/>
          <p:nvPr/>
        </p:nvGrpSpPr>
        <p:grpSpPr>
          <a:xfrm>
            <a:off x="-73552" y="7047924"/>
            <a:ext cx="16030661" cy="3336996"/>
            <a:chOff x="0" y="0"/>
            <a:chExt cx="6165409" cy="1271237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106C0A05-5882-69EF-8317-F832C89122C4}"/>
                </a:ext>
              </a:extLst>
            </p:cNvPr>
            <p:cNvSpPr/>
            <p:nvPr/>
          </p:nvSpPr>
          <p:spPr>
            <a:xfrm>
              <a:off x="0" y="0"/>
              <a:ext cx="6165409" cy="1271237"/>
            </a:xfrm>
            <a:custGeom>
              <a:avLst/>
              <a:gdLst/>
              <a:ahLst/>
              <a:cxnLst/>
              <a:rect l="l" t="t" r="r" b="b"/>
              <a:pathLst>
                <a:path w="6165409" h="1271237">
                  <a:moveTo>
                    <a:pt x="0" y="0"/>
                  </a:moveTo>
                  <a:lnTo>
                    <a:pt x="6165409" y="0"/>
                  </a:lnTo>
                  <a:lnTo>
                    <a:pt x="6165409" y="1271237"/>
                  </a:lnTo>
                  <a:lnTo>
                    <a:pt x="0" y="127123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3E2C5704-6124-E6AC-7B25-D97EF3F86CD9}"/>
                </a:ext>
              </a:extLst>
            </p:cNvPr>
            <p:cNvSpPr txBox="1"/>
            <p:nvPr/>
          </p:nvSpPr>
          <p:spPr>
            <a:xfrm>
              <a:off x="0" y="-28575"/>
              <a:ext cx="6165409" cy="1299812"/>
            </a:xfrm>
            <a:prstGeom prst="rect">
              <a:avLst/>
            </a:prstGeom>
          </p:spPr>
          <p:txBody>
            <a:bodyPr lIns="47790" tIns="47790" rIns="47790" bIns="4779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1843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sp>
        <p:nvSpPr>
          <p:cNvPr id="12" name="TextBox 12">
            <a:extLst>
              <a:ext uri="{FF2B5EF4-FFF2-40B4-BE49-F238E27FC236}">
                <a16:creationId xmlns:a16="http://schemas.microsoft.com/office/drawing/2014/main" id="{4BD828CA-F3AE-98C4-E9BF-71A4D4742927}"/>
              </a:ext>
            </a:extLst>
          </p:cNvPr>
          <p:cNvSpPr txBox="1"/>
          <p:nvPr/>
        </p:nvSpPr>
        <p:spPr>
          <a:xfrm>
            <a:off x="1111666" y="3432993"/>
            <a:ext cx="14771892" cy="598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4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Day 4 – Block 2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A3D7FF28-30B3-A491-A777-90440B03DCD0}"/>
              </a:ext>
            </a:extLst>
          </p:cNvPr>
          <p:cNvSpPr txBox="1"/>
          <p:nvPr/>
        </p:nvSpPr>
        <p:spPr>
          <a:xfrm>
            <a:off x="1111666" y="9653992"/>
            <a:ext cx="12263263" cy="3619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0" i="0" u="none" strike="noStrike" kern="1200" cap="none" spc="0" normalizeH="0" baseline="0" noProof="0">
                <a:ln>
                  <a:noFill/>
                </a:ln>
                <a:solidFill>
                  <a:srgbClr val="252525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CALIFORNIA INSTITUTE OF APPLIED TECHNOLOGY</a:t>
            </a:r>
          </a:p>
        </p:txBody>
      </p:sp>
      <p:sp>
        <p:nvSpPr>
          <p:cNvPr id="15" name="AutoShape 15">
            <a:extLst>
              <a:ext uri="{FF2B5EF4-FFF2-40B4-BE49-F238E27FC236}">
                <a16:creationId xmlns:a16="http://schemas.microsoft.com/office/drawing/2014/main" id="{75E216CB-676A-2078-D5C6-FA215A55BE6D}"/>
              </a:ext>
            </a:extLst>
          </p:cNvPr>
          <p:cNvSpPr/>
          <p:nvPr/>
        </p:nvSpPr>
        <p:spPr>
          <a:xfrm>
            <a:off x="8010568" y="9858838"/>
            <a:ext cx="7625672" cy="0"/>
          </a:xfrm>
          <a:prstGeom prst="line">
            <a:avLst/>
          </a:prstGeom>
          <a:ln w="19050" cap="flat">
            <a:solidFill>
              <a:srgbClr val="0283F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7" name="Freeform 5">
            <a:extLst>
              <a:ext uri="{FF2B5EF4-FFF2-40B4-BE49-F238E27FC236}">
                <a16:creationId xmlns:a16="http://schemas.microsoft.com/office/drawing/2014/main" id="{23095AB9-693E-3A21-F466-C80078E78BE0}"/>
              </a:ext>
            </a:extLst>
          </p:cNvPr>
          <p:cNvSpPr/>
          <p:nvPr/>
        </p:nvSpPr>
        <p:spPr>
          <a:xfrm>
            <a:off x="1111666" y="355081"/>
            <a:ext cx="4247850" cy="631936"/>
          </a:xfrm>
          <a:custGeom>
            <a:avLst/>
            <a:gdLst/>
            <a:ahLst/>
            <a:cxnLst/>
            <a:rect l="l" t="t" r="r" b="b"/>
            <a:pathLst>
              <a:path w="4247850" h="631936">
                <a:moveTo>
                  <a:pt x="0" y="0"/>
                </a:moveTo>
                <a:lnTo>
                  <a:pt x="4247850" y="0"/>
                </a:lnTo>
                <a:lnTo>
                  <a:pt x="4247850" y="631935"/>
                </a:lnTo>
                <a:lnTo>
                  <a:pt x="0" y="63193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5" r="-5"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3E49E6E-71FC-DC14-0F4E-5C2742DB41BC}"/>
              </a:ext>
            </a:extLst>
          </p:cNvPr>
          <p:cNvSpPr txBox="1"/>
          <p:nvPr/>
        </p:nvSpPr>
        <p:spPr>
          <a:xfrm>
            <a:off x="1111666" y="7106062"/>
            <a:ext cx="11918534" cy="2492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2400" dirty="0"/>
              <a:t>Incident Response Procedures</a:t>
            </a:r>
          </a:p>
          <a:p>
            <a:pPr lvl="1"/>
            <a:r>
              <a:rPr lang="en-US" altLang="en-US" dirty="0"/>
              <a:t>IR Lifecycle</a:t>
            </a:r>
          </a:p>
          <a:p>
            <a:pPr lvl="1"/>
            <a:r>
              <a:rPr lang="en-US" altLang="en-US" dirty="0"/>
              <a:t>Containment</a:t>
            </a:r>
          </a:p>
          <a:p>
            <a:pPr lvl="1"/>
            <a:r>
              <a:rPr lang="en-US" altLang="en-US" dirty="0"/>
              <a:t>Eradication</a:t>
            </a:r>
          </a:p>
          <a:p>
            <a:pPr lvl="1"/>
            <a:r>
              <a:rPr lang="en-US" altLang="en-US" dirty="0"/>
              <a:t>Recovery</a:t>
            </a:r>
          </a:p>
          <a:p>
            <a:pPr lvl="1"/>
            <a:r>
              <a:rPr lang="en-US" altLang="en-US" dirty="0"/>
              <a:t>Lessons Learned</a:t>
            </a:r>
          </a:p>
          <a:p>
            <a:r>
              <a:rPr lang="en-US" altLang="en-US" sz="2400" dirty="0"/>
              <a:t>Crucial Exams</a:t>
            </a:r>
          </a:p>
          <a:p>
            <a:pPr lvl="1"/>
            <a:r>
              <a:rPr lang="en-US" altLang="en-US" dirty="0"/>
              <a:t>Security Operations</a:t>
            </a:r>
          </a:p>
        </p:txBody>
      </p:sp>
    </p:spTree>
    <p:extLst>
      <p:ext uri="{BB962C8B-B14F-4D97-AF65-F5344CB8AC3E}">
        <p14:creationId xmlns:p14="http://schemas.microsoft.com/office/powerpoint/2010/main" val="1709740372"/>
      </p:ext>
    </p:extLst>
  </p:cSld>
  <p:clrMapOvr>
    <a:masterClrMapping/>
  </p:clrMapOvr>
</p:sld>
</file>

<file path=ppt/slides/slide2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B2C3A6-A5FA-6E65-2B2F-D72E86632D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1FB1EDF-E0BF-0F8B-A1BF-B24F60A5D8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Slide </a:t>
            </a:r>
            <a:fld id="{4CA2B2DB-B91D-4166-98BF-65A0DA7EEE6D}" type="slidenum">
              <a:rPr kumimoji="0" lang="en-US" sz="1800" b="0" i="1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264</a:t>
            </a:fld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92BFD4-7ACD-8DCF-22F2-4EABA6CBC1E0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2536823"/>
            <a:ext cx="8305800" cy="6416677"/>
          </a:xfrm>
        </p:spPr>
        <p:txBody>
          <a:bodyPr/>
          <a:lstStyle/>
          <a:p>
            <a:pPr marL="771525" indent="-771525">
              <a:spcBef>
                <a:spcPts val="900"/>
              </a:spcBef>
              <a:buAutoNum type="arabicPeriod"/>
            </a:pPr>
            <a:r>
              <a:rPr lang="en-US" altLang="en-US" sz="4800" dirty="0"/>
              <a:t>Preparation</a:t>
            </a:r>
          </a:p>
          <a:p>
            <a:pPr marL="771525" indent="-771525">
              <a:spcBef>
                <a:spcPts val="900"/>
              </a:spcBef>
              <a:buAutoNum type="arabicPeriod"/>
            </a:pPr>
            <a:r>
              <a:rPr lang="en-US" altLang="en-US" sz="4800" dirty="0"/>
              <a:t>Detection and Analysis</a:t>
            </a:r>
          </a:p>
          <a:p>
            <a:pPr marL="771525" indent="-771525">
              <a:spcBef>
                <a:spcPts val="900"/>
              </a:spcBef>
              <a:buAutoNum type="arabicPeriod"/>
            </a:pPr>
            <a:r>
              <a:rPr lang="en-US" altLang="en-US" sz="4800" dirty="0"/>
              <a:t>Containment, Eradication, and Recovery</a:t>
            </a:r>
          </a:p>
          <a:p>
            <a:pPr marL="771525" indent="-771525">
              <a:spcBef>
                <a:spcPts val="900"/>
              </a:spcBef>
              <a:buAutoNum type="arabicPeriod"/>
            </a:pPr>
            <a:r>
              <a:rPr lang="en-US" altLang="en-US" sz="4800" dirty="0"/>
              <a:t>Post-Incident Activity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23ED68-866C-159E-83A4-1EB61E0D58C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281C5165-88AD-18A0-CA56-1F6B2F12D1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54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Incident Response Process</a:t>
            </a:r>
            <a:endParaRPr lang="en-US" i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4BF91CC-9805-1BB7-549A-911A24E00F0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9334"/>
          <a:stretch/>
        </p:blipFill>
        <p:spPr>
          <a:xfrm>
            <a:off x="9601200" y="952500"/>
            <a:ext cx="7429500" cy="7053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4474808"/>
      </p:ext>
    </p:extLst>
  </p:cSld>
  <p:clrMapOvr>
    <a:masterClrMapping/>
  </p:clrMapOvr>
</p:sld>
</file>

<file path=ppt/slides/slide2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57055D-925F-EE7D-A3E7-ED5ECB2FC8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954B2C1-6C87-22BE-5D8E-9871944AF0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Slide </a:t>
            </a:r>
            <a:fld id="{4CA2B2DB-B91D-4166-98BF-65A0DA7EEE6D}" type="slidenum">
              <a:rPr kumimoji="0" lang="en-US" sz="1800" b="0" i="1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265</a:t>
            </a:fld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466DF1-3246-A700-5EF7-CF4C54B7E060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2536823"/>
            <a:ext cx="16192500" cy="6416677"/>
          </a:xfrm>
        </p:spPr>
        <p:txBody>
          <a:bodyPr/>
          <a:lstStyle/>
          <a:p>
            <a:pPr marL="0" indent="0">
              <a:spcBef>
                <a:spcPts val="900"/>
              </a:spcBef>
              <a:buNone/>
            </a:pPr>
            <a:r>
              <a:rPr lang="en-US" altLang="en-US" sz="4800" b="1" dirty="0"/>
              <a:t>Preparation</a:t>
            </a:r>
            <a:r>
              <a:rPr lang="en-US" altLang="en-US" sz="4800" dirty="0"/>
              <a:t> creates the plan for responding to and recovering from security incidents. </a:t>
            </a:r>
          </a:p>
          <a:p>
            <a:pPr>
              <a:spcBef>
                <a:spcPts val="900"/>
              </a:spcBef>
            </a:pPr>
            <a:r>
              <a:rPr lang="en-US" altLang="en-US" sz="4400" dirty="0"/>
              <a:t>Designating a plan </a:t>
            </a:r>
            <a:r>
              <a:rPr lang="en-US" altLang="en-US" sz="4400" b="1" dirty="0"/>
              <a:t>owner</a:t>
            </a:r>
            <a:r>
              <a:rPr lang="en-US" altLang="en-US" sz="4400" dirty="0"/>
              <a:t>  </a:t>
            </a:r>
          </a:p>
          <a:p>
            <a:pPr>
              <a:spcBef>
                <a:spcPts val="900"/>
              </a:spcBef>
            </a:pPr>
            <a:r>
              <a:rPr lang="en-US" altLang="en-US" sz="4400" dirty="0"/>
              <a:t>Tech preparation</a:t>
            </a:r>
          </a:p>
          <a:p>
            <a:pPr>
              <a:spcBef>
                <a:spcPts val="900"/>
              </a:spcBef>
            </a:pPr>
            <a:r>
              <a:rPr lang="en-US" altLang="en-US" sz="4400" dirty="0"/>
              <a:t>Training programs 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723FD7F-F7ED-57FD-201D-1BCF6172FDE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725A35DB-691C-4C06-B763-35875AE952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54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Preparation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1072540533"/>
      </p:ext>
    </p:extLst>
  </p:cSld>
  <p:clrMapOvr>
    <a:masterClrMapping/>
  </p:clrMapOvr>
</p:sld>
</file>

<file path=ppt/slides/slide2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86A3D3-D5AF-4FA6-BC82-E723DEC624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924D4D4-2C53-9C5D-634F-BED1F2378B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Slide </a:t>
            </a:r>
            <a:fld id="{4CA2B2DB-B91D-4166-98BF-65A0DA7EEE6D}" type="slidenum">
              <a:rPr kumimoji="0" lang="en-US" sz="1800" b="0" i="1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266</a:t>
            </a:fld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BF796B-C4AB-F852-BF59-4D3A16BB345D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2536823"/>
            <a:ext cx="16192500" cy="6416677"/>
          </a:xfrm>
        </p:spPr>
        <p:txBody>
          <a:bodyPr/>
          <a:lstStyle/>
          <a:p>
            <a:pPr marL="0" indent="0">
              <a:spcBef>
                <a:spcPts val="900"/>
              </a:spcBef>
              <a:buNone/>
            </a:pPr>
            <a:r>
              <a:rPr lang="en-US" altLang="en-US" sz="4800" b="1" dirty="0"/>
              <a:t>Detection and analysis</a:t>
            </a:r>
            <a:r>
              <a:rPr lang="en-US" altLang="en-US" sz="4800" dirty="0"/>
              <a:t> are accomplished with a mix of automated monitoring and human expertise.</a:t>
            </a:r>
          </a:p>
          <a:p>
            <a:pPr>
              <a:spcBef>
                <a:spcPts val="900"/>
              </a:spcBef>
            </a:pPr>
            <a:r>
              <a:rPr lang="en-US" altLang="en-US" sz="4400" dirty="0"/>
              <a:t>Early detection is best. An early </a:t>
            </a:r>
            <a:r>
              <a:rPr lang="en-US" altLang="en-US" sz="4400" b="1" dirty="0"/>
              <a:t>indicator</a:t>
            </a:r>
            <a:r>
              <a:rPr lang="en-US" altLang="en-US" sz="4400" dirty="0"/>
              <a:t> </a:t>
            </a:r>
            <a:r>
              <a:rPr lang="en-US" altLang="en-US" sz="4400" b="1" dirty="0"/>
              <a:t>of compromise </a:t>
            </a:r>
            <a:r>
              <a:rPr lang="en-US" altLang="en-US" sz="4400" dirty="0"/>
              <a:t>(IoC) might be unusual network traffic or multiple failed logins. </a:t>
            </a:r>
          </a:p>
          <a:p>
            <a:pPr>
              <a:spcBef>
                <a:spcPts val="900"/>
              </a:spcBef>
            </a:pPr>
            <a:r>
              <a:rPr lang="en-US" altLang="en-US" sz="4400" dirty="0"/>
              <a:t>Analyze the IoC to understand the nature and scope of the threat. 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780DE1A-ABB3-0617-CA43-5B20414BDC7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4A7573A6-0EE9-2CAE-164F-C452A77DE2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54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Detection and Analysis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721836956"/>
      </p:ext>
    </p:extLst>
  </p:cSld>
  <p:clrMapOvr>
    <a:masterClrMapping/>
  </p:clrMapOvr>
</p:sld>
</file>

<file path=ppt/slides/slide2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BCF6C2-1E21-6D59-E02F-98BA20B152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AB8D3FA-5B1F-C921-7630-731FC9F6F8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Slide </a:t>
            </a:r>
            <a:fld id="{4CA2B2DB-B91D-4166-98BF-65A0DA7EEE6D}" type="slidenum">
              <a:rPr kumimoji="0" lang="en-US" sz="1800" b="0" i="1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267</a:t>
            </a:fld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F3E7FD-8223-D271-65DD-F43D1AF2BE0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2536823"/>
            <a:ext cx="16192500" cy="6416677"/>
          </a:xfrm>
        </p:spPr>
        <p:txBody>
          <a:bodyPr/>
          <a:lstStyle/>
          <a:p>
            <a:pPr marL="0" indent="0">
              <a:spcBef>
                <a:spcPts val="900"/>
              </a:spcBef>
              <a:buNone/>
            </a:pPr>
            <a:r>
              <a:rPr lang="en-US" altLang="en-US" sz="4000" b="1" dirty="0"/>
              <a:t>Containment </a:t>
            </a:r>
            <a:r>
              <a:rPr lang="en-US" altLang="en-US" sz="4000" dirty="0"/>
              <a:t>involves isolating the threat from the rest of the network. </a:t>
            </a:r>
          </a:p>
          <a:p>
            <a:pPr>
              <a:spcBef>
                <a:spcPts val="900"/>
              </a:spcBef>
            </a:pPr>
            <a:r>
              <a:rPr lang="en-US" altLang="en-US" sz="3600" dirty="0"/>
              <a:t>Short-term or long-term</a:t>
            </a:r>
          </a:p>
          <a:p>
            <a:pPr>
              <a:spcBef>
                <a:spcPts val="900"/>
              </a:spcBef>
            </a:pPr>
            <a:endParaRPr lang="en-US" altLang="en-US" sz="1200" dirty="0"/>
          </a:p>
          <a:p>
            <a:pPr marL="0" indent="0">
              <a:spcBef>
                <a:spcPts val="900"/>
              </a:spcBef>
              <a:buNone/>
            </a:pPr>
            <a:r>
              <a:rPr lang="en-US" altLang="en-US" sz="3600" b="1" dirty="0"/>
              <a:t>Eradication </a:t>
            </a:r>
            <a:r>
              <a:rPr lang="en-US" altLang="en-US" sz="3600" dirty="0"/>
              <a:t>involves completely removing the threat.</a:t>
            </a:r>
          </a:p>
          <a:p>
            <a:pPr>
              <a:spcBef>
                <a:spcPts val="900"/>
              </a:spcBef>
            </a:pPr>
            <a:r>
              <a:rPr lang="en-US" altLang="en-US" sz="3600" dirty="0"/>
              <a:t>Ensure affected systems are backed up, then reimage  </a:t>
            </a:r>
          </a:p>
          <a:p>
            <a:pPr>
              <a:spcBef>
                <a:spcPts val="900"/>
              </a:spcBef>
            </a:pPr>
            <a:r>
              <a:rPr lang="en-US" altLang="en-US" sz="3600" dirty="0"/>
              <a:t>Apply patches and change passwords</a:t>
            </a:r>
          </a:p>
          <a:p>
            <a:pPr>
              <a:spcBef>
                <a:spcPts val="900"/>
              </a:spcBef>
            </a:pPr>
            <a:endParaRPr lang="en-US" altLang="en-US" sz="1200" dirty="0"/>
          </a:p>
          <a:p>
            <a:pPr marL="0" indent="0">
              <a:spcBef>
                <a:spcPts val="900"/>
              </a:spcBef>
              <a:buNone/>
            </a:pPr>
            <a:r>
              <a:rPr lang="en-US" altLang="en-US" sz="3600" b="1" dirty="0"/>
              <a:t>Recovery </a:t>
            </a:r>
            <a:r>
              <a:rPr lang="en-US" altLang="en-US" sz="3600" dirty="0"/>
              <a:t>involves choosing a restoration point and validating the system.</a:t>
            </a:r>
          </a:p>
          <a:p>
            <a:pPr>
              <a:spcBef>
                <a:spcPts val="900"/>
              </a:spcBef>
            </a:pPr>
            <a:r>
              <a:rPr lang="en-US" altLang="en-US" sz="3600" dirty="0"/>
              <a:t>Increase monitoring for 30+ days following incident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0F17348-EA58-6D37-AC05-5760EF23EB0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72FCA7B5-ACB9-ACAD-1E4A-4D5598A63B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54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Containment, Eradication, and Recovery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934801919"/>
      </p:ext>
    </p:extLst>
  </p:cSld>
  <p:clrMapOvr>
    <a:masterClrMapping/>
  </p:clrMapOvr>
</p:sld>
</file>

<file path=ppt/slides/slide2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5748E4-647F-07A5-99CF-5477842DDE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84A6D97-EFF2-4D24-CE96-D081D17615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Slide </a:t>
            </a:r>
            <a:fld id="{4CA2B2DB-B91D-4166-98BF-65A0DA7EEE6D}" type="slidenum">
              <a:rPr kumimoji="0" lang="en-US" sz="1800" b="0" i="1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268</a:t>
            </a:fld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732A80-2F8B-006B-4429-2B7D3E2E7550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2536823"/>
            <a:ext cx="16192500" cy="6416677"/>
          </a:xfrm>
        </p:spPr>
        <p:txBody>
          <a:bodyPr/>
          <a:lstStyle/>
          <a:p>
            <a:pPr marL="0" indent="0">
              <a:spcBef>
                <a:spcPts val="900"/>
              </a:spcBef>
              <a:buNone/>
            </a:pPr>
            <a:r>
              <a:rPr lang="en-US" altLang="en-US" sz="4400" b="1" dirty="0"/>
              <a:t>Post-incident activity </a:t>
            </a:r>
            <a:r>
              <a:rPr lang="en-US" altLang="en-US" sz="4400" dirty="0"/>
              <a:t>is the “lessons learned” phase of incident response. </a:t>
            </a:r>
          </a:p>
          <a:p>
            <a:pPr>
              <a:spcBef>
                <a:spcPts val="900"/>
              </a:spcBef>
            </a:pPr>
            <a:r>
              <a:rPr lang="en-US" altLang="en-US" sz="4000" dirty="0"/>
              <a:t>Meet within two weeks.</a:t>
            </a:r>
          </a:p>
          <a:p>
            <a:pPr>
              <a:spcBef>
                <a:spcPts val="900"/>
              </a:spcBef>
            </a:pPr>
            <a:r>
              <a:rPr lang="en-US" altLang="en-US" sz="4000" dirty="0"/>
              <a:t>Complete documentation about the incident.</a:t>
            </a:r>
          </a:p>
          <a:p>
            <a:pPr>
              <a:spcBef>
                <a:spcPts val="900"/>
              </a:spcBef>
            </a:pPr>
            <a:r>
              <a:rPr lang="en-US" altLang="en-US" sz="4000" dirty="0"/>
              <a:t>Discuss the response process.</a:t>
            </a:r>
          </a:p>
          <a:p>
            <a:pPr>
              <a:spcBef>
                <a:spcPts val="900"/>
              </a:spcBef>
            </a:pPr>
            <a:r>
              <a:rPr lang="en-US" altLang="en-US" sz="4000" dirty="0"/>
              <a:t>Change the response process if needed.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2035AB-2CE5-CC30-94AC-02725151F87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E8ECE456-C5B0-E43C-9400-075E0E4680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54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Post-Incident Activity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2577260641"/>
      </p:ext>
    </p:extLst>
  </p:cSld>
  <p:clrMapOvr>
    <a:masterClrMapping/>
  </p:clrMapOvr>
</p:sld>
</file>

<file path=ppt/slides/slide2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764460-13B5-8E03-1D92-86786DF335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A9A5356-16D2-BF20-38C9-2F5EEDE9B0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Slide </a:t>
            </a:r>
            <a:fld id="{4CA2B2DB-B91D-4166-98BF-65A0DA7EEE6D}" type="slidenum">
              <a:rPr kumimoji="0" lang="en-US" sz="1800" b="0" i="1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269</a:t>
            </a:fld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F7F8D0-74CB-B4C9-18AF-EDD23C17B5AE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2536823"/>
            <a:ext cx="16192500" cy="6416677"/>
          </a:xfrm>
        </p:spPr>
        <p:txBody>
          <a:bodyPr/>
          <a:lstStyle/>
          <a:p>
            <a:pPr marL="0" indent="0">
              <a:spcBef>
                <a:spcPts val="900"/>
              </a:spcBef>
              <a:buNone/>
            </a:pPr>
            <a:r>
              <a:rPr lang="en-US" altLang="en-US" sz="4800" b="1" dirty="0"/>
              <a:t>Training</a:t>
            </a:r>
            <a:r>
              <a:rPr lang="en-US" altLang="en-US" sz="4800" dirty="0"/>
              <a:t> equips teams with the knowledge and protocols for effectively managing security incidents.</a:t>
            </a:r>
          </a:p>
          <a:p>
            <a:pPr>
              <a:spcBef>
                <a:spcPts val="900"/>
              </a:spcBef>
            </a:pPr>
            <a:r>
              <a:rPr lang="en-US" altLang="en-US" sz="4400" b="1" dirty="0"/>
              <a:t>Role-based training </a:t>
            </a:r>
            <a:r>
              <a:rPr lang="en-US" altLang="en-US" sz="4400" dirty="0"/>
              <a:t>for individuals and departments </a:t>
            </a:r>
          </a:p>
          <a:p>
            <a:pPr>
              <a:spcBef>
                <a:spcPts val="900"/>
              </a:spcBef>
            </a:pPr>
            <a:r>
              <a:rPr lang="en-US" altLang="en-US" sz="4400" b="1" dirty="0"/>
              <a:t>Tabletop exercises </a:t>
            </a:r>
            <a:r>
              <a:rPr lang="en-US" altLang="en-US" sz="4400" dirty="0"/>
              <a:t>and </a:t>
            </a:r>
            <a:r>
              <a:rPr lang="en-US" altLang="en-US" sz="4400" b="1" dirty="0"/>
              <a:t>simulations</a:t>
            </a:r>
            <a:r>
              <a:rPr lang="en-US" altLang="en-US" sz="4400" dirty="0"/>
              <a:t> for practice responding  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8262B8D-9A43-AC81-05FC-886F88E3D38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A2B64E7-CD5B-B519-2D52-392CA3A597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54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Training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980686741"/>
      </p:ext>
    </p:extLst>
  </p:cSld>
  <p:clrMapOvr>
    <a:masterClrMapping/>
  </p:clrMapOvr>
</p:sld>
</file>

<file path=ppt/slides/slide2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56A74E-3160-31A4-3AD2-CD8CE4F537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FE33E32-0728-D912-E9F9-8F4A8196F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Slide </a:t>
            </a:r>
            <a:fld id="{4CA2B2DB-B91D-4166-98BF-65A0DA7EEE6D}" type="slidenum">
              <a:rPr kumimoji="0" lang="en-US" sz="1800" b="0" i="1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270</a:t>
            </a:fld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CA1357-0B4A-8DD9-C52E-B8BDC99F59A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2536823"/>
            <a:ext cx="16192500" cy="6416677"/>
          </a:xfrm>
        </p:spPr>
        <p:txBody>
          <a:bodyPr/>
          <a:lstStyle/>
          <a:p>
            <a:pPr marL="0" indent="0">
              <a:spcBef>
                <a:spcPts val="900"/>
              </a:spcBef>
              <a:buNone/>
            </a:pPr>
            <a:r>
              <a:rPr lang="en-US" altLang="en-US" sz="5400" b="1" dirty="0"/>
              <a:t>Testing</a:t>
            </a:r>
            <a:r>
              <a:rPr lang="en-US" altLang="en-US" sz="5400" dirty="0"/>
              <a:t> is the rigorous examination of incident response procedures, plans, and capabilities.</a:t>
            </a:r>
          </a:p>
          <a:p>
            <a:pPr>
              <a:spcBef>
                <a:spcPts val="900"/>
              </a:spcBef>
            </a:pPr>
            <a:r>
              <a:rPr lang="en-US" altLang="en-US" sz="4800" dirty="0"/>
              <a:t>Ensures the effectiveness of cybersecurity incident response</a:t>
            </a:r>
          </a:p>
          <a:p>
            <a:pPr>
              <a:spcBef>
                <a:spcPts val="900"/>
              </a:spcBef>
            </a:pPr>
            <a:r>
              <a:rPr lang="en-US" altLang="en-US" sz="4800" dirty="0"/>
              <a:t>Identifies gaps in responding; serves as a feedback loop for refinement of response strategies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8A16512-2FF6-4419-4EE9-006F3281EFE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3CB2244-697F-3FA4-BD09-1B1F3DED49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54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Testing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2886761860"/>
      </p:ext>
    </p:extLst>
  </p:cSld>
  <p:clrMapOvr>
    <a:masterClrMapping/>
  </p:clrMapOvr>
</p:sld>
</file>

<file path=ppt/slides/slide2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A52285-1FD9-1B4C-543A-3FC8B49B68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F27F980-D1AD-F41F-8F26-79EA268E8A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Slide </a:t>
            </a:r>
            <a:fld id="{4CA2B2DB-B91D-4166-98BF-65A0DA7EEE6D}" type="slidenum">
              <a:rPr kumimoji="0" lang="en-US" sz="1800" b="0" i="1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271</a:t>
            </a:fld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590EC6-2035-0873-3DAB-A4E5E7138B7D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2536823"/>
            <a:ext cx="16192500" cy="6416677"/>
          </a:xfrm>
        </p:spPr>
        <p:txBody>
          <a:bodyPr/>
          <a:lstStyle/>
          <a:p>
            <a:pPr marL="0" indent="0">
              <a:spcBef>
                <a:spcPts val="900"/>
              </a:spcBef>
              <a:buNone/>
            </a:pPr>
            <a:r>
              <a:rPr lang="en-US" altLang="en-US" sz="4400" b="1" dirty="0"/>
              <a:t>Tabletop exercises </a:t>
            </a:r>
            <a:r>
              <a:rPr lang="en-US" altLang="en-US" sz="4400" dirty="0"/>
              <a:t>simulate hypothetical situations that mirror real-world threats.  </a:t>
            </a:r>
          </a:p>
          <a:p>
            <a:pPr>
              <a:spcBef>
                <a:spcPts val="900"/>
              </a:spcBef>
            </a:pPr>
            <a:r>
              <a:rPr lang="en-US" altLang="en-US" sz="4000" b="1" dirty="0"/>
              <a:t>Each participant plays a role </a:t>
            </a:r>
            <a:r>
              <a:rPr lang="en-US" altLang="en-US" sz="4000" dirty="0"/>
              <a:t>corresponding to their actual emergency responsibilities.</a:t>
            </a:r>
          </a:p>
          <a:p>
            <a:pPr>
              <a:spcBef>
                <a:spcPts val="900"/>
              </a:spcBef>
            </a:pPr>
            <a:r>
              <a:rPr lang="en-US" altLang="en-US" sz="4000" b="1" dirty="0"/>
              <a:t>Time pressure </a:t>
            </a:r>
            <a:r>
              <a:rPr lang="en-US" altLang="en-US" sz="4000" dirty="0"/>
              <a:t>helps simulate the urgency of real incidents.</a:t>
            </a:r>
          </a:p>
          <a:p>
            <a:pPr>
              <a:spcBef>
                <a:spcPts val="900"/>
              </a:spcBef>
            </a:pPr>
            <a:r>
              <a:rPr lang="en-US" altLang="en-US" sz="4000" b="1" dirty="0"/>
              <a:t>Decision points </a:t>
            </a:r>
            <a:r>
              <a:rPr lang="en-US" altLang="en-US" sz="4000" dirty="0"/>
              <a:t>pause the action for strategic discussions about how to proceed. </a:t>
            </a:r>
          </a:p>
          <a:p>
            <a:pPr>
              <a:spcBef>
                <a:spcPts val="900"/>
              </a:spcBef>
            </a:pPr>
            <a:r>
              <a:rPr lang="en-US" altLang="en-US" sz="4000" b="1" dirty="0"/>
              <a:t>Detailed records </a:t>
            </a:r>
            <a:r>
              <a:rPr lang="en-US" altLang="en-US" sz="4000" dirty="0"/>
              <a:t>are kept of every action, decision, and discussion point.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CB70861-1125-D2A3-E528-8A84DE3EF28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1FDF618D-7570-0977-045A-14860B1B5C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54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Tabletop Exercises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1385771785"/>
      </p:ext>
    </p:extLst>
  </p:cSld>
  <p:clrMapOvr>
    <a:masterClrMapping/>
  </p:clrMapOvr>
</p:sld>
</file>

<file path=ppt/slides/slide2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8C5920-0564-B3F6-3571-FF3A0DA68F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E940FAA-FE2D-7E3C-B20A-EFBB15F5FC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Slide </a:t>
            </a:r>
            <a:fld id="{4CA2B2DB-B91D-4166-98BF-65A0DA7EEE6D}" type="slidenum">
              <a:rPr kumimoji="0" lang="en-US" sz="1800" b="0" i="1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272</a:t>
            </a:fld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32B0C6-2F88-0293-2275-1B56FD3221C2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2536823"/>
            <a:ext cx="16192500" cy="6416677"/>
          </a:xfrm>
        </p:spPr>
        <p:txBody>
          <a:bodyPr/>
          <a:lstStyle/>
          <a:p>
            <a:pPr marL="0" indent="0">
              <a:spcBef>
                <a:spcPts val="900"/>
              </a:spcBef>
              <a:buNone/>
            </a:pPr>
            <a:r>
              <a:rPr lang="en-US" altLang="en-US" sz="4000" b="1" dirty="0"/>
              <a:t>Simulation exercises </a:t>
            </a:r>
            <a:r>
              <a:rPr lang="en-US" altLang="en-US" sz="4000" dirty="0"/>
              <a:t>build upon tabletop exercises with simulated tech environments such as sandboxed or isolated replicas of networks.</a:t>
            </a:r>
          </a:p>
          <a:p>
            <a:pPr marL="0" indent="0">
              <a:spcBef>
                <a:spcPts val="900"/>
              </a:spcBef>
              <a:buNone/>
            </a:pPr>
            <a:endParaRPr lang="en-US" altLang="en-US" sz="1200" dirty="0"/>
          </a:p>
          <a:p>
            <a:pPr marL="0" indent="0">
              <a:spcBef>
                <a:spcPts val="900"/>
              </a:spcBef>
              <a:buNone/>
            </a:pPr>
            <a:r>
              <a:rPr lang="en-US" altLang="en-US" sz="4000" b="1" dirty="0"/>
              <a:t>Tips for conducting a simulation</a:t>
            </a:r>
          </a:p>
          <a:p>
            <a:pPr>
              <a:spcBef>
                <a:spcPts val="900"/>
              </a:spcBef>
            </a:pPr>
            <a:r>
              <a:rPr lang="en-US" altLang="en-US" sz="3600" dirty="0"/>
              <a:t>Define </a:t>
            </a:r>
            <a:r>
              <a:rPr lang="en-US" altLang="en-US" sz="3600" b="1" dirty="0"/>
              <a:t>key performance indicators (KPIs) </a:t>
            </a:r>
            <a:r>
              <a:rPr lang="en-US" altLang="en-US" sz="3600" dirty="0"/>
              <a:t>to evaluate response effectiveness.  </a:t>
            </a:r>
          </a:p>
          <a:p>
            <a:pPr>
              <a:spcBef>
                <a:spcPts val="900"/>
              </a:spcBef>
            </a:pPr>
            <a:r>
              <a:rPr lang="en-US" altLang="en-US" sz="3600" dirty="0"/>
              <a:t>Introduce unexpected elements (e.g., power outages) to test the team's adaptability.</a:t>
            </a:r>
          </a:p>
          <a:p>
            <a:pPr>
              <a:spcBef>
                <a:spcPts val="900"/>
              </a:spcBef>
            </a:pPr>
            <a:r>
              <a:rPr lang="en-US" altLang="en-US" sz="3600" dirty="0"/>
              <a:t>Include a post-exercise discussion to identify gaps and discuss improvements.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9323BB4-B7C6-FBDD-F4D3-5075EDB1BC6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3B2701A5-2C91-90B7-2558-10A5F5CE26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54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Simulation Ex</a:t>
            </a:r>
            <a:r>
              <a:rPr lang="en-US" sz="5400" b="0" kern="0" dirty="0" err="1">
                <a:solidFill>
                  <a:srgbClr val="0B0506"/>
                </a:solidFill>
                <a:latin typeface="Arial"/>
              </a:rPr>
              <a:t>ercises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4165280040"/>
      </p:ext>
    </p:extLst>
  </p:cSld>
  <p:clrMapOvr>
    <a:masterClrMapping/>
  </p:clrMapOvr>
</p:sld>
</file>

<file path=ppt/slides/slide2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AAEACB-B23A-8F61-DBCE-630B56616C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2090664-2876-329B-86FA-4987588C3B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Slide </a:t>
            </a:r>
            <a:fld id="{4CA2B2DB-B91D-4166-98BF-65A0DA7EEE6D}" type="slidenum">
              <a:rPr kumimoji="0" lang="en-US" sz="1800" b="0" i="1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273</a:t>
            </a:fld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A98A77-9328-5DF8-9C14-88FA8231C938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2536823"/>
            <a:ext cx="16192500" cy="6416677"/>
          </a:xfrm>
        </p:spPr>
        <p:txBody>
          <a:bodyPr/>
          <a:lstStyle/>
          <a:p>
            <a:pPr marL="0" indent="0">
              <a:spcBef>
                <a:spcPts val="900"/>
              </a:spcBef>
              <a:buNone/>
            </a:pPr>
            <a:r>
              <a:rPr lang="en-US" altLang="en-US" sz="4400" b="1" dirty="0"/>
              <a:t>Root cause analysis </a:t>
            </a:r>
            <a:r>
              <a:rPr lang="en-US" altLang="en-US" sz="4400" dirty="0"/>
              <a:t>is critical for identifying the  reasons underlying security incidents.</a:t>
            </a:r>
          </a:p>
          <a:p>
            <a:pPr>
              <a:spcBef>
                <a:spcPts val="900"/>
              </a:spcBef>
            </a:pPr>
            <a:r>
              <a:rPr lang="en-US" altLang="en-US" sz="4000" dirty="0"/>
              <a:t>Data collection</a:t>
            </a:r>
          </a:p>
          <a:p>
            <a:pPr>
              <a:spcBef>
                <a:spcPts val="900"/>
              </a:spcBef>
            </a:pPr>
            <a:r>
              <a:rPr lang="en-US" altLang="en-US" sz="4000" dirty="0"/>
              <a:t>Timeline analysis</a:t>
            </a:r>
          </a:p>
          <a:p>
            <a:pPr>
              <a:spcBef>
                <a:spcPts val="900"/>
              </a:spcBef>
            </a:pPr>
            <a:r>
              <a:rPr lang="en-US" altLang="en-US" sz="4000" dirty="0"/>
              <a:t>Hypothesis development</a:t>
            </a:r>
          </a:p>
          <a:p>
            <a:pPr>
              <a:spcBef>
                <a:spcPts val="900"/>
              </a:spcBef>
            </a:pPr>
            <a:r>
              <a:rPr lang="en-US" altLang="en-US" sz="4000" dirty="0"/>
              <a:t>Hypothesis confirmation or rejection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4865D2-D4EB-6045-4C83-CDD0EDEC126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10EB5967-3B3F-F6CB-9B06-9B23AE348D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54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Root Cause Analysis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4107098101"/>
      </p:ext>
    </p:extLst>
  </p:cSld>
  <p:clrMapOvr>
    <a:masterClrMapping/>
  </p:clrMapOvr>
</p:sld>
</file>

<file path=ppt/slides/slide2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677D3B-3E43-2566-50C1-C944C302B9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881B477-3A25-B3CE-2E0C-4B04176384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Slide </a:t>
            </a:r>
            <a:fld id="{4CA2B2DB-B91D-4166-98BF-65A0DA7EEE6D}" type="slidenum">
              <a:rPr kumimoji="0" lang="en-US" sz="1800" b="0" i="1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274</a:t>
            </a:fld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B08E25-17A7-56BF-223B-E34E076D8F9D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2536823"/>
            <a:ext cx="16192500" cy="6416677"/>
          </a:xfrm>
        </p:spPr>
        <p:txBody>
          <a:bodyPr/>
          <a:lstStyle/>
          <a:p>
            <a:pPr marL="0" indent="0">
              <a:spcBef>
                <a:spcPts val="900"/>
              </a:spcBef>
              <a:buNone/>
            </a:pPr>
            <a:r>
              <a:rPr lang="en-US" altLang="en-US" sz="4800" b="1" dirty="0"/>
              <a:t>Threat hunting </a:t>
            </a:r>
            <a:r>
              <a:rPr lang="en-US" altLang="en-US" sz="4800" dirty="0"/>
              <a:t>is a proactive search through networks and data sets to detect and isolate advanced threats.</a:t>
            </a:r>
          </a:p>
          <a:p>
            <a:pPr>
              <a:spcBef>
                <a:spcPts val="900"/>
              </a:spcBef>
            </a:pPr>
            <a:r>
              <a:rPr lang="en-US" altLang="en-US" sz="4400" dirty="0"/>
              <a:t>Targets threats that evade traditional reactive security measures</a:t>
            </a:r>
          </a:p>
          <a:p>
            <a:pPr>
              <a:spcBef>
                <a:spcPts val="900"/>
              </a:spcBef>
            </a:pPr>
            <a:r>
              <a:rPr lang="en-US" altLang="en-US" sz="4400" dirty="0"/>
              <a:t>Involves setting a specific type of threat, such as lateral moves or data exfiltration</a:t>
            </a:r>
          </a:p>
          <a:p>
            <a:pPr>
              <a:spcBef>
                <a:spcPts val="900"/>
              </a:spcBef>
            </a:pPr>
            <a:r>
              <a:rPr lang="en-US" altLang="en-US" sz="4400" dirty="0"/>
              <a:t>Discoveries may lead to threat remediation and updated security measures.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3DF850A-73B7-E641-8C4F-87CD54A6CB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A228FFF-6579-BF30-6345-95610F384F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54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Threat Hunting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1052493822"/>
      </p:ext>
    </p:extLst>
  </p:cSld>
  <p:clrMapOvr>
    <a:masterClrMapping/>
  </p:clrMapOvr>
</p:sld>
</file>

<file path=ppt/slides/slide27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15194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039D661-84D7-5E75-CC23-AA537673C6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4D8ACD9E-6CCB-0C27-BAD4-95A8EF47193C}"/>
              </a:ext>
            </a:extLst>
          </p:cNvPr>
          <p:cNvGrpSpPr/>
          <p:nvPr/>
        </p:nvGrpSpPr>
        <p:grpSpPr>
          <a:xfrm rot="-5400000">
            <a:off x="12015831" y="4014831"/>
            <a:ext cx="10287000" cy="2257339"/>
            <a:chOff x="0" y="0"/>
            <a:chExt cx="2709333" cy="59452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DC493D25-5DAB-D1B0-ABB8-AC7B0118CA36}"/>
                </a:ext>
              </a:extLst>
            </p:cNvPr>
            <p:cNvSpPr/>
            <p:nvPr/>
          </p:nvSpPr>
          <p:spPr>
            <a:xfrm>
              <a:off x="0" y="0"/>
              <a:ext cx="2709333" cy="594525"/>
            </a:xfrm>
            <a:custGeom>
              <a:avLst/>
              <a:gdLst/>
              <a:ahLst/>
              <a:cxnLst/>
              <a:rect l="l" t="t" r="r" b="b"/>
              <a:pathLst>
                <a:path w="2709333" h="594525">
                  <a:moveTo>
                    <a:pt x="0" y="0"/>
                  </a:moveTo>
                  <a:lnTo>
                    <a:pt x="2709333" y="0"/>
                  </a:lnTo>
                  <a:lnTo>
                    <a:pt x="2709333" y="594525"/>
                  </a:lnTo>
                  <a:lnTo>
                    <a:pt x="0" y="594525"/>
                  </a:lnTo>
                  <a:close/>
                </a:path>
              </a:pathLst>
            </a:custGeom>
            <a:solidFill>
              <a:srgbClr val="0283FD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0B8F322B-E614-96C5-DE27-DB02D323F981}"/>
                </a:ext>
              </a:extLst>
            </p:cNvPr>
            <p:cNvSpPr txBox="1"/>
            <p:nvPr/>
          </p:nvSpPr>
          <p:spPr>
            <a:xfrm>
              <a:off x="0" y="-66675"/>
              <a:ext cx="2709333" cy="6612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3024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94FCEF61-38C9-9375-6CB5-00ABB21DCE19}"/>
              </a:ext>
            </a:extLst>
          </p:cNvPr>
          <p:cNvGrpSpPr/>
          <p:nvPr/>
        </p:nvGrpSpPr>
        <p:grpSpPr>
          <a:xfrm>
            <a:off x="179467" y="6643814"/>
            <a:ext cx="8126333" cy="3488267"/>
            <a:chOff x="0" y="0"/>
            <a:chExt cx="844714" cy="36259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19ED465A-8DE6-29C6-5452-E7D1FCDA24C9}"/>
                </a:ext>
              </a:extLst>
            </p:cNvPr>
            <p:cNvSpPr/>
            <p:nvPr/>
          </p:nvSpPr>
          <p:spPr>
            <a:xfrm>
              <a:off x="0" y="0"/>
              <a:ext cx="844714" cy="362598"/>
            </a:xfrm>
            <a:custGeom>
              <a:avLst/>
              <a:gdLst/>
              <a:ahLst/>
              <a:cxnLst/>
              <a:rect l="l" t="t" r="r" b="b"/>
              <a:pathLst>
                <a:path w="844714" h="362598">
                  <a:moveTo>
                    <a:pt x="203200" y="0"/>
                  </a:moveTo>
                  <a:lnTo>
                    <a:pt x="844714" y="0"/>
                  </a:lnTo>
                  <a:lnTo>
                    <a:pt x="641514" y="362598"/>
                  </a:lnTo>
                  <a:lnTo>
                    <a:pt x="0" y="362598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283FD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0F774645-BD84-6554-3529-1F0FB5B0DF0A}"/>
                </a:ext>
              </a:extLst>
            </p:cNvPr>
            <p:cNvSpPr txBox="1"/>
            <p:nvPr/>
          </p:nvSpPr>
          <p:spPr>
            <a:xfrm>
              <a:off x="101600" y="-28575"/>
              <a:ext cx="641514" cy="391173"/>
            </a:xfrm>
            <a:prstGeom prst="rect">
              <a:avLst/>
            </a:prstGeom>
          </p:spPr>
          <p:txBody>
            <a:bodyPr lIns="47790" tIns="47790" rIns="47790" bIns="4779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1843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20166EBA-31F0-0553-619F-8DB12BE39338}"/>
              </a:ext>
            </a:extLst>
          </p:cNvPr>
          <p:cNvGrpSpPr/>
          <p:nvPr/>
        </p:nvGrpSpPr>
        <p:grpSpPr>
          <a:xfrm>
            <a:off x="-73552" y="7047924"/>
            <a:ext cx="16030661" cy="3336996"/>
            <a:chOff x="0" y="0"/>
            <a:chExt cx="6165409" cy="1271237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11EF93EE-E9F3-B1FB-4A91-4E0F85A1BFA7}"/>
                </a:ext>
              </a:extLst>
            </p:cNvPr>
            <p:cNvSpPr/>
            <p:nvPr/>
          </p:nvSpPr>
          <p:spPr>
            <a:xfrm>
              <a:off x="0" y="0"/>
              <a:ext cx="6165409" cy="1271237"/>
            </a:xfrm>
            <a:custGeom>
              <a:avLst/>
              <a:gdLst/>
              <a:ahLst/>
              <a:cxnLst/>
              <a:rect l="l" t="t" r="r" b="b"/>
              <a:pathLst>
                <a:path w="6165409" h="1271237">
                  <a:moveTo>
                    <a:pt x="0" y="0"/>
                  </a:moveTo>
                  <a:lnTo>
                    <a:pt x="6165409" y="0"/>
                  </a:lnTo>
                  <a:lnTo>
                    <a:pt x="6165409" y="1271237"/>
                  </a:lnTo>
                  <a:lnTo>
                    <a:pt x="0" y="127123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E529629E-D5FB-589F-407E-1D496A9DA5B9}"/>
                </a:ext>
              </a:extLst>
            </p:cNvPr>
            <p:cNvSpPr txBox="1"/>
            <p:nvPr/>
          </p:nvSpPr>
          <p:spPr>
            <a:xfrm>
              <a:off x="0" y="-28575"/>
              <a:ext cx="6165409" cy="1299812"/>
            </a:xfrm>
            <a:prstGeom prst="rect">
              <a:avLst/>
            </a:prstGeom>
          </p:spPr>
          <p:txBody>
            <a:bodyPr lIns="47790" tIns="47790" rIns="47790" bIns="4779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1843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sp>
        <p:nvSpPr>
          <p:cNvPr id="12" name="TextBox 12">
            <a:extLst>
              <a:ext uri="{FF2B5EF4-FFF2-40B4-BE49-F238E27FC236}">
                <a16:creationId xmlns:a16="http://schemas.microsoft.com/office/drawing/2014/main" id="{1967187B-56B2-F989-10BE-35A4CA648786}"/>
              </a:ext>
            </a:extLst>
          </p:cNvPr>
          <p:cNvSpPr txBox="1"/>
          <p:nvPr/>
        </p:nvSpPr>
        <p:spPr>
          <a:xfrm>
            <a:off x="1111666" y="3432993"/>
            <a:ext cx="14771892" cy="598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4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Day 4 – Block 3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6F5453E9-2436-B21E-18F5-16BE9B9008B3}"/>
              </a:ext>
            </a:extLst>
          </p:cNvPr>
          <p:cNvSpPr txBox="1"/>
          <p:nvPr/>
        </p:nvSpPr>
        <p:spPr>
          <a:xfrm>
            <a:off x="1111666" y="9653992"/>
            <a:ext cx="12263263" cy="3619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0" i="0" u="none" strike="noStrike" kern="1200" cap="none" spc="0" normalizeH="0" baseline="0" noProof="0">
                <a:ln>
                  <a:noFill/>
                </a:ln>
                <a:solidFill>
                  <a:srgbClr val="252525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CALIFORNIA INSTITUTE OF APPLIED TECHNOLOGY</a:t>
            </a:r>
          </a:p>
        </p:txBody>
      </p:sp>
      <p:sp>
        <p:nvSpPr>
          <p:cNvPr id="15" name="AutoShape 15">
            <a:extLst>
              <a:ext uri="{FF2B5EF4-FFF2-40B4-BE49-F238E27FC236}">
                <a16:creationId xmlns:a16="http://schemas.microsoft.com/office/drawing/2014/main" id="{28672603-69CD-4E2E-F2F7-B87E24B83E7B}"/>
              </a:ext>
            </a:extLst>
          </p:cNvPr>
          <p:cNvSpPr/>
          <p:nvPr/>
        </p:nvSpPr>
        <p:spPr>
          <a:xfrm>
            <a:off x="8010568" y="9858838"/>
            <a:ext cx="7625672" cy="0"/>
          </a:xfrm>
          <a:prstGeom prst="line">
            <a:avLst/>
          </a:prstGeom>
          <a:ln w="19050" cap="flat">
            <a:solidFill>
              <a:srgbClr val="0283F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7" name="Freeform 5">
            <a:extLst>
              <a:ext uri="{FF2B5EF4-FFF2-40B4-BE49-F238E27FC236}">
                <a16:creationId xmlns:a16="http://schemas.microsoft.com/office/drawing/2014/main" id="{23244B21-C15A-170E-0A1C-24BED0FE1DAF}"/>
              </a:ext>
            </a:extLst>
          </p:cNvPr>
          <p:cNvSpPr/>
          <p:nvPr/>
        </p:nvSpPr>
        <p:spPr>
          <a:xfrm>
            <a:off x="1111666" y="355081"/>
            <a:ext cx="4247850" cy="631936"/>
          </a:xfrm>
          <a:custGeom>
            <a:avLst/>
            <a:gdLst/>
            <a:ahLst/>
            <a:cxnLst/>
            <a:rect l="l" t="t" r="r" b="b"/>
            <a:pathLst>
              <a:path w="4247850" h="631936">
                <a:moveTo>
                  <a:pt x="0" y="0"/>
                </a:moveTo>
                <a:lnTo>
                  <a:pt x="4247850" y="0"/>
                </a:lnTo>
                <a:lnTo>
                  <a:pt x="4247850" y="631935"/>
                </a:lnTo>
                <a:lnTo>
                  <a:pt x="0" y="63193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5" r="-5"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8112F69-DEB9-C5F1-51CF-71047D330345}"/>
              </a:ext>
            </a:extLst>
          </p:cNvPr>
          <p:cNvSpPr txBox="1"/>
          <p:nvPr/>
        </p:nvSpPr>
        <p:spPr>
          <a:xfrm>
            <a:off x="1111666" y="7106062"/>
            <a:ext cx="11918534" cy="22159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2400" dirty="0"/>
              <a:t>Digital Forensics &amp; Investigation</a:t>
            </a:r>
          </a:p>
          <a:p>
            <a:pPr lvl="1"/>
            <a:r>
              <a:rPr lang="en-US" altLang="en-US" dirty="0"/>
              <a:t>Evidence Collection</a:t>
            </a:r>
          </a:p>
          <a:p>
            <a:pPr lvl="1"/>
            <a:r>
              <a:rPr lang="en-US" altLang="en-US" dirty="0"/>
              <a:t>Chain of Custody</a:t>
            </a:r>
          </a:p>
          <a:p>
            <a:pPr lvl="1"/>
            <a:r>
              <a:rPr lang="en-US" altLang="en-US" dirty="0"/>
              <a:t>Forensic Tools</a:t>
            </a:r>
          </a:p>
          <a:p>
            <a:pPr lvl="1"/>
            <a:r>
              <a:rPr lang="en-US" altLang="en-US" dirty="0"/>
              <a:t>Legal Holds</a:t>
            </a:r>
          </a:p>
          <a:p>
            <a:r>
              <a:rPr lang="en-US" altLang="en-US" sz="2400" dirty="0"/>
              <a:t>uCertify Lab</a:t>
            </a:r>
          </a:p>
          <a:p>
            <a:pPr lvl="1"/>
            <a:r>
              <a:rPr lang="en-US" altLang="en-US" dirty="0"/>
              <a:t>21.6.1 Completing the Chain of Custody</a:t>
            </a:r>
          </a:p>
        </p:txBody>
      </p:sp>
    </p:spTree>
    <p:extLst>
      <p:ext uri="{BB962C8B-B14F-4D97-AF65-F5344CB8AC3E}">
        <p14:creationId xmlns:p14="http://schemas.microsoft.com/office/powerpoint/2010/main" val="2099650224"/>
      </p:ext>
    </p:extLst>
  </p:cSld>
  <p:clrMapOvr>
    <a:masterClrMapping/>
  </p:clrMapOvr>
</p:sld>
</file>

<file path=ppt/slides/slide2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503965-AF15-9E51-6B6F-45810C7A5E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64ECBDC-ED38-AE60-4593-BA8B5BC898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Slide </a:t>
            </a:r>
            <a:fld id="{4CA2B2DB-B91D-4166-98BF-65A0DA7EEE6D}" type="slidenum">
              <a:rPr kumimoji="0" lang="en-US" sz="1800" b="0" i="1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276</a:t>
            </a:fld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9A3B46-CF3D-2081-C255-D3CA1C93456D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2536823"/>
            <a:ext cx="16192500" cy="6416677"/>
          </a:xfrm>
        </p:spPr>
        <p:txBody>
          <a:bodyPr/>
          <a:lstStyle/>
          <a:p>
            <a:pPr marL="0" indent="0">
              <a:spcBef>
                <a:spcPts val="900"/>
              </a:spcBef>
              <a:buNone/>
            </a:pPr>
            <a:r>
              <a:rPr lang="en-US" altLang="en-US" sz="5400" b="1" dirty="0"/>
              <a:t>Digital forensics </a:t>
            </a:r>
            <a:r>
              <a:rPr lang="en-US" altLang="en-US" sz="5400" dirty="0"/>
              <a:t>is a multidisciplinary approach to collecting, analyzing, and preserving data.</a:t>
            </a:r>
          </a:p>
          <a:p>
            <a:pPr>
              <a:spcBef>
                <a:spcPts val="900"/>
              </a:spcBef>
            </a:pPr>
            <a:r>
              <a:rPr lang="en-US" altLang="en-US" sz="4800" dirty="0"/>
              <a:t>Involves the electronic data relevant to investigations or legal proceedings</a:t>
            </a:r>
          </a:p>
          <a:p>
            <a:pPr>
              <a:spcBef>
                <a:spcPts val="900"/>
              </a:spcBef>
            </a:pPr>
            <a:r>
              <a:rPr lang="en-US" altLang="en-US" sz="4800" dirty="0"/>
              <a:t>Combines technical expertise with legal frameworks and ethical considerations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97098FD-41A2-E10E-4F4C-87934EEEB1C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0BCC134E-830D-3A70-1411-1A057CF7F3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54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Digital Forensics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650190129"/>
      </p:ext>
    </p:extLst>
  </p:cSld>
  <p:clrMapOvr>
    <a:masterClrMapping/>
  </p:clrMapOvr>
</p:sld>
</file>

<file path=ppt/slides/slide2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DD0393-015A-85CF-A814-B61B42DD9E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C803EC2-C781-69AB-7C2D-3A067F3147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Slide </a:t>
            </a:r>
            <a:fld id="{4CA2B2DB-B91D-4166-98BF-65A0DA7EEE6D}" type="slidenum">
              <a:rPr kumimoji="0" lang="en-US" sz="1800" b="0" i="1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277</a:t>
            </a:fld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394FCF-4FC6-3BBF-8A26-5C9E62E81A7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2536823"/>
            <a:ext cx="16192500" cy="6416677"/>
          </a:xfrm>
        </p:spPr>
        <p:txBody>
          <a:bodyPr/>
          <a:lstStyle/>
          <a:p>
            <a:pPr>
              <a:spcBef>
                <a:spcPts val="900"/>
              </a:spcBef>
            </a:pPr>
            <a:r>
              <a:rPr lang="en-US" altLang="en-US" sz="3900" b="1" dirty="0"/>
              <a:t>Legal hold </a:t>
            </a:r>
            <a:r>
              <a:rPr lang="en-US" altLang="en-US" sz="3900" dirty="0"/>
              <a:t>is the process of preserving electronic evidence related to a legal case or investigation. It prevents the alteration or deletion of specific data.</a:t>
            </a:r>
          </a:p>
          <a:p>
            <a:pPr>
              <a:spcBef>
                <a:spcPts val="900"/>
              </a:spcBef>
            </a:pPr>
            <a:r>
              <a:rPr lang="en-US" altLang="en-US" sz="3900" dirty="0"/>
              <a:t>A </a:t>
            </a:r>
            <a:r>
              <a:rPr lang="en-US" altLang="en-US" sz="3900" b="1" dirty="0"/>
              <a:t>chain of custody</a:t>
            </a:r>
            <a:r>
              <a:rPr lang="en-US" altLang="en-US" sz="3900" dirty="0"/>
              <a:t> documents the</a:t>
            </a:r>
            <a:r>
              <a:rPr lang="en-US" altLang="en-US" sz="3900" b="1" dirty="0"/>
              <a:t> </a:t>
            </a:r>
            <a:r>
              <a:rPr lang="en-US" altLang="en-US" sz="3900" dirty="0"/>
              <a:t>path that evidence takes from acquisition to disposal.</a:t>
            </a:r>
          </a:p>
          <a:p>
            <a:pPr lvl="2">
              <a:spcBef>
                <a:spcPts val="900"/>
              </a:spcBef>
            </a:pPr>
            <a:r>
              <a:rPr lang="en-US" altLang="en-US" sz="3200" dirty="0"/>
              <a:t>Helps ensure the integrity and admissibility of evidence in legal proceedings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7E8B99-3C04-7A8C-8747-DCE8827250F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B38AE3F0-2DA3-4E7F-F53D-D523A0F247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54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Legal Hold and Chain of Custody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1418691090"/>
      </p:ext>
    </p:extLst>
  </p:cSld>
  <p:clrMapOvr>
    <a:masterClrMapping/>
  </p:clrMapOvr>
</p:sld>
</file>

<file path=ppt/slides/slide2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7BA1C6-23C9-D692-F86D-B357CEA62D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57ACF99-A238-741B-CF8D-4AF7CCE850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Slide </a:t>
            </a:r>
            <a:fld id="{4CA2B2DB-B91D-4166-98BF-65A0DA7EEE6D}" type="slidenum">
              <a:rPr kumimoji="0" lang="en-US" sz="1800" b="0" i="1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278</a:t>
            </a:fld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B7E5C3-0A18-2762-E096-D6F37C8B484A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2536823"/>
            <a:ext cx="16192500" cy="6416677"/>
          </a:xfrm>
        </p:spPr>
        <p:txBody>
          <a:bodyPr/>
          <a:lstStyle/>
          <a:p>
            <a:pPr marL="0" indent="0">
              <a:spcBef>
                <a:spcPts val="900"/>
              </a:spcBef>
              <a:buNone/>
            </a:pPr>
            <a:r>
              <a:rPr lang="en-US" altLang="en-US" sz="4400" b="1" dirty="0"/>
              <a:t>Acquisition </a:t>
            </a:r>
            <a:r>
              <a:rPr lang="en-US" altLang="en-US" sz="4400" dirty="0"/>
              <a:t>is the systematic collection of digital evidence meant to maintain its authenticity.  </a:t>
            </a:r>
          </a:p>
          <a:p>
            <a:pPr>
              <a:spcBef>
                <a:spcPts val="900"/>
              </a:spcBef>
            </a:pPr>
            <a:r>
              <a:rPr lang="en-US" altLang="en-US" sz="4000" dirty="0"/>
              <a:t>Follows the </a:t>
            </a:r>
            <a:r>
              <a:rPr lang="en-US" altLang="en-US" sz="4000" b="1" dirty="0"/>
              <a:t>order of volatility</a:t>
            </a:r>
            <a:r>
              <a:rPr lang="en-US" altLang="en-US" sz="4000" dirty="0"/>
              <a:t>; captures the most volatile data first (CPU cache and registers)</a:t>
            </a:r>
          </a:p>
          <a:p>
            <a:pPr>
              <a:spcBef>
                <a:spcPts val="900"/>
              </a:spcBef>
            </a:pPr>
            <a:r>
              <a:rPr lang="en-US" altLang="en-US" sz="4000" dirty="0"/>
              <a:t>Uses special tools to capture RAM</a:t>
            </a:r>
          </a:p>
          <a:p>
            <a:pPr>
              <a:spcBef>
                <a:spcPts val="900"/>
              </a:spcBef>
            </a:pPr>
            <a:r>
              <a:rPr lang="en-US" altLang="en-US" sz="4000" dirty="0"/>
              <a:t>Creates a bit-by-bit image of the hard drive</a:t>
            </a:r>
          </a:p>
          <a:p>
            <a:pPr>
              <a:spcBef>
                <a:spcPts val="900"/>
              </a:spcBef>
            </a:pPr>
            <a:r>
              <a:rPr lang="en-US" altLang="en-US" sz="4000" dirty="0"/>
              <a:t>Captures network traffic and logs</a:t>
            </a:r>
          </a:p>
          <a:p>
            <a:pPr>
              <a:spcBef>
                <a:spcPts val="900"/>
              </a:spcBef>
            </a:pPr>
            <a:r>
              <a:rPr lang="en-US" altLang="en-US" sz="4000" dirty="0"/>
              <a:t>Looks for suspicious artifacts (residual data) such as changes in system settings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6A3D712-96FE-FAA9-3C30-6C337806E17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33E0F80B-613B-7BDD-720D-5C1D6FB787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54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Acquisition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3441834675"/>
      </p:ext>
    </p:extLst>
  </p:cSld>
  <p:clrMapOvr>
    <a:masterClrMapping/>
  </p:clrMapOvr>
</p:sld>
</file>

<file path=ppt/slides/slide2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C9288D-B082-FF41-0CCA-7EFED2FD60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29396A3-02BE-E416-6A86-F7FB386F47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Slide </a:t>
            </a:r>
            <a:fld id="{4CA2B2DB-B91D-4166-98BF-65A0DA7EEE6D}" type="slidenum">
              <a:rPr kumimoji="0" lang="en-US" sz="1800" b="0" i="1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279</a:t>
            </a:fld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A55C36-C97D-8048-3C6A-1C704A60D45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2536823"/>
            <a:ext cx="16192500" cy="6416677"/>
          </a:xfrm>
        </p:spPr>
        <p:txBody>
          <a:bodyPr/>
          <a:lstStyle/>
          <a:p>
            <a:pPr marL="0" indent="0">
              <a:spcBef>
                <a:spcPts val="900"/>
              </a:spcBef>
              <a:buNone/>
            </a:pPr>
            <a:r>
              <a:rPr lang="en-US" altLang="en-US" sz="3900" b="1" dirty="0"/>
              <a:t>Reporting</a:t>
            </a:r>
            <a:r>
              <a:rPr lang="en-US" altLang="en-US" sz="3900" dirty="0"/>
              <a:t> is the documenting of activities and findings throughout the forensic process.</a:t>
            </a:r>
          </a:p>
          <a:p>
            <a:pPr>
              <a:spcBef>
                <a:spcPts val="900"/>
              </a:spcBef>
            </a:pPr>
            <a:r>
              <a:rPr lang="en-US" altLang="en-US" sz="3600" dirty="0"/>
              <a:t>Serves as a record for internal review and may become critical evidence in legal proceedings</a:t>
            </a:r>
          </a:p>
          <a:p>
            <a:pPr>
              <a:spcBef>
                <a:spcPts val="900"/>
              </a:spcBef>
            </a:pPr>
            <a:r>
              <a:rPr lang="en-US" altLang="en-US" sz="3600" dirty="0"/>
              <a:t>Elements of a well-structured report</a:t>
            </a:r>
          </a:p>
          <a:p>
            <a:pPr lvl="2">
              <a:spcBef>
                <a:spcPts val="900"/>
              </a:spcBef>
            </a:pPr>
            <a:r>
              <a:rPr lang="en-US" altLang="en-US" sz="3200" dirty="0"/>
              <a:t>Timeline of events </a:t>
            </a:r>
          </a:p>
          <a:p>
            <a:pPr lvl="2">
              <a:spcBef>
                <a:spcPts val="900"/>
              </a:spcBef>
            </a:pPr>
            <a:r>
              <a:rPr lang="en-US" altLang="en-US" sz="3200" dirty="0"/>
              <a:t>Tools used</a:t>
            </a:r>
          </a:p>
          <a:p>
            <a:pPr lvl="2">
              <a:spcBef>
                <a:spcPts val="900"/>
              </a:spcBef>
            </a:pPr>
            <a:r>
              <a:rPr lang="en-US" altLang="en-US" sz="3200" dirty="0"/>
              <a:t>Evidence found</a:t>
            </a:r>
          </a:p>
          <a:p>
            <a:pPr lvl="2">
              <a:spcBef>
                <a:spcPts val="900"/>
              </a:spcBef>
            </a:pPr>
            <a:r>
              <a:rPr lang="en-US" altLang="en-US" sz="3200" dirty="0"/>
              <a:t>Steps taken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D7B9047-14BB-2713-5746-30080B5F99B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3C86C08-6AC0-CD32-B711-C682F2BCCE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54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Reporting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2547200972"/>
      </p:ext>
    </p:extLst>
  </p:cSld>
  <p:clrMapOvr>
    <a:masterClrMapping/>
  </p:clrMapOvr>
</p:sld>
</file>

<file path=ppt/slides/slide2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468337-6C42-3DE0-CFA4-6CA1B3D422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0172F32-837F-0937-37D7-FBD598AD89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Slide </a:t>
            </a:r>
            <a:fld id="{4CA2B2DB-B91D-4166-98BF-65A0DA7EEE6D}" type="slidenum">
              <a:rPr kumimoji="0" lang="en-US" sz="1800" b="0" i="1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280</a:t>
            </a:fld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783F4A-10EC-BCF3-E916-4A9F8AC504C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2536823"/>
            <a:ext cx="16192500" cy="6416677"/>
          </a:xfrm>
        </p:spPr>
        <p:txBody>
          <a:bodyPr/>
          <a:lstStyle/>
          <a:p>
            <a:pPr marL="0" indent="0">
              <a:spcBef>
                <a:spcPts val="900"/>
              </a:spcBef>
              <a:buNone/>
            </a:pPr>
            <a:r>
              <a:rPr lang="en-US" altLang="en-US" sz="3900" b="1" dirty="0"/>
              <a:t>Preservation</a:t>
            </a:r>
            <a:r>
              <a:rPr lang="en-US" altLang="en-US" sz="3900" dirty="0"/>
              <a:t> involves safeguarding evidence from identification to the end of its lifecycle.</a:t>
            </a:r>
          </a:p>
          <a:p>
            <a:pPr lvl="2">
              <a:spcBef>
                <a:spcPts val="900"/>
              </a:spcBef>
            </a:pPr>
            <a:r>
              <a:rPr lang="en-US" altLang="en-US" sz="4000" dirty="0"/>
              <a:t>Secure, climate-controlled environment</a:t>
            </a:r>
          </a:p>
          <a:p>
            <a:pPr lvl="2">
              <a:spcBef>
                <a:spcPts val="900"/>
              </a:spcBef>
            </a:pPr>
            <a:r>
              <a:rPr lang="en-US" altLang="en-US" sz="4000" dirty="0"/>
              <a:t>Tamper-evident storage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D53F1A0-A3B5-84CB-0505-96B891B8042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D03B52C-6EBF-4EB3-D6A9-C3FF800F06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54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Preservation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2853299692"/>
      </p:ext>
    </p:extLst>
  </p:cSld>
  <p:clrMapOvr>
    <a:masterClrMapping/>
  </p:clrMapOvr>
</p:sld>
</file>

<file path=ppt/slides/slide2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F21072-F914-C8D2-DCB3-43304B18FA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A6395DB-CF77-6635-FE5A-5B9963F163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Slide </a:t>
            </a:r>
            <a:fld id="{4CA2B2DB-B91D-4166-98BF-65A0DA7EEE6D}" type="slidenum">
              <a:rPr kumimoji="0" lang="en-US" sz="1800" b="0" i="1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281</a:t>
            </a:fld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14A8D6-4875-22EB-CFA6-B7D0EBE36AE2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2536823"/>
            <a:ext cx="16192500" cy="6416677"/>
          </a:xfrm>
        </p:spPr>
        <p:txBody>
          <a:bodyPr/>
          <a:lstStyle/>
          <a:p>
            <a:pPr marL="0" indent="0">
              <a:spcBef>
                <a:spcPts val="900"/>
              </a:spcBef>
              <a:buNone/>
            </a:pPr>
            <a:r>
              <a:rPr lang="en-US" altLang="en-US" sz="4400" b="1" dirty="0"/>
              <a:t>E-discovery </a:t>
            </a:r>
            <a:r>
              <a:rPr lang="en-US" altLang="en-US" sz="4400" dirty="0"/>
              <a:t>involves identifying, collecting, and producing electronically stored information in response to a legal request.</a:t>
            </a:r>
          </a:p>
          <a:p>
            <a:pPr>
              <a:spcBef>
                <a:spcPts val="900"/>
              </a:spcBef>
            </a:pPr>
            <a:r>
              <a:rPr lang="en-US" altLang="en-US" sz="4000" dirty="0"/>
              <a:t>Subject to specific rules and protocols</a:t>
            </a:r>
          </a:p>
          <a:p>
            <a:pPr>
              <a:spcBef>
                <a:spcPts val="900"/>
              </a:spcBef>
            </a:pPr>
            <a:r>
              <a:rPr lang="en-US" altLang="en-US" sz="4000" dirty="0"/>
              <a:t>Uses specialized software for searching, identifying, and collecting electronic information</a:t>
            </a:r>
          </a:p>
          <a:p>
            <a:pPr>
              <a:spcBef>
                <a:spcPts val="900"/>
              </a:spcBef>
            </a:pPr>
            <a:r>
              <a:rPr lang="en-US" altLang="en-US" sz="4000" dirty="0"/>
              <a:t>Ensures that collected information is relevant and not privileged before production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6A73EC7-7D82-69C9-8E00-2994CAF76D5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9B0F2A1-273A-D857-EB76-C44E034E7F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54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E-Discovery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2299328637"/>
      </p:ext>
    </p:extLst>
  </p:cSld>
  <p:clrMapOvr>
    <a:masterClrMapping/>
  </p:clrMapOvr>
</p:sld>
</file>

<file path=ppt/slides/slide2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D631B3-7986-8758-F1F9-59F23C39C9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BBF3623-78A4-4DBA-BF90-D9DA66A5CD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Slide </a:t>
            </a:r>
            <a:fld id="{4CA2B2DB-B91D-4166-98BF-65A0DA7EEE6D}" type="slidenum">
              <a:rPr kumimoji="0" lang="en-US" sz="1800" b="0" i="1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282</a:t>
            </a:fld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DCDE0A-F9ED-E915-2B36-D2D49F17216A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2536823"/>
            <a:ext cx="16192500" cy="6416677"/>
          </a:xfrm>
        </p:spPr>
        <p:txBody>
          <a:bodyPr/>
          <a:lstStyle/>
          <a:p>
            <a:pPr marL="0" indent="0">
              <a:spcBef>
                <a:spcPts val="900"/>
              </a:spcBef>
              <a:buNone/>
            </a:pPr>
            <a:r>
              <a:rPr lang="en-US" altLang="en-US" sz="4400" b="1" dirty="0"/>
              <a:t>Log data</a:t>
            </a:r>
            <a:r>
              <a:rPr lang="en-US" altLang="en-US" sz="4400" dirty="0"/>
              <a:t> is the systematically recorded information that’s generated by hardware, software, and operating systems.</a:t>
            </a:r>
          </a:p>
          <a:p>
            <a:pPr>
              <a:spcBef>
                <a:spcPts val="900"/>
              </a:spcBef>
            </a:pPr>
            <a:r>
              <a:rPr lang="en-US" altLang="en-US" sz="4000" dirty="0"/>
              <a:t>Captures events, transactions, and other activities within a system or network</a:t>
            </a:r>
          </a:p>
          <a:p>
            <a:pPr>
              <a:spcBef>
                <a:spcPts val="900"/>
              </a:spcBef>
            </a:pPr>
            <a:r>
              <a:rPr lang="en-US" altLang="en-US" sz="4000" dirty="0"/>
              <a:t>Serves as a chronological record for troubleshooting, security monitoring, and investigations</a:t>
            </a:r>
          </a:p>
          <a:p>
            <a:pPr>
              <a:spcBef>
                <a:spcPts val="900"/>
              </a:spcBef>
            </a:pPr>
            <a:r>
              <a:rPr lang="en-US" altLang="en-US" sz="4000" dirty="0"/>
              <a:t>Required by various regulations  (HIPAA, PCI DSS, SOX)</a:t>
            </a:r>
          </a:p>
          <a:p>
            <a:pPr marL="0" indent="0">
              <a:spcBef>
                <a:spcPts val="900"/>
              </a:spcBef>
              <a:buNone/>
            </a:pPr>
            <a:r>
              <a:rPr lang="en-US" altLang="en-US" sz="4400" b="1" dirty="0"/>
              <a:t>Syslog</a:t>
            </a:r>
            <a:r>
              <a:rPr lang="en-US" altLang="en-US" sz="4400" dirty="0"/>
              <a:t> is a commonly used protocol for centralizing log data.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64DCBCB-3C30-BFE3-E4EF-2B6B4FD7131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7A6009E3-EF93-0CAA-A483-F3E5368C60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54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Log Data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1622584356"/>
      </p:ext>
    </p:extLst>
  </p:cSld>
  <p:clrMapOvr>
    <a:masterClrMapping/>
  </p:clrMapOvr>
</p:sld>
</file>

<file path=ppt/slides/slide2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763B93-CE0F-9148-DFA8-AE0BA062E6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2DD9AD7-5390-CD08-4BBE-B4FB673D39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Slide </a:t>
            </a:r>
            <a:fld id="{4CA2B2DB-B91D-4166-98BF-65A0DA7EEE6D}" type="slidenum">
              <a:rPr kumimoji="0" lang="en-US" sz="1800" b="0" i="1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283</a:t>
            </a:fld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F44A1F-092F-7149-E468-0B511C8674A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2536823"/>
            <a:ext cx="16192500" cy="6416677"/>
          </a:xfrm>
        </p:spPr>
        <p:txBody>
          <a:bodyPr/>
          <a:lstStyle/>
          <a:p>
            <a:pPr marL="0" indent="0">
              <a:spcBef>
                <a:spcPts val="900"/>
              </a:spcBef>
              <a:buNone/>
            </a:pPr>
            <a:r>
              <a:rPr lang="en-US" altLang="en-US" sz="4000" b="1" dirty="0"/>
              <a:t>Firewall logs</a:t>
            </a:r>
            <a:r>
              <a:rPr lang="en-US" altLang="en-US" sz="4000" dirty="0"/>
              <a:t> help IT monitor the traffic allowed and denied by a firewall.</a:t>
            </a:r>
          </a:p>
          <a:p>
            <a:pPr>
              <a:spcBef>
                <a:spcPts val="900"/>
              </a:spcBef>
            </a:pPr>
            <a:r>
              <a:rPr lang="en-US" altLang="en-US" sz="3600" dirty="0"/>
              <a:t>Reveal typical traffic patterns and unauthorized access attempts </a:t>
            </a:r>
          </a:p>
          <a:p>
            <a:pPr>
              <a:spcBef>
                <a:spcPts val="900"/>
              </a:spcBef>
            </a:pPr>
            <a:r>
              <a:rPr lang="en-US" altLang="en-US" sz="3600" dirty="0"/>
              <a:t>Common elements</a:t>
            </a:r>
          </a:p>
          <a:p>
            <a:pPr>
              <a:spcBef>
                <a:spcPts val="900"/>
              </a:spcBef>
            </a:pPr>
            <a:endParaRPr lang="en-US" altLang="en-US" sz="3600" dirty="0"/>
          </a:p>
          <a:p>
            <a:pPr marL="0" indent="0">
              <a:spcBef>
                <a:spcPts val="900"/>
              </a:spcBef>
              <a:buNone/>
            </a:pPr>
            <a:endParaRPr lang="en-US" altLang="en-US" sz="3600" dirty="0"/>
          </a:p>
          <a:p>
            <a:pPr marL="0" indent="0">
              <a:spcBef>
                <a:spcPts val="900"/>
              </a:spcBef>
              <a:buNone/>
            </a:pPr>
            <a:endParaRPr lang="en-US" altLang="en-US" sz="3600" dirty="0"/>
          </a:p>
          <a:p>
            <a:pPr>
              <a:spcBef>
                <a:spcPts val="900"/>
              </a:spcBef>
            </a:pPr>
            <a:r>
              <a:rPr lang="en-US" altLang="en-US" sz="3600" dirty="0"/>
              <a:t>Example</a:t>
            </a:r>
          </a:p>
          <a:p>
            <a:pPr marL="0" indent="0">
              <a:spcBef>
                <a:spcPts val="900"/>
              </a:spcBef>
              <a:buNone/>
            </a:pPr>
            <a:r>
              <a:rPr lang="en-US" altLang="en-US" sz="3600" dirty="0"/>
              <a:t>   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2023-09-23 14:32:10 ALLOW TCP 192.168.1.2 8.8.8.8 443 80</a:t>
            </a:r>
            <a:endParaRPr lang="en-US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592B5F-ECD8-1002-21F4-BE7CDC7C020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343616EE-CEFA-13FF-BF98-BA68870DD1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54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Firewall Logs</a:t>
            </a:r>
            <a:endParaRPr lang="en-US" i="1" dirty="0"/>
          </a:p>
        </p:txBody>
      </p:sp>
      <p:sp>
        <p:nvSpPr>
          <p:cNvPr id="3" name="Rectangle 1027">
            <a:extLst>
              <a:ext uri="{FF2B5EF4-FFF2-40B4-BE49-F238E27FC236}">
                <a16:creationId xmlns:a16="http://schemas.microsoft.com/office/drawing/2014/main" id="{BD5F5708-7072-5284-46F7-743D6B4F11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5600" y="5143501"/>
            <a:ext cx="12344400" cy="2209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37160" tIns="68580" rIns="137160" bIns="68580" numCol="2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ts val="9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669925" indent="-3254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accent1"/>
                </a:solidFill>
                <a:latin typeface="+mn-lt"/>
              </a:defRPr>
            </a:lvl2pPr>
            <a:lvl3pPr marL="1022350" indent="-3508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accent1"/>
                </a:solidFill>
                <a:latin typeface="+mn-lt"/>
              </a:defRPr>
            </a:lvl3pPr>
            <a:lvl4pPr marL="1339850" indent="-3159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accent1"/>
                </a:solidFill>
                <a:latin typeface="+mn-lt"/>
              </a:defRPr>
            </a:lvl4pPr>
            <a:lvl5pPr marL="1681163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accent1"/>
                </a:solidFill>
                <a:latin typeface="+mn-lt"/>
              </a:defRPr>
            </a:lvl5pPr>
            <a:lvl6pPr marL="21383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accent1"/>
                </a:solidFill>
                <a:latin typeface="+mn-lt"/>
              </a:defRPr>
            </a:lvl6pPr>
            <a:lvl7pPr marL="25955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accent1"/>
                </a:solidFill>
                <a:latin typeface="+mn-lt"/>
              </a:defRPr>
            </a:lvl7pPr>
            <a:lvl8pPr marL="30527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accent1"/>
                </a:solidFill>
                <a:latin typeface="+mn-lt"/>
              </a:defRPr>
            </a:lvl8pPr>
            <a:lvl9pPr marL="35099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accent1"/>
                </a:solidFill>
                <a:latin typeface="+mn-lt"/>
              </a:defRPr>
            </a:lvl9pPr>
          </a:lstStyle>
          <a:p>
            <a:pPr marL="516731" lvl="1" indent="0" defTabSz="1371600" eaLnBrk="1" hangingPunct="1">
              <a:spcBef>
                <a:spcPts val="900"/>
              </a:spcBef>
              <a:buClr>
                <a:srgbClr val="3333CC"/>
              </a:buClr>
              <a:buNone/>
            </a:pPr>
            <a:r>
              <a:rPr lang="en-US" altLang="en-US" sz="3200" dirty="0">
                <a:solidFill>
                  <a:schemeClr val="tx1"/>
                </a:solidFill>
              </a:rPr>
              <a:t>Timestamp</a:t>
            </a:r>
          </a:p>
          <a:p>
            <a:pPr marL="516731" lvl="1" indent="0" defTabSz="1371600" eaLnBrk="1" hangingPunct="1">
              <a:spcBef>
                <a:spcPts val="900"/>
              </a:spcBef>
              <a:buClr>
                <a:srgbClr val="3333CC"/>
              </a:buClr>
              <a:buNone/>
            </a:pPr>
            <a:r>
              <a:rPr lang="en-US" altLang="en-US" sz="3200" dirty="0">
                <a:solidFill>
                  <a:schemeClr val="tx1"/>
                </a:solidFill>
              </a:rPr>
              <a:t>Action (ALLOW or DENY)</a:t>
            </a:r>
          </a:p>
          <a:p>
            <a:pPr marL="516731" lvl="1" indent="0" defTabSz="1371600" eaLnBrk="1" hangingPunct="1">
              <a:spcBef>
                <a:spcPts val="900"/>
              </a:spcBef>
              <a:buClr>
                <a:srgbClr val="3333CC"/>
              </a:buClr>
              <a:buNone/>
            </a:pPr>
            <a:r>
              <a:rPr lang="en-US" altLang="en-US" sz="3200" dirty="0">
                <a:solidFill>
                  <a:schemeClr val="tx1"/>
                </a:solidFill>
              </a:rPr>
              <a:t>Protocol (TCP)</a:t>
            </a:r>
          </a:p>
          <a:p>
            <a:pPr marL="516731" lvl="1" indent="0" defTabSz="1371600" eaLnBrk="1" hangingPunct="1">
              <a:spcBef>
                <a:spcPts val="900"/>
              </a:spcBef>
              <a:buClr>
                <a:srgbClr val="3333CC"/>
              </a:buClr>
              <a:buNone/>
            </a:pPr>
            <a:endParaRPr lang="en-US" altLang="en-US" sz="3200" dirty="0">
              <a:solidFill>
                <a:schemeClr val="tx1"/>
              </a:solidFill>
            </a:endParaRPr>
          </a:p>
          <a:p>
            <a:pPr marL="516731" lvl="1" indent="0" defTabSz="1371600" eaLnBrk="1" hangingPunct="1">
              <a:spcBef>
                <a:spcPts val="900"/>
              </a:spcBef>
              <a:buClr>
                <a:srgbClr val="3333CC"/>
              </a:buClr>
              <a:buNone/>
            </a:pPr>
            <a:endParaRPr lang="en-US" altLang="en-US" sz="3200" dirty="0">
              <a:solidFill>
                <a:schemeClr val="tx1"/>
              </a:solidFill>
            </a:endParaRPr>
          </a:p>
          <a:p>
            <a:pPr marL="516731" lvl="1" indent="0" defTabSz="1371600" eaLnBrk="1" hangingPunct="1">
              <a:spcBef>
                <a:spcPts val="900"/>
              </a:spcBef>
              <a:buClr>
                <a:srgbClr val="3333CC"/>
              </a:buClr>
              <a:buNone/>
            </a:pPr>
            <a:r>
              <a:rPr lang="en-US" altLang="en-US" sz="3200" dirty="0">
                <a:solidFill>
                  <a:schemeClr val="tx1"/>
                </a:solidFill>
              </a:rPr>
              <a:t>Source IP</a:t>
            </a:r>
          </a:p>
          <a:p>
            <a:pPr marL="516731" lvl="1" indent="0" defTabSz="1371600" eaLnBrk="1" hangingPunct="1">
              <a:spcBef>
                <a:spcPts val="900"/>
              </a:spcBef>
              <a:buClr>
                <a:srgbClr val="3333CC"/>
              </a:buClr>
              <a:buNone/>
            </a:pPr>
            <a:r>
              <a:rPr lang="en-US" altLang="en-US" sz="3200" dirty="0">
                <a:solidFill>
                  <a:schemeClr val="tx1"/>
                </a:solidFill>
              </a:rPr>
              <a:t>Destination IP</a:t>
            </a:r>
          </a:p>
          <a:p>
            <a:pPr marL="516731" lvl="1" indent="0" defTabSz="1371600" eaLnBrk="1" hangingPunct="1">
              <a:spcBef>
                <a:spcPts val="900"/>
              </a:spcBef>
              <a:buClr>
                <a:srgbClr val="3333CC"/>
              </a:buClr>
              <a:buNone/>
            </a:pPr>
            <a:r>
              <a:rPr lang="en-US" altLang="en-US" sz="3200" dirty="0">
                <a:solidFill>
                  <a:schemeClr val="tx1"/>
                </a:solidFill>
              </a:rPr>
              <a:t>Source port </a:t>
            </a:r>
          </a:p>
          <a:p>
            <a:pPr marL="516731" lvl="1" indent="0" defTabSz="1371600" eaLnBrk="1" hangingPunct="1">
              <a:spcBef>
                <a:spcPts val="900"/>
              </a:spcBef>
              <a:buClr>
                <a:srgbClr val="3333CC"/>
              </a:buClr>
              <a:buNone/>
            </a:pPr>
            <a:r>
              <a:rPr lang="en-US" altLang="en-US" sz="3200" dirty="0">
                <a:solidFill>
                  <a:schemeClr val="tx1"/>
                </a:solidFill>
              </a:rPr>
              <a:t>Destination port</a:t>
            </a:r>
          </a:p>
        </p:txBody>
      </p:sp>
    </p:spTree>
    <p:extLst>
      <p:ext uri="{BB962C8B-B14F-4D97-AF65-F5344CB8AC3E}">
        <p14:creationId xmlns:p14="http://schemas.microsoft.com/office/powerpoint/2010/main" val="1546376519"/>
      </p:ext>
    </p:extLst>
  </p:cSld>
  <p:clrMapOvr>
    <a:masterClrMapping/>
  </p:clrMapOvr>
</p:sld>
</file>

<file path=ppt/slides/slide2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328962-49F3-6BD7-3F70-1C1A5274D5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2E690AA-2DB4-2F96-CA33-5DBA62CA8B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Slide </a:t>
            </a:r>
            <a:fld id="{4CA2B2DB-B91D-4166-98BF-65A0DA7EEE6D}" type="slidenum">
              <a:rPr kumimoji="0" lang="en-US" sz="1800" b="0" i="1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284</a:t>
            </a:fld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E2EC59-C6FE-B948-959E-59EF5651314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2536823"/>
            <a:ext cx="16192500" cy="6416677"/>
          </a:xfrm>
        </p:spPr>
        <p:txBody>
          <a:bodyPr/>
          <a:lstStyle/>
          <a:p>
            <a:pPr marL="0" indent="0">
              <a:spcBef>
                <a:spcPts val="900"/>
              </a:spcBef>
              <a:buNone/>
            </a:pPr>
            <a:r>
              <a:rPr lang="en-US" altLang="en-US" sz="4800" b="1" dirty="0"/>
              <a:t>Application logs</a:t>
            </a:r>
            <a:r>
              <a:rPr lang="en-US" altLang="en-US" sz="4800" dirty="0"/>
              <a:t> are records of services, events, and systems within an application.</a:t>
            </a:r>
          </a:p>
          <a:p>
            <a:pPr>
              <a:spcBef>
                <a:spcPts val="900"/>
              </a:spcBef>
            </a:pPr>
            <a:r>
              <a:rPr lang="en-US" altLang="en-US" sz="4400" dirty="0"/>
              <a:t>Provide (nearly) end-to-end visibility of activity</a:t>
            </a:r>
          </a:p>
          <a:p>
            <a:pPr>
              <a:spcBef>
                <a:spcPts val="900"/>
              </a:spcBef>
            </a:pPr>
            <a:r>
              <a:rPr lang="en-US" altLang="en-US" sz="4400" dirty="0"/>
              <a:t>It’s important to parse, partition, and analyze all logs related to security incidents.</a:t>
            </a:r>
          </a:p>
          <a:p>
            <a:pPr>
              <a:spcBef>
                <a:spcPts val="900"/>
              </a:spcBef>
            </a:pPr>
            <a:r>
              <a:rPr lang="en-US" altLang="en-US" sz="4400" dirty="0"/>
              <a:t>Critical process data logged about the user, application, and system can help responders understand the nature and extent of an attack.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7775E2A-A4AE-CCD9-3D21-A783FEEA742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AD6509A7-C96E-AF99-E693-FC4776BB23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54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Application Logs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2186623703"/>
      </p:ext>
    </p:extLst>
  </p:cSld>
  <p:clrMapOvr>
    <a:masterClrMapping/>
  </p:clrMapOvr>
</p:sld>
</file>

<file path=ppt/slides/slide2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FAA680-E855-C6E5-D124-27DA4CECC8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07BDE55-C8A3-3278-A1F6-49DF95914E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Slide </a:t>
            </a:r>
            <a:fld id="{4CA2B2DB-B91D-4166-98BF-65A0DA7EEE6D}" type="slidenum">
              <a:rPr kumimoji="0" lang="en-US" sz="1800" b="0" i="1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285</a:t>
            </a:fld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0A5C02-2504-7659-0718-22B915DE221F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2536823"/>
            <a:ext cx="16192500" cy="6416677"/>
          </a:xfrm>
        </p:spPr>
        <p:txBody>
          <a:bodyPr/>
          <a:lstStyle/>
          <a:p>
            <a:pPr marL="0" indent="0">
              <a:spcBef>
                <a:spcPts val="900"/>
              </a:spcBef>
              <a:buNone/>
            </a:pPr>
            <a:r>
              <a:rPr lang="en-US" altLang="en-US" sz="3900" b="1" dirty="0"/>
              <a:t>Endpoint logs</a:t>
            </a:r>
            <a:r>
              <a:rPr lang="en-US" altLang="en-US" sz="3900" dirty="0"/>
              <a:t> give detailed information about activities on individual devices connected to a network.</a:t>
            </a:r>
          </a:p>
          <a:p>
            <a:pPr>
              <a:spcBef>
                <a:spcPts val="900"/>
              </a:spcBef>
            </a:pPr>
            <a:r>
              <a:rPr lang="en-US" altLang="en-US" sz="3600" dirty="0"/>
              <a:t>Help identify suspicious or unauthorized behaviors</a:t>
            </a:r>
          </a:p>
          <a:p>
            <a:pPr lvl="1">
              <a:spcBef>
                <a:spcPts val="900"/>
              </a:spcBef>
            </a:pPr>
            <a:r>
              <a:rPr lang="en-US" altLang="en-US" sz="3300" dirty="0"/>
              <a:t>Installation of unauthorized software</a:t>
            </a:r>
          </a:p>
          <a:p>
            <a:pPr lvl="1">
              <a:spcBef>
                <a:spcPts val="900"/>
              </a:spcBef>
            </a:pPr>
            <a:r>
              <a:rPr lang="en-US" altLang="en-US" sz="3300" dirty="0"/>
              <a:t>Attempts to access restricted files</a:t>
            </a:r>
          </a:p>
          <a:p>
            <a:pPr lvl="1">
              <a:spcBef>
                <a:spcPts val="900"/>
              </a:spcBef>
            </a:pPr>
            <a:r>
              <a:rPr lang="en-US" altLang="en-US" sz="3300" dirty="0"/>
              <a:t>Unrecognized application executions </a:t>
            </a:r>
          </a:p>
          <a:p>
            <a:pPr>
              <a:spcBef>
                <a:spcPts val="900"/>
              </a:spcBef>
            </a:pPr>
            <a:r>
              <a:rPr lang="en-US" altLang="en-US" sz="3600" dirty="0"/>
              <a:t>Examples</a:t>
            </a:r>
          </a:p>
          <a:p>
            <a:pPr marL="516731" lvl="1">
              <a:spcBef>
                <a:spcPts val="900"/>
              </a:spcBef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2023-09-23 14:35:00 User "</a:t>
            </a:r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JohnDoe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 initiated "</a:t>
            </a:r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New_Outbound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_ Connection" to IP "203.0.113.42" on Port "8080" </a:t>
            </a:r>
          </a:p>
          <a:p>
            <a:pPr marL="516731" lvl="1">
              <a:spcBef>
                <a:spcPts val="900"/>
              </a:spcBef>
            </a:pP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6731" lvl="1">
              <a:spcBef>
                <a:spcPts val="900"/>
              </a:spcBef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2023-09-23 14:36:00 User "</a:t>
            </a:r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JohnDoe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 executed "Unknown_ Application.exe"</a:t>
            </a:r>
            <a:endParaRPr lang="en-US" alt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ED3248-76B5-9EBF-0641-EF51D08889B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792B1713-B5D8-C00B-47D8-EB86347678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54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Endpoint Logs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1216759092"/>
      </p:ext>
    </p:extLst>
  </p:cSld>
  <p:clrMapOvr>
    <a:masterClrMapping/>
  </p:clrMapOvr>
</p:sld>
</file>

<file path=ppt/slides/slide2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C91E8-FD72-15B8-B529-3E88EFD144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A004538-0B00-211A-D16B-F5089ED0BD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Slide </a:t>
            </a:r>
            <a:fld id="{4CA2B2DB-B91D-4166-98BF-65A0DA7EEE6D}" type="slidenum">
              <a:rPr kumimoji="0" lang="en-US" sz="1800" b="0" i="1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286</a:t>
            </a:fld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B0B610-9F2C-FA05-6F4E-57E3B2F6D99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2536823"/>
            <a:ext cx="16192500" cy="6416677"/>
          </a:xfrm>
        </p:spPr>
        <p:txBody>
          <a:bodyPr/>
          <a:lstStyle/>
          <a:p>
            <a:pPr marL="0" indent="0">
              <a:spcBef>
                <a:spcPts val="900"/>
              </a:spcBef>
              <a:buNone/>
            </a:pPr>
            <a:r>
              <a:rPr lang="en-US" altLang="en-US" sz="4400" b="1" dirty="0"/>
              <a:t>Operating system (OS)-specific security logs</a:t>
            </a:r>
            <a:r>
              <a:rPr lang="en-US" altLang="en-US" sz="4400" dirty="0"/>
              <a:t> provide information about events and activities on a specific system.</a:t>
            </a:r>
          </a:p>
          <a:p>
            <a:pPr>
              <a:spcBef>
                <a:spcPts val="900"/>
              </a:spcBef>
            </a:pPr>
            <a:r>
              <a:rPr lang="en-US" altLang="en-US" sz="4000" dirty="0"/>
              <a:t>System processes, driver loading data, errors, warnings, and failures</a:t>
            </a:r>
          </a:p>
          <a:p>
            <a:pPr>
              <a:spcBef>
                <a:spcPts val="900"/>
              </a:spcBef>
            </a:pPr>
            <a:r>
              <a:rPr lang="en-US" altLang="en-US" sz="4000" dirty="0"/>
              <a:t>In Windows, logs can be obtained via the Event Viewer and Windows Admin Center.</a:t>
            </a:r>
          </a:p>
          <a:p>
            <a:pPr>
              <a:spcBef>
                <a:spcPts val="900"/>
              </a:spcBef>
            </a:pPr>
            <a:r>
              <a:rPr lang="en-US" altLang="en-US" sz="4000" dirty="0"/>
              <a:t>On Linux hosts, log files are typically found in the </a:t>
            </a:r>
            <a:r>
              <a:rPr lang="en-US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/var/log </a:t>
            </a:r>
            <a:r>
              <a:rPr lang="en-US" altLang="en-US" sz="4000" dirty="0"/>
              <a:t>directory.</a:t>
            </a:r>
          </a:p>
          <a:p>
            <a:pPr>
              <a:spcBef>
                <a:spcPts val="900"/>
              </a:spcBef>
            </a:pPr>
            <a:r>
              <a:rPr lang="en-US" altLang="en-US" sz="4000" dirty="0"/>
              <a:t>Collect system logs regularly and store them in a secure and separate location.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D4B6926-A167-281F-751D-B942E40AA1F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E5C7C89-6A84-DF18-092E-ACD01D5535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54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OS-Specific Security Logs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1986444527"/>
      </p:ext>
    </p:extLst>
  </p:cSld>
  <p:clrMapOvr>
    <a:masterClrMapping/>
  </p:clrMapOvr>
</p:sld>
</file>

<file path=ppt/slides/slide2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D21F52-8370-1B0E-D8EC-D55BB4F86B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9BB50B1-5224-69CC-62FE-B404D60CB6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Slide </a:t>
            </a:r>
            <a:fld id="{4CA2B2DB-B91D-4166-98BF-65A0DA7EEE6D}" type="slidenum">
              <a:rPr kumimoji="0" lang="en-US" sz="1800" b="0" i="1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287</a:t>
            </a:fld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C11EFA-B3F2-3C5B-FA5F-0E596F8CF8A0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3162300"/>
            <a:ext cx="16192500" cy="5791200"/>
          </a:xfrm>
        </p:spPr>
        <p:txBody>
          <a:bodyPr/>
          <a:lstStyle/>
          <a:p>
            <a:pPr marL="0" indent="0">
              <a:spcBef>
                <a:spcPts val="900"/>
              </a:spcBef>
              <a:buNone/>
            </a:pPr>
            <a:r>
              <a:rPr lang="en-US" altLang="en-US" sz="4400" dirty="0"/>
              <a:t>An </a:t>
            </a:r>
            <a:r>
              <a:rPr lang="en-US" altLang="en-US" sz="4400" b="1" dirty="0"/>
              <a:t>IPS</a:t>
            </a:r>
            <a:r>
              <a:rPr lang="en-US" altLang="en-US" sz="4400" dirty="0"/>
              <a:t> and </a:t>
            </a:r>
            <a:r>
              <a:rPr lang="en-US" altLang="en-US" sz="4400" b="1" dirty="0"/>
              <a:t>IDS</a:t>
            </a:r>
            <a:r>
              <a:rPr lang="en-US" altLang="en-US" sz="4400" dirty="0"/>
              <a:t> work together to prevent and detect potentially harmful activities within a network. Their logs can alert you to various attacks such as SQL injections and cross-site scripting.</a:t>
            </a:r>
          </a:p>
          <a:p>
            <a:pPr>
              <a:spcBef>
                <a:spcPts val="900"/>
              </a:spcBef>
            </a:pPr>
            <a:r>
              <a:rPr lang="en-US" altLang="en-US" sz="4000" dirty="0"/>
              <a:t>Generated by solutions like Snort and Suricata</a:t>
            </a:r>
          </a:p>
          <a:p>
            <a:pPr>
              <a:spcBef>
                <a:spcPts val="900"/>
              </a:spcBef>
            </a:pPr>
            <a:r>
              <a:rPr lang="en-US" altLang="en-US" sz="4000" dirty="0"/>
              <a:t>Examples</a:t>
            </a:r>
          </a:p>
          <a:p>
            <a:pPr marL="0" indent="0">
              <a:spcBef>
                <a:spcPts val="900"/>
              </a:spcBef>
              <a:buNone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2023-09-23 13:45:32 ALERT SQL Injection detected from 192.168.1.4</a:t>
            </a:r>
          </a:p>
          <a:p>
            <a:pPr marL="0" indent="0">
              <a:spcBef>
                <a:spcPts val="900"/>
              </a:spcBef>
              <a:buNone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2023-09-23 13:46:10 ALERT Brute-force attempt from 203.0.113.7</a:t>
            </a:r>
            <a:endParaRPr lang="en-US" altLang="en-US" sz="6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823504C-397A-EE05-09FD-0147314293B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BA7493DE-27E1-F7C4-9F15-DC3F908A57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600" y="1328308"/>
            <a:ext cx="13639800" cy="1660525"/>
          </a:xfrm>
        </p:spPr>
        <p:txBody>
          <a:bodyPr/>
          <a:lstStyle/>
          <a:p>
            <a:r>
              <a:rPr kumimoji="0" lang="en-US" sz="54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Intrusion Prevention System (IPS)</a:t>
            </a:r>
            <a:br>
              <a:rPr kumimoji="0" lang="en-US" sz="54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</a:br>
            <a:r>
              <a:rPr kumimoji="0" lang="en-US" sz="54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Intrusion Detection System (IDS) Logs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197199591"/>
      </p:ext>
    </p:extLst>
  </p:cSld>
  <p:clrMapOvr>
    <a:masterClrMapping/>
  </p:clrMapOvr>
</p:sld>
</file>

<file path=ppt/slides/slide2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8883B0-EB7C-C093-7A35-86038CE14F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9D5970A-FDA8-60ED-EB34-4427C1FE2C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Slide </a:t>
            </a:r>
            <a:fld id="{4CA2B2DB-B91D-4166-98BF-65A0DA7EEE6D}" type="slidenum">
              <a:rPr kumimoji="0" lang="en-US" sz="1800" b="0" i="1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288</a:t>
            </a:fld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ACEB14-6DBE-607D-E9EF-EEEDF2949AD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2536823"/>
            <a:ext cx="16192500" cy="6416677"/>
          </a:xfrm>
        </p:spPr>
        <p:txBody>
          <a:bodyPr/>
          <a:lstStyle/>
          <a:p>
            <a:pPr marL="0" indent="0">
              <a:spcBef>
                <a:spcPts val="900"/>
              </a:spcBef>
              <a:buNone/>
            </a:pPr>
            <a:r>
              <a:rPr lang="en-US" altLang="en-US" sz="4000" b="1" dirty="0"/>
              <a:t>Network logs </a:t>
            </a:r>
            <a:r>
              <a:rPr lang="en-US" altLang="en-US" sz="4000" dirty="0"/>
              <a:t>capture data traffic across the network infrastructure.</a:t>
            </a:r>
          </a:p>
          <a:p>
            <a:pPr>
              <a:spcBef>
                <a:spcPts val="900"/>
              </a:spcBef>
            </a:pPr>
            <a:r>
              <a:rPr lang="en-US" altLang="en-US" sz="3600" dirty="0"/>
              <a:t>Generated by network monitoring tools like Wireshark and SolarWinds</a:t>
            </a:r>
          </a:p>
          <a:p>
            <a:pPr>
              <a:spcBef>
                <a:spcPts val="900"/>
              </a:spcBef>
            </a:pPr>
            <a:r>
              <a:rPr lang="en-US" altLang="en-US" sz="3600" dirty="0"/>
              <a:t>Provide insights into bandwidth usage, connection times, and protocol types</a:t>
            </a:r>
          </a:p>
          <a:p>
            <a:pPr>
              <a:spcBef>
                <a:spcPts val="900"/>
              </a:spcBef>
            </a:pPr>
            <a:r>
              <a:rPr lang="en-US" altLang="en-US" sz="3600" dirty="0"/>
              <a:t>Examples</a:t>
            </a:r>
          </a:p>
          <a:p>
            <a:pPr marL="0" indent="0">
              <a:spcBef>
                <a:spcPts val="900"/>
              </a:spcBef>
              <a:buNone/>
            </a:pPr>
            <a:r>
              <a:rPr lang="en-US" dirty="0">
                <a:solidFill>
                  <a:schemeClr val="bg2"/>
                </a:solidFill>
              </a:rPr>
              <a:t>     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2023-09-23 14:20:15 INFO TCP Connection from 192.168.1.2 to 8.8.4.4 </a:t>
            </a:r>
          </a:p>
          <a:p>
            <a:pPr marL="0" indent="0">
              <a:spcBef>
                <a:spcPts val="900"/>
              </a:spcBef>
              <a:buNone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900"/>
              </a:spcBef>
              <a:buNone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2023-09-23 14:21:00 WARNING Large data transfer to 203.0.113.8 </a:t>
            </a:r>
            <a:endParaRPr lang="en-US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60D7E9-D5F3-5A40-997B-C324D88F38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0C56300-C33C-F9FD-1CE0-A34AE6D69C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54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Network Logs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737845821"/>
      </p:ext>
    </p:extLst>
  </p:cSld>
  <p:clrMapOvr>
    <a:masterClrMapping/>
  </p:clrMapOvr>
</p:sld>
</file>

<file path=ppt/slides/slide2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4A7FAD-76AF-B7AB-8333-8CBE9DF1DD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0363F30-F78D-32BE-6B3C-6B5F8ED8C0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Slide </a:t>
            </a:r>
            <a:fld id="{4CA2B2DB-B91D-4166-98BF-65A0DA7EEE6D}" type="slidenum">
              <a:rPr kumimoji="0" lang="en-US" sz="1800" b="0" i="1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289</a:t>
            </a:fld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86BF47-E57A-A199-AA1B-2BC96B22938E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2536823"/>
            <a:ext cx="16192500" cy="6416677"/>
          </a:xfrm>
        </p:spPr>
        <p:txBody>
          <a:bodyPr/>
          <a:lstStyle/>
          <a:p>
            <a:pPr marL="0" indent="0">
              <a:spcBef>
                <a:spcPts val="900"/>
              </a:spcBef>
              <a:buNone/>
            </a:pPr>
            <a:r>
              <a:rPr lang="en-US" altLang="en-US" sz="4400" b="1" dirty="0"/>
              <a:t>Metadata</a:t>
            </a:r>
            <a:r>
              <a:rPr lang="en-US" altLang="en-US" sz="4400" dirty="0"/>
              <a:t> is information about data, such as activities performed on personal computers or mobile phones. </a:t>
            </a:r>
          </a:p>
          <a:p>
            <a:pPr>
              <a:spcBef>
                <a:spcPts val="900"/>
              </a:spcBef>
            </a:pPr>
            <a:r>
              <a:rPr lang="en-US" altLang="en-US" sz="4000" dirty="0"/>
              <a:t>While individual metadata may seem irrelevant, it becomes valuable when combined with other data </a:t>
            </a:r>
          </a:p>
          <a:p>
            <a:pPr>
              <a:spcBef>
                <a:spcPts val="900"/>
              </a:spcBef>
            </a:pPr>
            <a:r>
              <a:rPr lang="en-US" altLang="en-US" sz="4000" dirty="0"/>
              <a:t>Categories of metadata -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A292D79-497A-E595-6083-C4C58B01245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461EAD44-FBE4-A38E-71AC-7E13FD1EC5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54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Metadata</a:t>
            </a:r>
            <a:endParaRPr lang="en-US" i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C1C3DEF-9284-45F4-3235-81BCFA1B6709}"/>
              </a:ext>
            </a:extLst>
          </p:cNvPr>
          <p:cNvSpPr txBox="1"/>
          <p:nvPr/>
        </p:nvSpPr>
        <p:spPr>
          <a:xfrm>
            <a:off x="6553200" y="5448300"/>
            <a:ext cx="8763000" cy="32547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004888" lvl="1" indent="-488157" defTabSz="1371600" eaLnBrk="1" hangingPunct="1">
              <a:spcBef>
                <a:spcPts val="900"/>
              </a:spcBef>
              <a:buClr>
                <a:srgbClr val="3333CC"/>
              </a:buClr>
            </a:pPr>
            <a:r>
              <a:rPr lang="en-US" altLang="en-US" sz="2800" dirty="0"/>
              <a:t>Descriptive  </a:t>
            </a:r>
          </a:p>
          <a:p>
            <a:pPr marL="1004888" lvl="1" indent="-488157" defTabSz="1371600" eaLnBrk="1" hangingPunct="1">
              <a:spcBef>
                <a:spcPts val="900"/>
              </a:spcBef>
              <a:buClr>
                <a:srgbClr val="3333CC"/>
              </a:buClr>
            </a:pPr>
            <a:r>
              <a:rPr lang="en-US" altLang="en-US" sz="2800" dirty="0"/>
              <a:t>Structural</a:t>
            </a:r>
          </a:p>
          <a:p>
            <a:pPr marL="1004888" lvl="1" indent="-488157" defTabSz="1371600" eaLnBrk="1" hangingPunct="1">
              <a:spcBef>
                <a:spcPts val="900"/>
              </a:spcBef>
              <a:buClr>
                <a:srgbClr val="3333CC"/>
              </a:buClr>
            </a:pPr>
            <a:r>
              <a:rPr lang="en-US" altLang="en-US" sz="2800" dirty="0"/>
              <a:t>Preservation</a:t>
            </a:r>
          </a:p>
          <a:p>
            <a:pPr marL="1004888" lvl="1" indent="-488157" defTabSz="1371600" eaLnBrk="1" hangingPunct="1">
              <a:spcBef>
                <a:spcPts val="900"/>
              </a:spcBef>
              <a:buClr>
                <a:srgbClr val="3333CC"/>
              </a:buClr>
            </a:pPr>
            <a:r>
              <a:rPr lang="en-US" altLang="en-US" sz="2800" dirty="0"/>
              <a:t>Use</a:t>
            </a:r>
          </a:p>
          <a:p>
            <a:pPr marL="1004888" lvl="1" indent="-488157" defTabSz="1371600" eaLnBrk="1" hangingPunct="1">
              <a:spcBef>
                <a:spcPts val="900"/>
              </a:spcBef>
              <a:buClr>
                <a:srgbClr val="3333CC"/>
              </a:buClr>
            </a:pPr>
            <a:r>
              <a:rPr lang="en-US" altLang="en-US" sz="2800" dirty="0"/>
              <a:t>Provenance</a:t>
            </a:r>
          </a:p>
          <a:p>
            <a:pPr marL="1004888" lvl="1" indent="-488157" defTabSz="1371600" eaLnBrk="1" hangingPunct="1">
              <a:spcBef>
                <a:spcPts val="900"/>
              </a:spcBef>
              <a:buClr>
                <a:srgbClr val="3333CC"/>
              </a:buClr>
            </a:pPr>
            <a:r>
              <a:rPr lang="en-US" altLang="en-US" sz="2800" dirty="0"/>
              <a:t>Administrative </a:t>
            </a:r>
          </a:p>
        </p:txBody>
      </p:sp>
    </p:spTree>
    <p:extLst>
      <p:ext uri="{BB962C8B-B14F-4D97-AF65-F5344CB8AC3E}">
        <p14:creationId xmlns:p14="http://schemas.microsoft.com/office/powerpoint/2010/main" val="2533636710"/>
      </p:ext>
    </p:extLst>
  </p:cSld>
  <p:clrMapOvr>
    <a:masterClrMapping/>
  </p:clrMapOvr>
</p:sld>
</file>

<file path=ppt/slides/slide2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43C53F-3508-118E-E8BE-CD904A187A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693B3DF-9140-79B2-1D1E-E61C767BEB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Slide </a:t>
            </a:r>
            <a:fld id="{4CA2B2DB-B91D-4166-98BF-65A0DA7EEE6D}" type="slidenum">
              <a:rPr kumimoji="0" lang="en-US" sz="1800" b="0" i="1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290</a:t>
            </a:fld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86720F-988A-0278-87A8-3174F86A62CC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2536823"/>
            <a:ext cx="16192500" cy="6416677"/>
          </a:xfrm>
        </p:spPr>
        <p:txBody>
          <a:bodyPr/>
          <a:lstStyle/>
          <a:p>
            <a:pPr marL="0" indent="0">
              <a:spcBef>
                <a:spcPts val="900"/>
              </a:spcBef>
              <a:buNone/>
            </a:pPr>
            <a:r>
              <a:rPr lang="en-US" altLang="en-US" sz="3900" b="1" dirty="0"/>
              <a:t>Packet captures</a:t>
            </a:r>
            <a:r>
              <a:rPr lang="en-US" altLang="en-US" sz="3900" dirty="0"/>
              <a:t> give a detailed view of network activity.  </a:t>
            </a:r>
          </a:p>
          <a:p>
            <a:pPr>
              <a:spcBef>
                <a:spcPts val="900"/>
              </a:spcBef>
            </a:pPr>
            <a:r>
              <a:rPr lang="en-US" altLang="en-US" sz="3600" dirty="0"/>
              <a:t>Analysts use packet captures to:</a:t>
            </a:r>
          </a:p>
          <a:p>
            <a:pPr lvl="2">
              <a:spcBef>
                <a:spcPts val="900"/>
              </a:spcBef>
            </a:pPr>
            <a:r>
              <a:rPr lang="en-US" altLang="en-US" sz="2900" dirty="0"/>
              <a:t>Identify suspicious patterns</a:t>
            </a:r>
          </a:p>
          <a:p>
            <a:pPr lvl="2">
              <a:spcBef>
                <a:spcPts val="900"/>
              </a:spcBef>
            </a:pPr>
            <a:r>
              <a:rPr lang="en-US" altLang="en-US" sz="2900" dirty="0"/>
              <a:t>Detect deviations from normal network behavior</a:t>
            </a:r>
          </a:p>
          <a:p>
            <a:pPr>
              <a:spcBef>
                <a:spcPts val="900"/>
              </a:spcBef>
            </a:pPr>
            <a:r>
              <a:rPr lang="en-US" altLang="en-US" sz="3600" dirty="0"/>
              <a:t>Wireshark is commonly used to capture and analyze packets.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E5544C6-4AE9-BF38-E71A-5F8611C3ADC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71AD10B-B097-8AA0-3474-112B2B4B11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54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Packet Captures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3707585571"/>
      </p:ext>
    </p:extLst>
  </p:cSld>
  <p:clrMapOvr>
    <a:masterClrMapping/>
  </p:clrMapOvr>
</p:sld>
</file>

<file path=ppt/slides/slide29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15194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C7A50F3-1E7D-E52B-86C8-8823C120B2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094B2126-E890-F309-604B-6BF2775503D2}"/>
              </a:ext>
            </a:extLst>
          </p:cNvPr>
          <p:cNvGrpSpPr/>
          <p:nvPr/>
        </p:nvGrpSpPr>
        <p:grpSpPr>
          <a:xfrm rot="-5400000">
            <a:off x="12015831" y="4014831"/>
            <a:ext cx="10287000" cy="2257339"/>
            <a:chOff x="0" y="0"/>
            <a:chExt cx="2709333" cy="59452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20642DD3-C327-1695-ADE8-9A075C184041}"/>
                </a:ext>
              </a:extLst>
            </p:cNvPr>
            <p:cNvSpPr/>
            <p:nvPr/>
          </p:nvSpPr>
          <p:spPr>
            <a:xfrm>
              <a:off x="0" y="0"/>
              <a:ext cx="2709333" cy="594525"/>
            </a:xfrm>
            <a:custGeom>
              <a:avLst/>
              <a:gdLst/>
              <a:ahLst/>
              <a:cxnLst/>
              <a:rect l="l" t="t" r="r" b="b"/>
              <a:pathLst>
                <a:path w="2709333" h="594525">
                  <a:moveTo>
                    <a:pt x="0" y="0"/>
                  </a:moveTo>
                  <a:lnTo>
                    <a:pt x="2709333" y="0"/>
                  </a:lnTo>
                  <a:lnTo>
                    <a:pt x="2709333" y="594525"/>
                  </a:lnTo>
                  <a:lnTo>
                    <a:pt x="0" y="594525"/>
                  </a:lnTo>
                  <a:close/>
                </a:path>
              </a:pathLst>
            </a:custGeom>
            <a:solidFill>
              <a:srgbClr val="0283FD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3948DFBF-BB07-F72F-4A30-963100964D5F}"/>
                </a:ext>
              </a:extLst>
            </p:cNvPr>
            <p:cNvSpPr txBox="1"/>
            <p:nvPr/>
          </p:nvSpPr>
          <p:spPr>
            <a:xfrm>
              <a:off x="0" y="-66675"/>
              <a:ext cx="2709333" cy="6612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3024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3DA7A7C4-D41E-D46E-DBDE-926AC81F822A}"/>
              </a:ext>
            </a:extLst>
          </p:cNvPr>
          <p:cNvGrpSpPr/>
          <p:nvPr/>
        </p:nvGrpSpPr>
        <p:grpSpPr>
          <a:xfrm>
            <a:off x="179467" y="6643814"/>
            <a:ext cx="8126333" cy="3488267"/>
            <a:chOff x="0" y="0"/>
            <a:chExt cx="844714" cy="36259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D7EACDA3-51F0-09B8-7D0D-2CC2B9FDD2A6}"/>
                </a:ext>
              </a:extLst>
            </p:cNvPr>
            <p:cNvSpPr/>
            <p:nvPr/>
          </p:nvSpPr>
          <p:spPr>
            <a:xfrm>
              <a:off x="0" y="0"/>
              <a:ext cx="844714" cy="362598"/>
            </a:xfrm>
            <a:custGeom>
              <a:avLst/>
              <a:gdLst/>
              <a:ahLst/>
              <a:cxnLst/>
              <a:rect l="l" t="t" r="r" b="b"/>
              <a:pathLst>
                <a:path w="844714" h="362598">
                  <a:moveTo>
                    <a:pt x="203200" y="0"/>
                  </a:moveTo>
                  <a:lnTo>
                    <a:pt x="844714" y="0"/>
                  </a:lnTo>
                  <a:lnTo>
                    <a:pt x="641514" y="362598"/>
                  </a:lnTo>
                  <a:lnTo>
                    <a:pt x="0" y="362598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283FD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5EAB44D2-2F41-9214-D2DB-672754B0CD51}"/>
                </a:ext>
              </a:extLst>
            </p:cNvPr>
            <p:cNvSpPr txBox="1"/>
            <p:nvPr/>
          </p:nvSpPr>
          <p:spPr>
            <a:xfrm>
              <a:off x="101600" y="-28575"/>
              <a:ext cx="641514" cy="391173"/>
            </a:xfrm>
            <a:prstGeom prst="rect">
              <a:avLst/>
            </a:prstGeom>
          </p:spPr>
          <p:txBody>
            <a:bodyPr lIns="47790" tIns="47790" rIns="47790" bIns="4779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1843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13D76710-5895-9BEE-AEEF-F634489DDA16}"/>
              </a:ext>
            </a:extLst>
          </p:cNvPr>
          <p:cNvGrpSpPr/>
          <p:nvPr/>
        </p:nvGrpSpPr>
        <p:grpSpPr>
          <a:xfrm>
            <a:off x="-73552" y="7047924"/>
            <a:ext cx="16030661" cy="3336996"/>
            <a:chOff x="0" y="0"/>
            <a:chExt cx="6165409" cy="1271237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6E7797ED-C437-470B-9E50-029ADE043823}"/>
                </a:ext>
              </a:extLst>
            </p:cNvPr>
            <p:cNvSpPr/>
            <p:nvPr/>
          </p:nvSpPr>
          <p:spPr>
            <a:xfrm>
              <a:off x="0" y="0"/>
              <a:ext cx="6165409" cy="1271237"/>
            </a:xfrm>
            <a:custGeom>
              <a:avLst/>
              <a:gdLst/>
              <a:ahLst/>
              <a:cxnLst/>
              <a:rect l="l" t="t" r="r" b="b"/>
              <a:pathLst>
                <a:path w="6165409" h="1271237">
                  <a:moveTo>
                    <a:pt x="0" y="0"/>
                  </a:moveTo>
                  <a:lnTo>
                    <a:pt x="6165409" y="0"/>
                  </a:lnTo>
                  <a:lnTo>
                    <a:pt x="6165409" y="1271237"/>
                  </a:lnTo>
                  <a:lnTo>
                    <a:pt x="0" y="127123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D2CD2F04-5DD2-D7A1-69A3-3619A13210A4}"/>
                </a:ext>
              </a:extLst>
            </p:cNvPr>
            <p:cNvSpPr txBox="1"/>
            <p:nvPr/>
          </p:nvSpPr>
          <p:spPr>
            <a:xfrm>
              <a:off x="0" y="-28575"/>
              <a:ext cx="6165409" cy="1299812"/>
            </a:xfrm>
            <a:prstGeom prst="rect">
              <a:avLst/>
            </a:prstGeom>
          </p:spPr>
          <p:txBody>
            <a:bodyPr lIns="47790" tIns="47790" rIns="47790" bIns="4779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1843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sp>
        <p:nvSpPr>
          <p:cNvPr id="12" name="TextBox 12">
            <a:extLst>
              <a:ext uri="{FF2B5EF4-FFF2-40B4-BE49-F238E27FC236}">
                <a16:creationId xmlns:a16="http://schemas.microsoft.com/office/drawing/2014/main" id="{B3D500D8-F56A-241B-7F3F-2FD484B03B46}"/>
              </a:ext>
            </a:extLst>
          </p:cNvPr>
          <p:cNvSpPr txBox="1"/>
          <p:nvPr/>
        </p:nvSpPr>
        <p:spPr>
          <a:xfrm>
            <a:off x="1111666" y="3432993"/>
            <a:ext cx="14771892" cy="598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4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Day 4 – Block 4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E2AEFEF7-2F69-11A5-9AC2-C6CFD1DF6505}"/>
              </a:ext>
            </a:extLst>
          </p:cNvPr>
          <p:cNvSpPr txBox="1"/>
          <p:nvPr/>
        </p:nvSpPr>
        <p:spPr>
          <a:xfrm>
            <a:off x="1111666" y="9653992"/>
            <a:ext cx="12263263" cy="3619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0" i="0" u="none" strike="noStrike" kern="1200" cap="none" spc="0" normalizeH="0" baseline="0" noProof="0">
                <a:ln>
                  <a:noFill/>
                </a:ln>
                <a:solidFill>
                  <a:srgbClr val="252525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CALIFORNIA INSTITUTE OF APPLIED TECHNOLOGY</a:t>
            </a:r>
          </a:p>
        </p:txBody>
      </p:sp>
      <p:sp>
        <p:nvSpPr>
          <p:cNvPr id="15" name="AutoShape 15">
            <a:extLst>
              <a:ext uri="{FF2B5EF4-FFF2-40B4-BE49-F238E27FC236}">
                <a16:creationId xmlns:a16="http://schemas.microsoft.com/office/drawing/2014/main" id="{9C1FA220-2857-8F95-03CE-6BEE5F8ACBC2}"/>
              </a:ext>
            </a:extLst>
          </p:cNvPr>
          <p:cNvSpPr/>
          <p:nvPr/>
        </p:nvSpPr>
        <p:spPr>
          <a:xfrm>
            <a:off x="8010568" y="9858838"/>
            <a:ext cx="7625672" cy="0"/>
          </a:xfrm>
          <a:prstGeom prst="line">
            <a:avLst/>
          </a:prstGeom>
          <a:ln w="19050" cap="flat">
            <a:solidFill>
              <a:srgbClr val="0283F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7" name="Freeform 5">
            <a:extLst>
              <a:ext uri="{FF2B5EF4-FFF2-40B4-BE49-F238E27FC236}">
                <a16:creationId xmlns:a16="http://schemas.microsoft.com/office/drawing/2014/main" id="{85332D9C-4563-B4A7-9EA9-9AE8DEFEB3D0}"/>
              </a:ext>
            </a:extLst>
          </p:cNvPr>
          <p:cNvSpPr/>
          <p:nvPr/>
        </p:nvSpPr>
        <p:spPr>
          <a:xfrm>
            <a:off x="1111666" y="355081"/>
            <a:ext cx="4247850" cy="631936"/>
          </a:xfrm>
          <a:custGeom>
            <a:avLst/>
            <a:gdLst/>
            <a:ahLst/>
            <a:cxnLst/>
            <a:rect l="l" t="t" r="r" b="b"/>
            <a:pathLst>
              <a:path w="4247850" h="631936">
                <a:moveTo>
                  <a:pt x="0" y="0"/>
                </a:moveTo>
                <a:lnTo>
                  <a:pt x="4247850" y="0"/>
                </a:lnTo>
                <a:lnTo>
                  <a:pt x="4247850" y="631935"/>
                </a:lnTo>
                <a:lnTo>
                  <a:pt x="0" y="63193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5" r="-5"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007647A-F7B0-2F15-E335-93DD25215417}"/>
              </a:ext>
            </a:extLst>
          </p:cNvPr>
          <p:cNvSpPr txBox="1"/>
          <p:nvPr/>
        </p:nvSpPr>
        <p:spPr>
          <a:xfrm>
            <a:off x="1111666" y="7106062"/>
            <a:ext cx="11918534" cy="2492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2400" dirty="0"/>
              <a:t>Business Continuity &amp; DR</a:t>
            </a:r>
          </a:p>
          <a:p>
            <a:pPr lvl="1"/>
            <a:r>
              <a:rPr lang="en-US" altLang="en-US" dirty="0"/>
              <a:t>BCP</a:t>
            </a:r>
          </a:p>
          <a:p>
            <a:pPr lvl="1"/>
            <a:r>
              <a:rPr lang="en-US" altLang="en-US" dirty="0"/>
              <a:t>DRP</a:t>
            </a:r>
          </a:p>
          <a:p>
            <a:pPr lvl="1"/>
            <a:r>
              <a:rPr lang="en-US" altLang="en-US" dirty="0"/>
              <a:t>RTO/RPO</a:t>
            </a:r>
          </a:p>
          <a:p>
            <a:pPr lvl="1"/>
            <a:r>
              <a:rPr lang="en-US" altLang="en-US" dirty="0"/>
              <a:t>Backup Strategies</a:t>
            </a:r>
          </a:p>
          <a:p>
            <a:pPr lvl="1"/>
            <a:r>
              <a:rPr lang="en-US" altLang="en-US" dirty="0"/>
              <a:t>High Availability</a:t>
            </a:r>
          </a:p>
          <a:p>
            <a:r>
              <a:rPr lang="en-US" altLang="en-US" sz="2400" dirty="0"/>
              <a:t>uCertify Lab</a:t>
            </a:r>
          </a:p>
          <a:p>
            <a:pPr lvl="1"/>
            <a:r>
              <a:rPr lang="en-US" altLang="en-US" dirty="0"/>
              <a:t>13.8.1 Scheduling a Server Backup</a:t>
            </a:r>
          </a:p>
        </p:txBody>
      </p:sp>
    </p:spTree>
    <p:extLst>
      <p:ext uri="{BB962C8B-B14F-4D97-AF65-F5344CB8AC3E}">
        <p14:creationId xmlns:p14="http://schemas.microsoft.com/office/powerpoint/2010/main" val="1152583079"/>
      </p:ext>
    </p:extLst>
  </p:cSld>
  <p:clrMapOvr>
    <a:masterClrMapping/>
  </p:clrMapOvr>
</p:sld>
</file>

<file path=ppt/slides/slide2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5E66B2-4DFB-00C8-41E8-B61CD2A2AE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4D186BD-32F8-B7F9-6A7B-6B10BB56AF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Slide </a:t>
            </a:r>
            <a:fld id="{4CA2B2DB-B91D-4166-98BF-65A0DA7EEE6D}" type="slidenum">
              <a:rPr kumimoji="0" lang="en-US" sz="1800" b="0" i="1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292</a:t>
            </a:fld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79C068-582A-59D0-56D3-31482337E30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2536823"/>
            <a:ext cx="16192500" cy="6416677"/>
          </a:xfrm>
        </p:spPr>
        <p:txBody>
          <a:bodyPr/>
          <a:lstStyle/>
          <a:p>
            <a:pPr marL="0" indent="0">
              <a:spcBef>
                <a:spcPts val="900"/>
              </a:spcBef>
              <a:buNone/>
            </a:pPr>
            <a:r>
              <a:rPr lang="en-US" altLang="en-US" sz="4000" b="1" dirty="0"/>
              <a:t>High availability (HA) </a:t>
            </a:r>
            <a:r>
              <a:rPr lang="en-US" altLang="en-US" sz="4000" dirty="0"/>
              <a:t>ensures that a system or application remains accessible and operational over an extended period.</a:t>
            </a:r>
          </a:p>
          <a:p>
            <a:pPr>
              <a:spcBef>
                <a:spcPts val="900"/>
              </a:spcBef>
            </a:pPr>
            <a:r>
              <a:rPr lang="en-US" altLang="en-US" sz="3600" b="1" dirty="0"/>
              <a:t>Redundant hardware</a:t>
            </a:r>
            <a:r>
              <a:rPr lang="en-US" altLang="en-US" sz="3600" dirty="0"/>
              <a:t>: Multiple instances of critical hardware components eliminate single points of failure.</a:t>
            </a:r>
          </a:p>
          <a:p>
            <a:pPr>
              <a:spcBef>
                <a:spcPts val="900"/>
              </a:spcBef>
            </a:pPr>
            <a:r>
              <a:rPr lang="en-US" altLang="en-US" sz="3600" b="1" dirty="0"/>
              <a:t>Automated backups</a:t>
            </a:r>
            <a:r>
              <a:rPr lang="en-US" altLang="en-US" sz="3600" dirty="0"/>
              <a:t>: Regularly scheduled backups are automated to ensure that the most recent data is always available for recovery.</a:t>
            </a:r>
          </a:p>
          <a:p>
            <a:pPr>
              <a:spcBef>
                <a:spcPts val="900"/>
              </a:spcBef>
            </a:pPr>
            <a:r>
              <a:rPr lang="en-US" altLang="en-US" sz="3600" b="1" dirty="0"/>
              <a:t>Failover mechanisms</a:t>
            </a:r>
            <a:r>
              <a:rPr lang="en-US" altLang="en-US" sz="3600" dirty="0"/>
              <a:t>: Configuration allows the system or network to switch to a standby system or network automatically if the primary one fails.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9D4B8A-43E6-D8FE-5E47-13BAFCF5E57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AD5E5E5-9F24-D889-08B6-E8738ECADD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54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High Availability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3197303915"/>
      </p:ext>
    </p:extLst>
  </p:cSld>
  <p:clrMapOvr>
    <a:masterClrMapping/>
  </p:clrMapOvr>
</p:sld>
</file>

<file path=ppt/slides/slide2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D8F056-1D0D-5824-7FAA-74AE722D5F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6E1E2D6-25A2-B2E1-7768-6C4B62F155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Slide </a:t>
            </a:r>
            <a:fld id="{4CA2B2DB-B91D-4166-98BF-65A0DA7EEE6D}" type="slidenum">
              <a:rPr kumimoji="0" lang="en-US" sz="1800" b="0" i="1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293</a:t>
            </a:fld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18DD0B-C0D1-DCEB-A7D0-282460E55190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2536823"/>
            <a:ext cx="16192500" cy="6416677"/>
          </a:xfrm>
        </p:spPr>
        <p:txBody>
          <a:bodyPr/>
          <a:lstStyle/>
          <a:p>
            <a:pPr marL="0" indent="0">
              <a:spcBef>
                <a:spcPts val="900"/>
              </a:spcBef>
              <a:buNone/>
            </a:pPr>
            <a:r>
              <a:rPr lang="en-US" altLang="en-US" sz="4400" dirty="0"/>
              <a:t>In cloud computing, availability is often determined by the storage class.</a:t>
            </a:r>
          </a:p>
          <a:p>
            <a:pPr>
              <a:spcBef>
                <a:spcPts val="900"/>
              </a:spcBef>
            </a:pPr>
            <a:r>
              <a:rPr lang="en-US" altLang="en-US" sz="4000" dirty="0"/>
              <a:t>Different availability metrics influence cost.</a:t>
            </a:r>
          </a:p>
          <a:p>
            <a:pPr>
              <a:spcBef>
                <a:spcPts val="900"/>
              </a:spcBef>
            </a:pPr>
            <a:r>
              <a:rPr lang="en-US" altLang="en-US" sz="4000" dirty="0"/>
              <a:t>Storage class selection should be based on a thorough risk analysis.</a:t>
            </a:r>
          </a:p>
          <a:p>
            <a:pPr>
              <a:spcBef>
                <a:spcPts val="900"/>
              </a:spcBef>
            </a:pPr>
            <a:r>
              <a:rPr lang="en-US" altLang="en-US" sz="4000" dirty="0"/>
              <a:t>Recommendation: Select applications with greater storage availability for mission-critical uses.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DE3728-EBA9-E44B-0E02-39D57318C6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B52D6200-7620-1FBE-F24E-3D1EF257A0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54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Cloud Environments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4206484334"/>
      </p:ext>
    </p:extLst>
  </p:cSld>
  <p:clrMapOvr>
    <a:masterClrMapping/>
  </p:clrMapOvr>
</p:sld>
</file>

<file path=ppt/slides/slide2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744275-0238-6274-DEDB-B47A1D500E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4E09D47-A992-DC45-C96E-97CB758220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Slide </a:t>
            </a:r>
            <a:fld id="{4CA2B2DB-B91D-4166-98BF-65A0DA7EEE6D}" type="slidenum">
              <a:rPr kumimoji="0" lang="en-US" sz="1800" b="0" i="1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294</a:t>
            </a:fld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8FA7EF-4706-1A57-DC50-4F37BC70CF30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2536823"/>
            <a:ext cx="16192500" cy="6416677"/>
          </a:xfrm>
        </p:spPr>
        <p:txBody>
          <a:bodyPr/>
          <a:lstStyle/>
          <a:p>
            <a:pPr>
              <a:spcBef>
                <a:spcPts val="900"/>
              </a:spcBef>
            </a:pPr>
            <a:r>
              <a:rPr lang="en-US" altLang="en-US" sz="4000" b="1" dirty="0"/>
              <a:t>Hot site</a:t>
            </a:r>
            <a:r>
              <a:rPr lang="en-US" altLang="en-US" sz="4000" dirty="0"/>
              <a:t>: A near duplicate of the organization’s original site that can be up and running within minutes</a:t>
            </a:r>
          </a:p>
          <a:p>
            <a:pPr>
              <a:spcBef>
                <a:spcPts val="900"/>
              </a:spcBef>
            </a:pPr>
            <a:r>
              <a:rPr lang="en-US" altLang="en-US" sz="4000" b="1" dirty="0"/>
              <a:t>Warm site</a:t>
            </a:r>
            <a:r>
              <a:rPr lang="en-US" altLang="en-US" sz="4000" dirty="0"/>
              <a:t>: Contains computers, phones, and servers but may require configuration before use</a:t>
            </a:r>
          </a:p>
          <a:p>
            <a:pPr>
              <a:spcBef>
                <a:spcPts val="900"/>
              </a:spcBef>
            </a:pPr>
            <a:r>
              <a:rPr lang="en-US" altLang="en-US" sz="4000" b="1" dirty="0"/>
              <a:t>Cold site</a:t>
            </a:r>
            <a:r>
              <a:rPr lang="en-US" altLang="en-US" sz="4000" dirty="0"/>
              <a:t>: Provides basic office infrastructure, but extensive computer configuration and data restoration would be needed before use</a:t>
            </a:r>
          </a:p>
          <a:p>
            <a:pPr>
              <a:spcBef>
                <a:spcPts val="900"/>
              </a:spcBef>
            </a:pPr>
            <a:r>
              <a:rPr lang="en-US" altLang="en-US" sz="4000" b="1" dirty="0"/>
              <a:t>Geographically distant site</a:t>
            </a:r>
            <a:r>
              <a:rPr lang="en-US" altLang="en-US" sz="4000" dirty="0"/>
              <a:t>: A computing environment, such as a data center, located at least 50 miles from the main compute campus data center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260A91A-CAFA-1B1E-396B-1DFED1D34AD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B1FFAB80-53B5-8AD9-7768-DF0366A124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54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Site Considerations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3847924084"/>
      </p:ext>
    </p:extLst>
  </p:cSld>
  <p:clrMapOvr>
    <a:masterClrMapping/>
  </p:clrMapOvr>
</p:sld>
</file>

<file path=ppt/slides/slide2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348D52-73E3-38E0-0D08-F1F43C4185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25B8F68-5327-CFA0-2569-1E96D97E38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Slide </a:t>
            </a:r>
            <a:fld id="{4CA2B2DB-B91D-4166-98BF-65A0DA7EEE6D}" type="slidenum">
              <a:rPr kumimoji="0" lang="en-US" sz="1800" b="0" i="1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295</a:t>
            </a:fld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506FEA-FB8B-C8D2-2048-5A06139E8B7F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2536823"/>
            <a:ext cx="16192500" cy="6416677"/>
          </a:xfrm>
        </p:spPr>
        <p:txBody>
          <a:bodyPr/>
          <a:lstStyle/>
          <a:p>
            <a:pPr marL="0" indent="0">
              <a:spcBef>
                <a:spcPts val="900"/>
              </a:spcBef>
              <a:buNone/>
            </a:pPr>
            <a:r>
              <a:rPr lang="en-US" altLang="en-US" sz="3900" b="1" dirty="0"/>
              <a:t>Platform </a:t>
            </a:r>
            <a:r>
              <a:rPr lang="en-US" altLang="en-US" sz="3900" dirty="0"/>
              <a:t>diversity is the implementation of varied hardware or software platforms within an organization’s IT environment.</a:t>
            </a:r>
          </a:p>
          <a:p>
            <a:pPr>
              <a:spcBef>
                <a:spcPts val="900"/>
              </a:spcBef>
            </a:pPr>
            <a:r>
              <a:rPr lang="en-US" altLang="en-US" sz="3600" dirty="0"/>
              <a:t>Reduces systemic risks associated with a single point of failure</a:t>
            </a:r>
          </a:p>
          <a:p>
            <a:pPr>
              <a:spcBef>
                <a:spcPts val="900"/>
              </a:spcBef>
            </a:pPr>
            <a:r>
              <a:rPr lang="en-US" altLang="en-US" sz="3600" dirty="0"/>
              <a:t>Benefits</a:t>
            </a:r>
          </a:p>
          <a:p>
            <a:pPr lvl="1">
              <a:spcBef>
                <a:spcPts val="900"/>
              </a:spcBef>
            </a:pPr>
            <a:r>
              <a:rPr lang="en-US" altLang="en-US" sz="3300" dirty="0"/>
              <a:t>Resilience: Increased ability to withstand security incidents and technical failures</a:t>
            </a:r>
          </a:p>
          <a:p>
            <a:pPr lvl="1">
              <a:spcBef>
                <a:spcPts val="900"/>
              </a:spcBef>
            </a:pPr>
            <a:r>
              <a:rPr lang="en-US" altLang="en-US" sz="3300" dirty="0"/>
              <a:t>Enhanced recovery: Improved capacity to recover from incidents due to diversified platforms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B98ADC-2298-5560-3B0B-6EB9B115A8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605C844-3E67-342A-3301-179B8685B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54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Platform Diversity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2825732896"/>
      </p:ext>
    </p:extLst>
  </p:cSld>
  <p:clrMapOvr>
    <a:masterClrMapping/>
  </p:clrMapOvr>
</p:sld>
</file>

<file path=ppt/slides/slide2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53EDFB-DA6B-4798-BF45-B967911220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5D08EA4-FE7E-716A-51AA-B674DEDF2F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Slide </a:t>
            </a:r>
            <a:fld id="{4CA2B2DB-B91D-4166-98BF-65A0DA7EEE6D}" type="slidenum">
              <a:rPr kumimoji="0" lang="en-US" sz="1800" b="0" i="1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296</a:t>
            </a:fld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46D234-AFB1-DBCD-ECE3-32E303F20A8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2536823"/>
            <a:ext cx="16192500" cy="6416677"/>
          </a:xfrm>
        </p:spPr>
        <p:txBody>
          <a:bodyPr/>
          <a:lstStyle/>
          <a:p>
            <a:pPr marL="0" indent="0">
              <a:spcBef>
                <a:spcPts val="900"/>
              </a:spcBef>
              <a:buNone/>
            </a:pPr>
            <a:r>
              <a:rPr lang="en-US" altLang="en-US" sz="3900" dirty="0"/>
              <a:t>A </a:t>
            </a:r>
            <a:r>
              <a:rPr lang="en-US" altLang="en-US" sz="3900" b="1" dirty="0"/>
              <a:t>multi-cloud system i</a:t>
            </a:r>
            <a:r>
              <a:rPr lang="en-US" altLang="en-US" sz="3900" dirty="0"/>
              <a:t>nvolves using multiple cloud service platforms (e.g., AWS, Azure, Google Cloud) to fulfill diverse computational and storage needs.</a:t>
            </a:r>
          </a:p>
          <a:p>
            <a:pPr>
              <a:spcBef>
                <a:spcPts val="900"/>
              </a:spcBef>
            </a:pPr>
            <a:r>
              <a:rPr lang="en-US" altLang="en-US" sz="3600" dirty="0"/>
              <a:t>Reduces dependency on a single cloud service provider</a:t>
            </a:r>
          </a:p>
          <a:p>
            <a:pPr>
              <a:spcBef>
                <a:spcPts val="900"/>
              </a:spcBef>
            </a:pPr>
            <a:r>
              <a:rPr lang="en-US" altLang="en-US" sz="3600" dirty="0"/>
              <a:t>Benefits</a:t>
            </a:r>
          </a:p>
          <a:p>
            <a:pPr marL="1714500" lvl="2" indent="-571500">
              <a:spcBef>
                <a:spcPts val="900"/>
              </a:spcBef>
            </a:pPr>
            <a:r>
              <a:rPr lang="en-US" altLang="en-US" sz="3200" dirty="0"/>
              <a:t>Risk mitigation</a:t>
            </a:r>
          </a:p>
          <a:p>
            <a:pPr marL="1714500" lvl="2" indent="-571500">
              <a:spcBef>
                <a:spcPts val="900"/>
              </a:spcBef>
            </a:pPr>
            <a:r>
              <a:rPr lang="en-US" altLang="en-US" sz="3200" dirty="0"/>
              <a:t>High availability</a:t>
            </a:r>
          </a:p>
          <a:p>
            <a:pPr marL="1714500" lvl="2" indent="-571500">
              <a:spcBef>
                <a:spcPts val="900"/>
              </a:spcBef>
            </a:pPr>
            <a:r>
              <a:rPr lang="en-US" altLang="en-US" sz="3200" dirty="0"/>
              <a:t>Robust disaster recovery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1B2F3F3-9487-D75F-7958-272845A58B0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AFF4EC48-0235-9556-9524-839E9B21A1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54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Multi-Cloud System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2192974836"/>
      </p:ext>
    </p:extLst>
  </p:cSld>
  <p:clrMapOvr>
    <a:masterClrMapping/>
  </p:clrMapOvr>
</p:sld>
</file>

<file path=ppt/slides/slide2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62BE26-CF65-E885-9D0A-9CBEE1B343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A8B0148-210D-628C-B143-42ED2CF351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Slide </a:t>
            </a:r>
            <a:fld id="{4CA2B2DB-B91D-4166-98BF-65A0DA7EEE6D}" type="slidenum">
              <a:rPr kumimoji="0" lang="en-US" sz="1800" b="0" i="1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297</a:t>
            </a:fld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855E7D-7A45-E38B-4031-3A9FE32EC35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2536823"/>
            <a:ext cx="16192500" cy="6416677"/>
          </a:xfrm>
        </p:spPr>
        <p:txBody>
          <a:bodyPr/>
          <a:lstStyle/>
          <a:p>
            <a:pPr marL="0" indent="0">
              <a:spcBef>
                <a:spcPts val="900"/>
              </a:spcBef>
              <a:buNone/>
            </a:pPr>
            <a:r>
              <a:rPr lang="en-US" altLang="en-US" sz="3900" b="1" dirty="0"/>
              <a:t>Continuity of operations planning (COOP) </a:t>
            </a:r>
            <a:r>
              <a:rPr lang="en-US" altLang="en-US" sz="3900" dirty="0"/>
              <a:t>is a federal initiative encouraging organizations to plan for the continuation of critical operations under various emergency  circumstances.</a:t>
            </a:r>
          </a:p>
          <a:p>
            <a:pPr>
              <a:spcBef>
                <a:spcPts val="900"/>
              </a:spcBef>
            </a:pPr>
            <a:r>
              <a:rPr lang="en-US" altLang="en-US" sz="3600" dirty="0"/>
              <a:t>Procedures in a continuity plan</a:t>
            </a:r>
          </a:p>
          <a:p>
            <a:pPr lvl="2">
              <a:spcBef>
                <a:spcPts val="900"/>
              </a:spcBef>
            </a:pPr>
            <a:r>
              <a:rPr lang="en-US" altLang="en-US" sz="3200" dirty="0"/>
              <a:t>Alerting, activating, notifying, and deploying employees</a:t>
            </a:r>
          </a:p>
          <a:p>
            <a:pPr lvl="2">
              <a:spcBef>
                <a:spcPts val="900"/>
              </a:spcBef>
            </a:pPr>
            <a:r>
              <a:rPr lang="en-US" altLang="en-US" sz="3200" dirty="0"/>
              <a:t>Identifying critical business functions</a:t>
            </a:r>
          </a:p>
          <a:p>
            <a:pPr lvl="2">
              <a:spcBef>
                <a:spcPts val="900"/>
              </a:spcBef>
            </a:pPr>
            <a:r>
              <a:rPr lang="en-US" altLang="en-US" sz="3200" dirty="0"/>
              <a:t>Establishing an alternate facility or work-from-home process</a:t>
            </a:r>
          </a:p>
          <a:p>
            <a:pPr lvl="2">
              <a:spcBef>
                <a:spcPts val="900"/>
              </a:spcBef>
            </a:pPr>
            <a:r>
              <a:rPr lang="en-US" altLang="en-US" sz="3200" dirty="0"/>
              <a:t>Creating a roster of personnel with authority and knowledge of business operational functions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4EF4F0A-5520-A798-B2FE-D1FFBA32BB8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396B54F9-845E-A508-4823-3A8EDD1952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54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Continuity of Operations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660285212"/>
      </p:ext>
    </p:extLst>
  </p:cSld>
  <p:clrMapOvr>
    <a:masterClrMapping/>
  </p:clrMapOvr>
</p:sld>
</file>

<file path=ppt/slides/slide2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0A6654-594E-C10B-5CE9-7C129286F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92E8637-524E-3774-B208-4A5F1EC4A2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Slide </a:t>
            </a:r>
            <a:fld id="{4CA2B2DB-B91D-4166-98BF-65A0DA7EEE6D}" type="slidenum">
              <a:rPr kumimoji="0" lang="en-US" sz="1800" b="0" i="1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298</a:t>
            </a:fld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65B54B-E4FA-61BD-6974-1D6AB338AACF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2536823"/>
            <a:ext cx="16192500" cy="6416677"/>
          </a:xfrm>
        </p:spPr>
        <p:txBody>
          <a:bodyPr/>
          <a:lstStyle/>
          <a:p>
            <a:pPr marL="0" indent="0">
              <a:spcBef>
                <a:spcPts val="900"/>
              </a:spcBef>
              <a:buNone/>
            </a:pPr>
            <a:r>
              <a:rPr lang="en-US" altLang="en-US" sz="3900" b="1" dirty="0"/>
              <a:t>Capacity planning </a:t>
            </a:r>
            <a:r>
              <a:rPr lang="en-US" altLang="en-US" sz="3900" dirty="0"/>
              <a:t>is the process of determining future resource requirements such as people, technology, and infrastructure.</a:t>
            </a:r>
          </a:p>
          <a:p>
            <a:pPr>
              <a:spcBef>
                <a:spcPts val="900"/>
              </a:spcBef>
            </a:pPr>
            <a:r>
              <a:rPr lang="en-US" altLang="en-US" sz="3600" dirty="0"/>
              <a:t>Considerations</a:t>
            </a:r>
          </a:p>
          <a:p>
            <a:pPr marL="743585" lvl="1" indent="-571500">
              <a:spcBef>
                <a:spcPts val="900"/>
              </a:spcBef>
              <a:buFont typeface="Arial" panose="020B0604020202020204" pitchFamily="34" charset="0"/>
              <a:buChar char="•"/>
            </a:pPr>
            <a:r>
              <a:rPr lang="en-US" altLang="en-US" sz="3600" dirty="0"/>
              <a:t>People: Staffing requirements to maintain and operate systems efficiently</a:t>
            </a:r>
          </a:p>
          <a:p>
            <a:pPr marL="743585" lvl="1" indent="-571500">
              <a:spcBef>
                <a:spcPts val="900"/>
              </a:spcBef>
              <a:buFont typeface="Arial" panose="020B0604020202020204" pitchFamily="34" charset="0"/>
              <a:buChar char="•"/>
            </a:pPr>
            <a:r>
              <a:rPr lang="en-US" altLang="en-US" sz="3600" dirty="0"/>
              <a:t>Technology: Computational power, software, and hardware needed to meet future demands</a:t>
            </a:r>
          </a:p>
          <a:p>
            <a:pPr marL="743585" lvl="1" indent="-571500">
              <a:spcBef>
                <a:spcPts val="900"/>
              </a:spcBef>
              <a:buFont typeface="Arial" panose="020B0604020202020204" pitchFamily="34" charset="0"/>
              <a:buChar char="•"/>
            </a:pPr>
            <a:r>
              <a:rPr lang="en-US" altLang="en-US" sz="3600" dirty="0"/>
              <a:t>Infrastructure: Physical or virtual resources to  support technology and personnel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4F82AE-A011-251C-CB7A-5B27A769D33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68EBB9F-A643-BC7C-78C7-C24E5E19E0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54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Capacity Planning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1884916634"/>
      </p:ext>
    </p:extLst>
  </p:cSld>
  <p:clrMapOvr>
    <a:masterClrMapping/>
  </p:clrMapOvr>
</p:sld>
</file>

<file path=ppt/slides/slide2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29A3E7-1D0F-A447-E007-AD42AB4864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B8D0395-40ED-87F3-13B3-3B4F251E28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Slide </a:t>
            </a:r>
            <a:fld id="{4CA2B2DB-B91D-4166-98BF-65A0DA7EEE6D}" type="slidenum">
              <a:rPr kumimoji="0" lang="en-US" sz="1800" b="0" i="1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299</a:t>
            </a:fld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75DADE-0882-0061-EA5A-286FFD1F4A6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2536823"/>
            <a:ext cx="16192500" cy="6416677"/>
          </a:xfrm>
        </p:spPr>
        <p:txBody>
          <a:bodyPr/>
          <a:lstStyle/>
          <a:p>
            <a:pPr>
              <a:spcBef>
                <a:spcPts val="900"/>
              </a:spcBef>
            </a:pPr>
            <a:r>
              <a:rPr lang="en-US" altLang="en-US" sz="3900" dirty="0"/>
              <a:t>Tabletop Exercises</a:t>
            </a:r>
          </a:p>
          <a:p>
            <a:pPr lvl="1">
              <a:spcBef>
                <a:spcPts val="900"/>
              </a:spcBef>
            </a:pPr>
            <a:r>
              <a:rPr lang="en-US" altLang="en-US" sz="3600" dirty="0"/>
              <a:t>Validate and improve incident response plans (IRPs) through real-life scenario simulations</a:t>
            </a:r>
          </a:p>
          <a:p>
            <a:pPr lvl="1">
              <a:spcBef>
                <a:spcPts val="900"/>
              </a:spcBef>
            </a:pPr>
            <a:r>
              <a:rPr lang="en-US" altLang="en-US" sz="3600" dirty="0"/>
              <a:t>Gauge team performance against predefined questions and scenarios</a:t>
            </a:r>
          </a:p>
          <a:p>
            <a:pPr>
              <a:spcBef>
                <a:spcPts val="900"/>
              </a:spcBef>
            </a:pPr>
            <a:r>
              <a:rPr lang="en-US" altLang="en-US" sz="3900" dirty="0"/>
              <a:t>Failover Testing</a:t>
            </a:r>
          </a:p>
          <a:p>
            <a:pPr lvl="1">
              <a:spcBef>
                <a:spcPts val="900"/>
              </a:spcBef>
            </a:pPr>
            <a:r>
              <a:rPr lang="en-US" altLang="en-US" sz="3600" dirty="0"/>
              <a:t>Involves switching operational functions from primary to secondary systems to assess continuity during system failures</a:t>
            </a:r>
          </a:p>
          <a:p>
            <a:pPr lvl="1">
              <a:spcBef>
                <a:spcPts val="900"/>
              </a:spcBef>
            </a:pPr>
            <a:r>
              <a:rPr lang="en-US" altLang="en-US" sz="3600" dirty="0"/>
              <a:t>Tests redundancy mechanisms and contingency plans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63B1D60-AAAD-DE4A-1E9F-789D3C69E3C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77DCC44D-F23F-1A4E-6376-0AF7D6B74F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54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Testing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1348408508"/>
      </p:ext>
    </p:extLst>
  </p:cSld>
  <p:clrMapOvr>
    <a:masterClrMapping/>
  </p:clrMapOvr>
</p:sld>
</file>

<file path=ppt/slides/slide3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8C2F07-77D4-4559-53E4-21920315BA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BA4FA3D-F6D7-8E18-7D23-B84858A93C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Slide </a:t>
            </a:r>
            <a:fld id="{4CA2B2DB-B91D-4166-98BF-65A0DA7EEE6D}" type="slidenum">
              <a:rPr kumimoji="0" lang="en-US" sz="1800" b="0" i="1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300</a:t>
            </a:fld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300832-4D65-E971-5C46-28B72D470522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2536823"/>
            <a:ext cx="16192500" cy="6416677"/>
          </a:xfrm>
        </p:spPr>
        <p:txBody>
          <a:bodyPr/>
          <a:lstStyle/>
          <a:p>
            <a:pPr>
              <a:spcBef>
                <a:spcPts val="900"/>
              </a:spcBef>
            </a:pPr>
            <a:r>
              <a:rPr lang="en-US" altLang="en-US" sz="3900" dirty="0"/>
              <a:t>Simulations</a:t>
            </a:r>
          </a:p>
          <a:p>
            <a:pPr marL="743585" lvl="1" indent="-571500">
              <a:spcBef>
                <a:spcPts val="900"/>
              </a:spcBef>
              <a:buFont typeface="Arial" panose="020B0604020202020204" pitchFamily="34" charset="0"/>
              <a:buChar char="•"/>
            </a:pPr>
            <a:r>
              <a:rPr lang="en-US" altLang="en-US" sz="3600" dirty="0"/>
              <a:t>Provides structured exercises to practice incident response procedures in simulated, realistic scenarios</a:t>
            </a:r>
          </a:p>
          <a:p>
            <a:pPr marL="743585" lvl="1" indent="-571500">
              <a:spcBef>
                <a:spcPts val="900"/>
              </a:spcBef>
              <a:buFont typeface="Arial" panose="020B0604020202020204" pitchFamily="34" charset="0"/>
              <a:buChar char="•"/>
            </a:pPr>
            <a:r>
              <a:rPr lang="en-US" altLang="en-US" sz="3600" dirty="0"/>
              <a:t>Helps identify deficiencies, improve response capabilities, and validate readiness</a:t>
            </a:r>
          </a:p>
          <a:p>
            <a:pPr>
              <a:spcBef>
                <a:spcPts val="900"/>
              </a:spcBef>
            </a:pPr>
            <a:r>
              <a:rPr lang="en-US" altLang="en-US" sz="3900" dirty="0"/>
              <a:t>Parallel Processing</a:t>
            </a:r>
          </a:p>
          <a:p>
            <a:pPr marL="743585" lvl="1" indent="-571500">
              <a:spcBef>
                <a:spcPts val="900"/>
              </a:spcBef>
              <a:buFont typeface="Arial" panose="020B0604020202020204" pitchFamily="34" charset="0"/>
              <a:buChar char="•"/>
            </a:pPr>
            <a:r>
              <a:rPr lang="en-US" altLang="en-US" sz="3600" dirty="0"/>
              <a:t>Runs same tasks concurrently in primary and secondary systems</a:t>
            </a:r>
          </a:p>
          <a:p>
            <a:pPr marL="743585" lvl="1" indent="-571500">
              <a:spcBef>
                <a:spcPts val="900"/>
              </a:spcBef>
              <a:buFont typeface="Arial" panose="020B0604020202020204" pitchFamily="34" charset="0"/>
              <a:buChar char="•"/>
            </a:pPr>
            <a:r>
              <a:rPr lang="en-US" altLang="en-US" sz="3600" dirty="0"/>
              <a:t>Verifies backup system's operational reliability and accuracy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7AB5868-DC92-44D4-879F-E99D5D82085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1E7DBF2-FFEA-291D-8943-0A28B78258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54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Testing (cont.)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3617538310"/>
      </p:ext>
    </p:extLst>
  </p:cSld>
  <p:clrMapOvr>
    <a:masterClrMapping/>
  </p:clrMapOvr>
</p:sld>
</file>

<file path=ppt/slides/slide3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83F915-0200-2CC5-8E7D-FF79B327C2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3724F37-193B-246D-0AE8-1139FB33DB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Slide </a:t>
            </a:r>
            <a:fld id="{4CA2B2DB-B91D-4166-98BF-65A0DA7EEE6D}" type="slidenum">
              <a:rPr kumimoji="0" lang="en-US" sz="1800" b="0" i="1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301</a:t>
            </a:fld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6F89E1-26A4-E108-CC48-64210FB2B528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2536823"/>
            <a:ext cx="16192500" cy="6416677"/>
          </a:xfrm>
        </p:spPr>
        <p:txBody>
          <a:bodyPr/>
          <a:lstStyle/>
          <a:p>
            <a:pPr marL="0" indent="0">
              <a:spcBef>
                <a:spcPts val="900"/>
              </a:spcBef>
              <a:buNone/>
            </a:pPr>
            <a:r>
              <a:rPr lang="en-US" altLang="en-US" sz="3900" dirty="0"/>
              <a:t>A </a:t>
            </a:r>
            <a:r>
              <a:rPr lang="en-US" altLang="en-US" sz="3900" b="1" dirty="0"/>
              <a:t>backup </a:t>
            </a:r>
            <a:r>
              <a:rPr lang="en-US" altLang="en-US" sz="3900" dirty="0"/>
              <a:t>is a duplicate copy of data and system configurations stored separately from the original.</a:t>
            </a:r>
          </a:p>
          <a:p>
            <a:pPr>
              <a:spcBef>
                <a:spcPts val="900"/>
              </a:spcBef>
            </a:pPr>
            <a:r>
              <a:rPr lang="en-US" altLang="en-US" sz="3600" dirty="0"/>
              <a:t>Types of backups</a:t>
            </a:r>
          </a:p>
          <a:p>
            <a:pPr marL="743585" lvl="1" indent="-571500">
              <a:spcBef>
                <a:spcPts val="900"/>
              </a:spcBef>
              <a:buFont typeface="Arial" panose="020B0604020202020204" pitchFamily="34" charset="0"/>
              <a:buChar char="•"/>
            </a:pPr>
            <a:r>
              <a:rPr lang="en-US" altLang="en-US" dirty="0"/>
              <a:t>Full backup</a:t>
            </a:r>
          </a:p>
          <a:p>
            <a:pPr marL="743585" lvl="1" indent="-571500">
              <a:spcBef>
                <a:spcPts val="900"/>
              </a:spcBef>
              <a:buFont typeface="Arial" panose="020B0604020202020204" pitchFamily="34" charset="0"/>
              <a:buChar char="•"/>
            </a:pPr>
            <a:r>
              <a:rPr lang="en-US" altLang="en-US" dirty="0"/>
              <a:t>Incremental backup</a:t>
            </a:r>
          </a:p>
          <a:p>
            <a:pPr marL="743585" lvl="1" indent="-571500">
              <a:spcBef>
                <a:spcPts val="900"/>
              </a:spcBef>
              <a:buFont typeface="Arial" panose="020B0604020202020204" pitchFamily="34" charset="0"/>
              <a:buChar char="•"/>
            </a:pPr>
            <a:r>
              <a:rPr lang="en-US" altLang="en-US" dirty="0"/>
              <a:t>Differential backup</a:t>
            </a:r>
          </a:p>
          <a:p>
            <a:pPr marL="743585" lvl="1" indent="-571500">
              <a:spcBef>
                <a:spcPts val="900"/>
              </a:spcBef>
              <a:buFont typeface="Arial" panose="020B0604020202020204" pitchFamily="34" charset="0"/>
              <a:buChar char="•"/>
            </a:pPr>
            <a:r>
              <a:rPr lang="en-US" altLang="en-US" dirty="0"/>
              <a:t>Mirror backup</a:t>
            </a:r>
          </a:p>
          <a:p>
            <a:pPr marL="743585" lvl="1" indent="-571500">
              <a:spcBef>
                <a:spcPts val="900"/>
              </a:spcBef>
              <a:buFont typeface="Arial" panose="020B0604020202020204" pitchFamily="34" charset="0"/>
              <a:buChar char="•"/>
            </a:pPr>
            <a:r>
              <a:rPr lang="en-US" altLang="en-US" dirty="0"/>
              <a:t>Continuous data protection (CDP)</a:t>
            </a:r>
          </a:p>
          <a:p>
            <a:pPr marL="743585" lvl="1" indent="-571500">
              <a:spcBef>
                <a:spcPts val="900"/>
              </a:spcBef>
              <a:buFont typeface="Arial" panose="020B0604020202020204" pitchFamily="34" charset="0"/>
              <a:buChar char="•"/>
            </a:pPr>
            <a:r>
              <a:rPr lang="en-US" altLang="en-US" dirty="0"/>
              <a:t>Cloud backup</a:t>
            </a:r>
          </a:p>
          <a:p>
            <a:pPr marL="743585" lvl="1" indent="-571500">
              <a:spcBef>
                <a:spcPts val="900"/>
              </a:spcBef>
              <a:buFont typeface="Arial" panose="020B0604020202020204" pitchFamily="34" charset="0"/>
              <a:buChar char="•"/>
            </a:pPr>
            <a:r>
              <a:rPr lang="en-US" altLang="en-US" dirty="0"/>
              <a:t>Virtual backup</a:t>
            </a:r>
          </a:p>
          <a:p>
            <a:pPr marL="743585" lvl="1" indent="-571500">
              <a:spcBef>
                <a:spcPts val="900"/>
              </a:spcBef>
              <a:buFont typeface="Arial" panose="020B0604020202020204" pitchFamily="34" charset="0"/>
              <a:buChar char="•"/>
            </a:pPr>
            <a:r>
              <a:rPr lang="en-US" altLang="en-US" dirty="0"/>
              <a:t>Bare-metal backup</a:t>
            </a:r>
            <a:endParaRPr lang="en-US" altLang="en-US" sz="36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CD7FCB1-607D-DF0C-8665-8F02F947DA6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028A9BF6-E3DD-FB94-B352-D313187F1F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54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Backups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2992840970"/>
      </p:ext>
    </p:extLst>
  </p:cSld>
  <p:clrMapOvr>
    <a:masterClrMapping/>
  </p:clrMapOvr>
</p:sld>
</file>

<file path=ppt/slides/slide3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5F1250-1221-5D2C-EA23-06BEDCA2C3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4858E3D-5993-3433-E8BA-7CA34F46FE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Slide </a:t>
            </a:r>
            <a:fld id="{4CA2B2DB-B91D-4166-98BF-65A0DA7EEE6D}" type="slidenum">
              <a:rPr kumimoji="0" lang="en-US" sz="1800" b="0" i="1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302</a:t>
            </a:fld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0F463B-A428-9655-0E7D-A30132625C7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2536823"/>
            <a:ext cx="16192500" cy="6416677"/>
          </a:xfrm>
        </p:spPr>
        <p:txBody>
          <a:bodyPr/>
          <a:lstStyle/>
          <a:p>
            <a:pPr marL="0" indent="0">
              <a:spcBef>
                <a:spcPts val="900"/>
              </a:spcBef>
              <a:buNone/>
            </a:pPr>
            <a:r>
              <a:rPr lang="en-US" altLang="en-US" sz="4400" b="1" dirty="0"/>
              <a:t>Power management </a:t>
            </a:r>
            <a:r>
              <a:rPr lang="en-US" altLang="en-US" sz="4400" dirty="0"/>
              <a:t>involves provisioning, controlling, and efficiently utilizing electricity to maintain uninterrupted facility operation.</a:t>
            </a:r>
          </a:p>
          <a:p>
            <a:pPr>
              <a:spcBef>
                <a:spcPts val="900"/>
              </a:spcBef>
            </a:pPr>
            <a:r>
              <a:rPr lang="en-US" altLang="en-US" sz="4000" b="1" dirty="0"/>
              <a:t>Uninterruptible Power Supply (UPS) </a:t>
            </a:r>
            <a:r>
              <a:rPr lang="en-US" altLang="en-US" sz="4000" dirty="0"/>
              <a:t>devices offer emergency power during main power failures by storing energy in batteries or supercapacitors.</a:t>
            </a:r>
          </a:p>
          <a:p>
            <a:pPr>
              <a:spcBef>
                <a:spcPts val="900"/>
              </a:spcBef>
            </a:pPr>
            <a:r>
              <a:rPr lang="en-US" altLang="en-US" sz="4000" b="1" dirty="0"/>
              <a:t>Generators</a:t>
            </a:r>
            <a:r>
              <a:rPr lang="en-US" altLang="en-US" sz="4000" dirty="0"/>
              <a:t> supply power during complete power loss or in areas without standard electrical service, converting mechanical or chemical energy into electrical energy.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D74E8F8-AE4D-5956-4F57-320580664B0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C27956B-D919-F090-45E2-B858E6B39D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54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Power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4106309348"/>
      </p:ext>
    </p:extLst>
  </p:cSld>
  <p:clrMapOvr>
    <a:masterClrMapping/>
  </p:clrMapOvr>
</p:sld>
</file>

<file path=ppt/slides/slide3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191CBE-9506-ADE5-0807-ED7EDF74B7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C1DD9C9-C398-6892-1B95-1226CF5283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Slide </a:t>
            </a:r>
            <a:fld id="{4CA2B2DB-B91D-4166-98BF-65A0DA7EEE6D}" type="slidenum">
              <a:rPr kumimoji="0" lang="en-US" sz="1800" b="0" i="1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303</a:t>
            </a:fld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A32EEE5-6218-B59B-75B9-67765DC7300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A6E7C14-F2CF-0C0E-D63A-67A38CA044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54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Lunch</a:t>
            </a:r>
            <a:endParaRPr lang="en-US" i="1" dirty="0"/>
          </a:p>
        </p:txBody>
      </p:sp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FB60AC9B-874D-2BAC-FD6A-C45226398CAA}"/>
              </a:ext>
            </a:extLst>
          </p:cNvPr>
          <p:cNvPicPr>
            <a:picLocks noGrp="1" noChangeAspect="1" noChangeArrowheads="1"/>
          </p:cNvPicPr>
          <p:nvPr>
            <p:ph sz="quarter" idx="1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0970" y="2600773"/>
            <a:ext cx="16886060" cy="50854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03592970"/>
      </p:ext>
    </p:extLst>
  </p:cSld>
  <p:clrMapOvr>
    <a:masterClrMapping/>
  </p:clrMapOvr>
</p:sld>
</file>

<file path=ppt/slides/slide30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15194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7D2FABB-E90E-1C6C-9D88-12625A189E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1E721096-7229-FEAB-233D-75984C6219E2}"/>
              </a:ext>
            </a:extLst>
          </p:cNvPr>
          <p:cNvGrpSpPr/>
          <p:nvPr/>
        </p:nvGrpSpPr>
        <p:grpSpPr>
          <a:xfrm rot="-5400000">
            <a:off x="12015831" y="4014831"/>
            <a:ext cx="10287000" cy="2257339"/>
            <a:chOff x="0" y="0"/>
            <a:chExt cx="2709333" cy="59452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E2AF5CD8-F90C-3D12-E37F-10ACC771DBAF}"/>
                </a:ext>
              </a:extLst>
            </p:cNvPr>
            <p:cNvSpPr/>
            <p:nvPr/>
          </p:nvSpPr>
          <p:spPr>
            <a:xfrm>
              <a:off x="0" y="0"/>
              <a:ext cx="2709333" cy="594525"/>
            </a:xfrm>
            <a:custGeom>
              <a:avLst/>
              <a:gdLst/>
              <a:ahLst/>
              <a:cxnLst/>
              <a:rect l="l" t="t" r="r" b="b"/>
              <a:pathLst>
                <a:path w="2709333" h="594525">
                  <a:moveTo>
                    <a:pt x="0" y="0"/>
                  </a:moveTo>
                  <a:lnTo>
                    <a:pt x="2709333" y="0"/>
                  </a:lnTo>
                  <a:lnTo>
                    <a:pt x="2709333" y="594525"/>
                  </a:lnTo>
                  <a:lnTo>
                    <a:pt x="0" y="594525"/>
                  </a:lnTo>
                  <a:close/>
                </a:path>
              </a:pathLst>
            </a:custGeom>
            <a:solidFill>
              <a:srgbClr val="0283FD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B7A8BB95-A67C-853C-DF2F-5059AAAEBC3D}"/>
                </a:ext>
              </a:extLst>
            </p:cNvPr>
            <p:cNvSpPr txBox="1"/>
            <p:nvPr/>
          </p:nvSpPr>
          <p:spPr>
            <a:xfrm>
              <a:off x="0" y="-66675"/>
              <a:ext cx="2709333" cy="6612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3024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308F03BA-AFAD-D6A5-532C-39CC7FC8AE60}"/>
              </a:ext>
            </a:extLst>
          </p:cNvPr>
          <p:cNvGrpSpPr/>
          <p:nvPr/>
        </p:nvGrpSpPr>
        <p:grpSpPr>
          <a:xfrm>
            <a:off x="179467" y="6643814"/>
            <a:ext cx="8126333" cy="3488267"/>
            <a:chOff x="0" y="0"/>
            <a:chExt cx="844714" cy="36259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1F679070-577A-267E-7CFB-50D92987300B}"/>
                </a:ext>
              </a:extLst>
            </p:cNvPr>
            <p:cNvSpPr/>
            <p:nvPr/>
          </p:nvSpPr>
          <p:spPr>
            <a:xfrm>
              <a:off x="0" y="0"/>
              <a:ext cx="844714" cy="362598"/>
            </a:xfrm>
            <a:custGeom>
              <a:avLst/>
              <a:gdLst/>
              <a:ahLst/>
              <a:cxnLst/>
              <a:rect l="l" t="t" r="r" b="b"/>
              <a:pathLst>
                <a:path w="844714" h="362598">
                  <a:moveTo>
                    <a:pt x="203200" y="0"/>
                  </a:moveTo>
                  <a:lnTo>
                    <a:pt x="844714" y="0"/>
                  </a:lnTo>
                  <a:lnTo>
                    <a:pt x="641514" y="362598"/>
                  </a:lnTo>
                  <a:lnTo>
                    <a:pt x="0" y="362598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283FD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1C7DC5F6-3F8A-90B0-7D08-68AD0AB2F355}"/>
                </a:ext>
              </a:extLst>
            </p:cNvPr>
            <p:cNvSpPr txBox="1"/>
            <p:nvPr/>
          </p:nvSpPr>
          <p:spPr>
            <a:xfrm>
              <a:off x="101600" y="-28575"/>
              <a:ext cx="641514" cy="391173"/>
            </a:xfrm>
            <a:prstGeom prst="rect">
              <a:avLst/>
            </a:prstGeom>
          </p:spPr>
          <p:txBody>
            <a:bodyPr lIns="47790" tIns="47790" rIns="47790" bIns="4779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1843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7E913E2A-EAFF-FC00-B7AF-E0B265B559A3}"/>
              </a:ext>
            </a:extLst>
          </p:cNvPr>
          <p:cNvGrpSpPr/>
          <p:nvPr/>
        </p:nvGrpSpPr>
        <p:grpSpPr>
          <a:xfrm>
            <a:off x="-73552" y="7047924"/>
            <a:ext cx="16030661" cy="3336996"/>
            <a:chOff x="0" y="0"/>
            <a:chExt cx="6165409" cy="1271237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B0ED7826-72E0-5723-2534-92D84505C56D}"/>
                </a:ext>
              </a:extLst>
            </p:cNvPr>
            <p:cNvSpPr/>
            <p:nvPr/>
          </p:nvSpPr>
          <p:spPr>
            <a:xfrm>
              <a:off x="0" y="0"/>
              <a:ext cx="6165409" cy="1271237"/>
            </a:xfrm>
            <a:custGeom>
              <a:avLst/>
              <a:gdLst/>
              <a:ahLst/>
              <a:cxnLst/>
              <a:rect l="l" t="t" r="r" b="b"/>
              <a:pathLst>
                <a:path w="6165409" h="1271237">
                  <a:moveTo>
                    <a:pt x="0" y="0"/>
                  </a:moveTo>
                  <a:lnTo>
                    <a:pt x="6165409" y="0"/>
                  </a:lnTo>
                  <a:lnTo>
                    <a:pt x="6165409" y="1271237"/>
                  </a:lnTo>
                  <a:lnTo>
                    <a:pt x="0" y="127123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01D74EAD-660D-31C2-1408-0959AFFE3BC8}"/>
                </a:ext>
              </a:extLst>
            </p:cNvPr>
            <p:cNvSpPr txBox="1"/>
            <p:nvPr/>
          </p:nvSpPr>
          <p:spPr>
            <a:xfrm>
              <a:off x="0" y="-28575"/>
              <a:ext cx="6165409" cy="1299812"/>
            </a:xfrm>
            <a:prstGeom prst="rect">
              <a:avLst/>
            </a:prstGeom>
          </p:spPr>
          <p:txBody>
            <a:bodyPr lIns="47790" tIns="47790" rIns="47790" bIns="4779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1843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sp>
        <p:nvSpPr>
          <p:cNvPr id="12" name="TextBox 12">
            <a:extLst>
              <a:ext uri="{FF2B5EF4-FFF2-40B4-BE49-F238E27FC236}">
                <a16:creationId xmlns:a16="http://schemas.microsoft.com/office/drawing/2014/main" id="{FD994A2C-0B75-E50D-BBB8-6C58D17B4E8E}"/>
              </a:ext>
            </a:extLst>
          </p:cNvPr>
          <p:cNvSpPr txBox="1"/>
          <p:nvPr/>
        </p:nvSpPr>
        <p:spPr>
          <a:xfrm>
            <a:off x="1111666" y="3432993"/>
            <a:ext cx="14771892" cy="598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4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Day 4 – Block 5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7D1C0AB0-93B1-03A3-5359-42469361050C}"/>
              </a:ext>
            </a:extLst>
          </p:cNvPr>
          <p:cNvSpPr txBox="1"/>
          <p:nvPr/>
        </p:nvSpPr>
        <p:spPr>
          <a:xfrm>
            <a:off x="1111666" y="9653992"/>
            <a:ext cx="12263263" cy="3619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0" i="0" u="none" strike="noStrike" kern="1200" cap="none" spc="0" normalizeH="0" baseline="0" noProof="0">
                <a:ln>
                  <a:noFill/>
                </a:ln>
                <a:solidFill>
                  <a:srgbClr val="252525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CALIFORNIA INSTITUTE OF APPLIED TECHNOLOGY</a:t>
            </a:r>
          </a:p>
        </p:txBody>
      </p:sp>
      <p:sp>
        <p:nvSpPr>
          <p:cNvPr id="15" name="AutoShape 15">
            <a:extLst>
              <a:ext uri="{FF2B5EF4-FFF2-40B4-BE49-F238E27FC236}">
                <a16:creationId xmlns:a16="http://schemas.microsoft.com/office/drawing/2014/main" id="{10ED9EBA-F085-83FC-FCD4-15139565F12D}"/>
              </a:ext>
            </a:extLst>
          </p:cNvPr>
          <p:cNvSpPr/>
          <p:nvPr/>
        </p:nvSpPr>
        <p:spPr>
          <a:xfrm>
            <a:off x="8010568" y="9858838"/>
            <a:ext cx="7625672" cy="0"/>
          </a:xfrm>
          <a:prstGeom prst="line">
            <a:avLst/>
          </a:prstGeom>
          <a:ln w="19050" cap="flat">
            <a:solidFill>
              <a:srgbClr val="0283F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7" name="Freeform 5">
            <a:extLst>
              <a:ext uri="{FF2B5EF4-FFF2-40B4-BE49-F238E27FC236}">
                <a16:creationId xmlns:a16="http://schemas.microsoft.com/office/drawing/2014/main" id="{43DE56B1-197E-6405-08B2-498CBA92833A}"/>
              </a:ext>
            </a:extLst>
          </p:cNvPr>
          <p:cNvSpPr/>
          <p:nvPr/>
        </p:nvSpPr>
        <p:spPr>
          <a:xfrm>
            <a:off x="1111666" y="355081"/>
            <a:ext cx="4247850" cy="631936"/>
          </a:xfrm>
          <a:custGeom>
            <a:avLst/>
            <a:gdLst/>
            <a:ahLst/>
            <a:cxnLst/>
            <a:rect l="l" t="t" r="r" b="b"/>
            <a:pathLst>
              <a:path w="4247850" h="631936">
                <a:moveTo>
                  <a:pt x="0" y="0"/>
                </a:moveTo>
                <a:lnTo>
                  <a:pt x="4247850" y="0"/>
                </a:lnTo>
                <a:lnTo>
                  <a:pt x="4247850" y="631935"/>
                </a:lnTo>
                <a:lnTo>
                  <a:pt x="0" y="63193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5" r="-5"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1027BCA-9A48-9619-32ED-7270F9911C57}"/>
              </a:ext>
            </a:extLst>
          </p:cNvPr>
          <p:cNvSpPr txBox="1"/>
          <p:nvPr/>
        </p:nvSpPr>
        <p:spPr>
          <a:xfrm>
            <a:off x="1111666" y="7106062"/>
            <a:ext cx="11918534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2400" dirty="0"/>
              <a:t>Automation &amp; Orchestration</a:t>
            </a:r>
          </a:p>
          <a:p>
            <a:pPr lvl="1"/>
            <a:r>
              <a:rPr lang="en-US" altLang="en-US" dirty="0"/>
              <a:t>Security Automation</a:t>
            </a:r>
          </a:p>
          <a:p>
            <a:pPr lvl="1"/>
            <a:r>
              <a:rPr lang="en-US" altLang="en-US" dirty="0"/>
              <a:t>Orchestration Platforms</a:t>
            </a:r>
          </a:p>
          <a:p>
            <a:pPr lvl="1"/>
            <a:r>
              <a:rPr lang="en-US" altLang="en-US" dirty="0"/>
              <a:t>Response Automation</a:t>
            </a:r>
          </a:p>
          <a:p>
            <a:r>
              <a:rPr lang="en-US" altLang="en-US" sz="2400" dirty="0"/>
              <a:t>Crucial Exams</a:t>
            </a:r>
          </a:p>
          <a:p>
            <a:pPr lvl="1"/>
            <a:r>
              <a:rPr lang="en-US" altLang="en-US" dirty="0"/>
              <a:t>Security Operations</a:t>
            </a:r>
            <a:endParaRPr lang="en-US" altLang="en-US" sz="2400" dirty="0"/>
          </a:p>
        </p:txBody>
      </p:sp>
    </p:spTree>
    <p:extLst>
      <p:ext uri="{BB962C8B-B14F-4D97-AF65-F5344CB8AC3E}">
        <p14:creationId xmlns:p14="http://schemas.microsoft.com/office/powerpoint/2010/main" val="4095099372"/>
      </p:ext>
    </p:extLst>
  </p:cSld>
  <p:clrMapOvr>
    <a:masterClrMapping/>
  </p:clrMapOvr>
</p:sld>
</file>

<file path=ppt/slides/slide3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DAEF10-3A87-2E0C-2C90-DE9B508432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9F13D0E-035C-1916-0977-1F59073980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Slide </a:t>
            </a:r>
            <a:fld id="{4CA2B2DB-B91D-4166-98BF-65A0DA7EEE6D}" type="slidenum">
              <a:rPr kumimoji="0" lang="en-US" sz="1800" b="0" i="1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305</a:t>
            </a:fld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166FF0-85E9-4C50-378A-395351E517DD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2536823"/>
            <a:ext cx="16192500" cy="6416677"/>
          </a:xfrm>
        </p:spPr>
        <p:txBody>
          <a:bodyPr/>
          <a:lstStyle/>
          <a:p>
            <a:pPr marL="0" indent="0">
              <a:spcBef>
                <a:spcPts val="900"/>
              </a:spcBef>
              <a:buNone/>
            </a:pPr>
            <a:r>
              <a:rPr lang="en-US" altLang="en-US" sz="3900" b="1" dirty="0"/>
              <a:t>Automation and scripting </a:t>
            </a:r>
            <a:r>
              <a:rPr lang="en-US" altLang="en-US" sz="3900" dirty="0"/>
              <a:t>are vital in cybersecurity. </a:t>
            </a:r>
          </a:p>
          <a:p>
            <a:pPr>
              <a:spcBef>
                <a:spcPts val="900"/>
              </a:spcBef>
            </a:pPr>
            <a:r>
              <a:rPr lang="en-US" altLang="en-US" sz="3600" dirty="0"/>
              <a:t>Handle repetitive tasks efficiently and effectively</a:t>
            </a:r>
          </a:p>
          <a:p>
            <a:pPr>
              <a:spcBef>
                <a:spcPts val="900"/>
              </a:spcBef>
            </a:pPr>
            <a:r>
              <a:rPr lang="en-US" altLang="en-US" sz="3600" dirty="0"/>
              <a:t>Support policy compliance by consistently applying rules and configurations</a:t>
            </a:r>
          </a:p>
          <a:p>
            <a:pPr>
              <a:spcBef>
                <a:spcPts val="900"/>
              </a:spcBef>
            </a:pPr>
            <a:r>
              <a:rPr lang="en-US" altLang="en-US" sz="3600" dirty="0"/>
              <a:t>Examples</a:t>
            </a:r>
          </a:p>
          <a:p>
            <a:pPr lvl="1">
              <a:spcBef>
                <a:spcPts val="900"/>
              </a:spcBef>
            </a:pPr>
            <a:r>
              <a:rPr lang="en-US" altLang="en-US" sz="3300" dirty="0"/>
              <a:t>User provisioning  </a:t>
            </a:r>
          </a:p>
          <a:p>
            <a:pPr lvl="1">
              <a:spcBef>
                <a:spcPts val="900"/>
              </a:spcBef>
            </a:pPr>
            <a:r>
              <a:rPr lang="en-US" altLang="en-US" sz="3300" dirty="0"/>
              <a:t>Resource provisioning</a:t>
            </a:r>
          </a:p>
          <a:p>
            <a:pPr lvl="1">
              <a:spcBef>
                <a:spcPts val="900"/>
              </a:spcBef>
            </a:pPr>
            <a:r>
              <a:rPr lang="en-US" altLang="en-US" sz="3300" dirty="0"/>
              <a:t>Policy enforcement</a:t>
            </a:r>
          </a:p>
          <a:p>
            <a:pPr lvl="1">
              <a:spcBef>
                <a:spcPts val="900"/>
              </a:spcBef>
            </a:pPr>
            <a:r>
              <a:rPr lang="en-US" altLang="en-US" sz="3300" dirty="0"/>
              <a:t>Incident response</a:t>
            </a:r>
          </a:p>
          <a:p>
            <a:pPr lvl="1">
              <a:spcBef>
                <a:spcPts val="900"/>
              </a:spcBef>
            </a:pPr>
            <a:r>
              <a:rPr lang="en-US" altLang="en-US" sz="3300" dirty="0"/>
              <a:t>API integrations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7FED417-B69C-7D60-FB53-68AF18869B9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7D22E2F5-0E5D-8578-176B-74CAF3907B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54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Use Cases of Automation and Scripting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38779066"/>
      </p:ext>
    </p:extLst>
  </p:cSld>
  <p:clrMapOvr>
    <a:masterClrMapping/>
  </p:clrMapOvr>
</p:sld>
</file>

<file path=ppt/slides/slide3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731D9E-6D7F-4A4B-2247-03E53DC7A2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9E28F0D-61ED-5D8F-DFC7-D82548322D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Slide </a:t>
            </a:r>
            <a:fld id="{4CA2B2DB-B91D-4166-98BF-65A0DA7EEE6D}" type="slidenum">
              <a:rPr kumimoji="0" lang="en-US" sz="1800" b="0" i="1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306</a:t>
            </a:fld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EAE627-8281-1A2D-2CFA-053F0A8B4AE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2536823"/>
            <a:ext cx="16192500" cy="6416677"/>
          </a:xfrm>
        </p:spPr>
        <p:txBody>
          <a:bodyPr/>
          <a:lstStyle/>
          <a:p>
            <a:pPr marL="0" indent="0">
              <a:spcBef>
                <a:spcPts val="900"/>
              </a:spcBef>
              <a:buNone/>
            </a:pPr>
            <a:r>
              <a:rPr lang="en-US" altLang="en-US" sz="4400" b="1" dirty="0"/>
              <a:t>User provisioning </a:t>
            </a:r>
            <a:r>
              <a:rPr lang="en-US" altLang="en-US" sz="4400" dirty="0"/>
              <a:t>involves setting up user accounts with appropriate permissions and roles.  </a:t>
            </a:r>
          </a:p>
          <a:p>
            <a:pPr>
              <a:spcBef>
                <a:spcPts val="900"/>
              </a:spcBef>
            </a:pPr>
            <a:r>
              <a:rPr lang="en-US" altLang="en-US" sz="4000" b="1" dirty="0"/>
              <a:t>Manual user provisioning </a:t>
            </a:r>
            <a:r>
              <a:rPr lang="en-US" altLang="en-US" sz="4000" dirty="0"/>
              <a:t>can be time-consuming and is prone to errors.</a:t>
            </a:r>
          </a:p>
          <a:p>
            <a:pPr>
              <a:spcBef>
                <a:spcPts val="900"/>
              </a:spcBef>
            </a:pPr>
            <a:r>
              <a:rPr lang="en-US" altLang="en-US" sz="4000" b="1" dirty="0"/>
              <a:t>Automation tools integrated with HR software </a:t>
            </a:r>
            <a:r>
              <a:rPr lang="en-US" altLang="en-US" sz="4000" dirty="0"/>
              <a:t>can automate user provisioning, ensuring the right access for employees at the right time.</a:t>
            </a:r>
          </a:p>
          <a:p>
            <a:pPr>
              <a:spcBef>
                <a:spcPts val="900"/>
              </a:spcBef>
            </a:pPr>
            <a:r>
              <a:rPr lang="en-US" altLang="en-US" sz="4000" b="1" dirty="0"/>
              <a:t>Deprovisioning</a:t>
            </a:r>
            <a:r>
              <a:rPr lang="en-US" altLang="en-US" sz="4000" dirty="0"/>
              <a:t> can also be automated.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7CD82F-5D26-37F0-134E-3BD7838DBFE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20AF3F71-D9E5-9082-B2E3-9F8EDDD87E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54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User Provisioning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570119506"/>
      </p:ext>
    </p:extLst>
  </p:cSld>
  <p:clrMapOvr>
    <a:masterClrMapping/>
  </p:clrMapOvr>
</p:sld>
</file>

<file path=ppt/slides/slide3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9F88AB-A4CE-A3BE-D9F1-CA00396501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2B6F6EF-EFA6-D55B-1C48-80AFBFC45E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Slide </a:t>
            </a:r>
            <a:fld id="{4CA2B2DB-B91D-4166-98BF-65A0DA7EEE6D}" type="slidenum">
              <a:rPr kumimoji="0" lang="en-US" sz="1800" b="0" i="1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307</a:t>
            </a:fld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DB9CDC-BE41-E9C6-0ECB-7CFA466E6559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2536823"/>
            <a:ext cx="16192500" cy="6416677"/>
          </a:xfrm>
        </p:spPr>
        <p:txBody>
          <a:bodyPr/>
          <a:lstStyle/>
          <a:p>
            <a:pPr marL="0" indent="0">
              <a:spcBef>
                <a:spcPts val="900"/>
              </a:spcBef>
              <a:buNone/>
            </a:pPr>
            <a:r>
              <a:rPr lang="en-US" altLang="en-US" sz="4400" b="1" dirty="0"/>
              <a:t>Resource provisioning </a:t>
            </a:r>
            <a:r>
              <a:rPr lang="en-US" altLang="en-US" sz="4400" dirty="0"/>
              <a:t>automates the setup, modification, or removal of digital assets such as virtual machines, databases, and storage units.</a:t>
            </a:r>
          </a:p>
          <a:p>
            <a:pPr>
              <a:spcBef>
                <a:spcPts val="900"/>
              </a:spcBef>
            </a:pPr>
            <a:r>
              <a:rPr lang="en-US" altLang="en-US" sz="4000" b="1" dirty="0"/>
              <a:t>Automated resource provisioning </a:t>
            </a:r>
            <a:r>
              <a:rPr lang="en-US" altLang="en-US" sz="4000" dirty="0"/>
              <a:t>helps ensure uniformity, compliance, and time savings.</a:t>
            </a:r>
          </a:p>
          <a:p>
            <a:pPr>
              <a:spcBef>
                <a:spcPts val="900"/>
              </a:spcBef>
            </a:pPr>
            <a:r>
              <a:rPr lang="en-US" altLang="en-US" sz="4000" dirty="0"/>
              <a:t>Avoids the errors associated with manual provisioning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B9D455F-024E-ABC2-38E2-AA59E2C4991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37CBB238-3415-CA6B-760A-56C16BF9E4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54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Resource Provisioning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3767828553"/>
      </p:ext>
    </p:extLst>
  </p:cSld>
  <p:clrMapOvr>
    <a:masterClrMapping/>
  </p:clrMapOvr>
</p:sld>
</file>

<file path=ppt/slides/slide3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978FF1-63F7-2EFF-9346-046B49BC39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867F777-85C5-AC8D-4340-2B30828040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Slide </a:t>
            </a:r>
            <a:fld id="{4CA2B2DB-B91D-4166-98BF-65A0DA7EEE6D}" type="slidenum">
              <a:rPr kumimoji="0" lang="en-US" sz="1800" b="0" i="1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308</a:t>
            </a:fld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E743AE-A3DC-A0A5-B73D-CDCB373DB66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2536823"/>
            <a:ext cx="16192500" cy="6416677"/>
          </a:xfrm>
        </p:spPr>
        <p:txBody>
          <a:bodyPr/>
          <a:lstStyle/>
          <a:p>
            <a:pPr marL="0" indent="0">
              <a:spcBef>
                <a:spcPts val="900"/>
              </a:spcBef>
              <a:buNone/>
            </a:pPr>
            <a:r>
              <a:rPr lang="en-US" altLang="en-US" sz="4800" b="1" dirty="0"/>
              <a:t>Guard rails </a:t>
            </a:r>
            <a:r>
              <a:rPr lang="en-US" altLang="en-US" sz="4800" dirty="0"/>
              <a:t>are automated safety measures or rules implemented within a system. </a:t>
            </a:r>
          </a:p>
          <a:p>
            <a:pPr>
              <a:spcBef>
                <a:spcPts val="900"/>
              </a:spcBef>
            </a:pPr>
            <a:r>
              <a:rPr lang="en-US" altLang="en-US" sz="4400" dirty="0"/>
              <a:t>Designed to restrict or control activities that could be harmful or noncompliant with security policies</a:t>
            </a:r>
          </a:p>
          <a:p>
            <a:pPr>
              <a:spcBef>
                <a:spcPts val="900"/>
              </a:spcBef>
            </a:pPr>
            <a:r>
              <a:rPr lang="en-US" altLang="en-US" sz="4400" dirty="0"/>
              <a:t>Act as internal checkpoints or barriers guiding user behavior and system interactions  </a:t>
            </a:r>
          </a:p>
          <a:p>
            <a:pPr>
              <a:spcBef>
                <a:spcPts val="900"/>
              </a:spcBef>
            </a:pPr>
            <a:r>
              <a:rPr lang="en-US" altLang="en-US" sz="4400" dirty="0"/>
              <a:t>Enforce compliance with data privacy regulations like HIPAA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1F87F18-3CC7-2309-3B75-FCF93872368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49E357E1-6754-C738-301B-273723D942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54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Guard Rails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2807740313"/>
      </p:ext>
    </p:extLst>
  </p:cSld>
  <p:clrMapOvr>
    <a:masterClrMapping/>
  </p:clrMapOvr>
</p:sld>
</file>

<file path=ppt/slides/slide3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A4E69B-582D-BD10-CA92-77F33ADC95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A1BA989-6AC4-C48E-E5FF-3BEF7E5890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Slide </a:t>
            </a:r>
            <a:fld id="{4CA2B2DB-B91D-4166-98BF-65A0DA7EEE6D}" type="slidenum">
              <a:rPr kumimoji="0" lang="en-US" sz="1800" b="0" i="1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309</a:t>
            </a:fld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6717F2-F487-8B9A-2DFE-D392B8145C3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2536823"/>
            <a:ext cx="16192500" cy="6416677"/>
          </a:xfrm>
        </p:spPr>
        <p:txBody>
          <a:bodyPr/>
          <a:lstStyle/>
          <a:p>
            <a:pPr marL="0" indent="0">
              <a:spcBef>
                <a:spcPts val="900"/>
              </a:spcBef>
              <a:buNone/>
            </a:pPr>
            <a:r>
              <a:rPr lang="en-US" altLang="en-US" sz="4400" dirty="0"/>
              <a:t>A </a:t>
            </a:r>
            <a:r>
              <a:rPr lang="en-US" altLang="en-US" sz="4400" b="1" dirty="0"/>
              <a:t>security group </a:t>
            </a:r>
            <a:r>
              <a:rPr lang="en-US" altLang="en-US" sz="4400" dirty="0"/>
              <a:t>is a group of users who are categorized together based on security policies.</a:t>
            </a:r>
          </a:p>
          <a:p>
            <a:pPr>
              <a:spcBef>
                <a:spcPts val="900"/>
              </a:spcBef>
            </a:pPr>
            <a:r>
              <a:rPr lang="en-US" altLang="en-US" sz="4000" dirty="0"/>
              <a:t>Access to system resources can be automatically updated or modified.  </a:t>
            </a:r>
          </a:p>
          <a:p>
            <a:pPr>
              <a:spcBef>
                <a:spcPts val="900"/>
              </a:spcBef>
            </a:pPr>
            <a:r>
              <a:rPr lang="en-US" altLang="en-US" sz="4000" b="1" dirty="0"/>
              <a:t>Security group automation </a:t>
            </a:r>
            <a:r>
              <a:rPr lang="en-US" altLang="en-US" sz="4000" dirty="0"/>
              <a:t>applies templates based on resource roles or functions instead of configuring firewall rules individually.</a:t>
            </a:r>
          </a:p>
          <a:p>
            <a:pPr>
              <a:spcBef>
                <a:spcPts val="900"/>
              </a:spcBef>
            </a:pPr>
            <a:r>
              <a:rPr lang="en-US" altLang="en-US" sz="4000" dirty="0"/>
              <a:t>Using security groups helps maintain a consistent security posture.  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B1C4C61-C875-E4B1-38A8-E1717FBDA12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37B97A79-3E43-6ED5-4A50-2E58E496F0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54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Security Groups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4197016036"/>
      </p:ext>
    </p:extLst>
  </p:cSld>
  <p:clrMapOvr>
    <a:masterClrMapping/>
  </p:clrMapOvr>
</p:sld>
</file>

<file path=ppt/slides/slide3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D67B1B-E209-E412-41C6-C685B490BB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3C63CB1-37F9-1B99-288E-6326D9D9B1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Slide </a:t>
            </a:r>
            <a:fld id="{4CA2B2DB-B91D-4166-98BF-65A0DA7EEE6D}" type="slidenum">
              <a:rPr kumimoji="0" lang="en-US" sz="1800" b="0" i="1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310</a:t>
            </a:fld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E19937-6660-F63C-077C-A097D6A33FF2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2536823"/>
            <a:ext cx="16192500" cy="6416677"/>
          </a:xfrm>
        </p:spPr>
        <p:txBody>
          <a:bodyPr/>
          <a:lstStyle/>
          <a:p>
            <a:pPr marL="0" indent="0">
              <a:spcBef>
                <a:spcPts val="900"/>
              </a:spcBef>
              <a:buNone/>
            </a:pPr>
            <a:r>
              <a:rPr lang="en-US" altLang="en-US" sz="4000" dirty="0"/>
              <a:t>Automation streamlines </a:t>
            </a:r>
            <a:r>
              <a:rPr lang="en-US" altLang="en-US" sz="4000" b="1" dirty="0"/>
              <a:t>ticket creation</a:t>
            </a:r>
            <a:r>
              <a:rPr lang="en-US" altLang="en-US" sz="4000" dirty="0"/>
              <a:t> and </a:t>
            </a:r>
            <a:r>
              <a:rPr lang="en-US" altLang="en-US" sz="4000" b="1" dirty="0"/>
              <a:t>ticket escalation </a:t>
            </a:r>
            <a:r>
              <a:rPr lang="en-US" altLang="en-US" sz="4000" dirty="0"/>
              <a:t>in incident response scenarios.</a:t>
            </a:r>
          </a:p>
          <a:p>
            <a:pPr>
              <a:spcBef>
                <a:spcPts val="900"/>
              </a:spcBef>
            </a:pPr>
            <a:r>
              <a:rPr lang="en-US" altLang="en-US" sz="3600" dirty="0"/>
              <a:t>An automated system detects irregularities, such as unauthorized login attempts, and generates tickets or incident reports accordingly.</a:t>
            </a:r>
          </a:p>
          <a:p>
            <a:pPr>
              <a:spcBef>
                <a:spcPts val="900"/>
              </a:spcBef>
            </a:pPr>
            <a:r>
              <a:rPr lang="en-US" altLang="en-US" sz="3600" dirty="0"/>
              <a:t>In case of escalation, such as multiple unauthorized login attempts, tickets are automatically forwarded to higher levels of expertise or authority.</a:t>
            </a:r>
          </a:p>
          <a:p>
            <a:pPr>
              <a:spcBef>
                <a:spcPts val="900"/>
              </a:spcBef>
            </a:pPr>
            <a:r>
              <a:rPr lang="en-US" altLang="en-US" sz="3600" dirty="0"/>
              <a:t>Automation lets admins control permissions by enabling or disabling services and access based on specific conditions (e.g., regular work hours) or security incidents.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A3FC12-044B-E700-21BA-26A6D421E40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0E7D16FA-FD5A-3D46-32E9-258DB71EE2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54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Ticket Creation and Escalation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3314659666"/>
      </p:ext>
    </p:extLst>
  </p:cSld>
  <p:clrMapOvr>
    <a:masterClrMapping/>
  </p:clrMapOvr>
</p:sld>
</file>

<file path=ppt/slides/slide3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884D29-22E8-76F9-27A7-66BC65D993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BA55AC-69E0-EDA9-8A84-493EBA0742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Slide </a:t>
            </a:r>
            <a:fld id="{4CA2B2DB-B91D-4166-98BF-65A0DA7EEE6D}" type="slidenum">
              <a:rPr kumimoji="0" lang="en-US" sz="1800" b="0" i="1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311</a:t>
            </a:fld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AAA8E4-D829-C3B4-AAF5-F0690E67C45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2536823"/>
            <a:ext cx="16192500" cy="6416677"/>
          </a:xfrm>
        </p:spPr>
        <p:txBody>
          <a:bodyPr/>
          <a:lstStyle/>
          <a:p>
            <a:pPr marL="0" indent="0">
              <a:spcBef>
                <a:spcPts val="900"/>
              </a:spcBef>
              <a:buNone/>
            </a:pPr>
            <a:r>
              <a:rPr lang="en-US" altLang="en-US" sz="3900" b="1" dirty="0"/>
              <a:t>CI/CT</a:t>
            </a:r>
            <a:r>
              <a:rPr lang="en-US" altLang="en-US" sz="3900" dirty="0"/>
              <a:t> involves the automated integration of code changes contributed by multiple developers into a single repository.</a:t>
            </a:r>
          </a:p>
          <a:p>
            <a:pPr>
              <a:spcBef>
                <a:spcPts val="900"/>
              </a:spcBef>
            </a:pPr>
            <a:r>
              <a:rPr lang="en-US" altLang="en-US" sz="3600" dirty="0"/>
              <a:t>Key processes  </a:t>
            </a:r>
          </a:p>
          <a:p>
            <a:pPr lvl="1">
              <a:spcBef>
                <a:spcPts val="900"/>
              </a:spcBef>
            </a:pPr>
            <a:r>
              <a:rPr lang="en-US" altLang="en-US" sz="3600" dirty="0"/>
              <a:t>Code commitment</a:t>
            </a:r>
          </a:p>
          <a:p>
            <a:pPr lvl="1">
              <a:spcBef>
                <a:spcPts val="900"/>
              </a:spcBef>
            </a:pPr>
            <a:r>
              <a:rPr lang="en-US" altLang="en-US" sz="3600" dirty="0"/>
              <a:t>Static analysis</a:t>
            </a:r>
          </a:p>
          <a:p>
            <a:pPr lvl="1">
              <a:spcBef>
                <a:spcPts val="900"/>
              </a:spcBef>
            </a:pPr>
            <a:r>
              <a:rPr lang="en-US" altLang="en-US" sz="3600" dirty="0"/>
              <a:t>Automated build process</a:t>
            </a:r>
          </a:p>
          <a:p>
            <a:pPr lvl="1">
              <a:spcBef>
                <a:spcPts val="900"/>
              </a:spcBef>
            </a:pPr>
            <a:r>
              <a:rPr lang="en-US" altLang="en-US" sz="3600" dirty="0"/>
              <a:t>Automated testing</a:t>
            </a:r>
          </a:p>
          <a:p>
            <a:pPr lvl="1">
              <a:spcBef>
                <a:spcPts val="900"/>
              </a:spcBef>
            </a:pPr>
            <a:r>
              <a:rPr lang="en-US" altLang="en-US" sz="3600" dirty="0"/>
              <a:t>Deployment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6973233-AF6B-748F-A538-7612B60A287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2A229CDE-8B92-4204-9F25-42EC158207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54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Continuous Integration and Testing (CI/CT)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2291444583"/>
      </p:ext>
    </p:extLst>
  </p:cSld>
  <p:clrMapOvr>
    <a:masterClrMapping/>
  </p:clrMapOvr>
</p:sld>
</file>

<file path=ppt/slides/slide3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0BC7B1-6D22-7A05-4175-DF9F35A85B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CF5DA09-6CE7-5AEE-552B-954413E9CD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Slide </a:t>
            </a:r>
            <a:fld id="{4CA2B2DB-B91D-4166-98BF-65A0DA7EEE6D}" type="slidenum">
              <a:rPr kumimoji="0" lang="en-US" sz="1800" b="0" i="1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312</a:t>
            </a:fld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6FE6A9-54F8-F9CA-EA49-CA9A07576A6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2536823"/>
            <a:ext cx="16192500" cy="6416677"/>
          </a:xfrm>
        </p:spPr>
        <p:txBody>
          <a:bodyPr/>
          <a:lstStyle/>
          <a:p>
            <a:pPr marL="0" indent="0">
              <a:spcBef>
                <a:spcPts val="900"/>
              </a:spcBef>
              <a:buNone/>
            </a:pPr>
            <a:r>
              <a:rPr lang="en-US" altLang="en-US" sz="4400" b="1" dirty="0"/>
              <a:t>Integrations</a:t>
            </a:r>
            <a:r>
              <a:rPr lang="en-US" altLang="en-US" sz="4400" dirty="0"/>
              <a:t> </a:t>
            </a:r>
            <a:r>
              <a:rPr lang="en-US" altLang="en-US" sz="4400" b="1" dirty="0"/>
              <a:t>and APIs </a:t>
            </a:r>
            <a:r>
              <a:rPr lang="en-US" altLang="en-US" sz="4400" dirty="0"/>
              <a:t>automate the linking of computing services and software applications to establish coherent systems.</a:t>
            </a:r>
          </a:p>
          <a:p>
            <a:pPr>
              <a:spcBef>
                <a:spcPts val="900"/>
              </a:spcBef>
            </a:pPr>
            <a:r>
              <a:rPr lang="en-US" altLang="en-US" sz="4000" b="1" dirty="0"/>
              <a:t>APIs</a:t>
            </a:r>
            <a:r>
              <a:rPr lang="en-US" altLang="en-US" sz="4000" dirty="0"/>
              <a:t> enable different software entities to seamlessly communicate with each other.</a:t>
            </a:r>
          </a:p>
          <a:p>
            <a:pPr>
              <a:spcBef>
                <a:spcPts val="900"/>
              </a:spcBef>
            </a:pPr>
            <a:r>
              <a:rPr lang="en-US" altLang="en-US" sz="4000" dirty="0"/>
              <a:t>Automation is overall beneficial but requires ongoing maintenance and monitoring for errors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FB98796-56D4-2B2A-13D7-E9942E3A94B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4AA48A65-EBDB-D2A4-8048-F6C6B3D8B5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44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Integrations and Application Programming Interfaces (APIs)</a:t>
            </a:r>
            <a:endParaRPr lang="en-US" sz="5400" i="1" dirty="0"/>
          </a:p>
        </p:txBody>
      </p:sp>
    </p:spTree>
    <p:extLst>
      <p:ext uri="{BB962C8B-B14F-4D97-AF65-F5344CB8AC3E}">
        <p14:creationId xmlns:p14="http://schemas.microsoft.com/office/powerpoint/2010/main" val="817184668"/>
      </p:ext>
    </p:extLst>
  </p:cSld>
  <p:clrMapOvr>
    <a:masterClrMapping/>
  </p:clrMapOvr>
</p:sld>
</file>

<file path=ppt/slides/slide3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A4BD04-BB1B-7B27-2BB9-54D5A6F18B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000E6C3-712F-D2F4-24E3-ED73268EE5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Slide </a:t>
            </a:r>
            <a:fld id="{4CA2B2DB-B91D-4166-98BF-65A0DA7EEE6D}" type="slidenum">
              <a:rPr kumimoji="0" lang="en-US" sz="1800" b="0" i="1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313</a:t>
            </a:fld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2AC0F1-3A33-1150-77C6-01EAC8628F6B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2536823"/>
            <a:ext cx="16192500" cy="6416677"/>
          </a:xfrm>
        </p:spPr>
        <p:txBody>
          <a:bodyPr/>
          <a:lstStyle/>
          <a:p>
            <a:pPr>
              <a:spcBef>
                <a:spcPts val="900"/>
              </a:spcBef>
            </a:pPr>
            <a:r>
              <a:rPr lang="en-US" altLang="en-US" b="1" dirty="0"/>
              <a:t>Efficiency</a:t>
            </a:r>
            <a:r>
              <a:rPr lang="en-US" altLang="en-US" dirty="0"/>
              <a:t>: Accelerates task execution, freeing human resources for other work</a:t>
            </a:r>
          </a:p>
          <a:p>
            <a:pPr>
              <a:spcBef>
                <a:spcPts val="900"/>
              </a:spcBef>
            </a:pPr>
            <a:r>
              <a:rPr lang="en-US" altLang="en-US" b="1" dirty="0"/>
              <a:t>Workforce multiplier</a:t>
            </a:r>
            <a:r>
              <a:rPr lang="en-US" altLang="en-US" dirty="0"/>
              <a:t>: Enhances team productivity</a:t>
            </a:r>
          </a:p>
          <a:p>
            <a:pPr>
              <a:spcBef>
                <a:spcPts val="900"/>
              </a:spcBef>
            </a:pPr>
            <a:r>
              <a:rPr lang="en-US" altLang="en-US" b="1" dirty="0"/>
              <a:t>Employee retention</a:t>
            </a:r>
            <a:r>
              <a:rPr lang="en-US" altLang="en-US" dirty="0"/>
              <a:t>: Improves job satisfaction and retention rates by removing tedious manual tasks</a:t>
            </a:r>
          </a:p>
          <a:p>
            <a:pPr>
              <a:spcBef>
                <a:spcPts val="900"/>
              </a:spcBef>
            </a:pPr>
            <a:r>
              <a:rPr lang="en-US" altLang="en-US" b="1" dirty="0"/>
              <a:t>Reaction time</a:t>
            </a:r>
            <a:r>
              <a:rPr lang="en-US" altLang="en-US" dirty="0"/>
              <a:t>: Facilitates quick response to security incidents or operational events</a:t>
            </a:r>
          </a:p>
          <a:p>
            <a:pPr>
              <a:spcBef>
                <a:spcPts val="900"/>
              </a:spcBef>
            </a:pPr>
            <a:r>
              <a:rPr lang="en-US" altLang="en-US" b="1" dirty="0"/>
              <a:t>Baseline enforcement</a:t>
            </a:r>
            <a:r>
              <a:rPr lang="en-US" altLang="en-US" dirty="0"/>
              <a:t>: Ensures consistent application of predefined security settings  </a:t>
            </a:r>
          </a:p>
          <a:p>
            <a:pPr>
              <a:spcBef>
                <a:spcPts val="900"/>
              </a:spcBef>
            </a:pPr>
            <a:r>
              <a:rPr lang="en-US" altLang="en-US" b="1" dirty="0"/>
              <a:t>Standardized infrastructure configurations</a:t>
            </a:r>
            <a:r>
              <a:rPr lang="en-US" altLang="en-US" dirty="0"/>
              <a:t>: Maintains uniformity in system setups, reducing misconfigurations</a:t>
            </a:r>
          </a:p>
          <a:p>
            <a:pPr>
              <a:spcBef>
                <a:spcPts val="900"/>
              </a:spcBef>
            </a:pPr>
            <a:r>
              <a:rPr lang="en-US" altLang="en-US" b="1" dirty="0"/>
              <a:t>Secure scaling</a:t>
            </a:r>
            <a:r>
              <a:rPr lang="en-US" altLang="en-US" dirty="0"/>
              <a:t>: Helps organizations securely expand their digital infrastructures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395C8A5-286C-245B-0DD2-1F70ECD4F21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81D4D03-ADCF-E6B9-581D-5A542BF3A8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54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Benefits of Automation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1700604560"/>
      </p:ext>
    </p:extLst>
  </p:cSld>
  <p:clrMapOvr>
    <a:masterClrMapping/>
  </p:clrMapOvr>
</p:sld>
</file>

<file path=ppt/slides/slide3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FD171F-577A-8CC7-069C-6BFF2ADA04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5BFF3E1-EE6A-AC44-6F9B-E584715078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Slide </a:t>
            </a:r>
            <a:fld id="{4CA2B2DB-B91D-4166-98BF-65A0DA7EEE6D}" type="slidenum">
              <a:rPr kumimoji="0" lang="en-US" sz="1800" b="0" i="1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314</a:t>
            </a:fld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C2FA59-04FA-5B0B-97F6-ED406263FA1F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2536823"/>
            <a:ext cx="16192500" cy="6416677"/>
          </a:xfrm>
        </p:spPr>
        <p:txBody>
          <a:bodyPr/>
          <a:lstStyle/>
          <a:p>
            <a:pPr>
              <a:spcBef>
                <a:spcPts val="900"/>
              </a:spcBef>
            </a:pPr>
            <a:r>
              <a:rPr lang="en-US" altLang="en-US" b="1" dirty="0"/>
              <a:t>Complexity</a:t>
            </a:r>
            <a:r>
              <a:rPr lang="en-US" altLang="en-US" dirty="0"/>
              <a:t>: Automation often requires specialized skills for design, implementation, and maintenance. </a:t>
            </a:r>
          </a:p>
          <a:p>
            <a:pPr>
              <a:spcBef>
                <a:spcPts val="900"/>
              </a:spcBef>
            </a:pPr>
            <a:r>
              <a:rPr lang="en-US" altLang="en-US" b="1" dirty="0"/>
              <a:t>Cost</a:t>
            </a:r>
            <a:r>
              <a:rPr lang="en-US" altLang="en-US" dirty="0"/>
              <a:t>: Automation involves initial investments in software, hardware, and human resources.</a:t>
            </a:r>
          </a:p>
          <a:p>
            <a:pPr>
              <a:spcBef>
                <a:spcPts val="900"/>
              </a:spcBef>
            </a:pPr>
            <a:r>
              <a:rPr lang="en-US" altLang="en-US" b="1" dirty="0"/>
              <a:t>Single points of failure</a:t>
            </a:r>
            <a:r>
              <a:rPr lang="en-US" altLang="en-US" dirty="0"/>
              <a:t>: Systems without redundancies and fail-safes can become single points of failure.</a:t>
            </a:r>
            <a:r>
              <a:rPr lang="en-US" altLang="en-US" b="1" dirty="0"/>
              <a:t> </a:t>
            </a:r>
          </a:p>
          <a:p>
            <a:pPr>
              <a:spcBef>
                <a:spcPts val="900"/>
              </a:spcBef>
            </a:pPr>
            <a:r>
              <a:rPr lang="en-US" altLang="en-US" b="1" dirty="0"/>
              <a:t>Ongoing supportability </a:t>
            </a:r>
            <a:r>
              <a:rPr lang="en-US" altLang="en-US" dirty="0"/>
              <a:t>is needed for the effective, long-term operation of automated systems.</a:t>
            </a:r>
          </a:p>
          <a:p>
            <a:pPr>
              <a:spcBef>
                <a:spcPts val="900"/>
              </a:spcBef>
            </a:pPr>
            <a:r>
              <a:rPr lang="en-US" altLang="en-US" b="1" dirty="0"/>
              <a:t>Technical debt </a:t>
            </a:r>
            <a:r>
              <a:rPr lang="en-US" altLang="en-US" dirty="0"/>
              <a:t>may accrue. That’s the long-term cost of using outdated systems, shortcuts, and temporary fixes to implement an automation rollout.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59E8CCB-1421-BAAC-11BD-9E507FCBD5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409AF8CB-9F61-790D-9A59-5DC5A56250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54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Other Considerations About Automation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432348474"/>
      </p:ext>
    </p:extLst>
  </p:cSld>
  <p:clrMapOvr>
    <a:masterClrMapping/>
  </p:clrMapOvr>
</p:sld>
</file>

<file path=ppt/slides/slide3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15194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1E83FF-BDF1-1159-A87A-8BAA83ED29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FAAD4F03-425F-9E53-FA93-89EA4B38ED66}"/>
              </a:ext>
            </a:extLst>
          </p:cNvPr>
          <p:cNvGrpSpPr/>
          <p:nvPr/>
        </p:nvGrpSpPr>
        <p:grpSpPr>
          <a:xfrm rot="-5400000">
            <a:off x="12015831" y="4014831"/>
            <a:ext cx="10287000" cy="2257339"/>
            <a:chOff x="0" y="0"/>
            <a:chExt cx="2709333" cy="59452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0938608D-DB3B-0AAA-3594-FF76C722C814}"/>
                </a:ext>
              </a:extLst>
            </p:cNvPr>
            <p:cNvSpPr/>
            <p:nvPr/>
          </p:nvSpPr>
          <p:spPr>
            <a:xfrm>
              <a:off x="0" y="0"/>
              <a:ext cx="2709333" cy="594525"/>
            </a:xfrm>
            <a:custGeom>
              <a:avLst/>
              <a:gdLst/>
              <a:ahLst/>
              <a:cxnLst/>
              <a:rect l="l" t="t" r="r" b="b"/>
              <a:pathLst>
                <a:path w="2709333" h="594525">
                  <a:moveTo>
                    <a:pt x="0" y="0"/>
                  </a:moveTo>
                  <a:lnTo>
                    <a:pt x="2709333" y="0"/>
                  </a:lnTo>
                  <a:lnTo>
                    <a:pt x="2709333" y="594525"/>
                  </a:lnTo>
                  <a:lnTo>
                    <a:pt x="0" y="594525"/>
                  </a:lnTo>
                  <a:close/>
                </a:path>
              </a:pathLst>
            </a:custGeom>
            <a:solidFill>
              <a:srgbClr val="0283FD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257F82F1-BBED-6E98-50DD-372DCD408C73}"/>
                </a:ext>
              </a:extLst>
            </p:cNvPr>
            <p:cNvSpPr txBox="1"/>
            <p:nvPr/>
          </p:nvSpPr>
          <p:spPr>
            <a:xfrm>
              <a:off x="0" y="-66675"/>
              <a:ext cx="2709333" cy="6612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3024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6C3269DC-DC75-2A2B-39E6-3D8B1A6851D3}"/>
              </a:ext>
            </a:extLst>
          </p:cNvPr>
          <p:cNvGrpSpPr/>
          <p:nvPr/>
        </p:nvGrpSpPr>
        <p:grpSpPr>
          <a:xfrm>
            <a:off x="179467" y="6643814"/>
            <a:ext cx="8126333" cy="3488267"/>
            <a:chOff x="0" y="0"/>
            <a:chExt cx="844714" cy="36259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9314D0B7-148A-5118-5D52-2064C02CFDCB}"/>
                </a:ext>
              </a:extLst>
            </p:cNvPr>
            <p:cNvSpPr/>
            <p:nvPr/>
          </p:nvSpPr>
          <p:spPr>
            <a:xfrm>
              <a:off x="0" y="0"/>
              <a:ext cx="844714" cy="362598"/>
            </a:xfrm>
            <a:custGeom>
              <a:avLst/>
              <a:gdLst/>
              <a:ahLst/>
              <a:cxnLst/>
              <a:rect l="l" t="t" r="r" b="b"/>
              <a:pathLst>
                <a:path w="844714" h="362598">
                  <a:moveTo>
                    <a:pt x="203200" y="0"/>
                  </a:moveTo>
                  <a:lnTo>
                    <a:pt x="844714" y="0"/>
                  </a:lnTo>
                  <a:lnTo>
                    <a:pt x="641514" y="362598"/>
                  </a:lnTo>
                  <a:lnTo>
                    <a:pt x="0" y="362598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283FD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303A50D9-F3C5-E489-105C-884BE5A72704}"/>
                </a:ext>
              </a:extLst>
            </p:cNvPr>
            <p:cNvSpPr txBox="1"/>
            <p:nvPr/>
          </p:nvSpPr>
          <p:spPr>
            <a:xfrm>
              <a:off x="101600" y="-28575"/>
              <a:ext cx="641514" cy="391173"/>
            </a:xfrm>
            <a:prstGeom prst="rect">
              <a:avLst/>
            </a:prstGeom>
          </p:spPr>
          <p:txBody>
            <a:bodyPr lIns="47790" tIns="47790" rIns="47790" bIns="4779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1843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38C45555-01F3-7524-EC4B-95AEE7D3BDF3}"/>
              </a:ext>
            </a:extLst>
          </p:cNvPr>
          <p:cNvGrpSpPr/>
          <p:nvPr/>
        </p:nvGrpSpPr>
        <p:grpSpPr>
          <a:xfrm>
            <a:off x="-73552" y="7047924"/>
            <a:ext cx="16030661" cy="3336996"/>
            <a:chOff x="0" y="0"/>
            <a:chExt cx="6165409" cy="1271237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49455204-FDEB-1B1C-962D-5BA4A084A5F6}"/>
                </a:ext>
              </a:extLst>
            </p:cNvPr>
            <p:cNvSpPr/>
            <p:nvPr/>
          </p:nvSpPr>
          <p:spPr>
            <a:xfrm>
              <a:off x="0" y="0"/>
              <a:ext cx="6165409" cy="1271237"/>
            </a:xfrm>
            <a:custGeom>
              <a:avLst/>
              <a:gdLst/>
              <a:ahLst/>
              <a:cxnLst/>
              <a:rect l="l" t="t" r="r" b="b"/>
              <a:pathLst>
                <a:path w="6165409" h="1271237">
                  <a:moveTo>
                    <a:pt x="0" y="0"/>
                  </a:moveTo>
                  <a:lnTo>
                    <a:pt x="6165409" y="0"/>
                  </a:lnTo>
                  <a:lnTo>
                    <a:pt x="6165409" y="1271237"/>
                  </a:lnTo>
                  <a:lnTo>
                    <a:pt x="0" y="127123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ED028AB5-75B3-8DD6-438A-2779D651FB6C}"/>
                </a:ext>
              </a:extLst>
            </p:cNvPr>
            <p:cNvSpPr txBox="1"/>
            <p:nvPr/>
          </p:nvSpPr>
          <p:spPr>
            <a:xfrm>
              <a:off x="0" y="-28575"/>
              <a:ext cx="6165409" cy="1299812"/>
            </a:xfrm>
            <a:prstGeom prst="rect">
              <a:avLst/>
            </a:prstGeom>
          </p:spPr>
          <p:txBody>
            <a:bodyPr lIns="47790" tIns="47790" rIns="47790" bIns="4779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1843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sp>
        <p:nvSpPr>
          <p:cNvPr id="12" name="TextBox 12">
            <a:extLst>
              <a:ext uri="{FF2B5EF4-FFF2-40B4-BE49-F238E27FC236}">
                <a16:creationId xmlns:a16="http://schemas.microsoft.com/office/drawing/2014/main" id="{C1C72EFD-FD67-0F4D-BF60-F5C9C677FE6F}"/>
              </a:ext>
            </a:extLst>
          </p:cNvPr>
          <p:cNvSpPr txBox="1"/>
          <p:nvPr/>
        </p:nvSpPr>
        <p:spPr>
          <a:xfrm>
            <a:off x="1111666" y="3432993"/>
            <a:ext cx="14771892" cy="598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4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Day 4 – Block 6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34E2A0DC-C6FF-1A9D-2F4C-67607BBBCF50}"/>
              </a:ext>
            </a:extLst>
          </p:cNvPr>
          <p:cNvSpPr txBox="1"/>
          <p:nvPr/>
        </p:nvSpPr>
        <p:spPr>
          <a:xfrm>
            <a:off x="1111666" y="9653992"/>
            <a:ext cx="12263263" cy="3619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0" i="0" u="none" strike="noStrike" kern="1200" cap="none" spc="0" normalizeH="0" baseline="0" noProof="0">
                <a:ln>
                  <a:noFill/>
                </a:ln>
                <a:solidFill>
                  <a:srgbClr val="252525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CALIFORNIA INSTITUTE OF APPLIED TECHNOLOGY</a:t>
            </a:r>
          </a:p>
        </p:txBody>
      </p:sp>
      <p:sp>
        <p:nvSpPr>
          <p:cNvPr id="15" name="AutoShape 15">
            <a:extLst>
              <a:ext uri="{FF2B5EF4-FFF2-40B4-BE49-F238E27FC236}">
                <a16:creationId xmlns:a16="http://schemas.microsoft.com/office/drawing/2014/main" id="{2E5F427B-3C16-C85C-03D1-96FECFB6A2B0}"/>
              </a:ext>
            </a:extLst>
          </p:cNvPr>
          <p:cNvSpPr/>
          <p:nvPr/>
        </p:nvSpPr>
        <p:spPr>
          <a:xfrm>
            <a:off x="8010568" y="9858838"/>
            <a:ext cx="7625672" cy="0"/>
          </a:xfrm>
          <a:prstGeom prst="line">
            <a:avLst/>
          </a:prstGeom>
          <a:ln w="19050" cap="flat">
            <a:solidFill>
              <a:srgbClr val="0283F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7" name="Freeform 5">
            <a:extLst>
              <a:ext uri="{FF2B5EF4-FFF2-40B4-BE49-F238E27FC236}">
                <a16:creationId xmlns:a16="http://schemas.microsoft.com/office/drawing/2014/main" id="{06AC198A-05C8-C55A-57AF-86F7CC668B39}"/>
              </a:ext>
            </a:extLst>
          </p:cNvPr>
          <p:cNvSpPr/>
          <p:nvPr/>
        </p:nvSpPr>
        <p:spPr>
          <a:xfrm>
            <a:off x="1111666" y="355081"/>
            <a:ext cx="4247850" cy="631936"/>
          </a:xfrm>
          <a:custGeom>
            <a:avLst/>
            <a:gdLst/>
            <a:ahLst/>
            <a:cxnLst/>
            <a:rect l="l" t="t" r="r" b="b"/>
            <a:pathLst>
              <a:path w="4247850" h="631936">
                <a:moveTo>
                  <a:pt x="0" y="0"/>
                </a:moveTo>
                <a:lnTo>
                  <a:pt x="4247850" y="0"/>
                </a:lnTo>
                <a:lnTo>
                  <a:pt x="4247850" y="631935"/>
                </a:lnTo>
                <a:lnTo>
                  <a:pt x="0" y="63193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5" r="-5"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747285C-B369-B16E-7D09-5530E5635C0C}"/>
              </a:ext>
            </a:extLst>
          </p:cNvPr>
          <p:cNvSpPr txBox="1"/>
          <p:nvPr/>
        </p:nvSpPr>
        <p:spPr>
          <a:xfrm>
            <a:off x="1111666" y="7106062"/>
            <a:ext cx="11918534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2400" dirty="0"/>
              <a:t>Vulnerability Management Operations</a:t>
            </a:r>
          </a:p>
          <a:p>
            <a:pPr lvl="1"/>
            <a:r>
              <a:rPr lang="en-US" altLang="en-US" dirty="0"/>
              <a:t>Patch Management</a:t>
            </a:r>
          </a:p>
          <a:p>
            <a:pPr lvl="1"/>
            <a:r>
              <a:rPr lang="en-US" altLang="en-US" dirty="0"/>
              <a:t>Change Management</a:t>
            </a:r>
          </a:p>
          <a:p>
            <a:pPr lvl="1"/>
            <a:r>
              <a:rPr lang="en-US" altLang="en-US" dirty="0"/>
              <a:t>Asset Management</a:t>
            </a:r>
          </a:p>
          <a:p>
            <a:r>
              <a:rPr lang="en-US" altLang="en-US" sz="2400" dirty="0"/>
              <a:t>Crucial Exams</a:t>
            </a:r>
          </a:p>
          <a:p>
            <a:pPr lvl="1"/>
            <a:r>
              <a:rPr lang="en-US" altLang="en-US" dirty="0"/>
              <a:t>Security Operations</a:t>
            </a:r>
            <a:endParaRPr lang="en-US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282047355"/>
      </p:ext>
    </p:extLst>
  </p:cSld>
  <p:clrMapOvr>
    <a:masterClrMapping/>
  </p:clrMapOvr>
</p:sld>
</file>

<file path=ppt/slides/slide3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36A975-EA42-9245-96FA-9195BEB775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A2B049C-07A1-DF90-579D-8E33203A4C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Slide </a:t>
            </a:r>
            <a:fld id="{4CA2B2DB-B91D-4166-98BF-65A0DA7EEE6D}" type="slidenum">
              <a:rPr kumimoji="0" lang="en-US" sz="1800" b="0" i="1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316</a:t>
            </a:fld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7CCF5C-18BE-1DAF-59EC-CB687A5FCDDF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2536823"/>
            <a:ext cx="16192500" cy="6416677"/>
          </a:xfrm>
        </p:spPr>
        <p:txBody>
          <a:bodyPr/>
          <a:lstStyle/>
          <a:p>
            <a:pPr marL="0" indent="0">
              <a:spcBef>
                <a:spcPts val="900"/>
              </a:spcBef>
              <a:buNone/>
            </a:pPr>
            <a:r>
              <a:rPr lang="en-US" altLang="en-US" sz="3600" b="1" dirty="0"/>
              <a:t>Vulnerability response and remediation</a:t>
            </a:r>
            <a:r>
              <a:rPr lang="en-US" altLang="en-US" sz="3600" dirty="0"/>
              <a:t>: The systematic process of identifying and addressing vulnerabilities in an organization's technology</a:t>
            </a:r>
          </a:p>
          <a:p>
            <a:pPr>
              <a:spcBef>
                <a:spcPts val="900"/>
              </a:spcBef>
            </a:pPr>
            <a:r>
              <a:rPr lang="en-US" altLang="en-US" b="1" dirty="0"/>
              <a:t>Patching</a:t>
            </a:r>
            <a:r>
              <a:rPr lang="en-US" altLang="en-US" dirty="0"/>
              <a:t>: Applying updates to software components to fix known vulnerabilities</a:t>
            </a:r>
          </a:p>
          <a:p>
            <a:pPr>
              <a:spcBef>
                <a:spcPts val="900"/>
              </a:spcBef>
            </a:pPr>
            <a:r>
              <a:rPr lang="en-US" altLang="en-US" b="1" dirty="0"/>
              <a:t>Segmentation</a:t>
            </a:r>
            <a:r>
              <a:rPr lang="en-US" altLang="en-US" dirty="0"/>
              <a:t>: Network segmentation divides a network into smaller segments to contain breaches and minimize damage</a:t>
            </a:r>
          </a:p>
          <a:p>
            <a:pPr>
              <a:spcBef>
                <a:spcPts val="900"/>
              </a:spcBef>
            </a:pPr>
            <a:r>
              <a:rPr lang="en-US" altLang="en-US" b="1" dirty="0"/>
              <a:t>Compensating controls</a:t>
            </a:r>
            <a:r>
              <a:rPr lang="en-US" altLang="en-US" dirty="0"/>
              <a:t>: Alternate measures to reduce the risk of existing or potential control weaknesses</a:t>
            </a:r>
          </a:p>
          <a:p>
            <a:pPr>
              <a:spcBef>
                <a:spcPts val="900"/>
              </a:spcBef>
            </a:pPr>
            <a:r>
              <a:rPr lang="en-US" altLang="en-US" b="1" dirty="0"/>
              <a:t>Insurance</a:t>
            </a:r>
            <a:r>
              <a:rPr lang="en-US" altLang="en-US" dirty="0"/>
              <a:t>: Provides financial risk transfer in case of data compromise</a:t>
            </a:r>
          </a:p>
          <a:p>
            <a:pPr>
              <a:spcBef>
                <a:spcPts val="900"/>
              </a:spcBef>
            </a:pPr>
            <a:r>
              <a:rPr lang="en-US" altLang="en-US" b="1" dirty="0"/>
              <a:t>Exceptions and exemptions</a:t>
            </a:r>
            <a:r>
              <a:rPr lang="en-US" altLang="en-US" dirty="0"/>
              <a:t>: Exceptions and exemptions are granted for vulnerabilities accepted due to business needs or technical constraints</a:t>
            </a:r>
          </a:p>
          <a:p>
            <a:pPr>
              <a:spcBef>
                <a:spcPts val="900"/>
              </a:spcBef>
            </a:pPr>
            <a:endParaRPr lang="en-US" alt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BB92BF0-7012-DB5F-46B4-25ED65096BB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E1FB1D29-92D2-6680-8D39-1E92ED3A1E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54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Vulnerability Response and Remediation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3338852812"/>
      </p:ext>
    </p:extLst>
  </p:cSld>
  <p:clrMapOvr>
    <a:masterClrMapping/>
  </p:clrMapOvr>
</p:sld>
</file>

<file path=ppt/slides/slide3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67D3D4-5032-BEF5-14BC-123C50F759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7319BE5-550D-0DAF-DFE0-B5A13242CE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Slide </a:t>
            </a:r>
            <a:fld id="{4CA2B2DB-B91D-4166-98BF-65A0DA7EEE6D}" type="slidenum">
              <a:rPr kumimoji="0" lang="en-US" sz="1800" b="0" i="1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317</a:t>
            </a:fld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F5BA37-628F-143E-09DB-92BA3FBA2616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2536823"/>
            <a:ext cx="16192500" cy="6416677"/>
          </a:xfrm>
        </p:spPr>
        <p:txBody>
          <a:bodyPr/>
          <a:lstStyle/>
          <a:p>
            <a:pPr marL="0" indent="0">
              <a:spcBef>
                <a:spcPts val="900"/>
              </a:spcBef>
              <a:buNone/>
            </a:pPr>
            <a:r>
              <a:rPr lang="en-US" altLang="en-US" sz="3900" b="1" dirty="0"/>
              <a:t>Validation of remediation </a:t>
            </a:r>
            <a:r>
              <a:rPr lang="en-US" altLang="en-US" sz="3900" dirty="0"/>
              <a:t>ensures that vulnerabilities have been adequately addressed.</a:t>
            </a:r>
          </a:p>
          <a:p>
            <a:pPr>
              <a:spcBef>
                <a:spcPts val="900"/>
              </a:spcBef>
            </a:pPr>
            <a:r>
              <a:rPr lang="en-US" altLang="en-US" sz="3600" b="1" dirty="0"/>
              <a:t>Rescanning</a:t>
            </a:r>
            <a:r>
              <a:rPr lang="en-US" altLang="en-US" sz="3600" dirty="0"/>
              <a:t>: Running vulnerability scans again after applying patches or making changes</a:t>
            </a:r>
          </a:p>
          <a:p>
            <a:pPr>
              <a:spcBef>
                <a:spcPts val="900"/>
              </a:spcBef>
            </a:pPr>
            <a:r>
              <a:rPr lang="en-US" altLang="en-US" sz="3600" b="1" dirty="0"/>
              <a:t>Audit</a:t>
            </a:r>
            <a:r>
              <a:rPr lang="en-US" altLang="en-US" sz="3600" dirty="0"/>
              <a:t>: Involves a thorough manual review, often conducted by an independent third party or internal audit team</a:t>
            </a:r>
          </a:p>
          <a:p>
            <a:pPr>
              <a:spcBef>
                <a:spcPts val="900"/>
              </a:spcBef>
            </a:pPr>
            <a:r>
              <a:rPr lang="en-US" altLang="en-US" sz="3600" b="1" dirty="0"/>
              <a:t>Verification</a:t>
            </a:r>
            <a:r>
              <a:rPr lang="en-US" altLang="en-US" sz="3600" dirty="0"/>
              <a:t>: Synthesizes insights from rescanning and auditing activities to affirm the success or failure of remediation efforts</a:t>
            </a:r>
          </a:p>
          <a:p>
            <a:pPr>
              <a:spcBef>
                <a:spcPts val="900"/>
              </a:spcBef>
            </a:pPr>
            <a:endParaRPr lang="en-US" alt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74F5081-31ED-E39C-71BB-796760AEE80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39E88717-B124-01E4-15C3-47B77420E6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54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Validation of Remediation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3623876203"/>
      </p:ext>
    </p:extLst>
  </p:cSld>
  <p:clrMapOvr>
    <a:masterClrMapping/>
  </p:clrMapOvr>
</p:sld>
</file>

<file path=ppt/slides/slide3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C80370-78FE-4B74-53A3-BDD24E9EF1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5DAC0E9-4BB7-7E53-AF98-B32CB4130B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Slide </a:t>
            </a:r>
            <a:fld id="{4CA2B2DB-B91D-4166-98BF-65A0DA7EEE6D}" type="slidenum">
              <a:rPr kumimoji="0" lang="en-US" sz="1800" b="0" i="1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318</a:t>
            </a:fld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B41963-BDFB-55E4-F52A-343FB3A6FEAC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2536823"/>
            <a:ext cx="16192500" cy="6416677"/>
          </a:xfrm>
        </p:spPr>
        <p:txBody>
          <a:bodyPr/>
          <a:lstStyle/>
          <a:p>
            <a:pPr marL="0" indent="0">
              <a:spcBef>
                <a:spcPts val="900"/>
              </a:spcBef>
              <a:buNone/>
            </a:pPr>
            <a:r>
              <a:rPr lang="en-US" altLang="en-US" sz="3900" b="1" dirty="0"/>
              <a:t>Reporting </a:t>
            </a:r>
            <a:r>
              <a:rPr lang="en-US" altLang="en-US" sz="3900" dirty="0"/>
              <a:t>turns scanning, patching, verification, and validation into actionable insights.</a:t>
            </a:r>
          </a:p>
          <a:p>
            <a:pPr>
              <a:spcBef>
                <a:spcPts val="900"/>
              </a:spcBef>
            </a:pPr>
            <a:r>
              <a:rPr lang="en-US" altLang="en-US" sz="3900" dirty="0"/>
              <a:t>Serves as organizational memory for cybersecurity efforts</a:t>
            </a:r>
          </a:p>
          <a:p>
            <a:pPr>
              <a:spcBef>
                <a:spcPts val="900"/>
              </a:spcBef>
            </a:pPr>
            <a:r>
              <a:rPr lang="en-US" altLang="en-US" sz="3900" dirty="0"/>
              <a:t>Reports vary depending on audience</a:t>
            </a:r>
          </a:p>
          <a:p>
            <a:pPr lvl="1">
              <a:spcBef>
                <a:spcPts val="900"/>
              </a:spcBef>
            </a:pPr>
            <a:r>
              <a:rPr lang="en-US" altLang="en-US" sz="3300" dirty="0"/>
              <a:t>Technical teams</a:t>
            </a:r>
          </a:p>
          <a:p>
            <a:pPr lvl="1">
              <a:spcBef>
                <a:spcPts val="900"/>
              </a:spcBef>
            </a:pPr>
            <a:r>
              <a:rPr lang="en-US" altLang="en-US" sz="3300" dirty="0"/>
              <a:t>Senior management</a:t>
            </a:r>
          </a:p>
          <a:p>
            <a:pPr lvl="1">
              <a:spcBef>
                <a:spcPts val="900"/>
              </a:spcBef>
            </a:pPr>
            <a:r>
              <a:rPr lang="en-US" altLang="en-US" sz="3300" dirty="0"/>
              <a:t>Regulatory bodies</a:t>
            </a:r>
          </a:p>
          <a:p>
            <a:pPr lvl="1">
              <a:spcBef>
                <a:spcPts val="900"/>
              </a:spcBef>
            </a:pPr>
            <a:r>
              <a:rPr lang="en-US" altLang="en-US" sz="3300" dirty="0"/>
              <a:t>Information-sharing organizations</a:t>
            </a:r>
          </a:p>
          <a:p>
            <a:pPr>
              <a:spcBef>
                <a:spcPts val="900"/>
              </a:spcBef>
            </a:pPr>
            <a:endParaRPr lang="en-US" alt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D062A9-6FB4-3F77-D1F4-B3A8580191E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762C3E64-6FCF-20EA-955B-BB5CBCD1DF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54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Reporting 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3536115332"/>
      </p:ext>
    </p:extLst>
  </p:cSld>
  <p:clrMapOvr>
    <a:masterClrMapping/>
  </p:clrMapOvr>
</p:sld>
</file>

<file path=ppt/slides/slide3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3B0C52-4633-0CBF-A151-C141A13514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B0AD438-F7C9-66D6-EAD8-5902B14B14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Slide </a:t>
            </a:r>
            <a:fld id="{4CA2B2DB-B91D-4166-98BF-65A0DA7EEE6D}" type="slidenum">
              <a:rPr kumimoji="0" lang="en-US" sz="1800" b="0" i="1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319</a:t>
            </a:fld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FAF3A2-83B8-1714-E983-D6BE0EB4873D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2536823"/>
            <a:ext cx="16192500" cy="6416677"/>
          </a:xfrm>
        </p:spPr>
        <p:txBody>
          <a:bodyPr/>
          <a:lstStyle/>
          <a:p>
            <a:pPr marL="0" indent="0">
              <a:spcBef>
                <a:spcPts val="900"/>
              </a:spcBef>
              <a:buNone/>
            </a:pPr>
            <a:r>
              <a:rPr lang="en-US" altLang="en-US" sz="3900" b="1" dirty="0"/>
              <a:t>Patching</a:t>
            </a:r>
            <a:r>
              <a:rPr lang="en-US" altLang="en-US" sz="3900" dirty="0"/>
              <a:t> involves updating or fixing software applications, drivers, and operating systems by applying patches or updates.</a:t>
            </a:r>
          </a:p>
          <a:p>
            <a:pPr marL="743585" lvl="1" indent="-571500">
              <a:spcBef>
                <a:spcPts val="900"/>
              </a:spcBef>
              <a:buFont typeface="Arial" panose="020B0604020202020204" pitchFamily="34" charset="0"/>
              <a:buChar char="•"/>
            </a:pPr>
            <a:r>
              <a:rPr lang="en-US" altLang="en-US" sz="3600" dirty="0"/>
              <a:t>Updates can address known security vulnerabilities, enhance performance, and introduce new features.</a:t>
            </a:r>
          </a:p>
          <a:p>
            <a:pPr marL="743585" lvl="1" indent="-571500">
              <a:spcBef>
                <a:spcPts val="900"/>
              </a:spcBef>
              <a:buFont typeface="Arial" panose="020B0604020202020204" pitchFamily="34" charset="0"/>
              <a:buChar char="•"/>
            </a:pPr>
            <a:r>
              <a:rPr lang="en-US" altLang="en-US" sz="3600" dirty="0"/>
              <a:t>Regular patching is crucial for system security.</a:t>
            </a:r>
          </a:p>
          <a:p>
            <a:pPr marL="743585" lvl="1" indent="-571500">
              <a:spcBef>
                <a:spcPts val="900"/>
              </a:spcBef>
              <a:buFont typeface="Arial" panose="020B0604020202020204" pitchFamily="34" charset="0"/>
              <a:buChar char="•"/>
            </a:pPr>
            <a:r>
              <a:rPr lang="en-US" altLang="en-US" sz="3600" dirty="0"/>
              <a:t>Industries vary in their approaches to patching based on operational demands and threat environments.</a:t>
            </a:r>
          </a:p>
          <a:p>
            <a:pPr>
              <a:spcBef>
                <a:spcPts val="900"/>
              </a:spcBef>
            </a:pPr>
            <a:endParaRPr lang="en-US" alt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9EC6F0-AE4D-CB3D-F017-9037200C44A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AF48BF2-7656-398B-0496-71B0DC2F8C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54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Patching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3979178458"/>
      </p:ext>
    </p:extLst>
  </p:cSld>
  <p:clrMapOvr>
    <a:masterClrMapping/>
  </p:clrMapOvr>
</p:sld>
</file>

<file path=ppt/slides/slide3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26CEFC-A013-1E98-3968-B137281B8C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46AD590-0694-0DCE-7BA8-78D4990D8A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Slide </a:t>
            </a:r>
            <a:fld id="{4CA2B2DB-B91D-4166-98BF-65A0DA7EEE6D}" type="slidenum">
              <a:rPr kumimoji="0" lang="en-US" sz="1800" b="0" i="1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320</a:t>
            </a:fld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8373C9-A2AE-FAD6-F1FA-8E7D7CB4B67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2536823"/>
            <a:ext cx="16192500" cy="6416677"/>
          </a:xfrm>
        </p:spPr>
        <p:txBody>
          <a:bodyPr/>
          <a:lstStyle/>
          <a:p>
            <a:pPr marL="0" indent="0">
              <a:spcBef>
                <a:spcPts val="900"/>
              </a:spcBef>
              <a:buNone/>
            </a:pPr>
            <a:r>
              <a:rPr lang="en-US" altLang="en-US" sz="3900" b="1" dirty="0"/>
              <a:t>Configuration enforcement</a:t>
            </a:r>
            <a:r>
              <a:rPr lang="en-US" altLang="en-US" sz="3900" dirty="0"/>
              <a:t> ensures that system settings, policies, and controls are consistently applied throughout an organization's network, systems, and devices.</a:t>
            </a:r>
          </a:p>
          <a:p>
            <a:pPr>
              <a:spcBef>
                <a:spcPts val="900"/>
              </a:spcBef>
            </a:pPr>
            <a:r>
              <a:rPr lang="en-US" altLang="en-US" sz="3900" b="1" dirty="0"/>
              <a:t>Strategies for enforcement</a:t>
            </a:r>
          </a:p>
          <a:p>
            <a:pPr marL="743585" lvl="1" indent="-571500">
              <a:spcBef>
                <a:spcPts val="900"/>
              </a:spcBef>
              <a:buFont typeface="Arial" panose="020B0604020202020204" pitchFamily="34" charset="0"/>
              <a:buChar char="•"/>
            </a:pPr>
            <a:r>
              <a:rPr lang="en-US" altLang="en-US" sz="3600" dirty="0"/>
              <a:t>Group policy</a:t>
            </a:r>
          </a:p>
          <a:p>
            <a:pPr marL="743585" lvl="1" indent="-571500">
              <a:spcBef>
                <a:spcPts val="900"/>
              </a:spcBef>
              <a:buFont typeface="Arial" panose="020B0604020202020204" pitchFamily="34" charset="0"/>
              <a:buChar char="•"/>
            </a:pPr>
            <a:r>
              <a:rPr lang="en-US" altLang="en-US" sz="3600" dirty="0"/>
              <a:t>Ensuring uniform compliance with security standards</a:t>
            </a:r>
          </a:p>
          <a:p>
            <a:pPr marL="743585" lvl="1" indent="-571500">
              <a:spcBef>
                <a:spcPts val="900"/>
              </a:spcBef>
              <a:buFont typeface="Arial" panose="020B0604020202020204" pitchFamily="34" charset="0"/>
              <a:buChar char="•"/>
            </a:pPr>
            <a:r>
              <a:rPr lang="en-US" altLang="en-US" sz="3600" dirty="0"/>
              <a:t>Reducing exploitable weaknesses such as common passwords</a:t>
            </a:r>
          </a:p>
          <a:p>
            <a:pPr>
              <a:spcBef>
                <a:spcPts val="900"/>
              </a:spcBef>
            </a:pPr>
            <a:endParaRPr lang="en-US" alt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9B151C6-AB65-D201-37A1-AF14006B0DF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E910AF0-5F1A-4B4E-D92D-FB8234F9A1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54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Configuration Enforcement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404742007"/>
      </p:ext>
    </p:extLst>
  </p:cSld>
  <p:clrMapOvr>
    <a:masterClrMapping/>
  </p:clrMapOvr>
</p:sld>
</file>

<file path=ppt/slides/slide3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FCD668-0F31-4455-094C-F1AF533DEB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16B720E-0864-37DF-0B89-D765238677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Slide </a:t>
            </a:r>
            <a:fld id="{4CA2B2DB-B91D-4166-98BF-65A0DA7EEE6D}" type="slidenum">
              <a:rPr kumimoji="0" lang="en-US" sz="1800" b="0" i="1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321</a:t>
            </a:fld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54FFE7-586C-C151-AD8D-CC5BB85FBF3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2536823"/>
            <a:ext cx="16192500" cy="6416677"/>
          </a:xfrm>
        </p:spPr>
        <p:txBody>
          <a:bodyPr/>
          <a:lstStyle/>
          <a:p>
            <a:r>
              <a:rPr lang="en-US" altLang="en-US" sz="3900" dirty="0"/>
              <a:t>A </a:t>
            </a:r>
            <a:r>
              <a:rPr lang="en-US" altLang="en-US" sz="3900" b="1" dirty="0"/>
              <a:t>backout plan </a:t>
            </a:r>
            <a:r>
              <a:rPr lang="en-US" altLang="en-US" sz="3900" dirty="0"/>
              <a:t>is a detailed procedure aimed at reversing changes that negatively affect security or business operations in IT systems or processes.</a:t>
            </a:r>
          </a:p>
          <a:p>
            <a:r>
              <a:rPr lang="en-US" altLang="en-US" sz="3900" dirty="0"/>
              <a:t>A </a:t>
            </a:r>
            <a:r>
              <a:rPr lang="en-US" altLang="en-US" sz="3900" b="1" dirty="0"/>
              <a:t>maintenance window </a:t>
            </a:r>
            <a:r>
              <a:rPr lang="en-US" altLang="en-US" sz="3900" dirty="0"/>
              <a:t>is a scheduled timeframe for implementing system updates or changes, chosen strategically to minimize disruptions.</a:t>
            </a:r>
          </a:p>
          <a:p>
            <a:r>
              <a:rPr lang="en-US" altLang="en-US" sz="3900" b="1" dirty="0"/>
              <a:t>SOPs</a:t>
            </a:r>
            <a:r>
              <a:rPr lang="en-US" altLang="en-US" sz="3900" dirty="0"/>
              <a:t> are step-by-step instruction sets designed to guide workers through complex routine operations, ensuring consistency and adherence to best practices.</a:t>
            </a:r>
          </a:p>
          <a:p>
            <a:pPr>
              <a:spcBef>
                <a:spcPts val="900"/>
              </a:spcBef>
            </a:pPr>
            <a:endParaRPr lang="en-US" alt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4EFB1E7-FAD8-AD92-F8F0-51B6E3646E2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E7DE6E12-DF04-363B-21CF-EA624426B5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36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Backout Plan, Maintenance Window, &amp; Standard Operating Procedure (SOP)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3484660248"/>
      </p:ext>
    </p:extLst>
  </p:cSld>
  <p:clrMapOvr>
    <a:masterClrMapping/>
  </p:clrMapOvr>
</p:sld>
</file>

<file path=ppt/slides/slide3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4FFAF8-DD95-82EF-6E26-1C75E0B8F1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D74B93F-651C-6AD4-6B20-E5B45644C5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Slide </a:t>
            </a:r>
            <a:fld id="{4CA2B2DB-B91D-4166-98BF-65A0DA7EEE6D}" type="slidenum">
              <a:rPr kumimoji="0" lang="en-US" sz="1800" b="0" i="1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322</a:t>
            </a:fld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BE66EE-8EF2-DBBC-1878-1040CF6B9D5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2536823"/>
            <a:ext cx="16192500" cy="6416677"/>
          </a:xfrm>
        </p:spPr>
        <p:txBody>
          <a:bodyPr/>
          <a:lstStyle/>
          <a:p>
            <a:pPr marL="0" indent="0">
              <a:buNone/>
            </a:pPr>
            <a:r>
              <a:rPr lang="en-US" altLang="en-US" sz="4400" b="1" dirty="0"/>
              <a:t>Policies</a:t>
            </a:r>
            <a:r>
              <a:rPr lang="en-US" altLang="en-US" sz="4400" dirty="0"/>
              <a:t> dictate the rules governing the use and security of IT systems. </a:t>
            </a:r>
            <a:r>
              <a:rPr lang="en-US" altLang="en-US" sz="4400" b="1" dirty="0"/>
              <a:t>Procedures</a:t>
            </a:r>
            <a:r>
              <a:rPr lang="en-US" altLang="en-US" sz="4400" dirty="0"/>
              <a:t> outline the specific steps to implement these rules.</a:t>
            </a:r>
          </a:p>
          <a:p>
            <a:r>
              <a:rPr lang="en-US" altLang="en-US" sz="4000" dirty="0"/>
              <a:t>Regular revision of policies and procedures is essential to keep them aligned with technological advancements, environmental changes, or system modifications.</a:t>
            </a:r>
          </a:p>
          <a:p>
            <a:pPr>
              <a:spcBef>
                <a:spcPts val="900"/>
              </a:spcBef>
            </a:pPr>
            <a:endParaRPr lang="en-US" alt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DF43C5A-C1A4-2A3C-2522-30B0113D041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B1EB951E-8C60-1588-42DD-B257B8B03A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54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Updating Policies / Procedures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3970268279"/>
      </p:ext>
    </p:extLst>
  </p:cSld>
  <p:clrMapOvr>
    <a:masterClrMapping/>
  </p:clrMapOvr>
</p:sld>
</file>

<file path=ppt/slides/slide3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5E1ED4-EE3B-E04D-57D9-4CAAD74260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7E99390-E54B-FD97-32D1-047FCE2144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Slide </a:t>
            </a:r>
            <a:fld id="{4CA2B2DB-B91D-4166-98BF-65A0DA7EEE6D}" type="slidenum">
              <a:rPr kumimoji="0" lang="en-US" sz="1800" b="0" i="1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323</a:t>
            </a:fld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D3CE7D-BCC6-4BA0-01FE-ACECC410BDEE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2536823"/>
            <a:ext cx="16192500" cy="6416677"/>
          </a:xfrm>
        </p:spPr>
        <p:txBody>
          <a:bodyPr/>
          <a:lstStyle/>
          <a:p>
            <a:pPr marL="0" indent="0">
              <a:buNone/>
            </a:pPr>
            <a:r>
              <a:rPr lang="en-US" altLang="en-US" sz="3900" b="1" dirty="0"/>
              <a:t>Version control </a:t>
            </a:r>
            <a:r>
              <a:rPr lang="en-US" altLang="en-US" sz="3900" dirty="0"/>
              <a:t>is a system that records changes made to a file or set of files over time.</a:t>
            </a:r>
          </a:p>
          <a:p>
            <a:r>
              <a:rPr lang="en-US" altLang="en-US" sz="3900" dirty="0"/>
              <a:t>Allows users to:</a:t>
            </a:r>
          </a:p>
          <a:p>
            <a:pPr marL="743585" lvl="1" indent="-571500">
              <a:buFont typeface="Arial" panose="020B0604020202020204" pitchFamily="34" charset="0"/>
              <a:buChar char="•"/>
            </a:pPr>
            <a:r>
              <a:rPr lang="en-US" altLang="en-US" sz="3600" dirty="0"/>
              <a:t>Track modifications</a:t>
            </a:r>
          </a:p>
          <a:p>
            <a:pPr marL="743585" lvl="1" indent="-571500">
              <a:buFont typeface="Arial" panose="020B0604020202020204" pitchFamily="34" charset="0"/>
              <a:buChar char="•"/>
            </a:pPr>
            <a:r>
              <a:rPr lang="en-US" altLang="en-US" sz="3600" dirty="0"/>
              <a:t>Identify when and by whom changes were made</a:t>
            </a:r>
          </a:p>
          <a:p>
            <a:pPr marL="743585" lvl="1" indent="-571500">
              <a:buFont typeface="Arial" panose="020B0604020202020204" pitchFamily="34" charset="0"/>
              <a:buChar char="•"/>
            </a:pPr>
            <a:r>
              <a:rPr lang="en-US" altLang="en-US" sz="3600" dirty="0"/>
              <a:t>Revert to earlier versions if necessary</a:t>
            </a:r>
          </a:p>
          <a:p>
            <a:pPr>
              <a:spcBef>
                <a:spcPts val="900"/>
              </a:spcBef>
            </a:pPr>
            <a:endParaRPr lang="en-US" alt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89D8271-A144-80D9-40B3-318BD8469BD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A228262-7744-60E8-9EE5-3A0AEB683A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54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Version Control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1837071246"/>
      </p:ext>
    </p:extLst>
  </p:cSld>
  <p:clrMapOvr>
    <a:masterClrMapping/>
  </p:clrMapOvr>
</p:sld>
</file>

<file path=ppt/slides/slide3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15194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58C1A03-22B3-90CB-0066-92B7C45934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B235E2EB-23FC-ED54-82D4-BB124DDDF932}"/>
              </a:ext>
            </a:extLst>
          </p:cNvPr>
          <p:cNvGrpSpPr/>
          <p:nvPr/>
        </p:nvGrpSpPr>
        <p:grpSpPr>
          <a:xfrm rot="-5400000">
            <a:off x="12015831" y="4014831"/>
            <a:ext cx="10287000" cy="2257339"/>
            <a:chOff x="0" y="0"/>
            <a:chExt cx="2709333" cy="59452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E26FA6BA-ACDC-41E5-BE16-83A6A9963789}"/>
                </a:ext>
              </a:extLst>
            </p:cNvPr>
            <p:cNvSpPr/>
            <p:nvPr/>
          </p:nvSpPr>
          <p:spPr>
            <a:xfrm>
              <a:off x="0" y="0"/>
              <a:ext cx="2709333" cy="594525"/>
            </a:xfrm>
            <a:custGeom>
              <a:avLst/>
              <a:gdLst/>
              <a:ahLst/>
              <a:cxnLst/>
              <a:rect l="l" t="t" r="r" b="b"/>
              <a:pathLst>
                <a:path w="2709333" h="594525">
                  <a:moveTo>
                    <a:pt x="0" y="0"/>
                  </a:moveTo>
                  <a:lnTo>
                    <a:pt x="2709333" y="0"/>
                  </a:lnTo>
                  <a:lnTo>
                    <a:pt x="2709333" y="594525"/>
                  </a:lnTo>
                  <a:lnTo>
                    <a:pt x="0" y="594525"/>
                  </a:lnTo>
                  <a:close/>
                </a:path>
              </a:pathLst>
            </a:custGeom>
            <a:solidFill>
              <a:srgbClr val="0283FD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BAA148D6-5B7F-49DC-1CAB-8622D8FC71C0}"/>
                </a:ext>
              </a:extLst>
            </p:cNvPr>
            <p:cNvSpPr txBox="1"/>
            <p:nvPr/>
          </p:nvSpPr>
          <p:spPr>
            <a:xfrm>
              <a:off x="0" y="-66675"/>
              <a:ext cx="2709333" cy="6612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3024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A5BAE6F9-0379-6A80-59A2-C518526F5EFE}"/>
              </a:ext>
            </a:extLst>
          </p:cNvPr>
          <p:cNvGrpSpPr/>
          <p:nvPr/>
        </p:nvGrpSpPr>
        <p:grpSpPr>
          <a:xfrm>
            <a:off x="179467" y="6643814"/>
            <a:ext cx="8126333" cy="3488267"/>
            <a:chOff x="0" y="0"/>
            <a:chExt cx="844714" cy="36259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1DE22BF4-38EB-D751-2F0C-B2068E6D82DA}"/>
                </a:ext>
              </a:extLst>
            </p:cNvPr>
            <p:cNvSpPr/>
            <p:nvPr/>
          </p:nvSpPr>
          <p:spPr>
            <a:xfrm>
              <a:off x="0" y="0"/>
              <a:ext cx="844714" cy="362598"/>
            </a:xfrm>
            <a:custGeom>
              <a:avLst/>
              <a:gdLst/>
              <a:ahLst/>
              <a:cxnLst/>
              <a:rect l="l" t="t" r="r" b="b"/>
              <a:pathLst>
                <a:path w="844714" h="362598">
                  <a:moveTo>
                    <a:pt x="203200" y="0"/>
                  </a:moveTo>
                  <a:lnTo>
                    <a:pt x="844714" y="0"/>
                  </a:lnTo>
                  <a:lnTo>
                    <a:pt x="641514" y="362598"/>
                  </a:lnTo>
                  <a:lnTo>
                    <a:pt x="0" y="362598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283FD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754279A4-FAA7-3D33-6273-7ECB85C3BAB8}"/>
                </a:ext>
              </a:extLst>
            </p:cNvPr>
            <p:cNvSpPr txBox="1"/>
            <p:nvPr/>
          </p:nvSpPr>
          <p:spPr>
            <a:xfrm>
              <a:off x="101600" y="-28575"/>
              <a:ext cx="641514" cy="391173"/>
            </a:xfrm>
            <a:prstGeom prst="rect">
              <a:avLst/>
            </a:prstGeom>
          </p:spPr>
          <p:txBody>
            <a:bodyPr lIns="47790" tIns="47790" rIns="47790" bIns="4779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1843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A1FE8A1E-8CDA-69E4-DE32-921A67EFD429}"/>
              </a:ext>
            </a:extLst>
          </p:cNvPr>
          <p:cNvGrpSpPr/>
          <p:nvPr/>
        </p:nvGrpSpPr>
        <p:grpSpPr>
          <a:xfrm>
            <a:off x="-73552" y="7047924"/>
            <a:ext cx="16030661" cy="3336996"/>
            <a:chOff x="0" y="0"/>
            <a:chExt cx="6165409" cy="1271237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3CA1C822-33FF-0EF5-C97A-F5E65F5AFA7F}"/>
                </a:ext>
              </a:extLst>
            </p:cNvPr>
            <p:cNvSpPr/>
            <p:nvPr/>
          </p:nvSpPr>
          <p:spPr>
            <a:xfrm>
              <a:off x="0" y="0"/>
              <a:ext cx="6165409" cy="1271237"/>
            </a:xfrm>
            <a:custGeom>
              <a:avLst/>
              <a:gdLst/>
              <a:ahLst/>
              <a:cxnLst/>
              <a:rect l="l" t="t" r="r" b="b"/>
              <a:pathLst>
                <a:path w="6165409" h="1271237">
                  <a:moveTo>
                    <a:pt x="0" y="0"/>
                  </a:moveTo>
                  <a:lnTo>
                    <a:pt x="6165409" y="0"/>
                  </a:lnTo>
                  <a:lnTo>
                    <a:pt x="6165409" y="1271237"/>
                  </a:lnTo>
                  <a:lnTo>
                    <a:pt x="0" y="127123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3232FF44-C1DC-8A54-3AB3-E239390B999D}"/>
                </a:ext>
              </a:extLst>
            </p:cNvPr>
            <p:cNvSpPr txBox="1"/>
            <p:nvPr/>
          </p:nvSpPr>
          <p:spPr>
            <a:xfrm>
              <a:off x="0" y="-28575"/>
              <a:ext cx="6165409" cy="1299812"/>
            </a:xfrm>
            <a:prstGeom prst="rect">
              <a:avLst/>
            </a:prstGeom>
          </p:spPr>
          <p:txBody>
            <a:bodyPr lIns="47790" tIns="47790" rIns="47790" bIns="4779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1843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sp>
        <p:nvSpPr>
          <p:cNvPr id="12" name="TextBox 12">
            <a:extLst>
              <a:ext uri="{FF2B5EF4-FFF2-40B4-BE49-F238E27FC236}">
                <a16:creationId xmlns:a16="http://schemas.microsoft.com/office/drawing/2014/main" id="{91456CE0-7E61-4BE7-7110-0CBD26C6BCCC}"/>
              </a:ext>
            </a:extLst>
          </p:cNvPr>
          <p:cNvSpPr txBox="1"/>
          <p:nvPr/>
        </p:nvSpPr>
        <p:spPr>
          <a:xfrm>
            <a:off x="1111666" y="3432993"/>
            <a:ext cx="14771892" cy="598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4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Day 4 – Block 7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BD369A5A-0990-A785-6B12-646BBFC73343}"/>
              </a:ext>
            </a:extLst>
          </p:cNvPr>
          <p:cNvSpPr txBox="1"/>
          <p:nvPr/>
        </p:nvSpPr>
        <p:spPr>
          <a:xfrm>
            <a:off x="1111666" y="9653992"/>
            <a:ext cx="12263263" cy="3619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0" i="0" u="none" strike="noStrike" kern="1200" cap="none" spc="0" normalizeH="0" baseline="0" noProof="0">
                <a:ln>
                  <a:noFill/>
                </a:ln>
                <a:solidFill>
                  <a:srgbClr val="252525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CALIFORNIA INSTITUTE OF APPLIED TECHNOLOGY</a:t>
            </a:r>
          </a:p>
        </p:txBody>
      </p:sp>
      <p:sp>
        <p:nvSpPr>
          <p:cNvPr id="15" name="AutoShape 15">
            <a:extLst>
              <a:ext uri="{FF2B5EF4-FFF2-40B4-BE49-F238E27FC236}">
                <a16:creationId xmlns:a16="http://schemas.microsoft.com/office/drawing/2014/main" id="{5A9FD252-7288-8CD9-E47B-037D06C59CB2}"/>
              </a:ext>
            </a:extLst>
          </p:cNvPr>
          <p:cNvSpPr/>
          <p:nvPr/>
        </p:nvSpPr>
        <p:spPr>
          <a:xfrm>
            <a:off x="8010568" y="9858838"/>
            <a:ext cx="7625672" cy="0"/>
          </a:xfrm>
          <a:prstGeom prst="line">
            <a:avLst/>
          </a:prstGeom>
          <a:ln w="19050" cap="flat">
            <a:solidFill>
              <a:srgbClr val="0283F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7" name="Freeform 5">
            <a:extLst>
              <a:ext uri="{FF2B5EF4-FFF2-40B4-BE49-F238E27FC236}">
                <a16:creationId xmlns:a16="http://schemas.microsoft.com/office/drawing/2014/main" id="{C6A6AA99-C666-DB90-E896-F18E2061812A}"/>
              </a:ext>
            </a:extLst>
          </p:cNvPr>
          <p:cNvSpPr/>
          <p:nvPr/>
        </p:nvSpPr>
        <p:spPr>
          <a:xfrm>
            <a:off x="1111666" y="355081"/>
            <a:ext cx="4247850" cy="631936"/>
          </a:xfrm>
          <a:custGeom>
            <a:avLst/>
            <a:gdLst/>
            <a:ahLst/>
            <a:cxnLst/>
            <a:rect l="l" t="t" r="r" b="b"/>
            <a:pathLst>
              <a:path w="4247850" h="631936">
                <a:moveTo>
                  <a:pt x="0" y="0"/>
                </a:moveTo>
                <a:lnTo>
                  <a:pt x="4247850" y="0"/>
                </a:lnTo>
                <a:lnTo>
                  <a:pt x="4247850" y="631935"/>
                </a:lnTo>
                <a:lnTo>
                  <a:pt x="0" y="63193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5" r="-5"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BA3BF77-F518-4442-24C2-5F2766AA4ECE}"/>
              </a:ext>
            </a:extLst>
          </p:cNvPr>
          <p:cNvSpPr txBox="1"/>
          <p:nvPr/>
        </p:nvSpPr>
        <p:spPr>
          <a:xfrm>
            <a:off x="1111666" y="7106062"/>
            <a:ext cx="11918534" cy="1661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2400" dirty="0"/>
              <a:t>Domain 4 PBQ Workshop</a:t>
            </a:r>
          </a:p>
          <a:p>
            <a:pPr lvl="1"/>
            <a:r>
              <a:rPr lang="en-US" altLang="en-US" dirty="0"/>
              <a:t>Operations &amp; Response PBQs</a:t>
            </a:r>
          </a:p>
          <a:p>
            <a:r>
              <a:rPr lang="en-US" altLang="en-US" sz="2400" dirty="0"/>
              <a:t>Crucial Exams</a:t>
            </a:r>
          </a:p>
          <a:p>
            <a:pPr lvl="1"/>
            <a:r>
              <a:rPr lang="en-US" altLang="en-US" dirty="0"/>
              <a:t>SIEM Alert Configuration PBQ</a:t>
            </a:r>
          </a:p>
          <a:p>
            <a:pPr lvl="1"/>
            <a:r>
              <a:rPr lang="en-US" altLang="en-US" dirty="0"/>
              <a:t>Incident Response Procedures PBQ</a:t>
            </a:r>
          </a:p>
        </p:txBody>
      </p:sp>
    </p:spTree>
    <p:extLst>
      <p:ext uri="{BB962C8B-B14F-4D97-AF65-F5344CB8AC3E}">
        <p14:creationId xmlns:p14="http://schemas.microsoft.com/office/powerpoint/2010/main" val="1715276108"/>
      </p:ext>
    </p:extLst>
  </p:cSld>
  <p:clrMapOvr>
    <a:masterClrMapping/>
  </p:clrMapOvr>
</p:sld>
</file>

<file path=ppt/slides/slide3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15194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7279608-CB08-6BB1-6AF4-95E74A76D7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B96DBFE0-C100-AF06-CE78-7B9E31BBA894}"/>
              </a:ext>
            </a:extLst>
          </p:cNvPr>
          <p:cNvGrpSpPr/>
          <p:nvPr/>
        </p:nvGrpSpPr>
        <p:grpSpPr>
          <a:xfrm rot="-5400000">
            <a:off x="12015831" y="4014831"/>
            <a:ext cx="10287000" cy="2257339"/>
            <a:chOff x="0" y="0"/>
            <a:chExt cx="2709333" cy="59452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DC8A637C-65C7-B310-849E-DEF9FB51344F}"/>
                </a:ext>
              </a:extLst>
            </p:cNvPr>
            <p:cNvSpPr/>
            <p:nvPr/>
          </p:nvSpPr>
          <p:spPr>
            <a:xfrm>
              <a:off x="0" y="0"/>
              <a:ext cx="2709333" cy="594525"/>
            </a:xfrm>
            <a:custGeom>
              <a:avLst/>
              <a:gdLst/>
              <a:ahLst/>
              <a:cxnLst/>
              <a:rect l="l" t="t" r="r" b="b"/>
              <a:pathLst>
                <a:path w="2709333" h="594525">
                  <a:moveTo>
                    <a:pt x="0" y="0"/>
                  </a:moveTo>
                  <a:lnTo>
                    <a:pt x="2709333" y="0"/>
                  </a:lnTo>
                  <a:lnTo>
                    <a:pt x="2709333" y="594525"/>
                  </a:lnTo>
                  <a:lnTo>
                    <a:pt x="0" y="594525"/>
                  </a:lnTo>
                  <a:close/>
                </a:path>
              </a:pathLst>
            </a:custGeom>
            <a:solidFill>
              <a:srgbClr val="0283FD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C970D371-A6FB-EFC9-95F2-93400C8DE1A7}"/>
                </a:ext>
              </a:extLst>
            </p:cNvPr>
            <p:cNvSpPr txBox="1"/>
            <p:nvPr/>
          </p:nvSpPr>
          <p:spPr>
            <a:xfrm>
              <a:off x="0" y="-66675"/>
              <a:ext cx="2709333" cy="6612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3024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5EA0B703-ECEF-88EE-8E41-B4A96BCFC3FA}"/>
              </a:ext>
            </a:extLst>
          </p:cNvPr>
          <p:cNvGrpSpPr/>
          <p:nvPr/>
        </p:nvGrpSpPr>
        <p:grpSpPr>
          <a:xfrm>
            <a:off x="179467" y="6643814"/>
            <a:ext cx="8126333" cy="3488267"/>
            <a:chOff x="0" y="0"/>
            <a:chExt cx="844714" cy="36259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512D4847-4554-8F34-0DAE-505AE3F3937F}"/>
                </a:ext>
              </a:extLst>
            </p:cNvPr>
            <p:cNvSpPr/>
            <p:nvPr/>
          </p:nvSpPr>
          <p:spPr>
            <a:xfrm>
              <a:off x="0" y="0"/>
              <a:ext cx="844714" cy="362598"/>
            </a:xfrm>
            <a:custGeom>
              <a:avLst/>
              <a:gdLst/>
              <a:ahLst/>
              <a:cxnLst/>
              <a:rect l="l" t="t" r="r" b="b"/>
              <a:pathLst>
                <a:path w="844714" h="362598">
                  <a:moveTo>
                    <a:pt x="203200" y="0"/>
                  </a:moveTo>
                  <a:lnTo>
                    <a:pt x="844714" y="0"/>
                  </a:lnTo>
                  <a:lnTo>
                    <a:pt x="641514" y="362598"/>
                  </a:lnTo>
                  <a:lnTo>
                    <a:pt x="0" y="362598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283FD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D16CFCEB-E64C-6387-47E9-43D611420232}"/>
                </a:ext>
              </a:extLst>
            </p:cNvPr>
            <p:cNvSpPr txBox="1"/>
            <p:nvPr/>
          </p:nvSpPr>
          <p:spPr>
            <a:xfrm>
              <a:off x="101600" y="-28575"/>
              <a:ext cx="641514" cy="391173"/>
            </a:xfrm>
            <a:prstGeom prst="rect">
              <a:avLst/>
            </a:prstGeom>
          </p:spPr>
          <p:txBody>
            <a:bodyPr lIns="47790" tIns="47790" rIns="47790" bIns="4779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1843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207DAC4F-6226-A807-C5C1-80A755ABD418}"/>
              </a:ext>
            </a:extLst>
          </p:cNvPr>
          <p:cNvGrpSpPr/>
          <p:nvPr/>
        </p:nvGrpSpPr>
        <p:grpSpPr>
          <a:xfrm>
            <a:off x="-73552" y="7047924"/>
            <a:ext cx="16030661" cy="3336996"/>
            <a:chOff x="0" y="0"/>
            <a:chExt cx="6165409" cy="1271237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B4D6CFEB-6EC2-7763-B40A-6294CF9377FB}"/>
                </a:ext>
              </a:extLst>
            </p:cNvPr>
            <p:cNvSpPr/>
            <p:nvPr/>
          </p:nvSpPr>
          <p:spPr>
            <a:xfrm>
              <a:off x="0" y="0"/>
              <a:ext cx="6165409" cy="1271237"/>
            </a:xfrm>
            <a:custGeom>
              <a:avLst/>
              <a:gdLst/>
              <a:ahLst/>
              <a:cxnLst/>
              <a:rect l="l" t="t" r="r" b="b"/>
              <a:pathLst>
                <a:path w="6165409" h="1271237">
                  <a:moveTo>
                    <a:pt x="0" y="0"/>
                  </a:moveTo>
                  <a:lnTo>
                    <a:pt x="6165409" y="0"/>
                  </a:lnTo>
                  <a:lnTo>
                    <a:pt x="6165409" y="1271237"/>
                  </a:lnTo>
                  <a:lnTo>
                    <a:pt x="0" y="127123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9C1EFFCB-5A76-4784-FA48-529AB5D546DD}"/>
                </a:ext>
              </a:extLst>
            </p:cNvPr>
            <p:cNvSpPr txBox="1"/>
            <p:nvPr/>
          </p:nvSpPr>
          <p:spPr>
            <a:xfrm>
              <a:off x="0" y="-28575"/>
              <a:ext cx="6165409" cy="1299812"/>
            </a:xfrm>
            <a:prstGeom prst="rect">
              <a:avLst/>
            </a:prstGeom>
          </p:spPr>
          <p:txBody>
            <a:bodyPr lIns="47790" tIns="47790" rIns="47790" bIns="4779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1843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sp>
        <p:nvSpPr>
          <p:cNvPr id="12" name="TextBox 12">
            <a:extLst>
              <a:ext uri="{FF2B5EF4-FFF2-40B4-BE49-F238E27FC236}">
                <a16:creationId xmlns:a16="http://schemas.microsoft.com/office/drawing/2014/main" id="{DDBB55D6-8CF9-6BAD-5A39-E5FAC1CA64E7}"/>
              </a:ext>
            </a:extLst>
          </p:cNvPr>
          <p:cNvSpPr txBox="1"/>
          <p:nvPr/>
        </p:nvSpPr>
        <p:spPr>
          <a:xfrm>
            <a:off x="1111666" y="3432993"/>
            <a:ext cx="14771892" cy="598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4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Day 4 – Block 8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3C16EC23-D40F-D304-5B91-35B1B7A2B6B7}"/>
              </a:ext>
            </a:extLst>
          </p:cNvPr>
          <p:cNvSpPr txBox="1"/>
          <p:nvPr/>
        </p:nvSpPr>
        <p:spPr>
          <a:xfrm>
            <a:off x="1111666" y="9653992"/>
            <a:ext cx="12263263" cy="3619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0" i="0" u="none" strike="noStrike" kern="1200" cap="none" spc="0" normalizeH="0" baseline="0" noProof="0">
                <a:ln>
                  <a:noFill/>
                </a:ln>
                <a:solidFill>
                  <a:srgbClr val="252525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CALIFORNIA INSTITUTE OF APPLIED TECHNOLOGY</a:t>
            </a:r>
          </a:p>
        </p:txBody>
      </p:sp>
      <p:sp>
        <p:nvSpPr>
          <p:cNvPr id="15" name="AutoShape 15">
            <a:extLst>
              <a:ext uri="{FF2B5EF4-FFF2-40B4-BE49-F238E27FC236}">
                <a16:creationId xmlns:a16="http://schemas.microsoft.com/office/drawing/2014/main" id="{B7D006DE-A20E-5036-1C88-CBBBC49259F8}"/>
              </a:ext>
            </a:extLst>
          </p:cNvPr>
          <p:cNvSpPr/>
          <p:nvPr/>
        </p:nvSpPr>
        <p:spPr>
          <a:xfrm>
            <a:off x="8010568" y="9858838"/>
            <a:ext cx="7625672" cy="0"/>
          </a:xfrm>
          <a:prstGeom prst="line">
            <a:avLst/>
          </a:prstGeom>
          <a:ln w="19050" cap="flat">
            <a:solidFill>
              <a:srgbClr val="0283F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7" name="Freeform 5">
            <a:extLst>
              <a:ext uri="{FF2B5EF4-FFF2-40B4-BE49-F238E27FC236}">
                <a16:creationId xmlns:a16="http://schemas.microsoft.com/office/drawing/2014/main" id="{94D286E8-3322-AD96-91F3-153C458A85F4}"/>
              </a:ext>
            </a:extLst>
          </p:cNvPr>
          <p:cNvSpPr/>
          <p:nvPr/>
        </p:nvSpPr>
        <p:spPr>
          <a:xfrm>
            <a:off x="1111666" y="355081"/>
            <a:ext cx="4247850" cy="631936"/>
          </a:xfrm>
          <a:custGeom>
            <a:avLst/>
            <a:gdLst/>
            <a:ahLst/>
            <a:cxnLst/>
            <a:rect l="l" t="t" r="r" b="b"/>
            <a:pathLst>
              <a:path w="4247850" h="631936">
                <a:moveTo>
                  <a:pt x="0" y="0"/>
                </a:moveTo>
                <a:lnTo>
                  <a:pt x="4247850" y="0"/>
                </a:lnTo>
                <a:lnTo>
                  <a:pt x="4247850" y="631935"/>
                </a:lnTo>
                <a:lnTo>
                  <a:pt x="0" y="63193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5" r="-5"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E038CE6-8574-F7F7-19FD-497C7B1415EF}"/>
              </a:ext>
            </a:extLst>
          </p:cNvPr>
          <p:cNvSpPr txBox="1"/>
          <p:nvPr/>
        </p:nvSpPr>
        <p:spPr>
          <a:xfrm>
            <a:off x="1111666" y="7106062"/>
            <a:ext cx="11918534" cy="22775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dirty="0"/>
              <a:t>Day 4 Review &amp; Test Prep</a:t>
            </a:r>
          </a:p>
          <a:p>
            <a:pPr lvl="1" indent="-487680"/>
            <a:r>
              <a:rPr lang="en-US" altLang="en-US" sz="1400" dirty="0"/>
              <a:t>Domain 4 Concept Review</a:t>
            </a:r>
            <a:endParaRPr lang="en-US" altLang="en-US" sz="1400" dirty="0">
              <a:cs typeface="Arial"/>
            </a:endParaRPr>
          </a:p>
          <a:p>
            <a:pPr lvl="1" indent="-487680"/>
            <a:r>
              <a:rPr lang="en-US" altLang="en-US" sz="1400" dirty="0"/>
              <a:t>Practice Exam 25 Questions</a:t>
            </a:r>
            <a:endParaRPr lang="en-US" altLang="en-US" sz="1400" dirty="0">
              <a:cs typeface="Arial"/>
            </a:endParaRPr>
          </a:p>
          <a:p>
            <a:r>
              <a:rPr lang="en-US" altLang="en-US" dirty="0"/>
              <a:t>Crucial Exams</a:t>
            </a:r>
            <a:endParaRPr lang="en-US" altLang="en-US" dirty="0">
              <a:cs typeface="Arial"/>
            </a:endParaRPr>
          </a:p>
          <a:p>
            <a:pPr lvl="1" indent="-487680"/>
            <a:r>
              <a:rPr lang="en-US" altLang="en-US" sz="1400" dirty="0"/>
              <a:t>Review Quiz Results &amp; Address Weak Areas</a:t>
            </a:r>
            <a:endParaRPr lang="en-US" altLang="en-US" sz="1400" dirty="0">
              <a:cs typeface="Arial"/>
            </a:endParaRPr>
          </a:p>
          <a:p>
            <a:r>
              <a:rPr lang="en-US" altLang="en-US" dirty="0"/>
              <a:t>Evening Assignment</a:t>
            </a:r>
            <a:endParaRPr lang="en-US" altLang="en-US" dirty="0">
              <a:cs typeface="Arial"/>
            </a:endParaRPr>
          </a:p>
          <a:p>
            <a:pPr lvl="1" indent="-487680"/>
            <a:r>
              <a:rPr lang="en-US" altLang="en-US" sz="1400" dirty="0"/>
              <a:t>Google - </a:t>
            </a:r>
            <a:r>
              <a:rPr lang="en-US" altLang="en-US" sz="1100" dirty="0"/>
              <a:t>Research the NIST Incident Response Lifecycle (SP 800-61), SANS Incident Response Process (6 Phases), ITIL Service Management Framework (SecOps Focus)</a:t>
            </a:r>
            <a:endParaRPr lang="en-US" altLang="en-US" sz="1100" dirty="0">
              <a:cs typeface="Arial"/>
            </a:endParaRPr>
          </a:p>
          <a:p>
            <a:pPr lvl="1" indent="-487680"/>
            <a:r>
              <a:rPr lang="en-US" altLang="en-US" sz="1400" dirty="0"/>
              <a:t>Crucial Exams Flashcards - Identity and Access Management Terms and Concepts</a:t>
            </a:r>
            <a:endParaRPr lang="en-US" altLang="en-US" sz="1400" dirty="0">
              <a:cs typeface="Arial"/>
            </a:endParaRPr>
          </a:p>
          <a:p>
            <a:pPr lvl="1" indent="-487680"/>
            <a:r>
              <a:rPr lang="en-US" altLang="en-US" sz="1400" dirty="0"/>
              <a:t>uCertify Lessons</a:t>
            </a:r>
            <a:endParaRPr lang="en-US" altLang="en-US" sz="1400" dirty="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83292047"/>
      </p:ext>
    </p:extLst>
  </p:cSld>
  <p:clrMapOvr>
    <a:masterClrMapping/>
  </p:clrMapOvr>
</p:sld>
</file>

<file path=ppt/slides/slide3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04CDFF-85B2-0FF5-D53D-D6A8A4903A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9FF6521-551E-3746-E9A3-12A447CDF6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Slide </a:t>
            </a:r>
            <a:fld id="{4CA2B2DB-B91D-4166-98BF-65A0DA7EEE6D}" type="slidenum">
              <a:rPr lang="en-US" smtClean="0"/>
              <a:pPr/>
              <a:t>326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3B8A36-4486-D149-FF02-F25D5CB58CF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200" y="2541615"/>
            <a:ext cx="7194550" cy="495300"/>
          </a:xfrm>
        </p:spPr>
        <p:txBody>
          <a:bodyPr/>
          <a:lstStyle/>
          <a:p>
            <a:r>
              <a:rPr lang="en-US" dirty="0"/>
              <a:t>Exam-Critical Topics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ACCDF7-ED1B-C48E-DEC6-6FD818F353D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3162300"/>
            <a:ext cx="8305800" cy="5867400"/>
          </a:xfrm>
        </p:spPr>
        <p:txBody>
          <a:bodyPr/>
          <a:lstStyle/>
          <a:p>
            <a:r>
              <a:rPr lang="en-US" sz="2000" dirty="0"/>
              <a:t>Security Operations &amp; Monitoring — log analysis, SIEM functions, alerting, baselining, anomaly detection</a:t>
            </a:r>
          </a:p>
          <a:p>
            <a:r>
              <a:rPr lang="en-US" sz="2000" dirty="0"/>
              <a:t>Incident Response Procedures — preparation, identification, containment, eradication, recovery, lessons learned</a:t>
            </a:r>
          </a:p>
          <a:p>
            <a:r>
              <a:rPr lang="en-US" sz="2000" dirty="0"/>
              <a:t>Digital Forensics &amp; Investigation — evidence handling, chain of custody, acquisition methods, preservation, analysis</a:t>
            </a:r>
          </a:p>
          <a:p>
            <a:r>
              <a:rPr lang="en-US" sz="2000" dirty="0"/>
              <a:t>Business Continuity &amp; Disaster Recovery — RTO/RPO, continuity planning, backup strategies, failover, resilience</a:t>
            </a:r>
          </a:p>
          <a:p>
            <a:r>
              <a:rPr lang="en-US" sz="2000" dirty="0"/>
              <a:t>Automation &amp; Orchestration — SOAR, playbooks, automated response actions, workflow integration</a:t>
            </a:r>
          </a:p>
          <a:p>
            <a:r>
              <a:rPr lang="en-US" sz="2000" dirty="0"/>
              <a:t>Vulnerability Management Operations — scanning, validation, prioritization, patching cycles, reporting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6D0BC7C1-1558-8F1E-DC84-301F629A0034}"/>
              </a:ext>
            </a:extLst>
          </p:cNvPr>
          <p:cNvSpPr txBox="1">
            <a:spLocks/>
          </p:cNvSpPr>
          <p:nvPr/>
        </p:nvSpPr>
        <p:spPr>
          <a:xfrm>
            <a:off x="10255250" y="2541615"/>
            <a:ext cx="7194550" cy="495300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Foundational Reinforcements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233AD610-4688-A8C8-D70C-8042A8046388}"/>
              </a:ext>
            </a:extLst>
          </p:cNvPr>
          <p:cNvSpPr txBox="1">
            <a:spLocks/>
          </p:cNvSpPr>
          <p:nvPr/>
        </p:nvSpPr>
        <p:spPr>
          <a:xfrm>
            <a:off x="10255250" y="3162300"/>
            <a:ext cx="8032750" cy="3352800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/>
              <a:t>Operational visibility: log sources, telemetry, monitoring points</a:t>
            </a:r>
          </a:p>
          <a:p>
            <a:r>
              <a:rPr lang="en-US" sz="2000" dirty="0"/>
              <a:t>Forensic readiness: documentation, imaging, volatile vs. non‑volatile data</a:t>
            </a:r>
          </a:p>
          <a:p>
            <a:r>
              <a:rPr lang="en-US" sz="2000" dirty="0"/>
              <a:t>Continuity frameworks: tabletop exercises, communication plans, recovery tiers</a:t>
            </a:r>
          </a:p>
          <a:p>
            <a:r>
              <a:rPr lang="en-US" sz="2000" dirty="0"/>
              <a:t>Automation considerations: false positives, tuning, human‑in‑the‑loop controls</a:t>
            </a:r>
          </a:p>
        </p:txBody>
      </p:sp>
    </p:spTree>
    <p:extLst>
      <p:ext uri="{BB962C8B-B14F-4D97-AF65-F5344CB8AC3E}">
        <p14:creationId xmlns:p14="http://schemas.microsoft.com/office/powerpoint/2010/main" val="2164890575"/>
      </p:ext>
    </p:extLst>
  </p:cSld>
  <p:clrMapOvr>
    <a:masterClrMapping/>
  </p:clrMapOvr>
</p:sld>
</file>

<file path=ppt/slides/slide3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377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6F3041-FE82-ADC9-376E-A952001D66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0">
            <a:extLst>
              <a:ext uri="{FF2B5EF4-FFF2-40B4-BE49-F238E27FC236}">
                <a16:creationId xmlns:a16="http://schemas.microsoft.com/office/drawing/2014/main" id="{AB2D4F19-6F46-71E4-D9F7-7227893DAEC9}"/>
              </a:ext>
            </a:extLst>
          </p:cNvPr>
          <p:cNvGrpSpPr/>
          <p:nvPr/>
        </p:nvGrpSpPr>
        <p:grpSpPr>
          <a:xfrm rot="-5400000">
            <a:off x="8462598" y="461598"/>
            <a:ext cx="1362805" cy="18287998"/>
            <a:chOff x="0" y="0"/>
            <a:chExt cx="358928" cy="4840325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4DB3559C-83BE-93E7-6F7D-508CA8D4B772}"/>
                </a:ext>
              </a:extLst>
            </p:cNvPr>
            <p:cNvSpPr/>
            <p:nvPr/>
          </p:nvSpPr>
          <p:spPr>
            <a:xfrm>
              <a:off x="0" y="0"/>
              <a:ext cx="358928" cy="4840325"/>
            </a:xfrm>
            <a:custGeom>
              <a:avLst/>
              <a:gdLst/>
              <a:ahLst/>
              <a:cxnLst/>
              <a:rect l="l" t="t" r="r" b="b"/>
              <a:pathLst>
                <a:path w="358928" h="4840325">
                  <a:moveTo>
                    <a:pt x="0" y="0"/>
                  </a:moveTo>
                  <a:lnTo>
                    <a:pt x="358928" y="0"/>
                  </a:lnTo>
                  <a:lnTo>
                    <a:pt x="358928" y="4840325"/>
                  </a:lnTo>
                  <a:lnTo>
                    <a:pt x="0" y="4840325"/>
                  </a:lnTo>
                  <a:close/>
                </a:path>
              </a:pathLst>
            </a:custGeom>
            <a:solidFill>
              <a:srgbClr val="F5C46E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0358A7AB-10AC-275F-5682-E0204656FDD4}"/>
                </a:ext>
              </a:extLst>
            </p:cNvPr>
            <p:cNvSpPr txBox="1"/>
            <p:nvPr/>
          </p:nvSpPr>
          <p:spPr>
            <a:xfrm>
              <a:off x="0" y="-66675"/>
              <a:ext cx="358928" cy="49070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24"/>
                </a:lnSpc>
              </a:pPr>
              <a:endParaRPr/>
            </a:p>
          </p:txBody>
        </p:sp>
      </p:grpSp>
      <p:sp>
        <p:nvSpPr>
          <p:cNvPr id="13" name="TextBox 13">
            <a:extLst>
              <a:ext uri="{FF2B5EF4-FFF2-40B4-BE49-F238E27FC236}">
                <a16:creationId xmlns:a16="http://schemas.microsoft.com/office/drawing/2014/main" id="{39C69203-B878-2AE5-2842-B355C7327DAA}"/>
              </a:ext>
            </a:extLst>
          </p:cNvPr>
          <p:cNvSpPr txBox="1"/>
          <p:nvPr/>
        </p:nvSpPr>
        <p:spPr>
          <a:xfrm>
            <a:off x="3502264" y="4567400"/>
            <a:ext cx="11283472" cy="10855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394"/>
              </a:lnSpc>
            </a:pPr>
            <a:r>
              <a:rPr lang="en-US" sz="6721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2462069249"/>
      </p:ext>
    </p:extLst>
  </p:cSld>
  <p:clrMapOvr>
    <a:masterClrMapping/>
  </p:clrMapOvr>
</p:sld>
</file>

<file path=ppt/slides/slide3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377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AD74A5C-5F4E-C11E-5258-4D7893BCBE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0">
            <a:extLst>
              <a:ext uri="{FF2B5EF4-FFF2-40B4-BE49-F238E27FC236}">
                <a16:creationId xmlns:a16="http://schemas.microsoft.com/office/drawing/2014/main" id="{224B8AF0-52FA-01E8-9637-095F76E06C46}"/>
              </a:ext>
            </a:extLst>
          </p:cNvPr>
          <p:cNvGrpSpPr/>
          <p:nvPr/>
        </p:nvGrpSpPr>
        <p:grpSpPr>
          <a:xfrm rot="-5400000">
            <a:off x="8462598" y="461598"/>
            <a:ext cx="1362805" cy="18287998"/>
            <a:chOff x="0" y="0"/>
            <a:chExt cx="358928" cy="4840325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F8DCB2D3-ED7B-1458-5D43-1C7BA23B8567}"/>
                </a:ext>
              </a:extLst>
            </p:cNvPr>
            <p:cNvSpPr/>
            <p:nvPr/>
          </p:nvSpPr>
          <p:spPr>
            <a:xfrm>
              <a:off x="0" y="0"/>
              <a:ext cx="358928" cy="4840325"/>
            </a:xfrm>
            <a:custGeom>
              <a:avLst/>
              <a:gdLst/>
              <a:ahLst/>
              <a:cxnLst/>
              <a:rect l="l" t="t" r="r" b="b"/>
              <a:pathLst>
                <a:path w="358928" h="4840325">
                  <a:moveTo>
                    <a:pt x="0" y="0"/>
                  </a:moveTo>
                  <a:lnTo>
                    <a:pt x="358928" y="0"/>
                  </a:lnTo>
                  <a:lnTo>
                    <a:pt x="358928" y="4840325"/>
                  </a:lnTo>
                  <a:lnTo>
                    <a:pt x="0" y="4840325"/>
                  </a:lnTo>
                  <a:close/>
                </a:path>
              </a:pathLst>
            </a:custGeom>
            <a:solidFill>
              <a:srgbClr val="F5C46E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74EBBB4A-48F5-9F0F-F153-E486C80D9721}"/>
                </a:ext>
              </a:extLst>
            </p:cNvPr>
            <p:cNvSpPr txBox="1"/>
            <p:nvPr/>
          </p:nvSpPr>
          <p:spPr>
            <a:xfrm>
              <a:off x="0" y="-66675"/>
              <a:ext cx="358928" cy="49070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24"/>
                </a:lnSpc>
              </a:pPr>
              <a:endParaRPr/>
            </a:p>
          </p:txBody>
        </p:sp>
      </p:grpSp>
      <p:sp>
        <p:nvSpPr>
          <p:cNvPr id="13" name="TextBox 13">
            <a:extLst>
              <a:ext uri="{FF2B5EF4-FFF2-40B4-BE49-F238E27FC236}">
                <a16:creationId xmlns:a16="http://schemas.microsoft.com/office/drawing/2014/main" id="{4E1FE89A-FA4F-F40E-1504-918A3A587069}"/>
              </a:ext>
            </a:extLst>
          </p:cNvPr>
          <p:cNvSpPr txBox="1"/>
          <p:nvPr/>
        </p:nvSpPr>
        <p:spPr>
          <a:xfrm>
            <a:off x="3502264" y="4567400"/>
            <a:ext cx="11283472" cy="9489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394"/>
              </a:lnSpc>
            </a:pPr>
            <a:r>
              <a:rPr lang="en-US" sz="6721" b="1" dirty="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Welcome to Day 5!</a:t>
            </a:r>
          </a:p>
        </p:txBody>
      </p:sp>
    </p:spTree>
    <p:extLst>
      <p:ext uri="{BB962C8B-B14F-4D97-AF65-F5344CB8AC3E}">
        <p14:creationId xmlns:p14="http://schemas.microsoft.com/office/powerpoint/2010/main" val="1145546530"/>
      </p:ext>
    </p:extLst>
  </p:cSld>
  <p:clrMapOvr>
    <a:masterClrMapping/>
  </p:clrMapOvr>
</p:sld>
</file>

<file path=ppt/slides/slide3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0F0DD2-60FA-1595-7ECC-69B7BC1885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5E91A56-FCF6-460F-7523-9539E88CC5D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Day 5 Topics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425361-B401-1441-6A33-53DA9636A7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en-US" dirty="0"/>
              <a:t>Block 1 - Governance &amp; Risk Management</a:t>
            </a:r>
          </a:p>
          <a:p>
            <a:r>
              <a:rPr lang="en-US" altLang="en-US" dirty="0"/>
              <a:t>Block 2 - Compliance &amp; Regulatory Requirements</a:t>
            </a:r>
          </a:p>
          <a:p>
            <a:r>
              <a:rPr lang="en-US" altLang="en-US" dirty="0"/>
              <a:t>Block 3 - Privacy &amp; Data Protection</a:t>
            </a:r>
          </a:p>
          <a:p>
            <a:r>
              <a:rPr lang="en-US" altLang="en-US" dirty="0"/>
              <a:t>Block 4 - Security Awareness &amp; Training</a:t>
            </a:r>
          </a:p>
          <a:p>
            <a:r>
              <a:rPr lang="en-US" altLang="en-US" dirty="0"/>
              <a:t>LUNCH	</a:t>
            </a:r>
          </a:p>
          <a:p>
            <a:r>
              <a:rPr lang="en-US" altLang="en-US" dirty="0"/>
              <a:t>Block 5 - Comprehensive Domain Review</a:t>
            </a:r>
          </a:p>
          <a:p>
            <a:r>
              <a:rPr lang="en-US" altLang="en-US" dirty="0"/>
              <a:t>Block 6 - Final PBQ Workshop</a:t>
            </a:r>
          </a:p>
          <a:p>
            <a:r>
              <a:rPr lang="en-US" altLang="en-US" dirty="0"/>
              <a:t>Block 7 - Final Exam Strategies &amp; Tips</a:t>
            </a:r>
          </a:p>
          <a:p>
            <a:r>
              <a:rPr lang="en-US" altLang="en-US" dirty="0"/>
              <a:t>Block 8 - Final Practice Exam &amp; Scheduling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2661968"/>
      </p:ext>
    </p:extLst>
  </p:cSld>
  <p:clrMapOvr>
    <a:masterClrMapping/>
  </p:clrMapOvr>
</p:sld>
</file>

<file path=ppt/slides/slide3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A15BF3-AF93-7596-E6A4-3374C04188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6039173-D98D-6455-5773-5624FC75D9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Slide </a:t>
            </a:r>
            <a:fld id="{4CA2B2DB-B91D-4166-98BF-65A0DA7EEE6D}" type="slidenum">
              <a:rPr lang="en-US" smtClean="0"/>
              <a:pPr/>
              <a:t>330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C36DCB-5F99-C710-5CE4-A75C084E20F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Carrying Forward Concepts…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1B2A9F-5FEB-2D35-2810-B00B58796563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sz="2800" dirty="0"/>
              <a:t>Security operations &amp; monitoring — SIEM functions, log analysis, alerting, baselining, anomaly detection</a:t>
            </a:r>
          </a:p>
          <a:p>
            <a:r>
              <a:rPr lang="en-US" sz="2800" dirty="0"/>
              <a:t>Incident response lifecycle — preparation, identification, containment, eradication, recovery, lessons learned</a:t>
            </a:r>
          </a:p>
          <a:p>
            <a:r>
              <a:rPr lang="en-US" sz="2800" dirty="0"/>
              <a:t>Digital forensics fundamentals — evidence handling, chain of custody, acquisition methods, preservation, analysis</a:t>
            </a:r>
          </a:p>
          <a:p>
            <a:r>
              <a:rPr lang="en-US" sz="2800" dirty="0"/>
              <a:t>Business continuity &amp; disaster recovery — RTO/RPO, backup strategies, failover, continuity planning</a:t>
            </a:r>
          </a:p>
          <a:p>
            <a:r>
              <a:rPr lang="en-US" sz="2800" dirty="0"/>
              <a:t>Automation &amp; orchestration — SOAR, playbooks, automated response actions, workflow integration</a:t>
            </a:r>
          </a:p>
          <a:p>
            <a:r>
              <a:rPr lang="en-US" sz="2800" dirty="0"/>
              <a:t>Vulnerability management operations — scanning, validation, prioritization, patching cycles, reporting</a:t>
            </a:r>
          </a:p>
        </p:txBody>
      </p:sp>
    </p:spTree>
    <p:extLst>
      <p:ext uri="{BB962C8B-B14F-4D97-AF65-F5344CB8AC3E}">
        <p14:creationId xmlns:p14="http://schemas.microsoft.com/office/powerpoint/2010/main" val="3539375188"/>
      </p:ext>
    </p:extLst>
  </p:cSld>
  <p:clrMapOvr>
    <a:masterClrMapping/>
  </p:clrMapOvr>
</p:sld>
</file>

<file path=ppt/slides/slide3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15194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24125C-20FA-7B4F-DBB1-8C79FE9621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D8847767-4C82-7751-1C71-84596148A917}"/>
              </a:ext>
            </a:extLst>
          </p:cNvPr>
          <p:cNvGrpSpPr/>
          <p:nvPr/>
        </p:nvGrpSpPr>
        <p:grpSpPr>
          <a:xfrm rot="-5400000">
            <a:off x="12015831" y="4014831"/>
            <a:ext cx="10287000" cy="2257339"/>
            <a:chOff x="0" y="0"/>
            <a:chExt cx="2709333" cy="59452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136E8A57-5BAC-2712-BC3C-CBDD5C867028}"/>
                </a:ext>
              </a:extLst>
            </p:cNvPr>
            <p:cNvSpPr/>
            <p:nvPr/>
          </p:nvSpPr>
          <p:spPr>
            <a:xfrm>
              <a:off x="0" y="0"/>
              <a:ext cx="2709333" cy="594525"/>
            </a:xfrm>
            <a:custGeom>
              <a:avLst/>
              <a:gdLst/>
              <a:ahLst/>
              <a:cxnLst/>
              <a:rect l="l" t="t" r="r" b="b"/>
              <a:pathLst>
                <a:path w="2709333" h="594525">
                  <a:moveTo>
                    <a:pt x="0" y="0"/>
                  </a:moveTo>
                  <a:lnTo>
                    <a:pt x="2709333" y="0"/>
                  </a:lnTo>
                  <a:lnTo>
                    <a:pt x="2709333" y="594525"/>
                  </a:lnTo>
                  <a:lnTo>
                    <a:pt x="0" y="594525"/>
                  </a:lnTo>
                  <a:close/>
                </a:path>
              </a:pathLst>
            </a:custGeom>
            <a:solidFill>
              <a:srgbClr val="0283FD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15A48135-C42E-40E3-8743-7E715E06FFA8}"/>
                </a:ext>
              </a:extLst>
            </p:cNvPr>
            <p:cNvSpPr txBox="1"/>
            <p:nvPr/>
          </p:nvSpPr>
          <p:spPr>
            <a:xfrm>
              <a:off x="0" y="-66675"/>
              <a:ext cx="2709333" cy="6612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3024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AE0ABD6E-1720-3387-41CC-56F117B196BA}"/>
              </a:ext>
            </a:extLst>
          </p:cNvPr>
          <p:cNvGrpSpPr/>
          <p:nvPr/>
        </p:nvGrpSpPr>
        <p:grpSpPr>
          <a:xfrm>
            <a:off x="179467" y="6643814"/>
            <a:ext cx="8126333" cy="3488267"/>
            <a:chOff x="0" y="0"/>
            <a:chExt cx="844714" cy="36259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BC23B9A8-9068-415A-A0F9-2CC79ABA9DCD}"/>
                </a:ext>
              </a:extLst>
            </p:cNvPr>
            <p:cNvSpPr/>
            <p:nvPr/>
          </p:nvSpPr>
          <p:spPr>
            <a:xfrm>
              <a:off x="0" y="0"/>
              <a:ext cx="844714" cy="362598"/>
            </a:xfrm>
            <a:custGeom>
              <a:avLst/>
              <a:gdLst/>
              <a:ahLst/>
              <a:cxnLst/>
              <a:rect l="l" t="t" r="r" b="b"/>
              <a:pathLst>
                <a:path w="844714" h="362598">
                  <a:moveTo>
                    <a:pt x="203200" y="0"/>
                  </a:moveTo>
                  <a:lnTo>
                    <a:pt x="844714" y="0"/>
                  </a:lnTo>
                  <a:lnTo>
                    <a:pt x="641514" y="362598"/>
                  </a:lnTo>
                  <a:lnTo>
                    <a:pt x="0" y="362598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283FD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E3D7BE23-DFB2-22B0-C6BC-57EFAF8260B2}"/>
                </a:ext>
              </a:extLst>
            </p:cNvPr>
            <p:cNvSpPr txBox="1"/>
            <p:nvPr/>
          </p:nvSpPr>
          <p:spPr>
            <a:xfrm>
              <a:off x="101600" y="-28575"/>
              <a:ext cx="641514" cy="391173"/>
            </a:xfrm>
            <a:prstGeom prst="rect">
              <a:avLst/>
            </a:prstGeom>
          </p:spPr>
          <p:txBody>
            <a:bodyPr lIns="47790" tIns="47790" rIns="47790" bIns="4779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1843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799644CA-90F0-85CA-EC55-25562CDFF76F}"/>
              </a:ext>
            </a:extLst>
          </p:cNvPr>
          <p:cNvGrpSpPr/>
          <p:nvPr/>
        </p:nvGrpSpPr>
        <p:grpSpPr>
          <a:xfrm>
            <a:off x="-73552" y="7047924"/>
            <a:ext cx="16030661" cy="3336996"/>
            <a:chOff x="0" y="0"/>
            <a:chExt cx="6165409" cy="1271237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849EA66E-A755-E0AA-EDEB-735B55EFD786}"/>
                </a:ext>
              </a:extLst>
            </p:cNvPr>
            <p:cNvSpPr/>
            <p:nvPr/>
          </p:nvSpPr>
          <p:spPr>
            <a:xfrm>
              <a:off x="0" y="0"/>
              <a:ext cx="6165409" cy="1271237"/>
            </a:xfrm>
            <a:custGeom>
              <a:avLst/>
              <a:gdLst/>
              <a:ahLst/>
              <a:cxnLst/>
              <a:rect l="l" t="t" r="r" b="b"/>
              <a:pathLst>
                <a:path w="6165409" h="1271237">
                  <a:moveTo>
                    <a:pt x="0" y="0"/>
                  </a:moveTo>
                  <a:lnTo>
                    <a:pt x="6165409" y="0"/>
                  </a:lnTo>
                  <a:lnTo>
                    <a:pt x="6165409" y="1271237"/>
                  </a:lnTo>
                  <a:lnTo>
                    <a:pt x="0" y="127123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FFE028FD-993E-A0C4-23DB-35EC959B83FC}"/>
                </a:ext>
              </a:extLst>
            </p:cNvPr>
            <p:cNvSpPr txBox="1"/>
            <p:nvPr/>
          </p:nvSpPr>
          <p:spPr>
            <a:xfrm>
              <a:off x="0" y="-28575"/>
              <a:ext cx="6165409" cy="1299812"/>
            </a:xfrm>
            <a:prstGeom prst="rect">
              <a:avLst/>
            </a:prstGeom>
          </p:spPr>
          <p:txBody>
            <a:bodyPr lIns="47790" tIns="47790" rIns="47790" bIns="4779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1843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sp>
        <p:nvSpPr>
          <p:cNvPr id="12" name="TextBox 12">
            <a:extLst>
              <a:ext uri="{FF2B5EF4-FFF2-40B4-BE49-F238E27FC236}">
                <a16:creationId xmlns:a16="http://schemas.microsoft.com/office/drawing/2014/main" id="{51A85875-13BF-4FF8-D5DD-3993BD883397}"/>
              </a:ext>
            </a:extLst>
          </p:cNvPr>
          <p:cNvSpPr txBox="1"/>
          <p:nvPr/>
        </p:nvSpPr>
        <p:spPr>
          <a:xfrm>
            <a:off x="1111666" y="3432993"/>
            <a:ext cx="14771892" cy="598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4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Day 5 – Block 1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6E36CF27-EA43-C24D-FEE3-1BB714291FF5}"/>
              </a:ext>
            </a:extLst>
          </p:cNvPr>
          <p:cNvSpPr txBox="1"/>
          <p:nvPr/>
        </p:nvSpPr>
        <p:spPr>
          <a:xfrm>
            <a:off x="1111666" y="9653992"/>
            <a:ext cx="12263263" cy="3619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0" i="0" u="none" strike="noStrike" kern="1200" cap="none" spc="0" normalizeH="0" baseline="0" noProof="0">
                <a:ln>
                  <a:noFill/>
                </a:ln>
                <a:solidFill>
                  <a:srgbClr val="252525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CALIFORNIA INSTITUTE OF APPLIED TECHNOLOGY</a:t>
            </a:r>
          </a:p>
        </p:txBody>
      </p:sp>
      <p:sp>
        <p:nvSpPr>
          <p:cNvPr id="15" name="AutoShape 15">
            <a:extLst>
              <a:ext uri="{FF2B5EF4-FFF2-40B4-BE49-F238E27FC236}">
                <a16:creationId xmlns:a16="http://schemas.microsoft.com/office/drawing/2014/main" id="{7C271D5F-6D57-A57E-D54F-79BA9C6CB440}"/>
              </a:ext>
            </a:extLst>
          </p:cNvPr>
          <p:cNvSpPr/>
          <p:nvPr/>
        </p:nvSpPr>
        <p:spPr>
          <a:xfrm>
            <a:off x="8010568" y="9858838"/>
            <a:ext cx="7625672" cy="0"/>
          </a:xfrm>
          <a:prstGeom prst="line">
            <a:avLst/>
          </a:prstGeom>
          <a:ln w="19050" cap="flat">
            <a:solidFill>
              <a:srgbClr val="0283F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7" name="Freeform 5">
            <a:extLst>
              <a:ext uri="{FF2B5EF4-FFF2-40B4-BE49-F238E27FC236}">
                <a16:creationId xmlns:a16="http://schemas.microsoft.com/office/drawing/2014/main" id="{E55D516C-ABF0-710C-EB0B-D6C5B1DE15A5}"/>
              </a:ext>
            </a:extLst>
          </p:cNvPr>
          <p:cNvSpPr/>
          <p:nvPr/>
        </p:nvSpPr>
        <p:spPr>
          <a:xfrm>
            <a:off x="1111666" y="355081"/>
            <a:ext cx="4247850" cy="631936"/>
          </a:xfrm>
          <a:custGeom>
            <a:avLst/>
            <a:gdLst/>
            <a:ahLst/>
            <a:cxnLst/>
            <a:rect l="l" t="t" r="r" b="b"/>
            <a:pathLst>
              <a:path w="4247850" h="631936">
                <a:moveTo>
                  <a:pt x="0" y="0"/>
                </a:moveTo>
                <a:lnTo>
                  <a:pt x="4247850" y="0"/>
                </a:lnTo>
                <a:lnTo>
                  <a:pt x="4247850" y="631935"/>
                </a:lnTo>
                <a:lnTo>
                  <a:pt x="0" y="63193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5" r="-5"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4846B54-E411-425B-D86B-E9B27BA00E81}"/>
              </a:ext>
            </a:extLst>
          </p:cNvPr>
          <p:cNvSpPr txBox="1"/>
          <p:nvPr/>
        </p:nvSpPr>
        <p:spPr>
          <a:xfrm>
            <a:off x="1111666" y="7106062"/>
            <a:ext cx="11918534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2400" dirty="0"/>
              <a:t>Governance &amp; Risk Management</a:t>
            </a:r>
          </a:p>
          <a:p>
            <a:pPr lvl="1"/>
            <a:r>
              <a:rPr lang="en-US" altLang="en-US" dirty="0"/>
              <a:t>Risk Assessment Methodologies</a:t>
            </a:r>
          </a:p>
          <a:p>
            <a:pPr lvl="1"/>
            <a:r>
              <a:rPr lang="en-US" altLang="en-US" dirty="0"/>
              <a:t>Risk Treatment</a:t>
            </a:r>
          </a:p>
          <a:p>
            <a:pPr lvl="1"/>
            <a:r>
              <a:rPr lang="en-US" altLang="en-US" dirty="0"/>
              <a:t>Governance Frameworks</a:t>
            </a:r>
          </a:p>
        </p:txBody>
      </p:sp>
    </p:spTree>
    <p:extLst>
      <p:ext uri="{BB962C8B-B14F-4D97-AF65-F5344CB8AC3E}">
        <p14:creationId xmlns:p14="http://schemas.microsoft.com/office/powerpoint/2010/main" val="2449223371"/>
      </p:ext>
    </p:extLst>
  </p:cSld>
  <p:clrMapOvr>
    <a:masterClrMapping/>
  </p:clrMapOvr>
</p:sld>
</file>

<file path=ppt/slides/slide3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F88C26-2EF4-ECD1-0726-FA87C538D6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8A00C72-52EE-70DB-0885-CAAD479429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Slide </a:t>
            </a:r>
            <a:fld id="{4CA2B2DB-B91D-4166-98BF-65A0DA7EEE6D}" type="slidenum">
              <a:rPr kumimoji="0" lang="en-US" sz="1800" b="0" i="1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332</a:t>
            </a:fld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508467-8642-9383-A37F-522B8832B522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2536823"/>
            <a:ext cx="16192500" cy="6416677"/>
          </a:xfrm>
        </p:spPr>
        <p:txBody>
          <a:bodyPr/>
          <a:lstStyle/>
          <a:p>
            <a:pPr marL="0" indent="0">
              <a:spcBef>
                <a:spcPts val="900"/>
              </a:spcBef>
              <a:buNone/>
            </a:pPr>
            <a:r>
              <a:rPr lang="en-US" altLang="en-US" sz="3900" b="1" dirty="0"/>
              <a:t>Risk identification</a:t>
            </a:r>
            <a:r>
              <a:rPr lang="en-US" altLang="en-US" sz="3900" dirty="0"/>
              <a:t>: Systematically recognizing, documenting, and understanding potential threats, vulnerabilities, and hazards that could impact an organization's assets, operations, or objectives</a:t>
            </a:r>
            <a:endParaRPr lang="en-US" altLang="en-US" sz="3900" b="1" dirty="0"/>
          </a:p>
          <a:p>
            <a:pPr>
              <a:spcBef>
                <a:spcPts val="900"/>
              </a:spcBef>
            </a:pPr>
            <a:r>
              <a:rPr lang="en-US" altLang="en-US" sz="3600" dirty="0"/>
              <a:t>Cybersecurity threats</a:t>
            </a:r>
          </a:p>
          <a:p>
            <a:pPr>
              <a:spcBef>
                <a:spcPts val="900"/>
              </a:spcBef>
            </a:pPr>
            <a:r>
              <a:rPr lang="en-US" altLang="en-US" sz="3600" dirty="0"/>
              <a:t>Natural disasters</a:t>
            </a:r>
          </a:p>
          <a:p>
            <a:pPr>
              <a:spcBef>
                <a:spcPts val="900"/>
              </a:spcBef>
            </a:pPr>
            <a:r>
              <a:rPr lang="en-US" altLang="en-US" sz="3600" dirty="0"/>
              <a:t>Regulatory risks</a:t>
            </a:r>
          </a:p>
          <a:p>
            <a:pPr>
              <a:spcBef>
                <a:spcPts val="900"/>
              </a:spcBef>
            </a:pPr>
            <a:r>
              <a:rPr lang="en-US" altLang="en-US" sz="3600" dirty="0"/>
              <a:t>Supply chain risks</a:t>
            </a:r>
          </a:p>
          <a:p>
            <a:pPr>
              <a:spcBef>
                <a:spcPts val="900"/>
              </a:spcBef>
            </a:pPr>
            <a:r>
              <a:rPr lang="en-US" altLang="en-US" sz="3600" dirty="0"/>
              <a:t>Human errors</a:t>
            </a:r>
          </a:p>
          <a:p>
            <a:pPr>
              <a:spcBef>
                <a:spcPts val="900"/>
              </a:spcBef>
            </a:pPr>
            <a:endParaRPr lang="en-US" alt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509B9A0-64D3-4D4B-CC91-4199088F6C8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EF9E5A5C-B59E-3122-5458-39861D4C05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54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Risk Identification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3534341764"/>
      </p:ext>
    </p:extLst>
  </p:cSld>
  <p:clrMapOvr>
    <a:masterClrMapping/>
  </p:clrMapOvr>
</p:sld>
</file>

<file path=ppt/slides/slide3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18095C-A86A-8EB9-1027-08ABC4605D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204F4A2-559A-D715-B620-31F3432842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Slide </a:t>
            </a:r>
            <a:fld id="{4CA2B2DB-B91D-4166-98BF-65A0DA7EEE6D}" type="slidenum">
              <a:rPr kumimoji="0" lang="en-US" sz="1800" b="0" i="1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333</a:t>
            </a:fld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071592-1E43-C336-AFF9-9994119040F6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2536823"/>
            <a:ext cx="16192500" cy="6416677"/>
          </a:xfrm>
        </p:spPr>
        <p:txBody>
          <a:bodyPr/>
          <a:lstStyle/>
          <a:p>
            <a:pPr marL="0" indent="0">
              <a:spcBef>
                <a:spcPts val="900"/>
              </a:spcBef>
              <a:buNone/>
            </a:pPr>
            <a:r>
              <a:rPr lang="en-US" altLang="en-US" sz="3900" b="1" dirty="0"/>
              <a:t>Risk assessment</a:t>
            </a:r>
            <a:r>
              <a:rPr lang="en-US" altLang="en-US" sz="3900" dirty="0"/>
              <a:t>: Evaluating identified risks to determine their potential likelihood and impact</a:t>
            </a:r>
          </a:p>
          <a:p>
            <a:pPr>
              <a:spcBef>
                <a:spcPts val="900"/>
              </a:spcBef>
            </a:pPr>
            <a:r>
              <a:rPr lang="en-US" altLang="en-US" sz="3600" dirty="0"/>
              <a:t>Ad hoc</a:t>
            </a:r>
          </a:p>
          <a:p>
            <a:pPr>
              <a:spcBef>
                <a:spcPts val="900"/>
              </a:spcBef>
            </a:pPr>
            <a:r>
              <a:rPr lang="en-US" altLang="en-US" sz="3600" dirty="0"/>
              <a:t>Recurring</a:t>
            </a:r>
          </a:p>
          <a:p>
            <a:pPr>
              <a:spcBef>
                <a:spcPts val="900"/>
              </a:spcBef>
            </a:pPr>
            <a:r>
              <a:rPr lang="en-US" altLang="en-US" sz="3600" dirty="0"/>
              <a:t>One-time</a:t>
            </a:r>
          </a:p>
          <a:p>
            <a:pPr>
              <a:spcBef>
                <a:spcPts val="900"/>
              </a:spcBef>
            </a:pPr>
            <a:r>
              <a:rPr lang="en-US" altLang="en-US" sz="3600" dirty="0"/>
              <a:t>Continuous</a:t>
            </a:r>
          </a:p>
          <a:p>
            <a:pPr>
              <a:spcBef>
                <a:spcPts val="900"/>
              </a:spcBef>
            </a:pPr>
            <a:endParaRPr lang="en-US" alt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0B865A8-043F-1643-EEBA-4C8C74EFEA9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F76C34C-ADC8-054B-9567-88B2BBFB6D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54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Risk Assessment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239991416"/>
      </p:ext>
    </p:extLst>
  </p:cSld>
  <p:clrMapOvr>
    <a:masterClrMapping/>
  </p:clrMapOvr>
</p:sld>
</file>

<file path=ppt/slides/slide3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8B6EC0-E2E6-D5AB-D464-124BCD67D5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D457A75-824C-2F91-330C-3C8ACC3D82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Slide </a:t>
            </a:r>
            <a:fld id="{4CA2B2DB-B91D-4166-98BF-65A0DA7EEE6D}" type="slidenum">
              <a:rPr kumimoji="0" lang="en-US" sz="1800" b="0" i="1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334</a:t>
            </a:fld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AF576A-950F-A775-8BE6-B776B4F3FFBC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2536823"/>
            <a:ext cx="16192500" cy="6416677"/>
          </a:xfrm>
        </p:spPr>
        <p:txBody>
          <a:bodyPr/>
          <a:lstStyle/>
          <a:p>
            <a:pPr marL="0" indent="0">
              <a:spcBef>
                <a:spcPts val="900"/>
              </a:spcBef>
              <a:buNone/>
            </a:pPr>
            <a:r>
              <a:rPr lang="en-US" altLang="en-US" sz="3900" b="1" dirty="0"/>
              <a:t>Risk analysis: </a:t>
            </a:r>
            <a:r>
              <a:rPr lang="en-US" altLang="en-US" sz="3900" dirty="0"/>
              <a:t>Delving deep into each identified risk, examining specific details and characteristics</a:t>
            </a:r>
          </a:p>
          <a:p>
            <a:pPr marL="685800" indent="-685800">
              <a:spcBef>
                <a:spcPts val="900"/>
              </a:spcBef>
              <a:buAutoNum type="arabicParenR"/>
            </a:pPr>
            <a:r>
              <a:rPr lang="en-US" altLang="en-US" sz="3600" dirty="0"/>
              <a:t>Identify assets</a:t>
            </a:r>
          </a:p>
          <a:p>
            <a:pPr marL="685800" indent="-685800">
              <a:spcBef>
                <a:spcPts val="900"/>
              </a:spcBef>
              <a:buAutoNum type="arabicParenR"/>
            </a:pPr>
            <a:r>
              <a:rPr lang="en-US" altLang="en-US" sz="3600" dirty="0"/>
              <a:t>Identify vulnerabilities</a:t>
            </a:r>
          </a:p>
          <a:p>
            <a:pPr marL="685800" indent="-685800">
              <a:spcBef>
                <a:spcPts val="900"/>
              </a:spcBef>
              <a:buAutoNum type="arabicParenR"/>
            </a:pPr>
            <a:r>
              <a:rPr lang="en-US" altLang="en-US" sz="3600" dirty="0"/>
              <a:t>Identify threats and threat likelihood</a:t>
            </a:r>
          </a:p>
          <a:p>
            <a:pPr marL="685800" indent="-685800">
              <a:spcBef>
                <a:spcPts val="900"/>
              </a:spcBef>
              <a:buAutoNum type="arabicParenR"/>
            </a:pPr>
            <a:r>
              <a:rPr lang="en-US" altLang="en-US" sz="3600" dirty="0"/>
              <a:t>Assess potential impact</a:t>
            </a:r>
          </a:p>
          <a:p>
            <a:pPr marL="685800" indent="-685800">
              <a:spcBef>
                <a:spcPts val="900"/>
              </a:spcBef>
              <a:buAutoNum type="arabicParenR"/>
            </a:pPr>
            <a:endParaRPr lang="en-US" altLang="en-US" sz="3600" dirty="0"/>
          </a:p>
          <a:p>
            <a:pPr marL="0" indent="0">
              <a:spcBef>
                <a:spcPts val="900"/>
              </a:spcBef>
              <a:buNone/>
            </a:pPr>
            <a:r>
              <a:rPr lang="en-US" altLang="en-US" sz="3900" dirty="0"/>
              <a:t>A </a:t>
            </a:r>
            <a:r>
              <a:rPr lang="en-US" altLang="en-US" sz="3900" b="1" dirty="0"/>
              <a:t>risk register </a:t>
            </a:r>
            <a:r>
              <a:rPr lang="en-US" altLang="en-US" sz="3900" dirty="0"/>
              <a:t>is useful for tracking issues and remedies. </a:t>
            </a:r>
          </a:p>
          <a:p>
            <a:pPr>
              <a:spcBef>
                <a:spcPts val="900"/>
              </a:spcBef>
            </a:pPr>
            <a:endParaRPr lang="en-US" alt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245C911-74E2-49A2-0C6A-FAE0B203173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9BABE1F-CC72-120D-EEF4-CE123A812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54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Risk Analysis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629962913"/>
      </p:ext>
    </p:extLst>
  </p:cSld>
  <p:clrMapOvr>
    <a:masterClrMapping/>
  </p:clrMapOvr>
</p:sld>
</file>

<file path=ppt/slides/slide3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020964-C060-1EED-9CD6-1804510C5D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969C2ED-33DF-07E9-FA51-FAB9CDC7B7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Slide </a:t>
            </a:r>
            <a:fld id="{4CA2B2DB-B91D-4166-98BF-65A0DA7EEE6D}" type="slidenum">
              <a:rPr kumimoji="0" lang="en-US" sz="1800" b="0" i="1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335</a:t>
            </a:fld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3A5B2E-1456-E4E4-616B-131F4ECF1F3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4571" y="4686300"/>
            <a:ext cx="7239000" cy="1127125"/>
          </a:xfrm>
        </p:spPr>
        <p:txBody>
          <a:bodyPr/>
          <a:lstStyle/>
          <a:p>
            <a:pPr marL="0" indent="0">
              <a:buNone/>
            </a:pPr>
            <a:r>
              <a:rPr lang="en-US" sz="4000" dirty="0"/>
              <a:t>Results of a risk assessment</a:t>
            </a:r>
          </a:p>
          <a:p>
            <a:pPr>
              <a:spcBef>
                <a:spcPts val="900"/>
              </a:spcBef>
            </a:pPr>
            <a:endParaRPr lang="en-US" alt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84D97F5-E1F3-3D51-9FCE-1D41724B479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8C20EA0-5739-0370-6730-9A01387068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54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Risk </a:t>
            </a:r>
            <a:r>
              <a:rPr lang="en-US" sz="5400" b="0" kern="0" dirty="0">
                <a:solidFill>
                  <a:srgbClr val="0B0506"/>
                </a:solidFill>
                <a:latin typeface="Arial"/>
              </a:rPr>
              <a:t>Matrix / Heat Map</a:t>
            </a:r>
            <a:endParaRPr lang="en-US" i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6BA89A9-CA16-8940-C980-B8EE256443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3571" y="2536823"/>
            <a:ext cx="6737704" cy="6310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4389564"/>
      </p:ext>
    </p:extLst>
  </p:cSld>
  <p:clrMapOvr>
    <a:masterClrMapping/>
  </p:clrMapOvr>
</p:sld>
</file>

<file path=ppt/slides/slide3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A9D826-0C7A-9C59-C0C5-C726AA1377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8A5FDAD-BC6E-79DC-E825-34B422A8FE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Slide </a:t>
            </a:r>
            <a:fld id="{4CA2B2DB-B91D-4166-98BF-65A0DA7EEE6D}" type="slidenum">
              <a:rPr kumimoji="0" lang="en-US" sz="1800" b="0" i="1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336</a:t>
            </a:fld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7988CE-01E9-4C81-0EF9-DB0C2D247042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2536823"/>
            <a:ext cx="16192500" cy="6416677"/>
          </a:xfrm>
        </p:spPr>
        <p:txBody>
          <a:bodyPr/>
          <a:lstStyle/>
          <a:p>
            <a:pPr marL="0" indent="0">
              <a:spcBef>
                <a:spcPts val="900"/>
              </a:spcBef>
              <a:buNone/>
            </a:pPr>
            <a:r>
              <a:rPr lang="en-US" altLang="en-US" sz="4400" b="1" dirty="0"/>
              <a:t>Qualitative </a:t>
            </a:r>
            <a:r>
              <a:rPr lang="en-US" altLang="en-US" sz="4000" b="1" dirty="0"/>
              <a:t> </a:t>
            </a:r>
          </a:p>
          <a:p>
            <a:pPr>
              <a:spcBef>
                <a:spcPts val="900"/>
              </a:spcBef>
            </a:pPr>
            <a:r>
              <a:rPr lang="en-US" altLang="en-US" sz="4000" dirty="0"/>
              <a:t>Assigns numeric values based on the probability and impact of risks, without assigning monetary values</a:t>
            </a:r>
          </a:p>
          <a:p>
            <a:pPr>
              <a:spcBef>
                <a:spcPts val="900"/>
              </a:spcBef>
            </a:pPr>
            <a:r>
              <a:rPr lang="en-US" altLang="en-US" sz="4000" dirty="0"/>
              <a:t>Uses ranges to represent probability and impact, such as 1 to 10 or 1 to 100</a:t>
            </a:r>
          </a:p>
          <a:p>
            <a:pPr>
              <a:spcBef>
                <a:spcPts val="900"/>
              </a:spcBef>
            </a:pPr>
            <a:endParaRPr lang="en-US" altLang="en-US" sz="1400" dirty="0"/>
          </a:p>
          <a:p>
            <a:pPr marL="0" indent="0">
              <a:spcBef>
                <a:spcPts val="900"/>
              </a:spcBef>
              <a:buNone/>
            </a:pPr>
            <a:r>
              <a:rPr lang="en-US" altLang="en-US" sz="4400" b="1" dirty="0"/>
              <a:t>Quantitative  </a:t>
            </a:r>
          </a:p>
          <a:p>
            <a:pPr>
              <a:spcBef>
                <a:spcPts val="900"/>
              </a:spcBef>
            </a:pPr>
            <a:r>
              <a:rPr lang="en-US" altLang="en-US" sz="4000" dirty="0"/>
              <a:t>Assigns exact monetary values to risks and losses</a:t>
            </a:r>
          </a:p>
          <a:p>
            <a:pPr>
              <a:spcBef>
                <a:spcPts val="900"/>
              </a:spcBef>
            </a:pPr>
            <a:r>
              <a:rPr lang="en-US" altLang="en-US" sz="4000" dirty="0"/>
              <a:t>Calculates expected yearly loss in dollars for specific risks</a:t>
            </a:r>
          </a:p>
          <a:p>
            <a:pPr>
              <a:spcBef>
                <a:spcPts val="900"/>
              </a:spcBef>
            </a:pPr>
            <a:endParaRPr lang="en-US" alt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71D5376-C224-120E-175D-820FD8E2940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EA37C07-F635-C147-A292-26757AD6A8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48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Qualitative Risk Analysis vs Quantitative Risk Analysis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2835091976"/>
      </p:ext>
    </p:extLst>
  </p:cSld>
  <p:clrMapOvr>
    <a:masterClrMapping/>
  </p:clrMapOvr>
</p:sld>
</file>

<file path=ppt/slides/slide3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E8BBAD-1E49-A5AF-6284-727FA3C1C7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59B9A83-D054-A5FD-7C11-FEC1E73301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Slide </a:t>
            </a:r>
            <a:fld id="{4CA2B2DB-B91D-4166-98BF-65A0DA7EEE6D}" type="slidenum">
              <a:rPr kumimoji="0" lang="en-US" sz="1800" b="0" i="1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337</a:t>
            </a:fld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6443DA-E30C-D048-CE70-793CE88B19A4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2536823"/>
            <a:ext cx="16192500" cy="5273677"/>
          </a:xfrm>
        </p:spPr>
        <p:txBody>
          <a:bodyPr/>
          <a:lstStyle/>
          <a:p>
            <a:pPr marL="0" indent="0">
              <a:spcBef>
                <a:spcPts val="900"/>
              </a:spcBef>
              <a:buNone/>
            </a:pPr>
            <a:r>
              <a:rPr lang="en-US" altLang="en-US" sz="3900" dirty="0"/>
              <a:t>Three key values used in quantitative risk calculations: </a:t>
            </a:r>
          </a:p>
          <a:p>
            <a:pPr>
              <a:spcBef>
                <a:spcPts val="900"/>
              </a:spcBef>
            </a:pPr>
            <a:r>
              <a:rPr lang="en-US" altLang="en-US" sz="3900" b="1" dirty="0"/>
              <a:t>Single loss expectancy (SLE): </a:t>
            </a:r>
            <a:r>
              <a:rPr lang="en-US" altLang="en-US" sz="3900" dirty="0"/>
              <a:t>The loss of value in dollars based on a single incident of a given type</a:t>
            </a:r>
          </a:p>
          <a:p>
            <a:pPr>
              <a:spcBef>
                <a:spcPts val="900"/>
              </a:spcBef>
            </a:pPr>
            <a:endParaRPr lang="en-US" altLang="en-US" sz="1200" dirty="0"/>
          </a:p>
          <a:p>
            <a:pPr>
              <a:spcBef>
                <a:spcPts val="900"/>
              </a:spcBef>
            </a:pPr>
            <a:r>
              <a:rPr lang="en-US" altLang="en-US" sz="3900" b="1" dirty="0"/>
              <a:t>Annualized rate of occurrence (ARO): </a:t>
            </a:r>
            <a:r>
              <a:rPr lang="en-US" altLang="en-US" sz="3900" dirty="0"/>
              <a:t>The number of times per year that the type of incident occurs</a:t>
            </a:r>
          </a:p>
          <a:p>
            <a:pPr>
              <a:spcBef>
                <a:spcPts val="900"/>
              </a:spcBef>
            </a:pPr>
            <a:endParaRPr lang="en-US" altLang="en-US" sz="1200" dirty="0"/>
          </a:p>
          <a:p>
            <a:pPr>
              <a:spcBef>
                <a:spcPts val="900"/>
              </a:spcBef>
            </a:pPr>
            <a:r>
              <a:rPr lang="en-US" altLang="en-US" sz="3900" b="1" dirty="0"/>
              <a:t>Annualized loss expectancy (ALE): </a:t>
            </a:r>
            <a:r>
              <a:rPr lang="en-US" altLang="en-US" sz="3900" dirty="0"/>
              <a:t>Total loss in dollars per year from a type of incident</a:t>
            </a:r>
          </a:p>
          <a:p>
            <a:pPr>
              <a:spcBef>
                <a:spcPts val="900"/>
              </a:spcBef>
            </a:pPr>
            <a:endParaRPr lang="en-US" alt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A8E3CF5-EB57-FEBA-C027-F2EE360BCBF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CA54735-4D04-A458-A03C-D2668690C6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54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Quantitative Risk Calculations</a:t>
            </a:r>
            <a:endParaRPr lang="en-US" i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2BBDD87-E921-40B7-B4F7-99929DDA5D12}"/>
              </a:ext>
            </a:extLst>
          </p:cNvPr>
          <p:cNvSpPr txBox="1"/>
          <p:nvPr/>
        </p:nvSpPr>
        <p:spPr>
          <a:xfrm>
            <a:off x="4300765" y="7878202"/>
            <a:ext cx="9267370" cy="69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 eaLnBrk="1" hangingPunct="1">
              <a:spcBef>
                <a:spcPts val="900"/>
              </a:spcBef>
              <a:buNone/>
            </a:pPr>
            <a:r>
              <a:rPr lang="en-US" altLang="en-US" sz="3900" b="1" dirty="0"/>
              <a:t>SLE x ARO = ALE</a:t>
            </a:r>
          </a:p>
        </p:txBody>
      </p:sp>
    </p:spTree>
    <p:extLst>
      <p:ext uri="{BB962C8B-B14F-4D97-AF65-F5344CB8AC3E}">
        <p14:creationId xmlns:p14="http://schemas.microsoft.com/office/powerpoint/2010/main" val="414287130"/>
      </p:ext>
    </p:extLst>
  </p:cSld>
  <p:clrMapOvr>
    <a:masterClrMapping/>
  </p:clrMapOvr>
</p:sld>
</file>

<file path=ppt/slides/slide3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81EDCA-66E1-1289-4C48-23CC1B691E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D0F3F43-E3B2-3E45-462C-BC68FCCF10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Slide </a:t>
            </a:r>
            <a:fld id="{4CA2B2DB-B91D-4166-98BF-65A0DA7EEE6D}" type="slidenum">
              <a:rPr kumimoji="0" lang="en-US" sz="1800" b="0" i="1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338</a:t>
            </a:fld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50C50A-96A2-BBDF-2CD3-9DF4ACB7229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2536823"/>
            <a:ext cx="16192500" cy="2073277"/>
          </a:xfrm>
        </p:spPr>
        <p:txBody>
          <a:bodyPr/>
          <a:lstStyle/>
          <a:p>
            <a:pPr marL="0" indent="0">
              <a:spcBef>
                <a:spcPts val="900"/>
              </a:spcBef>
              <a:buNone/>
            </a:pPr>
            <a:r>
              <a:rPr lang="en-US" altLang="en-US" sz="3900" b="1" dirty="0"/>
              <a:t>Exposure factor </a:t>
            </a:r>
            <a:r>
              <a:rPr lang="en-US" altLang="en-US" sz="3900" dirty="0"/>
              <a:t>is the percentage of loss that an asset would experience if a threat materialized. It helps calculate SLE (single loss expectancy). </a:t>
            </a:r>
          </a:p>
          <a:p>
            <a:pPr>
              <a:spcBef>
                <a:spcPts val="900"/>
              </a:spcBef>
            </a:pPr>
            <a:endParaRPr lang="en-US" alt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D728AE3-76B4-7853-6E56-995A6E745F1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035A19B-7890-5771-6B0D-19E47B3A78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54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Exposure Factor (EF)</a:t>
            </a:r>
            <a:endParaRPr lang="en-US" i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A98C28-2C29-3E8E-6ECF-007EE2980FB1}"/>
              </a:ext>
            </a:extLst>
          </p:cNvPr>
          <p:cNvSpPr txBox="1"/>
          <p:nvPr/>
        </p:nvSpPr>
        <p:spPr>
          <a:xfrm>
            <a:off x="4300765" y="4451003"/>
            <a:ext cx="926737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900"/>
              </a:spcBef>
            </a:pPr>
            <a:r>
              <a:rPr lang="en-US" altLang="en-US" sz="4000" b="1" dirty="0"/>
              <a:t>SLE = Asset value x EF</a:t>
            </a:r>
            <a:endParaRPr lang="en-US" altLang="en-US" sz="4000" dirty="0"/>
          </a:p>
        </p:txBody>
      </p:sp>
    </p:spTree>
    <p:extLst>
      <p:ext uri="{BB962C8B-B14F-4D97-AF65-F5344CB8AC3E}">
        <p14:creationId xmlns:p14="http://schemas.microsoft.com/office/powerpoint/2010/main" val="3822376731"/>
      </p:ext>
    </p:extLst>
  </p:cSld>
  <p:clrMapOvr>
    <a:masterClrMapping/>
  </p:clrMapOvr>
</p:sld>
</file>

<file path=ppt/slides/slide3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7079E3-4970-2A43-33DD-245F12D12F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336B3B7-2575-029C-EB66-841EA7C807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Slide </a:t>
            </a:r>
            <a:fld id="{4CA2B2DB-B91D-4166-98BF-65A0DA7EEE6D}" type="slidenum">
              <a:rPr kumimoji="0" lang="en-US" sz="1800" b="0" i="1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339</a:t>
            </a:fld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F61059-4289-1ECF-DBEF-AD3DE9EF7ACF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2536823"/>
            <a:ext cx="16192500" cy="4283077"/>
          </a:xfrm>
        </p:spPr>
        <p:txBody>
          <a:bodyPr/>
          <a:lstStyle/>
          <a:p>
            <a:pPr marL="0" indent="0">
              <a:spcBef>
                <a:spcPts val="900"/>
              </a:spcBef>
              <a:buNone/>
            </a:pPr>
            <a:r>
              <a:rPr lang="en-US" altLang="en-US" sz="4400" dirty="0"/>
              <a:t>The terms are similar, but probability uses numbers.  </a:t>
            </a:r>
          </a:p>
          <a:p>
            <a:pPr>
              <a:spcBef>
                <a:spcPts val="900"/>
              </a:spcBef>
            </a:pPr>
            <a:r>
              <a:rPr lang="en-US" altLang="en-US" sz="4000" b="1" dirty="0"/>
              <a:t>Probability </a:t>
            </a:r>
            <a:r>
              <a:rPr lang="en-US" altLang="en-US" sz="4000" dirty="0"/>
              <a:t>quantifies the likelihood of a risk occurring. It’s often expressed as a percentage, and it can be used in calculations.  </a:t>
            </a:r>
          </a:p>
          <a:p>
            <a:pPr>
              <a:spcBef>
                <a:spcPts val="900"/>
              </a:spcBef>
            </a:pPr>
            <a:endParaRPr lang="en-US" altLang="en-US" sz="1400" dirty="0"/>
          </a:p>
          <a:p>
            <a:pPr>
              <a:spcBef>
                <a:spcPts val="900"/>
              </a:spcBef>
            </a:pPr>
            <a:r>
              <a:rPr lang="en-US" altLang="en-US" sz="4000" b="1" dirty="0"/>
              <a:t>Likelihood </a:t>
            </a:r>
            <a:r>
              <a:rPr lang="en-US" altLang="en-US" sz="4000" dirty="0"/>
              <a:t>qualitatively describes the chance of an event occurring, often with a term like “likely” or “highly unlikely.”  </a:t>
            </a:r>
          </a:p>
          <a:p>
            <a:pPr>
              <a:spcBef>
                <a:spcPts val="900"/>
              </a:spcBef>
            </a:pPr>
            <a:endParaRPr lang="en-US" alt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51EE76B-5187-AAAE-7CC5-CA250096B60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CF4CBB3-3203-D086-A717-E178B5C183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54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Probability vs Likelihood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284869182"/>
      </p:ext>
    </p:extLst>
  </p:cSld>
  <p:clrMapOvr>
    <a:masterClrMapping/>
  </p:clrMapOvr>
</p:sld>
</file>

<file path=ppt/slides/slide3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1EC923-AD24-AAC1-D525-47CEC8E0FD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4803E22-4AE8-AA33-DD74-A22124E69A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Slide </a:t>
            </a:r>
            <a:fld id="{4CA2B2DB-B91D-4166-98BF-65A0DA7EEE6D}" type="slidenum">
              <a:rPr kumimoji="0" lang="en-US" sz="1800" b="0" i="1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340</a:t>
            </a:fld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655425-1B48-84FC-81B0-3FB83AC501C4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2536823"/>
            <a:ext cx="16192500" cy="6340477"/>
          </a:xfrm>
        </p:spPr>
        <p:txBody>
          <a:bodyPr/>
          <a:lstStyle/>
          <a:p>
            <a:pPr marL="0" indent="0">
              <a:spcBef>
                <a:spcPts val="900"/>
              </a:spcBef>
              <a:buNone/>
            </a:pPr>
            <a:r>
              <a:rPr lang="en-US" altLang="en-US" sz="4400" b="1" dirty="0"/>
              <a:t>Risk register</a:t>
            </a:r>
            <a:r>
              <a:rPr lang="en-US" altLang="en-US" sz="4400" dirty="0"/>
              <a:t>: Centralized repository for recording identified risks, their characteristics, and management plans. Each risk receives a </a:t>
            </a:r>
            <a:r>
              <a:rPr lang="en-US" altLang="en-US" sz="4400" b="1" dirty="0"/>
              <a:t>risk ID </a:t>
            </a:r>
            <a:r>
              <a:rPr lang="en-US" altLang="en-US" sz="4400" dirty="0"/>
              <a:t>for easy tracking. </a:t>
            </a:r>
          </a:p>
          <a:p>
            <a:pPr>
              <a:spcBef>
                <a:spcPts val="900"/>
              </a:spcBef>
            </a:pPr>
            <a:r>
              <a:rPr lang="en-US" altLang="en-US" sz="4000" b="1" dirty="0"/>
              <a:t>Key risk indicators (KRIs)</a:t>
            </a:r>
            <a:r>
              <a:rPr lang="en-US" altLang="en-US" sz="4000" dirty="0"/>
              <a:t>: Metrics for measuring the potential impact and likelihood of identified risks</a:t>
            </a:r>
          </a:p>
          <a:p>
            <a:pPr>
              <a:spcBef>
                <a:spcPts val="900"/>
              </a:spcBef>
            </a:pPr>
            <a:r>
              <a:rPr lang="en-US" altLang="en-US" sz="4000" b="1" dirty="0"/>
              <a:t>Risk owners</a:t>
            </a:r>
            <a:r>
              <a:rPr lang="en-US" altLang="en-US" sz="4000" dirty="0"/>
              <a:t>: Individuals or departments responsible for managing specific risks</a:t>
            </a:r>
          </a:p>
          <a:p>
            <a:pPr>
              <a:spcBef>
                <a:spcPts val="900"/>
              </a:spcBef>
            </a:pPr>
            <a:r>
              <a:rPr lang="en-US" altLang="en-US" sz="4000" b="1" dirty="0"/>
              <a:t>Risk threshold</a:t>
            </a:r>
            <a:r>
              <a:rPr lang="en-US" altLang="en-US" sz="4000" dirty="0"/>
              <a:t>: Level of risk that an organization is willing to accept before taking action</a:t>
            </a:r>
          </a:p>
          <a:p>
            <a:pPr>
              <a:spcBef>
                <a:spcPts val="900"/>
              </a:spcBef>
            </a:pPr>
            <a:endParaRPr lang="en-US" alt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5F46D77-5BA7-62D0-65F0-5E4604818F9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C9D89CD-A40C-C558-0C23-124D136A16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54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Risk Register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1564817764"/>
      </p:ext>
    </p:extLst>
  </p:cSld>
  <p:clrMapOvr>
    <a:masterClrMapping/>
  </p:clrMapOvr>
</p:sld>
</file>

<file path=ppt/slides/slide3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E60BE9-D10E-14BE-0AF6-3AB83685EC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B102A58-4F83-26C9-4278-4C8A2A3CBF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Slide </a:t>
            </a:r>
            <a:fld id="{4CA2B2DB-B91D-4166-98BF-65A0DA7EEE6D}" type="slidenum">
              <a:rPr kumimoji="0" lang="en-US" sz="1800" b="0" i="1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341</a:t>
            </a:fld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DB05C6-C5F1-935C-EF1D-983F014D8FC9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2536823"/>
            <a:ext cx="16192500" cy="6340477"/>
          </a:xfrm>
        </p:spPr>
        <p:txBody>
          <a:bodyPr/>
          <a:lstStyle/>
          <a:p>
            <a:pPr marL="0" indent="0">
              <a:spcBef>
                <a:spcPts val="900"/>
              </a:spcBef>
              <a:buNone/>
            </a:pPr>
            <a:r>
              <a:rPr lang="en-US" altLang="en-US" sz="4800" b="1" dirty="0"/>
              <a:t>Risk tolerance</a:t>
            </a:r>
            <a:r>
              <a:rPr lang="en-US" altLang="en-US" sz="4800" dirty="0"/>
              <a:t>: The amount of risk an organization is willing to accept as it pursues objectives</a:t>
            </a:r>
          </a:p>
          <a:p>
            <a:pPr>
              <a:spcBef>
                <a:spcPts val="900"/>
              </a:spcBef>
            </a:pPr>
            <a:r>
              <a:rPr lang="en-US" altLang="en-US" sz="4400" dirty="0"/>
              <a:t>Shapes cybersecurity investment </a:t>
            </a:r>
          </a:p>
          <a:p>
            <a:pPr>
              <a:spcBef>
                <a:spcPts val="900"/>
              </a:spcBef>
            </a:pPr>
            <a:r>
              <a:rPr lang="en-US" altLang="en-US" sz="4400" dirty="0"/>
              <a:t>Low risk tolerance leads to heavy investment in multilayered security  </a:t>
            </a:r>
          </a:p>
          <a:p>
            <a:pPr>
              <a:spcBef>
                <a:spcPts val="900"/>
              </a:spcBef>
            </a:pPr>
            <a:r>
              <a:rPr lang="en-US" altLang="en-US" sz="4400" dirty="0"/>
              <a:t>High risk tolerance prioritizes growth over stringent security protocols</a:t>
            </a:r>
          </a:p>
          <a:p>
            <a:pPr>
              <a:spcBef>
                <a:spcPts val="900"/>
              </a:spcBef>
            </a:pPr>
            <a:endParaRPr lang="en-US" alt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4F81FCA-9E93-BBD9-7E49-C98A78AB08D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9C66FD5-1CC1-FE94-165B-3DE1027E1F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54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Risk Tolerance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1014663137"/>
      </p:ext>
    </p:extLst>
  </p:cSld>
  <p:clrMapOvr>
    <a:masterClrMapping/>
  </p:clrMapOvr>
</p:sld>
</file>

<file path=ppt/slides/slide3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CB181F-8A13-05C2-A38F-73DF355D1F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A94A1C4-A997-F695-8959-43B0F99CCC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Slide </a:t>
            </a:r>
            <a:fld id="{4CA2B2DB-B91D-4166-98BF-65A0DA7EEE6D}" type="slidenum">
              <a:rPr kumimoji="0" lang="en-US" sz="1800" b="0" i="1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342</a:t>
            </a:fld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4511C5-CBA0-9937-3460-B99B6B0B88C2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2536823"/>
            <a:ext cx="16192500" cy="6340477"/>
          </a:xfrm>
        </p:spPr>
        <p:txBody>
          <a:bodyPr/>
          <a:lstStyle/>
          <a:p>
            <a:pPr marL="0" indent="0">
              <a:spcBef>
                <a:spcPts val="900"/>
              </a:spcBef>
              <a:buNone/>
            </a:pPr>
            <a:r>
              <a:rPr lang="en-US" altLang="en-US" sz="4800" b="1" dirty="0"/>
              <a:t>Risk appetite</a:t>
            </a:r>
            <a:r>
              <a:rPr lang="en-US" altLang="en-US" sz="4800" dirty="0"/>
              <a:t>: Level of risk an organization is willing to accept to pursue its objectives</a:t>
            </a:r>
          </a:p>
          <a:p>
            <a:pPr>
              <a:spcBef>
                <a:spcPts val="900"/>
              </a:spcBef>
            </a:pPr>
            <a:r>
              <a:rPr lang="en-US" altLang="en-US" sz="4400" b="1" dirty="0"/>
              <a:t>Expansionary</a:t>
            </a:r>
            <a:r>
              <a:rPr lang="en-US" altLang="en-US" sz="4400" dirty="0"/>
              <a:t>: Willing to accept higher risk in exchange for rapid growth  </a:t>
            </a:r>
          </a:p>
          <a:p>
            <a:pPr>
              <a:spcBef>
                <a:spcPts val="900"/>
              </a:spcBef>
            </a:pPr>
            <a:r>
              <a:rPr lang="en-US" altLang="en-US" sz="4400" b="1" dirty="0"/>
              <a:t>Conservative</a:t>
            </a:r>
            <a:r>
              <a:rPr lang="en-US" altLang="en-US" sz="4400" dirty="0"/>
              <a:t>: Prefers lower levels of risk, prioritizing stability and sustainable growth </a:t>
            </a:r>
          </a:p>
          <a:p>
            <a:pPr>
              <a:spcBef>
                <a:spcPts val="900"/>
              </a:spcBef>
            </a:pPr>
            <a:r>
              <a:rPr lang="en-US" altLang="en-US" sz="4400" b="1" dirty="0"/>
              <a:t>Neutral</a:t>
            </a:r>
            <a:r>
              <a:rPr lang="en-US" altLang="en-US" sz="4400" dirty="0"/>
              <a:t>: Balanced approach; accept risk, but not at the expense of stability </a:t>
            </a:r>
          </a:p>
          <a:p>
            <a:pPr>
              <a:spcBef>
                <a:spcPts val="900"/>
              </a:spcBef>
            </a:pPr>
            <a:endParaRPr lang="en-US" alt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C004F74-377B-3D57-E6DE-15648219CB7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B066F48C-6E84-A615-D834-06CE4C0C4B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54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Risk Appetite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3588643833"/>
      </p:ext>
    </p:extLst>
  </p:cSld>
  <p:clrMapOvr>
    <a:masterClrMapping/>
  </p:clrMapOvr>
</p:sld>
</file>

<file path=ppt/slides/slide3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08182B-47D9-7F26-FFE1-106D3CB465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CE094BE-0D42-2323-EE3B-6E59F2500A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Slide </a:t>
            </a:r>
            <a:fld id="{4CA2B2DB-B91D-4166-98BF-65A0DA7EEE6D}" type="slidenum">
              <a:rPr kumimoji="0" lang="en-US" sz="1800" b="0" i="1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343</a:t>
            </a:fld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5A3DD3-0D5D-2A75-23E4-8734B7A283D9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2536823"/>
            <a:ext cx="16192500" cy="6340477"/>
          </a:xfrm>
        </p:spPr>
        <p:txBody>
          <a:bodyPr/>
          <a:lstStyle/>
          <a:p>
            <a:pPr marL="0" indent="0">
              <a:spcBef>
                <a:spcPts val="900"/>
              </a:spcBef>
              <a:buNone/>
            </a:pPr>
            <a:r>
              <a:rPr lang="en-US" altLang="en-US" sz="4800" b="1" dirty="0"/>
              <a:t>Risk management strategies</a:t>
            </a:r>
            <a:r>
              <a:rPr lang="en-US" altLang="en-US" sz="4800" dirty="0"/>
              <a:t>: Systematic approaches to managing and mitigating risks</a:t>
            </a:r>
          </a:p>
          <a:p>
            <a:pPr>
              <a:spcBef>
                <a:spcPts val="900"/>
              </a:spcBef>
            </a:pPr>
            <a:r>
              <a:rPr lang="en-US" altLang="en-US" sz="4400" b="1" dirty="0"/>
              <a:t>Accept </a:t>
            </a:r>
            <a:r>
              <a:rPr lang="en-US" altLang="en-US" sz="4400" dirty="0"/>
              <a:t>some or all consequences of the risk. </a:t>
            </a:r>
          </a:p>
          <a:p>
            <a:pPr>
              <a:spcBef>
                <a:spcPts val="900"/>
              </a:spcBef>
            </a:pPr>
            <a:r>
              <a:rPr lang="en-US" altLang="en-US" sz="4400" b="1" dirty="0"/>
              <a:t>Mitigate</a:t>
            </a:r>
            <a:r>
              <a:rPr lang="en-US" altLang="en-US" sz="4400" dirty="0"/>
              <a:t> the risk. </a:t>
            </a:r>
          </a:p>
          <a:p>
            <a:pPr>
              <a:spcBef>
                <a:spcPts val="900"/>
              </a:spcBef>
            </a:pPr>
            <a:r>
              <a:rPr lang="en-US" altLang="en-US" sz="4400" b="1" dirty="0"/>
              <a:t>Transfer </a:t>
            </a:r>
            <a:r>
              <a:rPr lang="en-US" altLang="en-US" sz="4400" dirty="0"/>
              <a:t>the risk to a third party.</a:t>
            </a:r>
          </a:p>
          <a:p>
            <a:pPr>
              <a:spcBef>
                <a:spcPts val="900"/>
              </a:spcBef>
            </a:pPr>
            <a:r>
              <a:rPr lang="en-US" altLang="en-US" sz="4400" b="1" dirty="0"/>
              <a:t>Avoid</a:t>
            </a:r>
            <a:r>
              <a:rPr lang="en-US" altLang="en-US" sz="4400" dirty="0"/>
              <a:t> the risk. </a:t>
            </a:r>
          </a:p>
          <a:p>
            <a:pPr>
              <a:spcBef>
                <a:spcPts val="900"/>
              </a:spcBef>
            </a:pPr>
            <a:endParaRPr lang="en-US" alt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6E544B3-6C18-A020-C898-B5C7A853401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B6856DD2-6DF7-30AD-F8A8-AA8F55D5DB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54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Risk Management Strategies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4020767221"/>
      </p:ext>
    </p:extLst>
  </p:cSld>
  <p:clrMapOvr>
    <a:masterClrMapping/>
  </p:clrMapOvr>
</p:sld>
</file>

<file path=ppt/slides/slide3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0EF12E-E77D-F805-DEBF-8D645E7754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160B039-E469-6C05-EE69-30192336BD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Slide </a:t>
            </a:r>
            <a:fld id="{4CA2B2DB-B91D-4166-98BF-65A0DA7EEE6D}" type="slidenum">
              <a:rPr kumimoji="0" lang="en-US" sz="1800" b="0" i="1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344</a:t>
            </a:fld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77E389-4453-3E69-86DA-6A1737DEF426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2536823"/>
            <a:ext cx="16192500" cy="6340477"/>
          </a:xfrm>
        </p:spPr>
        <p:txBody>
          <a:bodyPr/>
          <a:lstStyle/>
          <a:p>
            <a:pPr marL="0" indent="0">
              <a:spcBef>
                <a:spcPts val="900"/>
              </a:spcBef>
              <a:buNone/>
            </a:pPr>
            <a:r>
              <a:rPr lang="en-US" altLang="en-US" sz="4800" b="1" dirty="0"/>
              <a:t>Risk reporting: </a:t>
            </a:r>
            <a:r>
              <a:rPr lang="en-US" altLang="en-US" sz="4800" dirty="0"/>
              <a:t>Documenting and sharing with stakeholders an organization’s risk assessments, analysis findings, and risk management strategies</a:t>
            </a:r>
          </a:p>
          <a:p>
            <a:pPr>
              <a:spcBef>
                <a:spcPts val="900"/>
              </a:spcBef>
            </a:pPr>
            <a:r>
              <a:rPr lang="en-US" altLang="en-US" sz="4400" dirty="0"/>
              <a:t>Executive summary</a:t>
            </a:r>
          </a:p>
          <a:p>
            <a:pPr>
              <a:spcBef>
                <a:spcPts val="900"/>
              </a:spcBef>
            </a:pPr>
            <a:r>
              <a:rPr lang="en-US" altLang="en-US" sz="4400" dirty="0"/>
              <a:t>Detailed findings</a:t>
            </a:r>
          </a:p>
          <a:p>
            <a:pPr>
              <a:spcBef>
                <a:spcPts val="900"/>
              </a:spcBef>
            </a:pPr>
            <a:r>
              <a:rPr lang="en-US" altLang="en-US" sz="4400" dirty="0"/>
              <a:t>Recommendations</a:t>
            </a:r>
          </a:p>
          <a:p>
            <a:pPr>
              <a:spcBef>
                <a:spcPts val="900"/>
              </a:spcBef>
            </a:pPr>
            <a:r>
              <a:rPr lang="en-US" altLang="en-US" sz="4400" dirty="0"/>
              <a:t>Action plan</a:t>
            </a:r>
          </a:p>
          <a:p>
            <a:pPr>
              <a:spcBef>
                <a:spcPts val="900"/>
              </a:spcBef>
            </a:pPr>
            <a:endParaRPr lang="en-US" alt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DA0B996-96CD-5794-775A-AA72AB636A3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32B2FDE-6BF5-9CCF-2739-C71937BA93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54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Risk Reporting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138952186"/>
      </p:ext>
    </p:extLst>
  </p:cSld>
  <p:clrMapOvr>
    <a:masterClrMapping/>
  </p:clrMapOvr>
</p:sld>
</file>

<file path=ppt/slides/slide3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AB2F98-0EB9-0461-917D-02592CDD8B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2F64C5E-58F1-B7CB-A6F7-3816BA88CC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Slide </a:t>
            </a:r>
            <a:fld id="{4CA2B2DB-B91D-4166-98BF-65A0DA7EEE6D}" type="slidenum">
              <a:rPr kumimoji="0" lang="en-US" sz="1800" b="0" i="1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345</a:t>
            </a:fld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F41E9E-65D2-04AE-8F3A-16BEC9789BF4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2536823"/>
            <a:ext cx="16192500" cy="6340477"/>
          </a:xfrm>
        </p:spPr>
        <p:txBody>
          <a:bodyPr/>
          <a:lstStyle/>
          <a:p>
            <a:pPr marL="0" indent="0">
              <a:spcBef>
                <a:spcPts val="900"/>
              </a:spcBef>
              <a:buNone/>
            </a:pPr>
            <a:r>
              <a:rPr lang="en-US" altLang="en-US" sz="3600" b="1" dirty="0"/>
              <a:t>Business impact analysis (BIA)</a:t>
            </a:r>
            <a:r>
              <a:rPr lang="en-US" altLang="en-US" sz="3600" dirty="0"/>
              <a:t>:</a:t>
            </a:r>
            <a:r>
              <a:rPr lang="en-US" altLang="en-US" sz="3600" b="1" dirty="0"/>
              <a:t> </a:t>
            </a:r>
            <a:r>
              <a:rPr lang="en-US" altLang="en-US" sz="3600" dirty="0"/>
              <a:t>Determines potential impacts of interrupting critical processes</a:t>
            </a:r>
          </a:p>
          <a:p>
            <a:pPr>
              <a:spcBef>
                <a:spcPts val="900"/>
              </a:spcBef>
            </a:pPr>
            <a:r>
              <a:rPr lang="en-US" altLang="en-US" b="1" dirty="0"/>
              <a:t>Recovery time objective (RTO)</a:t>
            </a:r>
            <a:r>
              <a:rPr lang="en-US" altLang="en-US" dirty="0"/>
              <a:t>: Time by which a process should be restored to avoid unacceptable consequences</a:t>
            </a:r>
          </a:p>
          <a:p>
            <a:pPr>
              <a:spcBef>
                <a:spcPts val="900"/>
              </a:spcBef>
            </a:pPr>
            <a:endParaRPr lang="en-US" altLang="en-US" sz="400" dirty="0"/>
          </a:p>
          <a:p>
            <a:pPr>
              <a:spcBef>
                <a:spcPts val="900"/>
              </a:spcBef>
            </a:pPr>
            <a:r>
              <a:rPr lang="en-US" altLang="en-US" b="1" dirty="0"/>
              <a:t>Recovery point objective (RPO</a:t>
            </a:r>
            <a:r>
              <a:rPr lang="en-US" altLang="en-US" dirty="0"/>
              <a:t>):</a:t>
            </a:r>
            <a:r>
              <a:rPr lang="en-US" altLang="en-US" b="1" dirty="0"/>
              <a:t> </a:t>
            </a:r>
            <a:r>
              <a:rPr lang="en-US" altLang="en-US" dirty="0"/>
              <a:t>Maximum amount of data that can be lost due to a disruption</a:t>
            </a:r>
          </a:p>
          <a:p>
            <a:pPr>
              <a:spcBef>
                <a:spcPts val="900"/>
              </a:spcBef>
            </a:pPr>
            <a:endParaRPr lang="en-US" altLang="en-US" sz="400" dirty="0"/>
          </a:p>
          <a:p>
            <a:pPr>
              <a:spcBef>
                <a:spcPts val="900"/>
              </a:spcBef>
            </a:pPr>
            <a:r>
              <a:rPr lang="en-US" altLang="en-US" b="1" dirty="0"/>
              <a:t>Mean time to repair (MTTR)</a:t>
            </a:r>
            <a:r>
              <a:rPr lang="en-US" altLang="en-US" dirty="0"/>
              <a:t>:</a:t>
            </a:r>
            <a:r>
              <a:rPr lang="en-US" altLang="en-US" b="1" dirty="0"/>
              <a:t> </a:t>
            </a:r>
            <a:r>
              <a:rPr lang="en-US" altLang="en-US" dirty="0"/>
              <a:t>Average time required to repair a failed device or system</a:t>
            </a:r>
          </a:p>
          <a:p>
            <a:pPr>
              <a:spcBef>
                <a:spcPts val="900"/>
              </a:spcBef>
            </a:pPr>
            <a:endParaRPr lang="en-US" altLang="en-US" sz="400" dirty="0"/>
          </a:p>
          <a:p>
            <a:pPr>
              <a:spcBef>
                <a:spcPts val="900"/>
              </a:spcBef>
            </a:pPr>
            <a:r>
              <a:rPr lang="en-US" altLang="en-US" b="1" dirty="0"/>
              <a:t>Mean time between failures (MTBF)</a:t>
            </a:r>
            <a:r>
              <a:rPr lang="en-US" altLang="en-US" dirty="0"/>
              <a:t>: Expected average time between failures for a system or component</a:t>
            </a:r>
          </a:p>
          <a:p>
            <a:pPr>
              <a:spcBef>
                <a:spcPts val="900"/>
              </a:spcBef>
            </a:pPr>
            <a:endParaRPr lang="en-US" alt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C135D55-2179-A8C5-0161-75CA720FF3A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E4ED3262-7312-D249-3201-9D7347037F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54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Business Impact Analysis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4026599004"/>
      </p:ext>
    </p:extLst>
  </p:cSld>
  <p:clrMapOvr>
    <a:masterClrMapping/>
  </p:clrMapOvr>
</p:sld>
</file>

<file path=ppt/slides/slide3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E973A3-D103-66FB-6A0C-2D60506569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55077A3-24E5-4406-750A-6740EC2EF4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Slide </a:t>
            </a:r>
            <a:fld id="{4CA2B2DB-B91D-4166-98BF-65A0DA7EEE6D}" type="slidenum">
              <a:rPr kumimoji="0" lang="en-US" sz="1800" b="0" i="1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346</a:t>
            </a:fld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4D47C8-7D12-A420-D6F2-8B19601CC6CE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2536823"/>
            <a:ext cx="16192500" cy="6340477"/>
          </a:xfrm>
        </p:spPr>
        <p:txBody>
          <a:bodyPr/>
          <a:lstStyle/>
          <a:p>
            <a:pPr marL="0" indent="0">
              <a:spcBef>
                <a:spcPts val="900"/>
              </a:spcBef>
              <a:buNone/>
            </a:pPr>
            <a:r>
              <a:rPr lang="en-US" altLang="en-US" sz="3900" b="1" dirty="0"/>
              <a:t>Guidelines</a:t>
            </a:r>
            <a:r>
              <a:rPr lang="en-US" altLang="en-US" sz="3900" dirty="0"/>
              <a:t> are general recommendations aimed at steering organizational behavior and decision making.</a:t>
            </a:r>
          </a:p>
          <a:p>
            <a:pPr>
              <a:spcBef>
                <a:spcPts val="900"/>
              </a:spcBef>
            </a:pPr>
            <a:r>
              <a:rPr lang="en-US" altLang="en-US" sz="3600" dirty="0"/>
              <a:t>Provide directional advice; suggestions and best practices for various security-related activities</a:t>
            </a:r>
          </a:p>
          <a:p>
            <a:pPr>
              <a:spcBef>
                <a:spcPts val="900"/>
              </a:spcBef>
            </a:pPr>
            <a:r>
              <a:rPr lang="en-US" altLang="en-US" sz="3600" dirty="0"/>
              <a:t>More relaxed than policies or standards, allowing for flexibility in implementation</a:t>
            </a:r>
          </a:p>
          <a:p>
            <a:pPr>
              <a:spcBef>
                <a:spcPts val="900"/>
              </a:spcBef>
            </a:pPr>
            <a:endParaRPr lang="en-US" alt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575717-27B7-9000-9436-9957E5DFFB4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819852E-BC97-1329-E1CA-674CFF8616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54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Guidelines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2937738388"/>
      </p:ext>
    </p:extLst>
  </p:cSld>
  <p:clrMapOvr>
    <a:masterClrMapping/>
  </p:clrMapOvr>
</p:sld>
</file>

<file path=ppt/slides/slide3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038F89-293D-D971-157F-C1C654FC21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1AE5894-2FAC-D4CC-AA3F-14D9CF4FFE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Slide </a:t>
            </a:r>
            <a:fld id="{4CA2B2DB-B91D-4166-98BF-65A0DA7EEE6D}" type="slidenum">
              <a:rPr kumimoji="0" lang="en-US" sz="1800" b="0" i="1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347</a:t>
            </a:fld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3BA455-84D4-853B-FCF5-7657FCD03F9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2536823"/>
            <a:ext cx="16192500" cy="6340477"/>
          </a:xfrm>
        </p:spPr>
        <p:txBody>
          <a:bodyPr/>
          <a:lstStyle/>
          <a:p>
            <a:pPr marL="0" indent="0">
              <a:spcBef>
                <a:spcPts val="900"/>
              </a:spcBef>
              <a:buNone/>
            </a:pPr>
            <a:r>
              <a:rPr lang="en-US" altLang="en-US" sz="4400" b="1" dirty="0"/>
              <a:t>Policies</a:t>
            </a:r>
            <a:r>
              <a:rPr lang="en-US" altLang="en-US" sz="4400" dirty="0"/>
              <a:t> are formal, high-level statements or plans that outline an organization’s general beliefs, goals, objectives, and acceptable procedures.</a:t>
            </a:r>
          </a:p>
          <a:p>
            <a:pPr>
              <a:spcBef>
                <a:spcPts val="900"/>
              </a:spcBef>
            </a:pPr>
            <a:r>
              <a:rPr lang="en-US" altLang="en-US" sz="4000" dirty="0"/>
              <a:t>Essential for setting the organization’s approaches to various issues</a:t>
            </a:r>
          </a:p>
          <a:p>
            <a:pPr>
              <a:spcBef>
                <a:spcPts val="900"/>
              </a:spcBef>
            </a:pPr>
            <a:r>
              <a:rPr lang="en-US" altLang="en-US" sz="4000" dirty="0"/>
              <a:t>Govern various aspects of business, including employee behavior and emergency procedures</a:t>
            </a:r>
          </a:p>
          <a:p>
            <a:pPr>
              <a:spcBef>
                <a:spcPts val="900"/>
              </a:spcBef>
            </a:pPr>
            <a:endParaRPr lang="en-US" alt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C5DAFCD-B34A-B8F1-F00E-9906487677F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1A36BC39-C82C-DA6C-85CD-B501C6D5FF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54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Policies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713526253"/>
      </p:ext>
    </p:extLst>
  </p:cSld>
  <p:clrMapOvr>
    <a:masterClrMapping/>
  </p:clrMapOvr>
</p:sld>
</file>

<file path=ppt/slides/slide3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D6FC32-A64F-5019-EA0C-6C18907A6C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3812C00-B4C1-4300-39D8-E39E17E5EC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Slide </a:t>
            </a:r>
            <a:fld id="{4CA2B2DB-B91D-4166-98BF-65A0DA7EEE6D}" type="slidenum">
              <a:rPr kumimoji="0" lang="en-US" sz="1800" b="0" i="1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348</a:t>
            </a:fld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EFC6D1-5F92-37DC-6EF6-DED3F8317A7E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2536823"/>
            <a:ext cx="16192500" cy="6340477"/>
          </a:xfrm>
        </p:spPr>
        <p:txBody>
          <a:bodyPr/>
          <a:lstStyle/>
          <a:p>
            <a:pPr>
              <a:spcBef>
                <a:spcPts val="900"/>
              </a:spcBef>
            </a:pPr>
            <a:r>
              <a:rPr lang="en-US" altLang="en-US" sz="3600" b="1" dirty="0"/>
              <a:t>Acceptable use policy (AUP): </a:t>
            </a:r>
            <a:r>
              <a:rPr lang="en-US" altLang="en-US" sz="3600" dirty="0"/>
              <a:t>Defines rules for the use of technology infrastructure</a:t>
            </a:r>
          </a:p>
          <a:p>
            <a:pPr lvl="2">
              <a:spcBef>
                <a:spcPts val="900"/>
              </a:spcBef>
            </a:pPr>
            <a:r>
              <a:rPr lang="en-US" altLang="en-US" sz="2800" dirty="0"/>
              <a:t>May conflict with a </a:t>
            </a:r>
            <a:r>
              <a:rPr lang="en-US" altLang="en-US" sz="2800" b="1" dirty="0"/>
              <a:t>BYOD policy</a:t>
            </a:r>
          </a:p>
          <a:p>
            <a:pPr lvl="1">
              <a:spcBef>
                <a:spcPts val="900"/>
              </a:spcBef>
            </a:pPr>
            <a:endParaRPr lang="en-US" altLang="en-US" sz="1100" dirty="0"/>
          </a:p>
          <a:p>
            <a:pPr>
              <a:spcBef>
                <a:spcPts val="900"/>
              </a:spcBef>
            </a:pPr>
            <a:r>
              <a:rPr lang="en-US" altLang="en-US" sz="3600" b="1" dirty="0"/>
              <a:t>Information security policy:</a:t>
            </a:r>
            <a:r>
              <a:rPr lang="en-US" altLang="en-US" sz="3600" dirty="0"/>
              <a:t> Provides guidelines and procedures for protecting data and technology assets </a:t>
            </a:r>
          </a:p>
          <a:p>
            <a:pPr lvl="2">
              <a:spcBef>
                <a:spcPts val="900"/>
              </a:spcBef>
            </a:pPr>
            <a:r>
              <a:rPr lang="en-US" altLang="en-US" sz="2800" dirty="0"/>
              <a:t>Examples: Password policy, software update policy</a:t>
            </a:r>
          </a:p>
          <a:p>
            <a:pPr lvl="1">
              <a:spcBef>
                <a:spcPts val="900"/>
              </a:spcBef>
            </a:pPr>
            <a:endParaRPr lang="en-US" altLang="en-US" sz="1100" dirty="0"/>
          </a:p>
          <a:p>
            <a:pPr>
              <a:spcBef>
                <a:spcPts val="900"/>
              </a:spcBef>
            </a:pPr>
            <a:r>
              <a:rPr lang="en-US" altLang="en-US" sz="3600" b="1" dirty="0"/>
              <a:t>Business continuity policy:</a:t>
            </a:r>
            <a:r>
              <a:rPr lang="en-US" altLang="en-US" sz="3600" dirty="0"/>
              <a:t> Aims to ensure that essential operations continue despite a disruption</a:t>
            </a:r>
          </a:p>
          <a:p>
            <a:pPr lvl="2">
              <a:spcBef>
                <a:spcPts val="900"/>
              </a:spcBef>
            </a:pPr>
            <a:r>
              <a:rPr lang="en-US" altLang="en-US" sz="2800" dirty="0"/>
              <a:t>Examples: Daily remote backup policy, crisis communications policy</a:t>
            </a:r>
            <a:endParaRPr lang="en-US" altLang="en-US" sz="2000" dirty="0"/>
          </a:p>
          <a:p>
            <a:pPr>
              <a:spcBef>
                <a:spcPts val="900"/>
              </a:spcBef>
            </a:pPr>
            <a:endParaRPr lang="en-US" alt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E6D51F-B54F-79DB-9AA6-3DC907AB317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C0E0344-0DAE-DF1C-5F04-69C35BE00A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54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Types of Policies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408216583"/>
      </p:ext>
    </p:extLst>
  </p:cSld>
  <p:clrMapOvr>
    <a:masterClrMapping/>
  </p:clrMapOvr>
</p:sld>
</file>

<file path=ppt/slides/slide3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955702-5C55-BFFE-18DF-A2B32EB515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0A32A3D-81FC-CB17-4A06-F004A310A7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Slide </a:t>
            </a:r>
            <a:fld id="{4CA2B2DB-B91D-4166-98BF-65A0DA7EEE6D}" type="slidenum">
              <a:rPr kumimoji="0" lang="en-US" sz="1800" b="0" i="1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349</a:t>
            </a:fld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92D417-5795-E7DA-1E27-552C614511BF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2536823"/>
            <a:ext cx="16192500" cy="6340477"/>
          </a:xfrm>
        </p:spPr>
        <p:txBody>
          <a:bodyPr/>
          <a:lstStyle/>
          <a:p>
            <a:pPr>
              <a:spcBef>
                <a:spcPts val="900"/>
              </a:spcBef>
            </a:pPr>
            <a:r>
              <a:rPr lang="en-US" altLang="en-US" sz="3600" b="1" dirty="0"/>
              <a:t>Disaster recovery policy:</a:t>
            </a:r>
            <a:r>
              <a:rPr lang="en-US" altLang="en-US" sz="3600" dirty="0"/>
              <a:t> Focuses on restoring IT infrastructure and operations post-crisis</a:t>
            </a:r>
          </a:p>
          <a:p>
            <a:pPr lvl="2">
              <a:spcBef>
                <a:spcPts val="900"/>
              </a:spcBef>
            </a:pPr>
            <a:r>
              <a:rPr lang="en-US" altLang="en-US" sz="2800" dirty="0"/>
              <a:t>Example: Data recovery policy</a:t>
            </a:r>
          </a:p>
          <a:p>
            <a:pPr lvl="1">
              <a:spcBef>
                <a:spcPts val="900"/>
              </a:spcBef>
            </a:pPr>
            <a:endParaRPr lang="en-US" altLang="en-US" sz="1100" dirty="0"/>
          </a:p>
          <a:p>
            <a:pPr>
              <a:spcBef>
                <a:spcPts val="900"/>
              </a:spcBef>
            </a:pPr>
            <a:r>
              <a:rPr lang="en-US" altLang="en-US" sz="3600" b="1" dirty="0"/>
              <a:t>Incident response policy:</a:t>
            </a:r>
            <a:r>
              <a:rPr lang="en-US" altLang="en-US" sz="3600" dirty="0"/>
              <a:t> Outlines procedures to follow during cybersecurity incidents</a:t>
            </a:r>
          </a:p>
          <a:p>
            <a:pPr lvl="2">
              <a:spcBef>
                <a:spcPts val="900"/>
              </a:spcBef>
            </a:pPr>
            <a:r>
              <a:rPr lang="en-US" altLang="en-US" sz="2800" dirty="0"/>
              <a:t>Example: Quarantine policy</a:t>
            </a:r>
          </a:p>
          <a:p>
            <a:pPr>
              <a:spcBef>
                <a:spcPts val="900"/>
              </a:spcBef>
            </a:pPr>
            <a:endParaRPr lang="en-US" altLang="en-US" sz="1100" dirty="0"/>
          </a:p>
          <a:p>
            <a:pPr>
              <a:spcBef>
                <a:spcPts val="900"/>
              </a:spcBef>
            </a:pPr>
            <a:r>
              <a:rPr lang="en-US" altLang="en-US" sz="3600" b="1" dirty="0"/>
              <a:t>Software development lifecycle (SDLC) policy:</a:t>
            </a:r>
            <a:r>
              <a:rPr lang="en-US" altLang="en-US" sz="3600" dirty="0"/>
              <a:t> Governs the software development process, incorporating security and quality at every phase</a:t>
            </a:r>
          </a:p>
          <a:p>
            <a:pPr lvl="2">
              <a:spcBef>
                <a:spcPts val="900"/>
              </a:spcBef>
            </a:pPr>
            <a:r>
              <a:rPr lang="en-US" altLang="en-US" sz="2800" dirty="0"/>
              <a:t>Examples: Coding policy, software retirement policy</a:t>
            </a:r>
          </a:p>
          <a:p>
            <a:pPr>
              <a:spcBef>
                <a:spcPts val="900"/>
              </a:spcBef>
            </a:pPr>
            <a:endParaRPr lang="en-US" alt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8BF77BB-3939-CDCA-941E-12804E29EDA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BB34980C-D47E-C3CF-1E65-624C752073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54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Types of Policies (cont.)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1130563053"/>
      </p:ext>
    </p:extLst>
  </p:cSld>
  <p:clrMapOvr>
    <a:masterClrMapping/>
  </p:clrMapOvr>
</p:sld>
</file>

<file path=ppt/slides/slide3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61FE6F-7588-084B-BD1C-8CF55D3996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F30A1C7-39DF-B3AA-DA2A-30924C9397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Slide </a:t>
            </a:r>
            <a:fld id="{4CA2B2DB-B91D-4166-98BF-65A0DA7EEE6D}" type="slidenum">
              <a:rPr kumimoji="0" lang="en-US" sz="1800" b="0" i="1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350</a:t>
            </a:fld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A037D6-FF63-CFDA-CE4F-B2AA97AF0008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2536823"/>
            <a:ext cx="16192500" cy="6340477"/>
          </a:xfrm>
        </p:spPr>
        <p:txBody>
          <a:bodyPr/>
          <a:lstStyle/>
          <a:p>
            <a:pPr>
              <a:spcBef>
                <a:spcPts val="900"/>
              </a:spcBef>
            </a:pPr>
            <a:r>
              <a:rPr lang="en-US" altLang="en-US" sz="3600" b="1" dirty="0"/>
              <a:t>Change management policy:</a:t>
            </a:r>
            <a:r>
              <a:rPr lang="en-US" altLang="en-US" sz="3600" dirty="0"/>
              <a:t> Guides how changes to IT systems and processes are proposed, reviewed, and implemented</a:t>
            </a:r>
          </a:p>
          <a:p>
            <a:pPr lvl="2">
              <a:spcBef>
                <a:spcPts val="900"/>
              </a:spcBef>
            </a:pPr>
            <a:r>
              <a:rPr lang="en-US" altLang="en-US" sz="2800" dirty="0"/>
              <a:t>Example: Requiring board approval for an IT system change</a:t>
            </a:r>
          </a:p>
          <a:p>
            <a:pPr>
              <a:spcBef>
                <a:spcPts val="900"/>
              </a:spcBef>
            </a:pPr>
            <a:endParaRPr lang="en-US" alt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0247D98-C98F-1F54-A38B-1248BB8BCCA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3B87ECE-C61F-0C07-ADA7-29601B9C74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54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Types of Policies (cont.)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1963679081"/>
      </p:ext>
    </p:extLst>
  </p:cSld>
  <p:clrMapOvr>
    <a:masterClrMapping/>
  </p:clrMapOvr>
</p:sld>
</file>

<file path=ppt/slides/slide3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F777C6-C38A-9AEF-571A-A766DEAFF3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199AB06-0D8D-CE11-C343-745974BDB5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Slide </a:t>
            </a:r>
            <a:fld id="{4CA2B2DB-B91D-4166-98BF-65A0DA7EEE6D}" type="slidenum">
              <a:rPr kumimoji="0" lang="en-US" sz="1800" b="0" i="1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351</a:t>
            </a:fld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CB40B7-FAC4-5C55-25F6-2F6E396C3B4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2536823"/>
            <a:ext cx="16192500" cy="6340477"/>
          </a:xfrm>
        </p:spPr>
        <p:txBody>
          <a:bodyPr/>
          <a:lstStyle/>
          <a:p>
            <a:pPr marL="0" indent="0">
              <a:spcBef>
                <a:spcPts val="900"/>
              </a:spcBef>
              <a:buNone/>
            </a:pPr>
            <a:r>
              <a:rPr lang="en-US" altLang="en-US" sz="3900" b="1" dirty="0"/>
              <a:t>Standards</a:t>
            </a:r>
            <a:r>
              <a:rPr lang="en-US" altLang="en-US" sz="3900" dirty="0"/>
              <a:t> provide specific, detailed instructions for implementing security measures.</a:t>
            </a:r>
          </a:p>
          <a:p>
            <a:pPr>
              <a:spcBef>
                <a:spcPts val="900"/>
              </a:spcBef>
            </a:pPr>
            <a:r>
              <a:rPr lang="en-US" altLang="en-US" sz="3600" dirty="0"/>
              <a:t>Help ensure that practices align with policies  </a:t>
            </a:r>
          </a:p>
          <a:p>
            <a:pPr>
              <a:spcBef>
                <a:spcPts val="900"/>
              </a:spcBef>
            </a:pPr>
            <a:r>
              <a:rPr lang="en-US" altLang="en-US" sz="3600" dirty="0"/>
              <a:t>Promote consistency and uniformity in security implementation </a:t>
            </a:r>
          </a:p>
          <a:p>
            <a:pPr>
              <a:spcBef>
                <a:spcPts val="900"/>
              </a:spcBef>
            </a:pPr>
            <a:endParaRPr lang="en-US" alt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76D2733-BC53-99BF-F6F8-A647CCBEFB9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05450C02-0C38-C0B4-0781-0C33EC276B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54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Standards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3535510055"/>
      </p:ext>
    </p:extLst>
  </p:cSld>
  <p:clrMapOvr>
    <a:masterClrMapping/>
  </p:clrMapOvr>
</p:sld>
</file>

<file path=ppt/slides/slide3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E345CF-888D-6CA5-94E5-53ED0E3108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9EBB10C-065D-78A6-12A7-B78B4ECEC9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Slide </a:t>
            </a:r>
            <a:fld id="{4CA2B2DB-B91D-4166-98BF-65A0DA7EEE6D}" type="slidenum">
              <a:rPr kumimoji="0" lang="en-US" sz="1800" b="0" i="1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352</a:t>
            </a:fld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E29501-ABF9-7872-AF55-CF3C789E527C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2536823"/>
            <a:ext cx="16192500" cy="6340477"/>
          </a:xfrm>
        </p:spPr>
        <p:txBody>
          <a:bodyPr/>
          <a:lstStyle/>
          <a:p>
            <a:pPr>
              <a:spcBef>
                <a:spcPts val="900"/>
              </a:spcBef>
            </a:pPr>
            <a:r>
              <a:rPr lang="en-US" altLang="en-US" sz="3900" b="1" dirty="0"/>
              <a:t>Password standards</a:t>
            </a:r>
            <a:r>
              <a:rPr lang="en-US" altLang="en-US" sz="3900" dirty="0"/>
              <a:t> define rules for creating, managing, and storing passwords.</a:t>
            </a:r>
          </a:p>
          <a:p>
            <a:pPr>
              <a:spcBef>
                <a:spcPts val="900"/>
              </a:spcBef>
            </a:pPr>
            <a:endParaRPr lang="en-US" altLang="en-US" sz="1200" dirty="0"/>
          </a:p>
          <a:p>
            <a:pPr>
              <a:spcBef>
                <a:spcPts val="900"/>
              </a:spcBef>
            </a:pPr>
            <a:r>
              <a:rPr lang="en-US" altLang="en-US" sz="3900" b="1" dirty="0"/>
              <a:t>Access control standards</a:t>
            </a:r>
            <a:r>
              <a:rPr lang="en-US" altLang="en-US" sz="3900" dirty="0"/>
              <a:t> determine who has access to specific resources within the organization's network and systems.</a:t>
            </a:r>
          </a:p>
          <a:p>
            <a:pPr lvl="2">
              <a:spcBef>
                <a:spcPts val="900"/>
              </a:spcBef>
            </a:pPr>
            <a:r>
              <a:rPr lang="en-US" altLang="en-US" sz="3200" dirty="0"/>
              <a:t>Attribute-based access control (ABAC)</a:t>
            </a:r>
          </a:p>
          <a:p>
            <a:pPr lvl="2">
              <a:spcBef>
                <a:spcPts val="900"/>
              </a:spcBef>
            </a:pPr>
            <a:r>
              <a:rPr lang="en-US" altLang="en-US" sz="3200" dirty="0"/>
              <a:t>Role-based access control (RBAC)</a:t>
            </a:r>
          </a:p>
          <a:p>
            <a:pPr lvl="2">
              <a:spcBef>
                <a:spcPts val="900"/>
              </a:spcBef>
            </a:pPr>
            <a:r>
              <a:rPr lang="en-US" altLang="en-US" sz="3200" dirty="0"/>
              <a:t>Discretionary access control (DAC)</a:t>
            </a:r>
          </a:p>
          <a:p>
            <a:pPr lvl="2">
              <a:spcBef>
                <a:spcPts val="900"/>
              </a:spcBef>
            </a:pPr>
            <a:r>
              <a:rPr lang="en-US" altLang="en-US" sz="3200" dirty="0"/>
              <a:t>Mandatory access control (MAC)</a:t>
            </a:r>
          </a:p>
          <a:p>
            <a:pPr>
              <a:spcBef>
                <a:spcPts val="900"/>
              </a:spcBef>
            </a:pPr>
            <a:endParaRPr lang="en-US" alt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92F9F0A-3AEB-2BB3-35E6-35E73E5DC14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E7E2F41C-D423-8CE6-1CE9-5E2B7AE3A9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54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Types of Standards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763396040"/>
      </p:ext>
    </p:extLst>
  </p:cSld>
  <p:clrMapOvr>
    <a:masterClrMapping/>
  </p:clrMapOvr>
</p:sld>
</file>

<file path=ppt/slides/slide3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4B8A51-DFF4-618B-88FE-49099611BF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B9475B1-5811-3918-8324-DE5BC203F8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Slide </a:t>
            </a:r>
            <a:fld id="{4CA2B2DB-B91D-4166-98BF-65A0DA7EEE6D}" type="slidenum">
              <a:rPr kumimoji="0" lang="en-US" sz="1800" b="0" i="1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353</a:t>
            </a:fld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92679D-6193-E0B2-51B5-AE477AE9605B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2536823"/>
            <a:ext cx="16192500" cy="6340477"/>
          </a:xfrm>
        </p:spPr>
        <p:txBody>
          <a:bodyPr/>
          <a:lstStyle/>
          <a:p>
            <a:pPr>
              <a:spcBef>
                <a:spcPts val="900"/>
              </a:spcBef>
            </a:pPr>
            <a:r>
              <a:rPr lang="en-US" altLang="en-US" sz="3900" b="1" dirty="0"/>
              <a:t>Physical security standards</a:t>
            </a:r>
            <a:r>
              <a:rPr lang="en-US" altLang="en-US" sz="3900" dirty="0"/>
              <a:t> safeguard tangible assets like buildings, hardware, and personnel.</a:t>
            </a:r>
          </a:p>
          <a:p>
            <a:pPr>
              <a:spcBef>
                <a:spcPts val="900"/>
              </a:spcBef>
            </a:pPr>
            <a:endParaRPr lang="en-US" altLang="en-US" sz="1200" dirty="0"/>
          </a:p>
          <a:p>
            <a:pPr>
              <a:spcBef>
                <a:spcPts val="900"/>
              </a:spcBef>
            </a:pPr>
            <a:r>
              <a:rPr lang="en-US" altLang="en-US" sz="3900" b="1" dirty="0"/>
              <a:t>Encryption standards</a:t>
            </a:r>
            <a:r>
              <a:rPr lang="en-US" altLang="en-US" sz="3900" dirty="0"/>
              <a:t> govern how data should be encrypted and decrypted within the organization.</a:t>
            </a:r>
          </a:p>
          <a:p>
            <a:pPr>
              <a:spcBef>
                <a:spcPts val="900"/>
              </a:spcBef>
            </a:pPr>
            <a:endParaRPr lang="en-US" alt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C0494D-3728-7D7F-D0E4-8508E7075DB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0536C902-62A7-BC1F-4EF1-2DD40ED2D1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54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Types of Standards (cont.)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3055409962"/>
      </p:ext>
    </p:extLst>
  </p:cSld>
  <p:clrMapOvr>
    <a:masterClrMapping/>
  </p:clrMapOvr>
</p:sld>
</file>

<file path=ppt/slides/slide3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0A23E2-112B-A546-9899-F6D653E97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EFFA330-E7C5-2755-5E16-E501499556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Slide </a:t>
            </a:r>
            <a:fld id="{4CA2B2DB-B91D-4166-98BF-65A0DA7EEE6D}" type="slidenum">
              <a:rPr kumimoji="0" lang="en-US" sz="1800" b="0" i="1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354</a:t>
            </a:fld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78ED48-83A4-C9D7-3BD0-61674203BBFD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2536823"/>
            <a:ext cx="16192500" cy="6340477"/>
          </a:xfrm>
        </p:spPr>
        <p:txBody>
          <a:bodyPr/>
          <a:lstStyle/>
          <a:p>
            <a:pPr marL="0" indent="0">
              <a:spcBef>
                <a:spcPts val="900"/>
              </a:spcBef>
              <a:buNone/>
            </a:pPr>
            <a:r>
              <a:rPr lang="en-US" altLang="en-US" sz="3900" b="1" dirty="0"/>
              <a:t>Procedures </a:t>
            </a:r>
            <a:r>
              <a:rPr lang="en-US" altLang="en-US" sz="3900" dirty="0"/>
              <a:t>implement policies and standards through specific, detailed instructions.</a:t>
            </a:r>
            <a:endParaRPr lang="en-US" altLang="en-US" sz="3900" b="1" dirty="0"/>
          </a:p>
          <a:p>
            <a:pPr>
              <a:spcBef>
                <a:spcPts val="900"/>
              </a:spcBef>
            </a:pPr>
            <a:r>
              <a:rPr lang="en-US" altLang="en-US" sz="3600" b="1" dirty="0"/>
              <a:t>Change management procedures</a:t>
            </a:r>
            <a:r>
              <a:rPr lang="en-US" altLang="en-US" sz="3600" dirty="0"/>
              <a:t> help transition individuals, teams, and the organization to a desired state.</a:t>
            </a:r>
          </a:p>
          <a:p>
            <a:pPr lvl="2">
              <a:spcBef>
                <a:spcPts val="900"/>
              </a:spcBef>
            </a:pPr>
            <a:r>
              <a:rPr lang="en-US" altLang="en-US" sz="2900" dirty="0"/>
              <a:t>Proposal, planning, testing, implementation, and review</a:t>
            </a:r>
          </a:p>
          <a:p>
            <a:pPr>
              <a:spcBef>
                <a:spcPts val="900"/>
              </a:spcBef>
            </a:pPr>
            <a:r>
              <a:rPr lang="en-US" altLang="en-US" sz="3600" b="1" dirty="0"/>
              <a:t>Onboarding and offboarding procedures </a:t>
            </a:r>
            <a:r>
              <a:rPr lang="en-US" altLang="en-US" sz="3600" dirty="0"/>
              <a:t>help integrate users or remove them from </a:t>
            </a:r>
            <a:r>
              <a:rPr lang="en-US" altLang="en-US" sz="3300" dirty="0"/>
              <a:t>identity and access management systems.</a:t>
            </a:r>
          </a:p>
          <a:p>
            <a:pPr lvl="2">
              <a:spcBef>
                <a:spcPts val="900"/>
              </a:spcBef>
            </a:pPr>
            <a:r>
              <a:rPr lang="en-US" altLang="en-US" sz="2900" dirty="0"/>
              <a:t>Examples: Background checks, user training, adding or removing user permissions</a:t>
            </a:r>
          </a:p>
          <a:p>
            <a:pPr>
              <a:spcBef>
                <a:spcPts val="900"/>
              </a:spcBef>
            </a:pPr>
            <a:endParaRPr lang="en-US" alt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7E8EC3D-4FCE-8E3B-BE71-9D1E796EA12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182544A-D93D-5917-D544-E1083C1F97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400" b="0" kern="0" dirty="0">
                <a:solidFill>
                  <a:srgbClr val="0B0506"/>
                </a:solidFill>
                <a:latin typeface="Arial"/>
              </a:rPr>
              <a:t>Procedures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4033596120"/>
      </p:ext>
    </p:extLst>
  </p:cSld>
  <p:clrMapOvr>
    <a:masterClrMapping/>
  </p:clrMapOvr>
</p:sld>
</file>

<file path=ppt/slides/slide3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DE2D32-915F-D679-4727-64860F28A9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6E6CCEA-F6BC-F1C4-6FD1-C5B9E2B41C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Slide </a:t>
            </a:r>
            <a:fld id="{4CA2B2DB-B91D-4166-98BF-65A0DA7EEE6D}" type="slidenum">
              <a:rPr kumimoji="0" lang="en-US" sz="1800" b="0" i="1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355</a:t>
            </a:fld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667650-BF78-D710-0769-6B57A8665DE9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2536823"/>
            <a:ext cx="16192500" cy="6340477"/>
          </a:xfrm>
        </p:spPr>
        <p:txBody>
          <a:bodyPr/>
          <a:lstStyle/>
          <a:p>
            <a:pPr>
              <a:spcBef>
                <a:spcPts val="900"/>
              </a:spcBef>
            </a:pPr>
            <a:r>
              <a:rPr lang="en-US" altLang="en-US" sz="3600" b="1" dirty="0"/>
              <a:t>Playbooks</a:t>
            </a:r>
            <a:r>
              <a:rPr lang="en-US" altLang="en-US" sz="3600" dirty="0"/>
              <a:t> are step-by-step guides to approaching various security scenarios. They aim to minimize the impacts of emergency incidents. </a:t>
            </a:r>
          </a:p>
          <a:p>
            <a:pPr lvl="1">
              <a:spcBef>
                <a:spcPts val="900"/>
              </a:spcBef>
            </a:pPr>
            <a:r>
              <a:rPr lang="en-US" altLang="en-US" sz="3600" dirty="0"/>
              <a:t>Typical sections</a:t>
            </a:r>
          </a:p>
          <a:p>
            <a:pPr lvl="2">
              <a:spcBef>
                <a:spcPts val="900"/>
              </a:spcBef>
            </a:pPr>
            <a:r>
              <a:rPr lang="en-US" altLang="en-US" dirty="0"/>
              <a:t>Incident identification</a:t>
            </a:r>
          </a:p>
          <a:p>
            <a:pPr lvl="2">
              <a:spcBef>
                <a:spcPts val="900"/>
              </a:spcBef>
            </a:pPr>
            <a:r>
              <a:rPr lang="en-US" altLang="en-US" dirty="0"/>
              <a:t>Assessment</a:t>
            </a:r>
          </a:p>
          <a:p>
            <a:pPr lvl="2">
              <a:spcBef>
                <a:spcPts val="900"/>
              </a:spcBef>
            </a:pPr>
            <a:r>
              <a:rPr lang="en-US" altLang="en-US" dirty="0"/>
              <a:t>Response strategy</a:t>
            </a:r>
          </a:p>
          <a:p>
            <a:pPr lvl="2">
              <a:spcBef>
                <a:spcPts val="900"/>
              </a:spcBef>
            </a:pPr>
            <a:r>
              <a:rPr lang="en-US" altLang="en-US" dirty="0"/>
              <a:t>Recovery and restoration</a:t>
            </a:r>
          </a:p>
          <a:p>
            <a:pPr lvl="2">
              <a:spcBef>
                <a:spcPts val="900"/>
              </a:spcBef>
            </a:pPr>
            <a:r>
              <a:rPr lang="en-US" altLang="en-US" dirty="0"/>
              <a:t>Lessons learned</a:t>
            </a:r>
          </a:p>
          <a:p>
            <a:pPr>
              <a:spcBef>
                <a:spcPts val="900"/>
              </a:spcBef>
            </a:pPr>
            <a:endParaRPr lang="en-US" alt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4551AEC-31F1-E2C5-070B-B8FB73A439E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BAC7E467-5EC7-C05E-FA04-3BE4D2E823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400" b="0" kern="0" dirty="0">
                <a:solidFill>
                  <a:srgbClr val="0B0506"/>
                </a:solidFill>
                <a:latin typeface="Arial"/>
              </a:rPr>
              <a:t>Procedures (cont.)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315545396"/>
      </p:ext>
    </p:extLst>
  </p:cSld>
  <p:clrMapOvr>
    <a:masterClrMapping/>
  </p:clrMapOvr>
</p:sld>
</file>

<file path=ppt/slides/slide3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E2E22C-2061-75FA-8724-165CEF3AE8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3DD9E3D-6428-64E5-D669-1C2780123C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Slide </a:t>
            </a:r>
            <a:fld id="{4CA2B2DB-B91D-4166-98BF-65A0DA7EEE6D}" type="slidenum">
              <a:rPr kumimoji="0" lang="en-US" sz="1800" b="0" i="1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356</a:t>
            </a:fld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6BC44C-5ABC-56A4-4503-5433280174CC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2536823"/>
            <a:ext cx="16192500" cy="6340477"/>
          </a:xfrm>
        </p:spPr>
        <p:txBody>
          <a:bodyPr/>
          <a:lstStyle/>
          <a:p>
            <a:pPr>
              <a:spcBef>
                <a:spcPts val="900"/>
              </a:spcBef>
            </a:pPr>
            <a:r>
              <a:rPr lang="en-US" altLang="en-US" sz="3600" b="1" dirty="0"/>
              <a:t>Board</a:t>
            </a:r>
            <a:r>
              <a:rPr lang="en-US" altLang="en-US" sz="3600" dirty="0"/>
              <a:t>: Sets strategic direction, approves policies, oversees risk management, ensures legal compliance</a:t>
            </a:r>
          </a:p>
          <a:p>
            <a:pPr>
              <a:spcBef>
                <a:spcPts val="900"/>
              </a:spcBef>
            </a:pPr>
            <a:endParaRPr lang="en-US" altLang="en-US" sz="1100" dirty="0"/>
          </a:p>
          <a:p>
            <a:pPr>
              <a:spcBef>
                <a:spcPts val="900"/>
              </a:spcBef>
            </a:pPr>
            <a:r>
              <a:rPr lang="en-US" altLang="en-US" sz="3600" b="1" dirty="0"/>
              <a:t>Committee</a:t>
            </a:r>
            <a:r>
              <a:rPr lang="en-US" altLang="en-US" sz="3600" dirty="0"/>
              <a:t>: Provides detailed oversight, advises on specific issues, monitors and audits, facilitates stakeholder communication</a:t>
            </a:r>
          </a:p>
          <a:p>
            <a:pPr>
              <a:spcBef>
                <a:spcPts val="900"/>
              </a:spcBef>
            </a:pPr>
            <a:endParaRPr lang="en-US" altLang="en-US" sz="1100" dirty="0"/>
          </a:p>
          <a:p>
            <a:pPr>
              <a:spcBef>
                <a:spcPts val="900"/>
              </a:spcBef>
            </a:pPr>
            <a:r>
              <a:rPr lang="en-US" altLang="en-US" sz="3600" b="1" dirty="0"/>
              <a:t>Government entities</a:t>
            </a:r>
            <a:r>
              <a:rPr lang="en-US" altLang="en-US" sz="3600" dirty="0"/>
              <a:t>: Set standards and regulations, enforce legal compliance, collaborate with private sector; subject to oversight committees</a:t>
            </a:r>
          </a:p>
          <a:p>
            <a:pPr>
              <a:spcBef>
                <a:spcPts val="900"/>
              </a:spcBef>
            </a:pPr>
            <a:endParaRPr lang="en-US" alt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D71B773-3809-D2E5-0752-2F81A15C885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449E703A-0E39-4FA5-4660-5C21C8AF30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400" b="0" kern="0" dirty="0">
                <a:solidFill>
                  <a:srgbClr val="0B0506"/>
                </a:solidFill>
                <a:latin typeface="Arial"/>
              </a:rPr>
              <a:t>Types of Governance Structures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3975740636"/>
      </p:ext>
    </p:extLst>
  </p:cSld>
  <p:clrMapOvr>
    <a:masterClrMapping/>
  </p:clrMapOvr>
</p:sld>
</file>

<file path=ppt/slides/slide3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ED327C-F529-90CC-C654-A1193085A0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71531B6-4E75-83D5-80C5-2C3E434CFB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Slide </a:t>
            </a:r>
            <a:fld id="{4CA2B2DB-B91D-4166-98BF-65A0DA7EEE6D}" type="slidenum">
              <a:rPr kumimoji="0" lang="en-US" sz="1800" b="0" i="1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357</a:t>
            </a:fld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23B0D3-3BD9-AB20-750E-E8FB2C230198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2536823"/>
            <a:ext cx="16192500" cy="6340477"/>
          </a:xfrm>
        </p:spPr>
        <p:txBody>
          <a:bodyPr/>
          <a:lstStyle/>
          <a:p>
            <a:pPr>
              <a:spcBef>
                <a:spcPts val="900"/>
              </a:spcBef>
            </a:pPr>
            <a:r>
              <a:rPr lang="en-US" altLang="en-US" sz="3600" b="1" dirty="0"/>
              <a:t>Centralized governance</a:t>
            </a:r>
            <a:r>
              <a:rPr lang="en-US" altLang="en-US" sz="3600" dirty="0"/>
              <a:t> concentrates decision-making authority, allows for uniform implementation. May lack responsiveness and can create a single point of failure.</a:t>
            </a:r>
          </a:p>
          <a:p>
            <a:pPr>
              <a:spcBef>
                <a:spcPts val="900"/>
              </a:spcBef>
            </a:pPr>
            <a:endParaRPr lang="en-US" altLang="en-US" sz="1100" dirty="0"/>
          </a:p>
          <a:p>
            <a:pPr>
              <a:spcBef>
                <a:spcPts val="900"/>
              </a:spcBef>
            </a:pPr>
            <a:r>
              <a:rPr lang="en-US" altLang="en-US" sz="3600" b="1" dirty="0"/>
              <a:t>Decentralized governance</a:t>
            </a:r>
            <a:r>
              <a:rPr lang="en-US" altLang="en-US" sz="3600" dirty="0"/>
              <a:t> distributes decision-making authority, fostering innovation and adaptability. May lead to inconsistencies and gaps in security.</a:t>
            </a:r>
          </a:p>
          <a:p>
            <a:pPr>
              <a:spcBef>
                <a:spcPts val="900"/>
              </a:spcBef>
            </a:pPr>
            <a:endParaRPr lang="en-US" alt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908F896-4BB0-D110-1FE5-2D0BFD11FC9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0329FB07-4DA2-E434-B1C2-A835C494A1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400" b="0" kern="0" dirty="0">
                <a:solidFill>
                  <a:srgbClr val="0B0506"/>
                </a:solidFill>
                <a:latin typeface="Arial"/>
              </a:rPr>
              <a:t>Types of Governance Structures (cont.)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2454461581"/>
      </p:ext>
    </p:extLst>
  </p:cSld>
  <p:clrMapOvr>
    <a:masterClrMapping/>
  </p:clrMapOvr>
</p:sld>
</file>

<file path=ppt/slides/slide3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15194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4CF2C07-6979-DA52-9D4F-A66340BC0B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5930B02A-1327-46CF-EFF2-BD582BA7C2EB}"/>
              </a:ext>
            </a:extLst>
          </p:cNvPr>
          <p:cNvGrpSpPr/>
          <p:nvPr/>
        </p:nvGrpSpPr>
        <p:grpSpPr>
          <a:xfrm rot="-5400000">
            <a:off x="12015831" y="4014831"/>
            <a:ext cx="10287000" cy="2257339"/>
            <a:chOff x="0" y="0"/>
            <a:chExt cx="2709333" cy="59452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8B956E09-4FAD-6E1A-D3A7-20F7334696C1}"/>
                </a:ext>
              </a:extLst>
            </p:cNvPr>
            <p:cNvSpPr/>
            <p:nvPr/>
          </p:nvSpPr>
          <p:spPr>
            <a:xfrm>
              <a:off x="0" y="0"/>
              <a:ext cx="2709333" cy="594525"/>
            </a:xfrm>
            <a:custGeom>
              <a:avLst/>
              <a:gdLst/>
              <a:ahLst/>
              <a:cxnLst/>
              <a:rect l="l" t="t" r="r" b="b"/>
              <a:pathLst>
                <a:path w="2709333" h="594525">
                  <a:moveTo>
                    <a:pt x="0" y="0"/>
                  </a:moveTo>
                  <a:lnTo>
                    <a:pt x="2709333" y="0"/>
                  </a:lnTo>
                  <a:lnTo>
                    <a:pt x="2709333" y="594525"/>
                  </a:lnTo>
                  <a:lnTo>
                    <a:pt x="0" y="594525"/>
                  </a:lnTo>
                  <a:close/>
                </a:path>
              </a:pathLst>
            </a:custGeom>
            <a:solidFill>
              <a:srgbClr val="0283FD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04E02701-5985-7488-5B1C-EB6ECD20F8ED}"/>
                </a:ext>
              </a:extLst>
            </p:cNvPr>
            <p:cNvSpPr txBox="1"/>
            <p:nvPr/>
          </p:nvSpPr>
          <p:spPr>
            <a:xfrm>
              <a:off x="0" y="-66675"/>
              <a:ext cx="2709333" cy="6612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3024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9187D54C-D535-682F-0BC6-230A1C5CBAC3}"/>
              </a:ext>
            </a:extLst>
          </p:cNvPr>
          <p:cNvGrpSpPr/>
          <p:nvPr/>
        </p:nvGrpSpPr>
        <p:grpSpPr>
          <a:xfrm>
            <a:off x="179467" y="6643814"/>
            <a:ext cx="8126333" cy="3488267"/>
            <a:chOff x="0" y="0"/>
            <a:chExt cx="844714" cy="36259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3FF55F22-07CC-F12D-5C96-35594813727C}"/>
                </a:ext>
              </a:extLst>
            </p:cNvPr>
            <p:cNvSpPr/>
            <p:nvPr/>
          </p:nvSpPr>
          <p:spPr>
            <a:xfrm>
              <a:off x="0" y="0"/>
              <a:ext cx="844714" cy="362598"/>
            </a:xfrm>
            <a:custGeom>
              <a:avLst/>
              <a:gdLst/>
              <a:ahLst/>
              <a:cxnLst/>
              <a:rect l="l" t="t" r="r" b="b"/>
              <a:pathLst>
                <a:path w="844714" h="362598">
                  <a:moveTo>
                    <a:pt x="203200" y="0"/>
                  </a:moveTo>
                  <a:lnTo>
                    <a:pt x="844714" y="0"/>
                  </a:lnTo>
                  <a:lnTo>
                    <a:pt x="641514" y="362598"/>
                  </a:lnTo>
                  <a:lnTo>
                    <a:pt x="0" y="362598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283FD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BBC1B8FA-BD94-6D8E-57AE-39C97FD94B49}"/>
                </a:ext>
              </a:extLst>
            </p:cNvPr>
            <p:cNvSpPr txBox="1"/>
            <p:nvPr/>
          </p:nvSpPr>
          <p:spPr>
            <a:xfrm>
              <a:off x="101600" y="-28575"/>
              <a:ext cx="641514" cy="391173"/>
            </a:xfrm>
            <a:prstGeom prst="rect">
              <a:avLst/>
            </a:prstGeom>
          </p:spPr>
          <p:txBody>
            <a:bodyPr lIns="47790" tIns="47790" rIns="47790" bIns="4779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1843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5B19C6D6-8151-54EF-5AB2-BCF343EEB2A3}"/>
              </a:ext>
            </a:extLst>
          </p:cNvPr>
          <p:cNvGrpSpPr/>
          <p:nvPr/>
        </p:nvGrpSpPr>
        <p:grpSpPr>
          <a:xfrm>
            <a:off x="-73552" y="7047924"/>
            <a:ext cx="16030661" cy="3336996"/>
            <a:chOff x="0" y="0"/>
            <a:chExt cx="6165409" cy="1271237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F48396F9-888B-3A62-3DE1-585DB0D74800}"/>
                </a:ext>
              </a:extLst>
            </p:cNvPr>
            <p:cNvSpPr/>
            <p:nvPr/>
          </p:nvSpPr>
          <p:spPr>
            <a:xfrm>
              <a:off x="0" y="0"/>
              <a:ext cx="6165409" cy="1271237"/>
            </a:xfrm>
            <a:custGeom>
              <a:avLst/>
              <a:gdLst/>
              <a:ahLst/>
              <a:cxnLst/>
              <a:rect l="l" t="t" r="r" b="b"/>
              <a:pathLst>
                <a:path w="6165409" h="1271237">
                  <a:moveTo>
                    <a:pt x="0" y="0"/>
                  </a:moveTo>
                  <a:lnTo>
                    <a:pt x="6165409" y="0"/>
                  </a:lnTo>
                  <a:lnTo>
                    <a:pt x="6165409" y="1271237"/>
                  </a:lnTo>
                  <a:lnTo>
                    <a:pt x="0" y="127123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B700FB72-A3B1-1328-4E47-9D35BCBF52A4}"/>
                </a:ext>
              </a:extLst>
            </p:cNvPr>
            <p:cNvSpPr txBox="1"/>
            <p:nvPr/>
          </p:nvSpPr>
          <p:spPr>
            <a:xfrm>
              <a:off x="0" y="-28575"/>
              <a:ext cx="6165409" cy="1299812"/>
            </a:xfrm>
            <a:prstGeom prst="rect">
              <a:avLst/>
            </a:prstGeom>
          </p:spPr>
          <p:txBody>
            <a:bodyPr lIns="47790" tIns="47790" rIns="47790" bIns="4779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1843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sp>
        <p:nvSpPr>
          <p:cNvPr id="12" name="TextBox 12">
            <a:extLst>
              <a:ext uri="{FF2B5EF4-FFF2-40B4-BE49-F238E27FC236}">
                <a16:creationId xmlns:a16="http://schemas.microsoft.com/office/drawing/2014/main" id="{58EE5FB3-6A92-01EE-0CE6-09E035FCF640}"/>
              </a:ext>
            </a:extLst>
          </p:cNvPr>
          <p:cNvSpPr txBox="1"/>
          <p:nvPr/>
        </p:nvSpPr>
        <p:spPr>
          <a:xfrm>
            <a:off x="1111666" y="3432993"/>
            <a:ext cx="14771892" cy="598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4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Day 5 – Block 2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7EEAE75C-21EF-86FF-7148-33BA6CEED2FF}"/>
              </a:ext>
            </a:extLst>
          </p:cNvPr>
          <p:cNvSpPr txBox="1"/>
          <p:nvPr/>
        </p:nvSpPr>
        <p:spPr>
          <a:xfrm>
            <a:off x="1111666" y="9653992"/>
            <a:ext cx="12263263" cy="3619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0" i="0" u="none" strike="noStrike" kern="1200" cap="none" spc="0" normalizeH="0" baseline="0" noProof="0">
                <a:ln>
                  <a:noFill/>
                </a:ln>
                <a:solidFill>
                  <a:srgbClr val="252525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CALIFORNIA INSTITUTE OF APPLIED TECHNOLOGY</a:t>
            </a:r>
          </a:p>
        </p:txBody>
      </p:sp>
      <p:sp>
        <p:nvSpPr>
          <p:cNvPr id="15" name="AutoShape 15">
            <a:extLst>
              <a:ext uri="{FF2B5EF4-FFF2-40B4-BE49-F238E27FC236}">
                <a16:creationId xmlns:a16="http://schemas.microsoft.com/office/drawing/2014/main" id="{C412B7E9-E44C-6D2E-EC6D-C979E77A3A04}"/>
              </a:ext>
            </a:extLst>
          </p:cNvPr>
          <p:cNvSpPr/>
          <p:nvPr/>
        </p:nvSpPr>
        <p:spPr>
          <a:xfrm>
            <a:off x="8010568" y="9858838"/>
            <a:ext cx="7625672" cy="0"/>
          </a:xfrm>
          <a:prstGeom prst="line">
            <a:avLst/>
          </a:prstGeom>
          <a:ln w="19050" cap="flat">
            <a:solidFill>
              <a:srgbClr val="0283F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7" name="Freeform 5">
            <a:extLst>
              <a:ext uri="{FF2B5EF4-FFF2-40B4-BE49-F238E27FC236}">
                <a16:creationId xmlns:a16="http://schemas.microsoft.com/office/drawing/2014/main" id="{079B5662-3C9D-B17A-0BBF-24B6322DB1DA}"/>
              </a:ext>
            </a:extLst>
          </p:cNvPr>
          <p:cNvSpPr/>
          <p:nvPr/>
        </p:nvSpPr>
        <p:spPr>
          <a:xfrm>
            <a:off x="1111666" y="355081"/>
            <a:ext cx="4247850" cy="631936"/>
          </a:xfrm>
          <a:custGeom>
            <a:avLst/>
            <a:gdLst/>
            <a:ahLst/>
            <a:cxnLst/>
            <a:rect l="l" t="t" r="r" b="b"/>
            <a:pathLst>
              <a:path w="4247850" h="631936">
                <a:moveTo>
                  <a:pt x="0" y="0"/>
                </a:moveTo>
                <a:lnTo>
                  <a:pt x="4247850" y="0"/>
                </a:lnTo>
                <a:lnTo>
                  <a:pt x="4247850" y="631935"/>
                </a:lnTo>
                <a:lnTo>
                  <a:pt x="0" y="63193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5" r="-5"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A575095-3FB5-6715-6A8D-D0D86D2057DC}"/>
              </a:ext>
            </a:extLst>
          </p:cNvPr>
          <p:cNvSpPr txBox="1"/>
          <p:nvPr/>
        </p:nvSpPr>
        <p:spPr>
          <a:xfrm>
            <a:off x="1111666" y="7106062"/>
            <a:ext cx="11918534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2400" dirty="0"/>
              <a:t>Compliance &amp; Regulatory Requirements</a:t>
            </a:r>
          </a:p>
          <a:p>
            <a:pPr lvl="1"/>
            <a:r>
              <a:rPr lang="en-US" altLang="en-US" dirty="0"/>
              <a:t>GDPR</a:t>
            </a:r>
          </a:p>
          <a:p>
            <a:pPr lvl="1"/>
            <a:r>
              <a:rPr lang="en-US" altLang="en-US" dirty="0"/>
              <a:t>HIPAA</a:t>
            </a:r>
          </a:p>
          <a:p>
            <a:pPr lvl="1"/>
            <a:r>
              <a:rPr lang="en-US" altLang="en-US" dirty="0"/>
              <a:t>SOX</a:t>
            </a:r>
          </a:p>
          <a:p>
            <a:pPr lvl="1"/>
            <a:r>
              <a:rPr lang="en-US" altLang="en-US" dirty="0"/>
              <a:t>PCI-DSS</a:t>
            </a:r>
          </a:p>
          <a:p>
            <a:pPr lvl="1"/>
            <a:r>
              <a:rPr lang="en-US" altLang="en-US" dirty="0"/>
              <a:t>Audit Processes</a:t>
            </a:r>
          </a:p>
          <a:p>
            <a:pPr lvl="1"/>
            <a:r>
              <a:rPr lang="en-US" altLang="en-US" dirty="0"/>
              <a:t>Control Frameworks</a:t>
            </a:r>
          </a:p>
        </p:txBody>
      </p:sp>
    </p:spTree>
    <p:extLst>
      <p:ext uri="{BB962C8B-B14F-4D97-AF65-F5344CB8AC3E}">
        <p14:creationId xmlns:p14="http://schemas.microsoft.com/office/powerpoint/2010/main" val="1548649314"/>
      </p:ext>
    </p:extLst>
  </p:cSld>
  <p:clrMapOvr>
    <a:masterClrMapping/>
  </p:clrMapOvr>
</p:sld>
</file>

<file path=ppt/slides/slide3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1BB55F-F3AF-FBE2-F183-D16A497BF0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7685AAF-4163-87D1-F058-ED6DEFE956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Slide </a:t>
            </a:r>
            <a:fld id="{4CA2B2DB-B91D-4166-98BF-65A0DA7EEE6D}" type="slidenum">
              <a:rPr kumimoji="0" lang="en-US" sz="1800" b="0" i="1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359</a:t>
            </a:fld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8DDB83-53C2-7D00-A58C-538D6618A8A2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2536823"/>
            <a:ext cx="16192500" cy="6340477"/>
          </a:xfrm>
        </p:spPr>
        <p:txBody>
          <a:bodyPr/>
          <a:lstStyle/>
          <a:p>
            <a:pPr marL="0" indent="0">
              <a:spcBef>
                <a:spcPts val="900"/>
              </a:spcBef>
              <a:buNone/>
            </a:pPr>
            <a:r>
              <a:rPr lang="en-US" altLang="en-US" sz="3900" b="1" dirty="0"/>
              <a:t>Compliance reporting</a:t>
            </a:r>
            <a:r>
              <a:rPr lang="en-US" altLang="en-US" sz="3900" dirty="0"/>
              <a:t> provides insights to internal stakeholders and fulfills external obligations by creating detailed documents.</a:t>
            </a:r>
          </a:p>
          <a:p>
            <a:pPr>
              <a:spcBef>
                <a:spcPts val="900"/>
              </a:spcBef>
            </a:pPr>
            <a:r>
              <a:rPr lang="en-US" altLang="en-US" sz="3600" dirty="0"/>
              <a:t>Documents adhere to industry-specific regulations and standards.</a:t>
            </a:r>
          </a:p>
          <a:p>
            <a:pPr>
              <a:spcBef>
                <a:spcPts val="900"/>
              </a:spcBef>
            </a:pPr>
            <a:r>
              <a:rPr lang="en-US" altLang="en-US" sz="3600" dirty="0"/>
              <a:t>Internal stakeholders might be interested in metrics involving employee security training and thwarted attacks.  </a:t>
            </a:r>
          </a:p>
          <a:p>
            <a:pPr>
              <a:spcBef>
                <a:spcPts val="900"/>
              </a:spcBef>
            </a:pPr>
            <a:r>
              <a:rPr lang="en-US" altLang="en-US" sz="3600" dirty="0"/>
              <a:t>External compliance reports are often required within strict time frames. Late or inaccurate reports may result in fines, legal action, and other negative consequences.  </a:t>
            </a:r>
            <a:endParaRPr lang="en-US" altLang="en-US" sz="3000" dirty="0"/>
          </a:p>
          <a:p>
            <a:pPr>
              <a:spcBef>
                <a:spcPts val="900"/>
              </a:spcBef>
            </a:pPr>
            <a:endParaRPr lang="en-US" alt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5ECB15A-47BA-2A2D-0583-E40F1FCBAD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AA7561A-3270-9BEF-263E-7E1A1AB5C5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400" b="0" kern="0" dirty="0">
                <a:solidFill>
                  <a:srgbClr val="0B0506"/>
                </a:solidFill>
                <a:latin typeface="Arial"/>
              </a:rPr>
              <a:t>Compliance Reporting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1765345136"/>
      </p:ext>
    </p:extLst>
  </p:cSld>
  <p:clrMapOvr>
    <a:masterClrMapping/>
  </p:clrMapOvr>
</p:sld>
</file>

<file path=ppt/slides/slide3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883090-27BE-32F1-1A99-BC84989287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F920A6E-B1A9-5524-28F5-2F1296C570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Slide </a:t>
            </a:r>
            <a:fld id="{4CA2B2DB-B91D-4166-98BF-65A0DA7EEE6D}" type="slidenum">
              <a:rPr kumimoji="0" lang="en-US" sz="1800" b="0" i="1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360</a:t>
            </a:fld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83FAC8-E5C2-79A1-5E63-E43E9D4A73DB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2536823"/>
            <a:ext cx="16192500" cy="6340477"/>
          </a:xfrm>
        </p:spPr>
        <p:txBody>
          <a:bodyPr/>
          <a:lstStyle/>
          <a:p>
            <a:pPr>
              <a:spcBef>
                <a:spcPts val="900"/>
              </a:spcBef>
            </a:pPr>
            <a:r>
              <a:rPr lang="en-US" altLang="en-US" sz="3900" b="1" dirty="0"/>
              <a:t>FCPA compliance</a:t>
            </a:r>
            <a:r>
              <a:rPr lang="en-US" altLang="en-US" sz="3900" dirty="0"/>
              <a:t>: Shows measures taken to prevent corruption (e.g., due diligence programs and accounting controls)  </a:t>
            </a:r>
          </a:p>
          <a:p>
            <a:pPr>
              <a:spcBef>
                <a:spcPts val="900"/>
              </a:spcBef>
            </a:pPr>
            <a:endParaRPr lang="en-US" altLang="en-US" sz="600" dirty="0"/>
          </a:p>
          <a:p>
            <a:pPr>
              <a:spcBef>
                <a:spcPts val="900"/>
              </a:spcBef>
            </a:pPr>
            <a:r>
              <a:rPr lang="en-US" altLang="en-US" sz="3900" b="1" dirty="0"/>
              <a:t>PCI DSS compliance</a:t>
            </a:r>
            <a:r>
              <a:rPr lang="en-US" altLang="en-US" sz="3900" dirty="0"/>
              <a:t>: Details how customer payment data is protected</a:t>
            </a:r>
          </a:p>
          <a:p>
            <a:pPr>
              <a:spcBef>
                <a:spcPts val="900"/>
              </a:spcBef>
            </a:pPr>
            <a:endParaRPr lang="en-US" altLang="en-US" sz="600" dirty="0"/>
          </a:p>
          <a:p>
            <a:pPr>
              <a:spcBef>
                <a:spcPts val="900"/>
              </a:spcBef>
            </a:pPr>
            <a:r>
              <a:rPr lang="en-US" altLang="en-US" sz="3900" b="1" dirty="0"/>
              <a:t>HIPAA compliance: </a:t>
            </a:r>
            <a:r>
              <a:rPr lang="en-US" altLang="en-US" sz="3900" dirty="0"/>
              <a:t>Shows measures taken to protect patient health records</a:t>
            </a:r>
          </a:p>
          <a:p>
            <a:pPr>
              <a:spcBef>
                <a:spcPts val="900"/>
              </a:spcBef>
            </a:pPr>
            <a:endParaRPr lang="en-US" altLang="en-US" sz="600" b="1" dirty="0"/>
          </a:p>
          <a:p>
            <a:pPr>
              <a:spcBef>
                <a:spcPts val="900"/>
              </a:spcBef>
            </a:pPr>
            <a:r>
              <a:rPr lang="en-US" altLang="en-US" sz="3900" b="1" dirty="0"/>
              <a:t>GDPR compliance</a:t>
            </a:r>
            <a:r>
              <a:rPr lang="en-US" altLang="en-US" sz="3900" dirty="0"/>
              <a:t>: Shows protocols for safeguarding personal data and privacy rights </a:t>
            </a:r>
          </a:p>
          <a:p>
            <a:pPr>
              <a:spcBef>
                <a:spcPts val="900"/>
              </a:spcBef>
            </a:pPr>
            <a:endParaRPr lang="en-US" alt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A6E9C1-A206-B77F-F103-6D3C32E6C6C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35666B8A-A45C-FB1E-BD7F-4A919801FD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400" b="0" kern="0" dirty="0">
                <a:solidFill>
                  <a:srgbClr val="0B0506"/>
                </a:solidFill>
                <a:latin typeface="Arial"/>
              </a:rPr>
              <a:t>Compliance Reporting Examples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3182031604"/>
      </p:ext>
    </p:extLst>
  </p:cSld>
  <p:clrMapOvr>
    <a:masterClrMapping/>
  </p:clrMapOvr>
</p:sld>
</file>

<file path=ppt/slides/slide3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25C480-3F8D-2D33-6254-4779E4F247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1EE902F-C162-82E9-2BCF-A34A6B4180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Slide </a:t>
            </a:r>
            <a:fld id="{4CA2B2DB-B91D-4166-98BF-65A0DA7EEE6D}" type="slidenum">
              <a:rPr kumimoji="0" lang="en-US" sz="1800" b="0" i="1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361</a:t>
            </a:fld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E921A3-3D8A-835E-D820-B620223E2A7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2536823"/>
            <a:ext cx="16192500" cy="6340477"/>
          </a:xfrm>
        </p:spPr>
        <p:txBody>
          <a:bodyPr/>
          <a:lstStyle/>
          <a:p>
            <a:pPr>
              <a:spcBef>
                <a:spcPts val="900"/>
              </a:spcBef>
            </a:pPr>
            <a:r>
              <a:rPr lang="en-US" altLang="en-US" sz="3900" b="1" dirty="0"/>
              <a:t>Fines</a:t>
            </a:r>
            <a:r>
              <a:rPr lang="en-US" altLang="en-US" sz="3900" dirty="0"/>
              <a:t>: Monetary penalties for non-compliance</a:t>
            </a:r>
          </a:p>
          <a:p>
            <a:pPr>
              <a:spcBef>
                <a:spcPts val="900"/>
              </a:spcBef>
            </a:pPr>
            <a:r>
              <a:rPr lang="en-US" altLang="en-US" sz="3900" b="1" dirty="0"/>
              <a:t>Sanctions</a:t>
            </a:r>
            <a:r>
              <a:rPr lang="en-US" altLang="en-US" sz="3900" dirty="0"/>
              <a:t>: Restrictions or limitations imposed on organizations until compliance is achieved</a:t>
            </a:r>
          </a:p>
          <a:p>
            <a:pPr>
              <a:spcBef>
                <a:spcPts val="900"/>
              </a:spcBef>
            </a:pPr>
            <a:r>
              <a:rPr lang="en-US" altLang="en-US" sz="3900" b="1" dirty="0"/>
              <a:t>Reputational damage</a:t>
            </a:r>
            <a:r>
              <a:rPr lang="en-US" altLang="en-US" sz="3900" dirty="0"/>
              <a:t>: Negative impact on an organization's public image and credibility</a:t>
            </a:r>
          </a:p>
          <a:p>
            <a:pPr>
              <a:spcBef>
                <a:spcPts val="900"/>
              </a:spcBef>
            </a:pPr>
            <a:r>
              <a:rPr lang="en-US" altLang="en-US" sz="3900" b="1" dirty="0"/>
              <a:t>Loss of license</a:t>
            </a:r>
            <a:r>
              <a:rPr lang="en-US" altLang="en-US" sz="3900" dirty="0"/>
              <a:t>: One of the most severe consequences; the organization might need to shut down</a:t>
            </a:r>
          </a:p>
          <a:p>
            <a:pPr>
              <a:spcBef>
                <a:spcPts val="900"/>
              </a:spcBef>
            </a:pPr>
            <a:r>
              <a:rPr lang="en-US" altLang="en-US" sz="3900" b="1" dirty="0"/>
              <a:t>Contractual impacts</a:t>
            </a:r>
            <a:r>
              <a:rPr lang="en-US" altLang="en-US" sz="3900" dirty="0"/>
              <a:t>: Contracts may be terminated and legal disputes may result from not complying with contractual obligations</a:t>
            </a:r>
          </a:p>
          <a:p>
            <a:pPr>
              <a:spcBef>
                <a:spcPts val="900"/>
              </a:spcBef>
            </a:pPr>
            <a:endParaRPr lang="en-US" alt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3B9E82-2BFA-0BF7-493C-68EC82E93CD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19AB0B3C-6906-1E8A-4C83-3DA27A9BDC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400" b="0" kern="0" dirty="0">
                <a:solidFill>
                  <a:srgbClr val="0B0506"/>
                </a:solidFill>
                <a:latin typeface="Arial"/>
              </a:rPr>
              <a:t>Consequences of Non-Compliance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64726512"/>
      </p:ext>
    </p:extLst>
  </p:cSld>
  <p:clrMapOvr>
    <a:masterClrMapping/>
  </p:clrMapOvr>
</p:sld>
</file>

<file path=ppt/slides/slide3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6C72BA-C214-D9DB-DB8D-1F14C96F39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61739F2-0901-9960-5419-F0621B225E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Slide </a:t>
            </a:r>
            <a:fld id="{4CA2B2DB-B91D-4166-98BF-65A0DA7EEE6D}" type="slidenum">
              <a:rPr kumimoji="0" lang="en-US" sz="1800" b="0" i="1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362</a:t>
            </a:fld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E4EC86-7465-4707-33AC-FFEB78DF39AC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2536823"/>
            <a:ext cx="16192500" cy="6340477"/>
          </a:xfrm>
        </p:spPr>
        <p:txBody>
          <a:bodyPr/>
          <a:lstStyle/>
          <a:p>
            <a:pPr marL="0" indent="0">
              <a:spcBef>
                <a:spcPts val="900"/>
              </a:spcBef>
              <a:buNone/>
            </a:pPr>
            <a:r>
              <a:rPr lang="en-US" altLang="en-US" sz="3900" b="1" dirty="0"/>
              <a:t>Compliance monitoring</a:t>
            </a:r>
            <a:r>
              <a:rPr lang="en-US" altLang="en-US" sz="3900" dirty="0"/>
              <a:t>: Ensuring adherence to regulatory guidelines and internal policies</a:t>
            </a:r>
          </a:p>
          <a:p>
            <a:pPr>
              <a:spcBef>
                <a:spcPts val="900"/>
              </a:spcBef>
            </a:pPr>
            <a:r>
              <a:rPr lang="en-US" altLang="en-US" sz="3900" dirty="0"/>
              <a:t>Involves a range of activities such as </a:t>
            </a:r>
            <a:r>
              <a:rPr lang="en-US" altLang="en-US" sz="3900" b="1" dirty="0"/>
              <a:t>due</a:t>
            </a:r>
            <a:r>
              <a:rPr lang="en-US" altLang="en-US" sz="3900" dirty="0"/>
              <a:t> </a:t>
            </a:r>
            <a:r>
              <a:rPr lang="en-US" altLang="en-US" sz="3900" b="1" dirty="0"/>
              <a:t>diligence</a:t>
            </a:r>
            <a:r>
              <a:rPr lang="en-US" altLang="en-US" sz="3900" dirty="0"/>
              <a:t>, </a:t>
            </a:r>
            <a:r>
              <a:rPr lang="en-US" altLang="en-US" sz="3900" b="1" dirty="0"/>
              <a:t>attestation</a:t>
            </a:r>
            <a:r>
              <a:rPr lang="en-US" altLang="en-US" sz="3900" dirty="0"/>
              <a:t>, and </a:t>
            </a:r>
            <a:r>
              <a:rPr lang="en-US" altLang="en-US" sz="3900" b="1" dirty="0"/>
              <a:t>acknowledgment</a:t>
            </a:r>
          </a:p>
          <a:p>
            <a:pPr>
              <a:spcBef>
                <a:spcPts val="900"/>
              </a:spcBef>
            </a:pPr>
            <a:r>
              <a:rPr lang="en-US" altLang="en-US" sz="3900" dirty="0"/>
              <a:t>Uses internal and external monitoring mechanisms</a:t>
            </a:r>
          </a:p>
          <a:p>
            <a:pPr>
              <a:spcBef>
                <a:spcPts val="900"/>
              </a:spcBef>
            </a:pPr>
            <a:r>
              <a:rPr lang="en-US" altLang="en-US" sz="3900" dirty="0"/>
              <a:t>Is streamlined by automation</a:t>
            </a:r>
          </a:p>
          <a:p>
            <a:pPr>
              <a:spcBef>
                <a:spcPts val="900"/>
              </a:spcBef>
            </a:pPr>
            <a:endParaRPr lang="en-US" alt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EEF6EC5-9BBF-7119-4F11-088FA57BB9C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7332E50-ECA8-6ECE-3084-980AFE5A80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400" b="0" kern="0" dirty="0">
                <a:solidFill>
                  <a:srgbClr val="0B0506"/>
                </a:solidFill>
                <a:latin typeface="Arial"/>
              </a:rPr>
              <a:t>Compliance Monitoring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1406309482"/>
      </p:ext>
    </p:extLst>
  </p:cSld>
  <p:clrMapOvr>
    <a:masterClrMapping/>
  </p:clrMapOvr>
</p:sld>
</file>

<file path=ppt/slides/slide3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659E82-564D-3ED5-DBEC-8271D861D6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6186AFF-8C09-A9F8-93B7-723380BCEC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Slide </a:t>
            </a:r>
            <a:fld id="{4CA2B2DB-B91D-4166-98BF-65A0DA7EEE6D}" type="slidenum">
              <a:rPr kumimoji="0" lang="en-US" sz="1800" b="0" i="1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363</a:t>
            </a:fld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9E48BC-74EE-BDE9-AF8E-AE6EE8A15812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2536823"/>
            <a:ext cx="16192500" cy="6340477"/>
          </a:xfrm>
        </p:spPr>
        <p:txBody>
          <a:bodyPr/>
          <a:lstStyle/>
          <a:p>
            <a:pPr>
              <a:spcBef>
                <a:spcPts val="900"/>
              </a:spcBef>
            </a:pPr>
            <a:r>
              <a:rPr lang="en-US" altLang="en-US" sz="3900" b="1" dirty="0"/>
              <a:t>Due diligence</a:t>
            </a:r>
            <a:r>
              <a:rPr lang="en-US" altLang="en-US" sz="3900" dirty="0"/>
              <a:t>: Gathering information and assessing risks before making decisions</a:t>
            </a:r>
          </a:p>
          <a:p>
            <a:pPr lvl="2">
              <a:spcBef>
                <a:spcPts val="900"/>
              </a:spcBef>
            </a:pPr>
            <a:r>
              <a:rPr lang="en-US" altLang="en-US" sz="3200" dirty="0"/>
              <a:t>Includes comprehensive reviews of systems, processes, and policies to identify vulnerabilities</a:t>
            </a:r>
          </a:p>
          <a:p>
            <a:pPr lvl="1">
              <a:spcBef>
                <a:spcPts val="900"/>
              </a:spcBef>
            </a:pPr>
            <a:endParaRPr lang="en-US" altLang="en-US" sz="1200" dirty="0"/>
          </a:p>
          <a:p>
            <a:pPr>
              <a:spcBef>
                <a:spcPts val="900"/>
              </a:spcBef>
            </a:pPr>
            <a:r>
              <a:rPr lang="en-US" altLang="en-US" sz="3900" b="1" dirty="0"/>
              <a:t>Due care</a:t>
            </a:r>
            <a:r>
              <a:rPr lang="en-US" altLang="en-US" sz="3900" dirty="0"/>
              <a:t>: Maintaining established systems or processes </a:t>
            </a:r>
          </a:p>
          <a:p>
            <a:pPr lvl="2">
              <a:spcBef>
                <a:spcPts val="900"/>
              </a:spcBef>
            </a:pPr>
            <a:r>
              <a:rPr lang="en-US" altLang="en-US" sz="3200" dirty="0"/>
              <a:t>Applying information gathered during due diligence</a:t>
            </a:r>
          </a:p>
          <a:p>
            <a:pPr lvl="2">
              <a:spcBef>
                <a:spcPts val="900"/>
              </a:spcBef>
            </a:pPr>
            <a:r>
              <a:rPr lang="en-US" altLang="en-US" sz="3200" dirty="0"/>
              <a:t>Updating security protocols</a:t>
            </a:r>
          </a:p>
          <a:p>
            <a:pPr lvl="2">
              <a:spcBef>
                <a:spcPts val="900"/>
              </a:spcBef>
            </a:pPr>
            <a:r>
              <a:rPr lang="en-US" altLang="en-US" sz="3200" dirty="0"/>
              <a:t>Conducting regular audits</a:t>
            </a:r>
          </a:p>
          <a:p>
            <a:pPr>
              <a:spcBef>
                <a:spcPts val="900"/>
              </a:spcBef>
            </a:pPr>
            <a:endParaRPr lang="en-US" alt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A8BC5F-F8D1-093E-80BC-3C3AC06C724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E0BB9748-534D-F50C-83C4-7E39108A0E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400" b="0" kern="0" dirty="0">
                <a:solidFill>
                  <a:srgbClr val="0B0506"/>
                </a:solidFill>
                <a:latin typeface="Arial"/>
              </a:rPr>
              <a:t>Due Diligence / Care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3821202918"/>
      </p:ext>
    </p:extLst>
  </p:cSld>
  <p:clrMapOvr>
    <a:masterClrMapping/>
  </p:clrMapOvr>
</p:sld>
</file>

<file path=ppt/slides/slide3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0D78A8-DF86-64EF-C6BB-A22488E68B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05EE2F8-383D-14DC-6545-A5A585D463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Slide </a:t>
            </a:r>
            <a:fld id="{4CA2B2DB-B91D-4166-98BF-65A0DA7EEE6D}" type="slidenum">
              <a:rPr kumimoji="0" lang="en-US" sz="1800" b="0" i="1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364</a:t>
            </a:fld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BEFF70-73CF-9569-0FB1-2BBE4E60639B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2536823"/>
            <a:ext cx="16192500" cy="6340477"/>
          </a:xfrm>
        </p:spPr>
        <p:txBody>
          <a:bodyPr/>
          <a:lstStyle/>
          <a:p>
            <a:pPr marL="0" indent="0">
              <a:spcBef>
                <a:spcPts val="900"/>
              </a:spcBef>
              <a:buNone/>
            </a:pPr>
            <a:r>
              <a:rPr lang="en-US" altLang="en-US" sz="4400" b="1" dirty="0"/>
              <a:t>Attestation</a:t>
            </a:r>
            <a:r>
              <a:rPr lang="en-US" altLang="en-US" sz="4400" dirty="0"/>
              <a:t>: Formal act of affirming or certifying validity of a process, system, or data set</a:t>
            </a:r>
          </a:p>
          <a:p>
            <a:pPr>
              <a:spcBef>
                <a:spcPts val="900"/>
              </a:spcBef>
            </a:pPr>
            <a:r>
              <a:rPr lang="en-US" altLang="en-US" sz="4000" dirty="0"/>
              <a:t>Adds trust and integrity to an organization’s cybersecurity posture</a:t>
            </a:r>
          </a:p>
          <a:p>
            <a:pPr>
              <a:spcBef>
                <a:spcPts val="900"/>
              </a:spcBef>
            </a:pPr>
            <a:r>
              <a:rPr lang="en-US" altLang="en-US" sz="4000" dirty="0"/>
              <a:t>Confirms that specific security controls are in place and functioning as intended</a:t>
            </a:r>
          </a:p>
          <a:p>
            <a:pPr>
              <a:spcBef>
                <a:spcPts val="900"/>
              </a:spcBef>
            </a:pPr>
            <a:r>
              <a:rPr lang="en-US" altLang="en-US" sz="4000" dirty="0"/>
              <a:t>Often takes the form of signed statements or digital certificates</a:t>
            </a:r>
          </a:p>
          <a:p>
            <a:pPr>
              <a:spcBef>
                <a:spcPts val="900"/>
              </a:spcBef>
            </a:pPr>
            <a:endParaRPr lang="en-US" alt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8A2B17C-B6AE-60B8-FA9E-637DB426611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29776E8-F5D8-96B1-9F22-F3F596CA67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400" b="0" kern="0" dirty="0">
                <a:solidFill>
                  <a:srgbClr val="0B0506"/>
                </a:solidFill>
                <a:latin typeface="Arial"/>
              </a:rPr>
              <a:t>Attestation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4146588490"/>
      </p:ext>
    </p:extLst>
  </p:cSld>
  <p:clrMapOvr>
    <a:masterClrMapping/>
  </p:clrMapOvr>
</p:sld>
</file>

<file path=ppt/slides/slide3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7AB9A8-D1C3-6039-6D5E-8AE7C3A8A0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C28BD5B-A549-7700-4728-463F570A91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Slide </a:t>
            </a:r>
            <a:fld id="{4CA2B2DB-B91D-4166-98BF-65A0DA7EEE6D}" type="slidenum">
              <a:rPr kumimoji="0" lang="en-US" sz="1800" b="0" i="1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365</a:t>
            </a:fld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22F4ED-F216-A406-9C5F-657FA6EB1BDE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2536823"/>
            <a:ext cx="16192500" cy="6340477"/>
          </a:xfrm>
        </p:spPr>
        <p:txBody>
          <a:bodyPr/>
          <a:lstStyle/>
          <a:p>
            <a:pPr>
              <a:spcBef>
                <a:spcPts val="900"/>
              </a:spcBef>
            </a:pPr>
            <a:r>
              <a:rPr lang="en-US" altLang="en-US" sz="3900" b="1" dirty="0"/>
              <a:t>Attestation</a:t>
            </a:r>
            <a:r>
              <a:rPr lang="en-US" altLang="en-US" sz="3900" dirty="0"/>
              <a:t>: Formal declaration or confirmation that specific criteria, processes, or systems meet the security standards</a:t>
            </a:r>
          </a:p>
          <a:p>
            <a:pPr lvl="2">
              <a:spcBef>
                <a:spcPts val="900"/>
              </a:spcBef>
            </a:pPr>
            <a:r>
              <a:rPr lang="en-US" altLang="en-US" sz="3200" dirty="0"/>
              <a:t>Provides assurance that data is being handled securely</a:t>
            </a:r>
          </a:p>
          <a:p>
            <a:pPr lvl="1">
              <a:spcBef>
                <a:spcPts val="900"/>
              </a:spcBef>
            </a:pPr>
            <a:endParaRPr lang="en-US" altLang="en-US" sz="1200" dirty="0"/>
          </a:p>
          <a:p>
            <a:pPr>
              <a:spcBef>
                <a:spcPts val="900"/>
              </a:spcBef>
            </a:pPr>
            <a:r>
              <a:rPr lang="en-US" altLang="en-US" sz="3900" b="1" dirty="0"/>
              <a:t>Acknowledgment</a:t>
            </a:r>
            <a:r>
              <a:rPr lang="en-US" altLang="en-US" sz="3900" dirty="0"/>
              <a:t>: Formally accepting or recognizing a policy</a:t>
            </a:r>
          </a:p>
          <a:p>
            <a:pPr lvl="2">
              <a:spcBef>
                <a:spcPts val="900"/>
              </a:spcBef>
            </a:pPr>
            <a:r>
              <a:rPr lang="en-US" altLang="en-US" sz="3200" dirty="0"/>
              <a:t>Compliance certificates and signed agreements are legally-binding acknowledgments that an organization will adhere to certain security protocols or standards.</a:t>
            </a:r>
          </a:p>
          <a:p>
            <a:pPr>
              <a:spcBef>
                <a:spcPts val="900"/>
              </a:spcBef>
            </a:pPr>
            <a:endParaRPr lang="en-US" alt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B10E894-260E-74E5-AD4F-33DE21D98FA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BC447D96-6F46-87AB-97DF-4E0AB0B518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400" b="0" kern="0" dirty="0">
                <a:solidFill>
                  <a:srgbClr val="0B0506"/>
                </a:solidFill>
                <a:latin typeface="Arial"/>
              </a:rPr>
              <a:t>Attestation and Acknowledgement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3094385307"/>
      </p:ext>
    </p:extLst>
  </p:cSld>
  <p:clrMapOvr>
    <a:masterClrMapping/>
  </p:clrMapOvr>
</p:sld>
</file>

<file path=ppt/slides/slide3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11A961-538E-74BC-483C-75B6D6FA44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7F0DFB8-F456-39C5-E664-B1B0724001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Slide </a:t>
            </a:r>
            <a:fld id="{4CA2B2DB-B91D-4166-98BF-65A0DA7EEE6D}" type="slidenum">
              <a:rPr kumimoji="0" lang="en-US" sz="1800" b="0" i="1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366</a:t>
            </a:fld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F83A2C-0ED6-4AA1-BD94-E47EC90BE7D4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2536823"/>
            <a:ext cx="16192500" cy="6340477"/>
          </a:xfrm>
        </p:spPr>
        <p:txBody>
          <a:bodyPr/>
          <a:lstStyle/>
          <a:p>
            <a:pPr marL="771525" indent="-771525">
              <a:spcBef>
                <a:spcPts val="900"/>
              </a:spcBef>
              <a:buFont typeface="+mj-lt"/>
              <a:buAutoNum type="arabicPeriod"/>
            </a:pPr>
            <a:r>
              <a:rPr lang="en-US" altLang="en-US" sz="4000" dirty="0"/>
              <a:t>Evaluation</a:t>
            </a:r>
          </a:p>
          <a:p>
            <a:pPr marL="771525" indent="-771525">
              <a:spcBef>
                <a:spcPts val="900"/>
              </a:spcBef>
              <a:buFont typeface="+mj-lt"/>
              <a:buAutoNum type="arabicPeriod"/>
            </a:pPr>
            <a:r>
              <a:rPr lang="en-US" altLang="en-US" sz="4000" dirty="0"/>
              <a:t>Documentation</a:t>
            </a:r>
          </a:p>
          <a:p>
            <a:pPr marL="771525" indent="-771525">
              <a:spcBef>
                <a:spcPts val="900"/>
              </a:spcBef>
              <a:buFont typeface="+mj-lt"/>
              <a:buAutoNum type="arabicPeriod"/>
            </a:pPr>
            <a:r>
              <a:rPr lang="en-US" altLang="en-US" sz="4000" dirty="0"/>
              <a:t>Approval</a:t>
            </a:r>
          </a:p>
          <a:p>
            <a:pPr marL="771525" indent="-771525">
              <a:spcBef>
                <a:spcPts val="900"/>
              </a:spcBef>
              <a:buFont typeface="+mj-lt"/>
              <a:buAutoNum type="arabicPeriod"/>
            </a:pPr>
            <a:r>
              <a:rPr lang="en-US" altLang="en-US" sz="4000" dirty="0"/>
              <a:t>Issuance</a:t>
            </a:r>
          </a:p>
          <a:p>
            <a:pPr marL="771525" indent="-771525">
              <a:spcBef>
                <a:spcPts val="900"/>
              </a:spcBef>
              <a:buFont typeface="+mj-lt"/>
              <a:buAutoNum type="arabicPeriod"/>
            </a:pPr>
            <a:r>
              <a:rPr lang="en-US" altLang="en-US" sz="4000" dirty="0"/>
              <a:t>Review and Update</a:t>
            </a:r>
          </a:p>
          <a:p>
            <a:pPr>
              <a:spcBef>
                <a:spcPts val="900"/>
              </a:spcBef>
            </a:pPr>
            <a:endParaRPr lang="en-US" alt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5D60B43-6F8D-DA9A-EB41-888CF9CB25A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42DEE7ED-624C-43DB-12E3-67DCBCC9C7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400" b="0" kern="0" dirty="0">
                <a:solidFill>
                  <a:srgbClr val="0B0506"/>
                </a:solidFill>
                <a:latin typeface="Arial"/>
              </a:rPr>
              <a:t>Attestation Process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610438576"/>
      </p:ext>
    </p:extLst>
  </p:cSld>
  <p:clrMapOvr>
    <a:masterClrMapping/>
  </p:clrMapOvr>
</p:sld>
</file>

<file path=ppt/slides/slide3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F7FC69-B098-BEFB-7A45-93525CC4EE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69A3CFF-64C8-3C57-EAD1-7A942A279D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Slide </a:t>
            </a:r>
            <a:fld id="{4CA2B2DB-B91D-4166-98BF-65A0DA7EEE6D}" type="slidenum">
              <a:rPr kumimoji="0" lang="en-US" sz="1800" b="0" i="1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367</a:t>
            </a:fld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058284-F69E-4A65-D6F8-5ABC1402A2FA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2536823"/>
            <a:ext cx="16192500" cy="6340477"/>
          </a:xfrm>
        </p:spPr>
        <p:txBody>
          <a:bodyPr/>
          <a:lstStyle/>
          <a:p>
            <a:pPr marL="0" indent="0">
              <a:spcBef>
                <a:spcPts val="900"/>
              </a:spcBef>
              <a:buNone/>
            </a:pPr>
            <a:r>
              <a:rPr lang="en-US" altLang="en-US" sz="4000" dirty="0"/>
              <a:t>Software can automate various tasks that help ensure compliance monitoring. Examples:</a:t>
            </a:r>
            <a:endParaRPr lang="en-US" altLang="en-US" sz="1400" dirty="0"/>
          </a:p>
          <a:p>
            <a:pPr>
              <a:spcBef>
                <a:spcPts val="900"/>
              </a:spcBef>
            </a:pPr>
            <a:r>
              <a:rPr lang="en-US" altLang="en-US" sz="4000" dirty="0"/>
              <a:t>Configuration management tools</a:t>
            </a:r>
          </a:p>
          <a:p>
            <a:pPr>
              <a:spcBef>
                <a:spcPts val="900"/>
              </a:spcBef>
            </a:pPr>
            <a:r>
              <a:rPr lang="en-US" altLang="en-US" sz="4000" dirty="0"/>
              <a:t>Automated vulnerability scanners</a:t>
            </a:r>
          </a:p>
          <a:p>
            <a:pPr>
              <a:spcBef>
                <a:spcPts val="900"/>
              </a:spcBef>
            </a:pPr>
            <a:r>
              <a:rPr lang="en-US" altLang="en-US" sz="4000" dirty="0"/>
              <a:t>SIEM systems</a:t>
            </a:r>
          </a:p>
          <a:p>
            <a:pPr>
              <a:spcBef>
                <a:spcPts val="900"/>
              </a:spcBef>
            </a:pPr>
            <a:endParaRPr lang="en-US" alt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4EBAE61-FCAF-3D3B-A255-581406CAC59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A717611B-38C2-3603-48FC-3387EFE3F8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400" b="0" kern="0" dirty="0">
                <a:solidFill>
                  <a:srgbClr val="0B0506"/>
                </a:solidFill>
                <a:latin typeface="Arial"/>
              </a:rPr>
              <a:t>Automation in Compliance Monitoring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3035002358"/>
      </p:ext>
    </p:extLst>
  </p:cSld>
  <p:clrMapOvr>
    <a:masterClrMapping/>
  </p:clrMapOvr>
</p:sld>
</file>

<file path=ppt/slides/slide3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D126F2-64DF-7C4E-8036-A70B5DF233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856AC85-C3B9-7C28-9651-EAA89401EA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Slide </a:t>
            </a:r>
            <a:fld id="{4CA2B2DB-B91D-4166-98BF-65A0DA7EEE6D}" type="slidenum">
              <a:rPr kumimoji="0" lang="en-US" sz="1800" b="0" i="1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368</a:t>
            </a:fld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16D642-E147-FF06-C3F3-A1AEB98D3D3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2536823"/>
            <a:ext cx="16192500" cy="6340477"/>
          </a:xfrm>
        </p:spPr>
        <p:txBody>
          <a:bodyPr/>
          <a:lstStyle/>
          <a:p>
            <a:pPr marL="0" indent="0">
              <a:spcBef>
                <a:spcPts val="900"/>
              </a:spcBef>
              <a:buNone/>
            </a:pPr>
            <a:r>
              <a:rPr lang="en-US" altLang="en-US" sz="4200" b="1" dirty="0"/>
              <a:t>Internal audits</a:t>
            </a:r>
            <a:r>
              <a:rPr lang="en-US" altLang="en-US" sz="4200" dirty="0"/>
              <a:t>: Self-audits conducted internally by the organization to ensure alignment with external requirements and internal policies</a:t>
            </a:r>
          </a:p>
          <a:p>
            <a:pPr lvl="2">
              <a:spcBef>
                <a:spcPts val="900"/>
              </a:spcBef>
            </a:pPr>
            <a:r>
              <a:rPr lang="en-US" altLang="en-US" sz="3200" b="1" dirty="0"/>
              <a:t>Proactive</a:t>
            </a:r>
            <a:r>
              <a:rPr lang="en-US" altLang="en-US" sz="3200" dirty="0"/>
              <a:t> </a:t>
            </a:r>
          </a:p>
          <a:p>
            <a:pPr lvl="2">
              <a:spcBef>
                <a:spcPts val="900"/>
              </a:spcBef>
            </a:pPr>
            <a:r>
              <a:rPr lang="en-US" altLang="en-US" sz="3200" b="1" dirty="0"/>
              <a:t>Self-assessments</a:t>
            </a:r>
            <a:r>
              <a:rPr lang="en-US" altLang="en-US" sz="3200" dirty="0"/>
              <a:t> are audits conducted by staff responsible for the assessed areas.  </a:t>
            </a:r>
          </a:p>
          <a:p>
            <a:pPr lvl="2">
              <a:spcBef>
                <a:spcPts val="900"/>
              </a:spcBef>
            </a:pPr>
            <a:r>
              <a:rPr lang="en-US" altLang="en-US" sz="3200" b="1" dirty="0"/>
              <a:t>Internal</a:t>
            </a:r>
            <a:r>
              <a:rPr lang="en-US" altLang="en-US" sz="3200" dirty="0"/>
              <a:t> </a:t>
            </a:r>
            <a:r>
              <a:rPr lang="en-US" altLang="en-US" sz="3200" b="1" dirty="0"/>
              <a:t>compliance audits </a:t>
            </a:r>
            <a:r>
              <a:rPr lang="en-US" altLang="en-US" sz="3200" dirty="0"/>
              <a:t>are overseen by internal committees. </a:t>
            </a:r>
          </a:p>
          <a:p>
            <a:pPr>
              <a:spcBef>
                <a:spcPts val="900"/>
              </a:spcBef>
            </a:pPr>
            <a:endParaRPr lang="en-US" alt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A80EDB9-D684-AD14-B774-D2AB92D5943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2E0F3A9-0390-E185-6F87-B27A000588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400" b="0" kern="0" dirty="0">
                <a:solidFill>
                  <a:srgbClr val="0B0506"/>
                </a:solidFill>
                <a:latin typeface="Arial"/>
              </a:rPr>
              <a:t>Internal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1591971842"/>
      </p:ext>
    </p:extLst>
  </p:cSld>
  <p:clrMapOvr>
    <a:masterClrMapping/>
  </p:clrMapOvr>
</p:sld>
</file>

<file path=ppt/slides/slide3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96E396-7076-6B1E-1099-BB43DCC4D3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2167E26-6A52-107C-3562-5F6589DCD5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Slide </a:t>
            </a:r>
            <a:fld id="{4CA2B2DB-B91D-4166-98BF-65A0DA7EEE6D}" type="slidenum">
              <a:rPr kumimoji="0" lang="en-US" sz="1800" b="0" i="1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369</a:t>
            </a:fld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6DCABE-D1E2-C157-AD07-14BD4353680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2536823"/>
            <a:ext cx="16192500" cy="6340477"/>
          </a:xfrm>
        </p:spPr>
        <p:txBody>
          <a:bodyPr/>
          <a:lstStyle/>
          <a:p>
            <a:pPr marL="0" indent="0">
              <a:spcBef>
                <a:spcPts val="900"/>
              </a:spcBef>
              <a:buNone/>
            </a:pPr>
            <a:r>
              <a:rPr lang="en-US" altLang="en-US" sz="4400" b="1" dirty="0"/>
              <a:t>External audits</a:t>
            </a:r>
            <a:r>
              <a:rPr lang="en-US" altLang="en-US" sz="4400" dirty="0"/>
              <a:t>: Evaluations conducted by entities outside the organization</a:t>
            </a:r>
          </a:p>
          <a:p>
            <a:pPr lvl="2">
              <a:spcBef>
                <a:spcPts val="900"/>
              </a:spcBef>
            </a:pPr>
            <a:r>
              <a:rPr lang="en-US" altLang="en-US" sz="3600" b="1" dirty="0"/>
              <a:t>Regulatory audit</a:t>
            </a:r>
            <a:r>
              <a:rPr lang="en-US" altLang="en-US" sz="3600" dirty="0"/>
              <a:t>: Mandated by law or industry standards</a:t>
            </a:r>
          </a:p>
          <a:p>
            <a:pPr lvl="2">
              <a:spcBef>
                <a:spcPts val="900"/>
              </a:spcBef>
            </a:pPr>
            <a:r>
              <a:rPr lang="en-US" altLang="en-US" sz="3600" b="1" dirty="0"/>
              <a:t>Independent third-party audit</a:t>
            </a:r>
            <a:r>
              <a:rPr lang="en-US" altLang="en-US" sz="3600" dirty="0"/>
              <a:t>: Conducted by an unbiased organization</a:t>
            </a:r>
          </a:p>
          <a:p>
            <a:pPr lvl="2">
              <a:spcBef>
                <a:spcPts val="900"/>
              </a:spcBef>
            </a:pPr>
            <a:r>
              <a:rPr lang="en-US" altLang="en-US" sz="3600" b="1" dirty="0"/>
              <a:t>Examination</a:t>
            </a:r>
            <a:r>
              <a:rPr lang="en-US" altLang="en-US" sz="3600" dirty="0"/>
              <a:t>: Verifies specific claims or compliance assertions</a:t>
            </a:r>
          </a:p>
          <a:p>
            <a:pPr lvl="2">
              <a:spcBef>
                <a:spcPts val="900"/>
              </a:spcBef>
            </a:pPr>
            <a:r>
              <a:rPr lang="en-US" altLang="en-US" sz="3600" b="1" dirty="0"/>
              <a:t>Assessment</a:t>
            </a:r>
            <a:r>
              <a:rPr lang="en-US" altLang="en-US" sz="3600" dirty="0"/>
              <a:t>: Evaluates the overall security posture </a:t>
            </a:r>
          </a:p>
          <a:p>
            <a:pPr>
              <a:spcBef>
                <a:spcPts val="900"/>
              </a:spcBef>
            </a:pPr>
            <a:endParaRPr lang="en-US" alt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DFD82B-D860-7E05-8162-004D2B8D7C9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9D0CE0D-28B0-BF87-82CB-86CE7D8E51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400" b="0" kern="0" dirty="0">
                <a:solidFill>
                  <a:srgbClr val="0B0506"/>
                </a:solidFill>
                <a:latin typeface="Arial"/>
              </a:rPr>
              <a:t>External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2481697082"/>
      </p:ext>
    </p:extLst>
  </p:cSld>
  <p:clrMapOvr>
    <a:masterClrMapping/>
  </p:clrMapOvr>
</p:sld>
</file>

<file path=ppt/slides/slide3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599104-231F-2E2D-72C5-26A3412F5E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3008574-ED6F-5188-B1F0-A01F53F8D2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Slide </a:t>
            </a:r>
            <a:fld id="{4CA2B2DB-B91D-4166-98BF-65A0DA7EEE6D}" type="slidenum">
              <a:rPr kumimoji="0" lang="en-US" sz="1800" b="0" i="1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370</a:t>
            </a:fld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6ADA2B-5EA4-3517-4E03-30CC6C33F97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2536823"/>
            <a:ext cx="16192500" cy="6340477"/>
          </a:xfrm>
        </p:spPr>
        <p:txBody>
          <a:bodyPr/>
          <a:lstStyle/>
          <a:p>
            <a:pPr marL="0" indent="0">
              <a:spcBef>
                <a:spcPts val="900"/>
              </a:spcBef>
              <a:buNone/>
            </a:pPr>
            <a:r>
              <a:rPr lang="en-US" altLang="en-US" sz="3600" b="1" dirty="0"/>
              <a:t>Reconnaissance</a:t>
            </a:r>
            <a:r>
              <a:rPr lang="en-US" altLang="en-US" sz="3600" dirty="0"/>
              <a:t>: </a:t>
            </a:r>
            <a:r>
              <a:rPr lang="en-US" altLang="en-US" sz="3300" dirty="0"/>
              <a:t>Collecting preliminary data or intelligence about the target</a:t>
            </a:r>
          </a:p>
          <a:p>
            <a:pPr>
              <a:spcBef>
                <a:spcPts val="900"/>
              </a:spcBef>
            </a:pPr>
            <a:r>
              <a:rPr lang="en-US" altLang="en-US" sz="3600" b="1" dirty="0"/>
              <a:t>Passive reconnaissance</a:t>
            </a:r>
          </a:p>
          <a:p>
            <a:pPr lvl="2">
              <a:spcBef>
                <a:spcPts val="900"/>
              </a:spcBef>
            </a:pPr>
            <a:r>
              <a:rPr lang="en-US" altLang="en-US" sz="2900" dirty="0"/>
              <a:t>Low-profile approach to gathering information</a:t>
            </a:r>
          </a:p>
          <a:p>
            <a:pPr lvl="2">
              <a:spcBef>
                <a:spcPts val="900"/>
              </a:spcBef>
            </a:pPr>
            <a:r>
              <a:rPr lang="en-US" altLang="en-US" sz="2900" dirty="0"/>
              <a:t>Identifies potential vulnerabilities or areas of interest without alerting the target</a:t>
            </a:r>
          </a:p>
          <a:p>
            <a:pPr>
              <a:spcBef>
                <a:spcPts val="900"/>
              </a:spcBef>
            </a:pPr>
            <a:r>
              <a:rPr lang="en-US" altLang="en-US" sz="3600" b="1" dirty="0"/>
              <a:t>Active reconnaissance</a:t>
            </a:r>
          </a:p>
          <a:p>
            <a:pPr lvl="2">
              <a:spcBef>
                <a:spcPts val="900"/>
              </a:spcBef>
            </a:pPr>
            <a:r>
              <a:rPr lang="en-US" altLang="en-US" sz="2900" dirty="0"/>
              <a:t>Involves direct interaction with the target system; may target intrusion detection systems</a:t>
            </a:r>
          </a:p>
          <a:p>
            <a:pPr lvl="2">
              <a:spcBef>
                <a:spcPts val="900"/>
              </a:spcBef>
            </a:pPr>
            <a:r>
              <a:rPr lang="en-US" altLang="en-US" sz="2900" dirty="0"/>
              <a:t>Provides more detail about system vulnerabilities  </a:t>
            </a:r>
          </a:p>
          <a:p>
            <a:pPr>
              <a:spcBef>
                <a:spcPts val="900"/>
              </a:spcBef>
            </a:pPr>
            <a:endParaRPr lang="en-US" alt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D53213E-B546-AE57-BDC4-59304A0AD97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61FB264-168C-09EA-3A5A-ED85EDEE24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400" b="0" kern="0" dirty="0">
                <a:solidFill>
                  <a:srgbClr val="0B0506"/>
                </a:solidFill>
                <a:latin typeface="Arial"/>
              </a:rPr>
              <a:t>Reconnaissance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4090631588"/>
      </p:ext>
    </p:extLst>
  </p:cSld>
  <p:clrMapOvr>
    <a:masterClrMapping/>
  </p:clrMapOvr>
</p:sld>
</file>

<file path=ppt/slides/slide3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7F0DB3-49E5-C6E3-AA6F-FAE1DF067A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19D7C62-2360-BA66-7644-52B27C4394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Slide </a:t>
            </a:r>
            <a:fld id="{4CA2B2DB-B91D-4166-98BF-65A0DA7EEE6D}" type="slidenum">
              <a:rPr kumimoji="0" lang="en-US" sz="1800" b="0" i="1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371</a:t>
            </a:fld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B666FE-85C1-1939-93A5-85102C901EE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2536823"/>
            <a:ext cx="16192500" cy="6340477"/>
          </a:xfrm>
        </p:spPr>
        <p:txBody>
          <a:bodyPr/>
          <a:lstStyle/>
          <a:p>
            <a:pPr marL="0" indent="0">
              <a:spcBef>
                <a:spcPts val="900"/>
              </a:spcBef>
              <a:buNone/>
            </a:pPr>
            <a:r>
              <a:rPr lang="en-US" altLang="en-US" sz="3900" b="1" dirty="0"/>
              <a:t>Vendor assessment</a:t>
            </a:r>
            <a:r>
              <a:rPr lang="en-US" altLang="en-US" sz="3900" dirty="0"/>
              <a:t>: Evaluating a vendor to ensure they meet organizational requirements before engaging in a business relationship</a:t>
            </a:r>
          </a:p>
          <a:p>
            <a:pPr marL="0" indent="0">
              <a:spcBef>
                <a:spcPts val="900"/>
              </a:spcBef>
              <a:buNone/>
            </a:pPr>
            <a:endParaRPr lang="en-US" altLang="en-US" sz="1200" dirty="0"/>
          </a:p>
          <a:p>
            <a:pPr marL="0" indent="0">
              <a:spcBef>
                <a:spcPts val="900"/>
              </a:spcBef>
              <a:buNone/>
            </a:pPr>
            <a:r>
              <a:rPr lang="en-US" altLang="en-US" sz="3900" dirty="0"/>
              <a:t>Contracts can help protect the organization. </a:t>
            </a:r>
          </a:p>
          <a:p>
            <a:pPr>
              <a:spcBef>
                <a:spcPts val="900"/>
              </a:spcBef>
            </a:pPr>
            <a:r>
              <a:rPr lang="en-US" altLang="en-US" sz="3600" b="1" dirty="0"/>
              <a:t>Service level agreement (SLA):</a:t>
            </a:r>
            <a:r>
              <a:rPr lang="en-US" altLang="en-US" sz="3600" dirty="0"/>
              <a:t> Defines each party’s responsibilities, including vendor’s protocol in case of service failure</a:t>
            </a:r>
          </a:p>
          <a:p>
            <a:pPr>
              <a:spcBef>
                <a:spcPts val="900"/>
              </a:spcBef>
            </a:pPr>
            <a:r>
              <a:rPr lang="en-US" altLang="en-US" sz="3600" b="1" dirty="0"/>
              <a:t>Business partners agreement (BPA): </a:t>
            </a:r>
            <a:r>
              <a:rPr lang="en-US" altLang="en-US" sz="3600" dirty="0"/>
              <a:t>Defines each party's responsibilities, the profit arrangement, and exit strategies</a:t>
            </a:r>
          </a:p>
          <a:p>
            <a:pPr>
              <a:spcBef>
                <a:spcPts val="900"/>
              </a:spcBef>
            </a:pPr>
            <a:endParaRPr lang="en-US" alt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49BD4A5-96D0-DD06-46E3-0CC00F3BAFE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000CDF44-9A25-54E2-88C0-187EDD4A33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400" b="0" kern="0" dirty="0">
                <a:solidFill>
                  <a:srgbClr val="0B0506"/>
                </a:solidFill>
                <a:latin typeface="Arial"/>
              </a:rPr>
              <a:t>Vendor Assessment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3608732629"/>
      </p:ext>
    </p:extLst>
  </p:cSld>
  <p:clrMapOvr>
    <a:masterClrMapping/>
  </p:clrMapOvr>
</p:sld>
</file>

<file path=ppt/slides/slide3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982860-B4A1-2BE9-182A-E131E0E82C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564AC9D-A377-7FDE-C969-8D4B44242C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Slide </a:t>
            </a:r>
            <a:fld id="{4CA2B2DB-B91D-4166-98BF-65A0DA7EEE6D}" type="slidenum">
              <a:rPr kumimoji="0" lang="en-US" sz="1800" b="0" i="1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372</a:t>
            </a:fld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3AF2EC-105B-EE95-678A-7B64F334F079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2536823"/>
            <a:ext cx="16192500" cy="6340477"/>
          </a:xfrm>
        </p:spPr>
        <p:txBody>
          <a:bodyPr/>
          <a:lstStyle/>
          <a:p>
            <a:pPr marL="0" indent="0">
              <a:spcBef>
                <a:spcPts val="900"/>
              </a:spcBef>
              <a:buNone/>
            </a:pPr>
            <a:r>
              <a:rPr lang="en-US" altLang="en-US" sz="4400" b="1" dirty="0"/>
              <a:t>Right-to-audit clause</a:t>
            </a:r>
            <a:r>
              <a:rPr lang="en-US" altLang="en-US" sz="4400" dirty="0"/>
              <a:t>: Grants one party the authority to conduct audits on another to ensure compliance with specific criteria</a:t>
            </a:r>
          </a:p>
          <a:p>
            <a:pPr>
              <a:spcBef>
                <a:spcPts val="900"/>
              </a:spcBef>
            </a:pPr>
            <a:r>
              <a:rPr lang="en-US" altLang="en-US" sz="4000" dirty="0"/>
              <a:t>Fosters transparency and accountability</a:t>
            </a:r>
          </a:p>
          <a:p>
            <a:pPr>
              <a:spcBef>
                <a:spcPts val="900"/>
              </a:spcBef>
            </a:pPr>
            <a:r>
              <a:rPr lang="en-US" altLang="en-US" sz="4000" dirty="0"/>
              <a:t>Scope and types of audits permitted should be clearly defined  </a:t>
            </a:r>
          </a:p>
          <a:p>
            <a:pPr>
              <a:spcBef>
                <a:spcPts val="900"/>
              </a:spcBef>
            </a:pPr>
            <a:r>
              <a:rPr lang="en-US" altLang="en-US" sz="4000" dirty="0"/>
              <a:t>May be invoked in case of suspected non-compliance or following a security incident involving the vendor</a:t>
            </a:r>
          </a:p>
          <a:p>
            <a:pPr>
              <a:spcBef>
                <a:spcPts val="900"/>
              </a:spcBef>
            </a:pPr>
            <a:endParaRPr lang="en-US" alt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5BD9080-6B8B-3646-621D-E2C31D2B69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F3B9FED-5164-2252-07BB-DF919D1F97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400" b="0" kern="0" dirty="0">
                <a:solidFill>
                  <a:srgbClr val="0B0506"/>
                </a:solidFill>
                <a:latin typeface="Arial"/>
              </a:rPr>
              <a:t>Right-to-Audit Clause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870294263"/>
      </p:ext>
    </p:extLst>
  </p:cSld>
  <p:clrMapOvr>
    <a:masterClrMapping/>
  </p:clrMapOvr>
</p:sld>
</file>

<file path=ppt/slides/slide3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E59D13-5E69-1F7D-F2A8-E6C0995D0F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2258B39-41F1-E073-E6A2-8021594F9B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Slide </a:t>
            </a:r>
            <a:fld id="{4CA2B2DB-B91D-4166-98BF-65A0DA7EEE6D}" type="slidenum">
              <a:rPr kumimoji="0" lang="en-US" sz="1800" b="0" i="1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373</a:t>
            </a:fld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4F8698-E8BF-B69B-A0CF-2E440C036C3F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2536823"/>
            <a:ext cx="16192500" cy="6340477"/>
          </a:xfrm>
        </p:spPr>
        <p:txBody>
          <a:bodyPr/>
          <a:lstStyle/>
          <a:p>
            <a:pPr marL="0" indent="0">
              <a:spcBef>
                <a:spcPts val="900"/>
              </a:spcBef>
              <a:buNone/>
            </a:pPr>
            <a:r>
              <a:rPr lang="en-US" altLang="en-US" sz="4800" b="1" dirty="0"/>
              <a:t>Evidence of internal audits</a:t>
            </a:r>
            <a:r>
              <a:rPr lang="en-US" altLang="en-US" sz="4800" dirty="0"/>
              <a:t>: Documentation and findings of audits conducted within the vendor’s organization</a:t>
            </a:r>
          </a:p>
          <a:p>
            <a:pPr>
              <a:spcBef>
                <a:spcPts val="900"/>
              </a:spcBef>
            </a:pPr>
            <a:r>
              <a:rPr lang="en-US" altLang="en-US" sz="4400" dirty="0"/>
              <a:t>Evidence may include audit reports, corrective action plans, and compliance certificates</a:t>
            </a:r>
          </a:p>
          <a:p>
            <a:pPr>
              <a:spcBef>
                <a:spcPts val="900"/>
              </a:spcBef>
            </a:pPr>
            <a:r>
              <a:rPr lang="en-US" altLang="en-US" sz="4400" dirty="0"/>
              <a:t>Evaluates compliance with legal requirements and internal policies</a:t>
            </a:r>
          </a:p>
          <a:p>
            <a:pPr>
              <a:spcBef>
                <a:spcPts val="900"/>
              </a:spcBef>
            </a:pPr>
            <a:r>
              <a:rPr lang="en-US" altLang="en-US" sz="4400" dirty="0"/>
              <a:t>Focus could be finances, security, or operations</a:t>
            </a:r>
          </a:p>
          <a:p>
            <a:pPr>
              <a:spcBef>
                <a:spcPts val="900"/>
              </a:spcBef>
            </a:pPr>
            <a:r>
              <a:rPr lang="en-US" altLang="en-US" sz="4400" dirty="0"/>
              <a:t>Essential when evaluating a vendor’s risk</a:t>
            </a:r>
          </a:p>
          <a:p>
            <a:pPr>
              <a:spcBef>
                <a:spcPts val="900"/>
              </a:spcBef>
            </a:pPr>
            <a:endParaRPr lang="en-US" alt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8ECD5A-F1A4-EA82-E171-F55F9F7BEB5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450539B3-50E4-03EF-72EA-7216DC5D1F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400" b="0" kern="0" dirty="0">
                <a:solidFill>
                  <a:srgbClr val="0B0506"/>
                </a:solidFill>
                <a:latin typeface="Arial"/>
              </a:rPr>
              <a:t>Evidence of Internal Audits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2577878564"/>
      </p:ext>
    </p:extLst>
  </p:cSld>
  <p:clrMapOvr>
    <a:masterClrMapping/>
  </p:clrMapOvr>
</p:sld>
</file>

<file path=ppt/slides/slide3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3A8797-E2A9-B0B5-5F25-4D9A14B1C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5BC9779-8B50-29A6-2D9D-BEEDE07747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Slide </a:t>
            </a:r>
            <a:fld id="{4CA2B2DB-B91D-4166-98BF-65A0DA7EEE6D}" type="slidenum">
              <a:rPr kumimoji="0" lang="en-US" sz="1800" b="0" i="1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374</a:t>
            </a:fld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CBBD7E-8C05-E5F0-5BA1-143D80C8008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2536823"/>
            <a:ext cx="16192500" cy="6340477"/>
          </a:xfrm>
        </p:spPr>
        <p:txBody>
          <a:bodyPr/>
          <a:lstStyle/>
          <a:p>
            <a:pPr marL="0" indent="0">
              <a:spcBef>
                <a:spcPts val="900"/>
              </a:spcBef>
              <a:buNone/>
            </a:pPr>
            <a:r>
              <a:rPr lang="en-US" altLang="en-US" sz="3900" b="1" dirty="0"/>
              <a:t>Independent assessment</a:t>
            </a:r>
            <a:r>
              <a:rPr lang="en-US" altLang="en-US" sz="3900" dirty="0"/>
              <a:t>: Evaluation by a third party not directly involved in a vendor’s business operations</a:t>
            </a:r>
          </a:p>
          <a:p>
            <a:pPr>
              <a:spcBef>
                <a:spcPts val="900"/>
              </a:spcBef>
            </a:pPr>
            <a:r>
              <a:rPr lang="en-US" altLang="en-US" sz="3600" dirty="0"/>
              <a:t>Provides an unbiased view of the vendor’s compliance and risk management status</a:t>
            </a:r>
          </a:p>
          <a:p>
            <a:pPr>
              <a:spcBef>
                <a:spcPts val="900"/>
              </a:spcBef>
            </a:pPr>
            <a:r>
              <a:rPr lang="en-US" altLang="en-US" sz="3600" dirty="0"/>
              <a:t>Examples</a:t>
            </a:r>
          </a:p>
          <a:p>
            <a:pPr lvl="2">
              <a:spcBef>
                <a:spcPts val="900"/>
              </a:spcBef>
            </a:pPr>
            <a:r>
              <a:rPr lang="en-US" altLang="en-US" sz="2900" dirty="0"/>
              <a:t>SOC 2 reports</a:t>
            </a:r>
          </a:p>
          <a:p>
            <a:pPr lvl="2">
              <a:spcBef>
                <a:spcPts val="900"/>
              </a:spcBef>
            </a:pPr>
            <a:r>
              <a:rPr lang="en-US" altLang="en-US" sz="2900" dirty="0"/>
              <a:t>ISO certifications</a:t>
            </a:r>
          </a:p>
          <a:p>
            <a:pPr lvl="2">
              <a:spcBef>
                <a:spcPts val="900"/>
              </a:spcBef>
            </a:pPr>
            <a:r>
              <a:rPr lang="en-US" altLang="en-US" sz="2900" dirty="0"/>
              <a:t>Results of third-party penetration tests</a:t>
            </a:r>
          </a:p>
          <a:p>
            <a:pPr>
              <a:spcBef>
                <a:spcPts val="900"/>
              </a:spcBef>
            </a:pPr>
            <a:endParaRPr lang="en-US" alt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A527855-FF4B-1DBE-618F-FCAA2055800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57BEFF5-0E02-D5C8-09C0-472A7BC4D3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400" b="0" kern="0" dirty="0">
                <a:solidFill>
                  <a:srgbClr val="0B0506"/>
                </a:solidFill>
                <a:latin typeface="Arial"/>
              </a:rPr>
              <a:t>Independent Assessments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145148270"/>
      </p:ext>
    </p:extLst>
  </p:cSld>
  <p:clrMapOvr>
    <a:masterClrMapping/>
  </p:clrMapOvr>
</p:sld>
</file>

<file path=ppt/slides/slide3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6359BE-88FF-C64D-15EE-A18B21A6D1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827CCFC-3A83-8409-6386-21302DD7E2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Slide </a:t>
            </a:r>
            <a:fld id="{4CA2B2DB-B91D-4166-98BF-65A0DA7EEE6D}" type="slidenum">
              <a:rPr kumimoji="0" lang="en-US" sz="1800" b="0" i="1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375</a:t>
            </a:fld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AFD61C-7838-5732-BA26-1EACB5989B6B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2536823"/>
            <a:ext cx="16192500" cy="6340477"/>
          </a:xfrm>
        </p:spPr>
        <p:txBody>
          <a:bodyPr/>
          <a:lstStyle/>
          <a:p>
            <a:pPr marL="0" indent="0">
              <a:spcBef>
                <a:spcPts val="900"/>
              </a:spcBef>
              <a:buNone/>
            </a:pPr>
            <a:r>
              <a:rPr lang="en-US" altLang="en-US" sz="3900" b="1" dirty="0"/>
              <a:t>Supply chain analysis</a:t>
            </a:r>
            <a:r>
              <a:rPr lang="en-US" altLang="en-US" sz="3900" dirty="0"/>
              <a:t>: Thoroughly evaluating every element and process in a vendor’s supply chain</a:t>
            </a:r>
          </a:p>
          <a:p>
            <a:pPr>
              <a:spcBef>
                <a:spcPts val="900"/>
              </a:spcBef>
            </a:pPr>
            <a:r>
              <a:rPr lang="en-US" altLang="en-US" sz="3600" dirty="0"/>
              <a:t>Weak links can expose the organization to risks</a:t>
            </a:r>
          </a:p>
          <a:p>
            <a:pPr>
              <a:spcBef>
                <a:spcPts val="900"/>
              </a:spcBef>
            </a:pPr>
            <a:r>
              <a:rPr lang="en-US" altLang="en-US" sz="3600" dirty="0"/>
              <a:t>Tools and techniques</a:t>
            </a:r>
          </a:p>
          <a:p>
            <a:pPr lvl="2">
              <a:spcBef>
                <a:spcPts val="900"/>
              </a:spcBef>
            </a:pPr>
            <a:r>
              <a:rPr lang="en-US" altLang="en-US" sz="3200" dirty="0"/>
              <a:t>Supplier audits</a:t>
            </a:r>
          </a:p>
          <a:p>
            <a:pPr lvl="2">
              <a:spcBef>
                <a:spcPts val="900"/>
              </a:spcBef>
            </a:pPr>
            <a:r>
              <a:rPr lang="en-US" altLang="en-US" sz="3200" dirty="0"/>
              <a:t>SWOT analysis</a:t>
            </a:r>
          </a:p>
          <a:p>
            <a:pPr lvl="2">
              <a:spcBef>
                <a:spcPts val="900"/>
              </a:spcBef>
            </a:pPr>
            <a:r>
              <a:rPr lang="en-US" altLang="en-US" sz="3200" dirty="0"/>
              <a:t>Data analytics</a:t>
            </a:r>
          </a:p>
          <a:p>
            <a:pPr lvl="2">
              <a:spcBef>
                <a:spcPts val="900"/>
              </a:spcBef>
            </a:pPr>
            <a:r>
              <a:rPr lang="en-US" altLang="en-US" sz="3200" dirty="0"/>
              <a:t>Machine learning predictions</a:t>
            </a:r>
          </a:p>
          <a:p>
            <a:pPr>
              <a:spcBef>
                <a:spcPts val="900"/>
              </a:spcBef>
            </a:pPr>
            <a:endParaRPr lang="en-US" alt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2EA48AA-3A48-4826-2911-62D06C46307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BAB2DCD5-9DBD-BE4A-1D9A-59BB22EE55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400" b="0" kern="0" dirty="0">
                <a:solidFill>
                  <a:srgbClr val="0B0506"/>
                </a:solidFill>
                <a:latin typeface="Arial"/>
              </a:rPr>
              <a:t>Supply Chain Analysis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598713056"/>
      </p:ext>
    </p:extLst>
  </p:cSld>
  <p:clrMapOvr>
    <a:masterClrMapping/>
  </p:clrMapOvr>
</p:sld>
</file>

<file path=ppt/slides/slide3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DCFDBB-E81C-821E-E0B1-C9B3A06600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D6C0089-6785-128E-3300-CA988692CA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Slide </a:t>
            </a:r>
            <a:fld id="{4CA2B2DB-B91D-4166-98BF-65A0DA7EEE6D}" type="slidenum">
              <a:rPr kumimoji="0" lang="en-US" sz="1800" b="0" i="1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376</a:t>
            </a:fld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4E4843-CD04-F915-0CA7-316D6D71A36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2536823"/>
            <a:ext cx="16192500" cy="6340477"/>
          </a:xfrm>
        </p:spPr>
        <p:txBody>
          <a:bodyPr/>
          <a:lstStyle/>
          <a:p>
            <a:pPr marL="0" indent="0">
              <a:spcBef>
                <a:spcPts val="900"/>
              </a:spcBef>
              <a:buNone/>
            </a:pPr>
            <a:r>
              <a:rPr lang="en-US" altLang="en-US" sz="4400" b="1" dirty="0"/>
              <a:t>Vendor selection</a:t>
            </a:r>
            <a:r>
              <a:rPr lang="en-US" altLang="en-US" sz="4400" dirty="0"/>
              <a:t>: Evaluating and choosing a third-party service or product provider that best aligns with an organization’s needs, goals, and risk tolerance</a:t>
            </a:r>
          </a:p>
          <a:p>
            <a:pPr>
              <a:spcBef>
                <a:spcPts val="900"/>
              </a:spcBef>
            </a:pPr>
            <a:r>
              <a:rPr lang="en-US" altLang="en-US" sz="4000" b="1" dirty="0"/>
              <a:t>Due diligence</a:t>
            </a:r>
            <a:r>
              <a:rPr lang="en-US" altLang="en-US" sz="4000" dirty="0"/>
              <a:t>: A comprehensive appraisal of a vendor’s business practices, financial stability, reputation, and compliance with relevant laws and regulations</a:t>
            </a:r>
          </a:p>
          <a:p>
            <a:pPr>
              <a:spcBef>
                <a:spcPts val="900"/>
              </a:spcBef>
            </a:pPr>
            <a:r>
              <a:rPr lang="en-US" altLang="en-US" sz="4000" b="1" dirty="0"/>
              <a:t>Conflict of interest</a:t>
            </a:r>
            <a:r>
              <a:rPr lang="en-US" altLang="en-US" sz="4000" dirty="0"/>
              <a:t>: A vendor's competing professional or personal interests could interfere with their ability to act in the best interests of the organization</a:t>
            </a:r>
          </a:p>
          <a:p>
            <a:pPr>
              <a:spcBef>
                <a:spcPts val="900"/>
              </a:spcBef>
            </a:pPr>
            <a:endParaRPr lang="en-US" alt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1C83FDB-FFDC-8313-89AF-695280AD02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9BD6B5C-4D01-6ADD-0CA9-838A41BC5F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400" b="0" kern="0" dirty="0">
                <a:solidFill>
                  <a:srgbClr val="0B0506"/>
                </a:solidFill>
                <a:latin typeface="Arial"/>
              </a:rPr>
              <a:t>Vendor Selection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1949279044"/>
      </p:ext>
    </p:extLst>
  </p:cSld>
  <p:clrMapOvr>
    <a:masterClrMapping/>
  </p:clrMapOvr>
</p:sld>
</file>

<file path=ppt/slides/slide3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A7A2A6-048D-7679-2120-456AB2EFCC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812BF6B-329B-7DB0-716E-4835C82EF4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Slide </a:t>
            </a:r>
            <a:fld id="{4CA2B2DB-B91D-4166-98BF-65A0DA7EEE6D}" type="slidenum">
              <a:rPr kumimoji="0" lang="en-US" sz="1800" b="0" i="1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377</a:t>
            </a:fld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4C42F2-044C-7945-EC51-D014A2D77CEC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2536823"/>
            <a:ext cx="16192500" cy="6340477"/>
          </a:xfrm>
        </p:spPr>
        <p:txBody>
          <a:bodyPr/>
          <a:lstStyle/>
          <a:p>
            <a:pPr>
              <a:spcBef>
                <a:spcPts val="900"/>
              </a:spcBef>
            </a:pPr>
            <a:r>
              <a:rPr lang="en-US" altLang="en-US" sz="4000" b="1" dirty="0"/>
              <a:t>Service-level agreement (SLA)</a:t>
            </a:r>
            <a:r>
              <a:rPr lang="en-US" altLang="en-US" sz="4000" dirty="0"/>
              <a:t>:</a:t>
            </a:r>
            <a:r>
              <a:rPr lang="en-US" altLang="en-US" sz="4000" b="1" dirty="0"/>
              <a:t> </a:t>
            </a:r>
            <a:r>
              <a:rPr lang="en-US" altLang="en-US" sz="4000" dirty="0"/>
              <a:t>Defines the expected level of service from a service provider</a:t>
            </a:r>
          </a:p>
          <a:p>
            <a:pPr>
              <a:spcBef>
                <a:spcPts val="900"/>
              </a:spcBef>
            </a:pPr>
            <a:endParaRPr lang="en-US" altLang="en-US" sz="600" dirty="0"/>
          </a:p>
          <a:p>
            <a:pPr>
              <a:spcBef>
                <a:spcPts val="900"/>
              </a:spcBef>
            </a:pPr>
            <a:r>
              <a:rPr lang="en-US" altLang="en-US" sz="4000" b="1" dirty="0"/>
              <a:t>Memorandum of agreement (MOA)</a:t>
            </a:r>
            <a:r>
              <a:rPr lang="en-US" altLang="en-US" sz="4000" dirty="0"/>
              <a:t>:</a:t>
            </a:r>
            <a:r>
              <a:rPr lang="en-US" altLang="en-US" sz="4000" b="1" dirty="0"/>
              <a:t> </a:t>
            </a:r>
            <a:r>
              <a:rPr lang="en-US" altLang="en-US" sz="4000" dirty="0"/>
              <a:t>Specifies a cooperative, generally non-legally binding relationship  </a:t>
            </a:r>
          </a:p>
          <a:p>
            <a:pPr>
              <a:spcBef>
                <a:spcPts val="900"/>
              </a:spcBef>
            </a:pPr>
            <a:endParaRPr lang="en-US" altLang="en-US" sz="600" dirty="0"/>
          </a:p>
          <a:p>
            <a:pPr>
              <a:spcBef>
                <a:spcPts val="900"/>
              </a:spcBef>
            </a:pPr>
            <a:r>
              <a:rPr lang="en-US" altLang="en-US" sz="4000" b="1" dirty="0"/>
              <a:t>Memorandum of understanding (MOU)</a:t>
            </a:r>
            <a:r>
              <a:rPr lang="en-US" altLang="en-US" sz="4000" dirty="0"/>
              <a:t>:</a:t>
            </a:r>
            <a:r>
              <a:rPr lang="en-US" altLang="en-US" sz="4000" b="1" dirty="0"/>
              <a:t> </a:t>
            </a:r>
            <a:r>
              <a:rPr lang="en-US" altLang="en-US" sz="4000" dirty="0"/>
              <a:t>Less formal than an MOA, it outlines mutual roles and responsibilities in a project or partnership</a:t>
            </a:r>
          </a:p>
          <a:p>
            <a:pPr>
              <a:spcBef>
                <a:spcPts val="900"/>
              </a:spcBef>
            </a:pPr>
            <a:endParaRPr lang="en-US" altLang="en-US" sz="600" dirty="0"/>
          </a:p>
          <a:p>
            <a:pPr>
              <a:spcBef>
                <a:spcPts val="900"/>
              </a:spcBef>
            </a:pPr>
            <a:r>
              <a:rPr lang="en-US" altLang="en-US" sz="4000" b="1" dirty="0"/>
              <a:t>Master service agreement (MSA)</a:t>
            </a:r>
            <a:r>
              <a:rPr lang="en-US" altLang="en-US" sz="4000" dirty="0"/>
              <a:t>:</a:t>
            </a:r>
            <a:r>
              <a:rPr lang="en-US" altLang="en-US" sz="4000" b="1" dirty="0"/>
              <a:t> </a:t>
            </a:r>
            <a:r>
              <a:rPr lang="en-US" altLang="en-US" sz="4000" dirty="0"/>
              <a:t>Parties agree to most of the terms that will govern future projects</a:t>
            </a:r>
          </a:p>
          <a:p>
            <a:pPr>
              <a:spcBef>
                <a:spcPts val="900"/>
              </a:spcBef>
            </a:pPr>
            <a:endParaRPr lang="en-US" alt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A0BA1D-CC07-7772-2D13-9DB217D589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3ED65503-EBE5-9B5E-20FA-E7FBAE47A9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400" b="0" kern="0" dirty="0">
                <a:solidFill>
                  <a:srgbClr val="0B0506"/>
                </a:solidFill>
                <a:latin typeface="Arial"/>
              </a:rPr>
              <a:t>Agreement Types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1732910530"/>
      </p:ext>
    </p:extLst>
  </p:cSld>
  <p:clrMapOvr>
    <a:masterClrMapping/>
  </p:clrMapOvr>
</p:sld>
</file>

<file path=ppt/slides/slide3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E82170-19D7-A9C9-3A65-67B6E04424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D0469EF-A6F1-AAD6-C5C4-A2F261FD89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Slide </a:t>
            </a:r>
            <a:fld id="{4CA2B2DB-B91D-4166-98BF-65A0DA7EEE6D}" type="slidenum">
              <a:rPr kumimoji="0" lang="en-US" sz="1800" b="0" i="1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378</a:t>
            </a:fld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583180-2547-E26C-4917-E333292A76BC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2536823"/>
            <a:ext cx="16192500" cy="6340477"/>
          </a:xfrm>
        </p:spPr>
        <p:txBody>
          <a:bodyPr/>
          <a:lstStyle/>
          <a:p>
            <a:pPr>
              <a:spcBef>
                <a:spcPts val="900"/>
              </a:spcBef>
            </a:pPr>
            <a:r>
              <a:rPr lang="en-US" altLang="en-US" sz="4000" b="1" dirty="0"/>
              <a:t>Work order/statement of work (WO/SOW): </a:t>
            </a:r>
            <a:r>
              <a:rPr lang="en-US" altLang="en-US" sz="4000" dirty="0"/>
              <a:t>Describes work activities, deliverables, and timeline</a:t>
            </a:r>
          </a:p>
          <a:p>
            <a:pPr>
              <a:spcBef>
                <a:spcPts val="900"/>
              </a:spcBef>
            </a:pPr>
            <a:endParaRPr lang="en-US" altLang="en-US" sz="700" dirty="0"/>
          </a:p>
          <a:p>
            <a:pPr>
              <a:spcBef>
                <a:spcPts val="900"/>
              </a:spcBef>
            </a:pPr>
            <a:r>
              <a:rPr lang="en-US" altLang="en-US" sz="4000" b="1" dirty="0"/>
              <a:t>Non-disclosure agreement (NDA)</a:t>
            </a:r>
            <a:r>
              <a:rPr lang="en-US" altLang="en-US" sz="4000" dirty="0"/>
              <a:t>: Legally binding contract establishing a confidential relationship; involves sensitive information</a:t>
            </a:r>
          </a:p>
          <a:p>
            <a:pPr>
              <a:spcBef>
                <a:spcPts val="900"/>
              </a:spcBef>
            </a:pPr>
            <a:endParaRPr lang="en-US" altLang="en-US" sz="700" dirty="0"/>
          </a:p>
          <a:p>
            <a:pPr>
              <a:spcBef>
                <a:spcPts val="900"/>
              </a:spcBef>
            </a:pPr>
            <a:r>
              <a:rPr lang="en-US" altLang="en-US" sz="4000" b="1" dirty="0"/>
              <a:t>Business partners agreement (BPA)</a:t>
            </a:r>
            <a:r>
              <a:rPr lang="en-US" altLang="en-US" sz="4000" dirty="0"/>
              <a:t>: Outlines terms and conditions of a partnership  </a:t>
            </a:r>
          </a:p>
          <a:p>
            <a:pPr>
              <a:spcBef>
                <a:spcPts val="900"/>
              </a:spcBef>
            </a:pPr>
            <a:endParaRPr lang="en-US" alt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589236C-92F2-2446-EF79-6DA95506F19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9D600D1-DA8F-7699-C150-E08D1AE78C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400" b="0" kern="0" dirty="0">
                <a:solidFill>
                  <a:srgbClr val="0B0506"/>
                </a:solidFill>
                <a:latin typeface="Arial"/>
              </a:rPr>
              <a:t>Agreement Types (cont.)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2244552544"/>
      </p:ext>
    </p:extLst>
  </p:cSld>
  <p:clrMapOvr>
    <a:masterClrMapping/>
  </p:clrMapOvr>
</p:sld>
</file>

<file path=ppt/slides/slide3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CAABB0-51F6-E5D0-DCF7-F99462EFE5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19D32F6-2A07-A9AD-C023-62F66FABE8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Slide </a:t>
            </a:r>
            <a:fld id="{4CA2B2DB-B91D-4166-98BF-65A0DA7EEE6D}" type="slidenum">
              <a:rPr kumimoji="0" lang="en-US" sz="1800" b="0" i="1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379</a:t>
            </a:fld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B65C56-0A36-DB47-4F88-111D5A516760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2536823"/>
            <a:ext cx="16192500" cy="6340477"/>
          </a:xfrm>
        </p:spPr>
        <p:txBody>
          <a:bodyPr/>
          <a:lstStyle/>
          <a:p>
            <a:pPr marL="0" indent="0">
              <a:spcBef>
                <a:spcPts val="900"/>
              </a:spcBef>
              <a:buNone/>
            </a:pPr>
            <a:r>
              <a:rPr lang="en-US" altLang="en-US" sz="4400" b="1" dirty="0"/>
              <a:t>Vendor monitoring</a:t>
            </a:r>
            <a:r>
              <a:rPr lang="en-US" altLang="en-US" sz="4400" dirty="0"/>
              <a:t>: Continuous oversight and evaluation of vendors to ensure they meet or exceed contractual obligations  </a:t>
            </a:r>
          </a:p>
          <a:p>
            <a:pPr>
              <a:spcBef>
                <a:spcPts val="900"/>
              </a:spcBef>
            </a:pPr>
            <a:r>
              <a:rPr lang="en-US" altLang="en-US" sz="4000" dirty="0"/>
              <a:t>Covers various areas such as reliability, data protection, and ethical considerations (e.g., labor practices)</a:t>
            </a:r>
          </a:p>
          <a:p>
            <a:pPr>
              <a:spcBef>
                <a:spcPts val="900"/>
              </a:spcBef>
            </a:pPr>
            <a:r>
              <a:rPr lang="en-US" altLang="en-US" sz="4000" dirty="0"/>
              <a:t>Periodic reviews assess vendors' capabilities in response to evolving regulations and emerging threats</a:t>
            </a:r>
          </a:p>
          <a:p>
            <a:pPr>
              <a:spcBef>
                <a:spcPts val="900"/>
              </a:spcBef>
            </a:pPr>
            <a:endParaRPr lang="en-US" alt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8D62644-C6C6-92EA-1C3D-62905696C4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88F8B39-6027-2E5E-BAAD-8170247BE9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400" b="0" kern="0" dirty="0">
                <a:solidFill>
                  <a:srgbClr val="0B0506"/>
                </a:solidFill>
                <a:latin typeface="Arial"/>
              </a:rPr>
              <a:t>Vendor Monitoring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931449126"/>
      </p:ext>
    </p:extLst>
  </p:cSld>
  <p:clrMapOvr>
    <a:masterClrMapping/>
  </p:clrMapOvr>
</p:sld>
</file>

<file path=ppt/slides/slide3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202139-ABE6-CBE7-3901-98FB3ED3A8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7DD73D3-BF5F-9DD7-B147-4B154AC056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Slide </a:t>
            </a:r>
            <a:fld id="{4CA2B2DB-B91D-4166-98BF-65A0DA7EEE6D}" type="slidenum">
              <a:rPr kumimoji="0" lang="en-US" sz="1800" b="0" i="1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380</a:t>
            </a:fld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F0208F-7EEF-0829-75D5-AAB082936126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2536823"/>
            <a:ext cx="16192500" cy="6340477"/>
          </a:xfrm>
        </p:spPr>
        <p:txBody>
          <a:bodyPr/>
          <a:lstStyle/>
          <a:p>
            <a:pPr marL="0" indent="0">
              <a:spcBef>
                <a:spcPts val="900"/>
              </a:spcBef>
              <a:buNone/>
            </a:pPr>
            <a:r>
              <a:rPr lang="en-US" altLang="en-US" sz="3900" b="1" dirty="0"/>
              <a:t>Vendor questionnaires</a:t>
            </a:r>
            <a:r>
              <a:rPr lang="en-US" altLang="en-US" sz="3900" dirty="0"/>
              <a:t>: Forms used to gather nuanced information about a vendor's operational resilience, data handling practices, and corporate culture</a:t>
            </a:r>
          </a:p>
          <a:p>
            <a:pPr>
              <a:spcBef>
                <a:spcPts val="900"/>
              </a:spcBef>
            </a:pPr>
            <a:r>
              <a:rPr lang="en-US" altLang="en-US" sz="3600" dirty="0"/>
              <a:t>Probe topics such as:</a:t>
            </a:r>
          </a:p>
          <a:p>
            <a:pPr lvl="2">
              <a:spcBef>
                <a:spcPts val="900"/>
              </a:spcBef>
            </a:pPr>
            <a:r>
              <a:rPr lang="en-US" altLang="en-US" sz="2900" dirty="0"/>
              <a:t>Data encryption</a:t>
            </a:r>
          </a:p>
          <a:p>
            <a:pPr lvl="2">
              <a:spcBef>
                <a:spcPts val="900"/>
              </a:spcBef>
            </a:pPr>
            <a:r>
              <a:rPr lang="en-US" altLang="en-US" sz="2900" dirty="0"/>
              <a:t>Multifactor authentication</a:t>
            </a:r>
          </a:p>
          <a:p>
            <a:pPr lvl="2">
              <a:spcBef>
                <a:spcPts val="900"/>
              </a:spcBef>
            </a:pPr>
            <a:r>
              <a:rPr lang="en-US" altLang="en-US" sz="2900" dirty="0"/>
              <a:t>Incident response</a:t>
            </a:r>
          </a:p>
          <a:p>
            <a:pPr>
              <a:spcBef>
                <a:spcPts val="900"/>
              </a:spcBef>
            </a:pPr>
            <a:endParaRPr lang="en-US" alt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5BAA9F2-6D90-A4BE-3957-682543C9383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16699AFA-BFD3-37C1-247B-40641F23E0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400" b="0" kern="0" dirty="0">
                <a:solidFill>
                  <a:srgbClr val="0B0506"/>
                </a:solidFill>
                <a:latin typeface="Arial"/>
              </a:rPr>
              <a:t>Questionnaires 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369474845"/>
      </p:ext>
    </p:extLst>
  </p:cSld>
  <p:clrMapOvr>
    <a:masterClrMapping/>
  </p:clrMapOvr>
</p:sld>
</file>

<file path=ppt/slides/slide3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38A298-8F6E-A7D2-3880-51B232A2F7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34F6600-5246-ED27-4AB2-9B90ABCF9B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Slide </a:t>
            </a:r>
            <a:fld id="{4CA2B2DB-B91D-4166-98BF-65A0DA7EEE6D}" type="slidenum">
              <a:rPr kumimoji="0" lang="en-US" sz="1800" b="0" i="1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381</a:t>
            </a:fld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10EB81-2833-6A79-C51C-692FBCF89EAA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2536823"/>
            <a:ext cx="16192500" cy="6340477"/>
          </a:xfrm>
        </p:spPr>
        <p:txBody>
          <a:bodyPr/>
          <a:lstStyle/>
          <a:p>
            <a:pPr marL="0" indent="0">
              <a:spcBef>
                <a:spcPts val="900"/>
              </a:spcBef>
              <a:buNone/>
            </a:pPr>
            <a:r>
              <a:rPr lang="en-US" altLang="en-US" sz="3900" b="1" dirty="0"/>
              <a:t>Rules of engagement</a:t>
            </a:r>
            <a:r>
              <a:rPr lang="en-US" altLang="en-US" sz="3900" dirty="0"/>
              <a:t>: Agreed-upon guidelines dictating how activities and interactions should occur between an organization and a vendor</a:t>
            </a:r>
          </a:p>
          <a:p>
            <a:pPr>
              <a:spcBef>
                <a:spcPts val="900"/>
              </a:spcBef>
            </a:pPr>
            <a:r>
              <a:rPr lang="en-US" altLang="en-US" sz="3600" dirty="0"/>
              <a:t>Ensure clear expectations and responsibilities  </a:t>
            </a:r>
          </a:p>
          <a:p>
            <a:pPr>
              <a:spcBef>
                <a:spcPts val="900"/>
              </a:spcBef>
            </a:pPr>
            <a:r>
              <a:rPr lang="en-US" altLang="en-US" sz="3600" dirty="0"/>
              <a:t>Procedures for:</a:t>
            </a:r>
          </a:p>
          <a:p>
            <a:pPr lvl="2">
              <a:spcBef>
                <a:spcPts val="900"/>
              </a:spcBef>
            </a:pPr>
            <a:r>
              <a:rPr lang="en-US" altLang="en-US" sz="3200" dirty="0"/>
              <a:t>Security vulnerability reporting</a:t>
            </a:r>
          </a:p>
          <a:p>
            <a:pPr lvl="2">
              <a:spcBef>
                <a:spcPts val="900"/>
              </a:spcBef>
            </a:pPr>
            <a:r>
              <a:rPr lang="en-US" altLang="en-US" sz="3200" dirty="0"/>
              <a:t>Escalating issues</a:t>
            </a:r>
          </a:p>
          <a:p>
            <a:pPr lvl="2">
              <a:spcBef>
                <a:spcPts val="900"/>
              </a:spcBef>
            </a:pPr>
            <a:r>
              <a:rPr lang="en-US" altLang="en-US" sz="3200" dirty="0"/>
              <a:t>Changing the service provided  </a:t>
            </a:r>
          </a:p>
          <a:p>
            <a:pPr>
              <a:spcBef>
                <a:spcPts val="900"/>
              </a:spcBef>
            </a:pPr>
            <a:endParaRPr lang="en-US" alt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8585224-77B9-A319-566A-B06912911CA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99D83A5-BB43-21F4-E802-3AC4E8021D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400" b="0" kern="0" dirty="0">
                <a:solidFill>
                  <a:srgbClr val="0B0506"/>
                </a:solidFill>
                <a:latin typeface="Arial"/>
              </a:rPr>
              <a:t>Rules of Engagement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1504442162"/>
      </p:ext>
    </p:extLst>
  </p:cSld>
  <p:clrMapOvr>
    <a:masterClrMapping/>
  </p:clrMapOvr>
</p:sld>
</file>

<file path=ppt/slides/slide38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15194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5AB42A1-270B-1E20-8AED-E14882F380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1A9F2EE6-CE3B-8791-1EBA-93378CC6A46D}"/>
              </a:ext>
            </a:extLst>
          </p:cNvPr>
          <p:cNvGrpSpPr/>
          <p:nvPr/>
        </p:nvGrpSpPr>
        <p:grpSpPr>
          <a:xfrm rot="-5400000">
            <a:off x="12015831" y="4014831"/>
            <a:ext cx="10287000" cy="2257339"/>
            <a:chOff x="0" y="0"/>
            <a:chExt cx="2709333" cy="59452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1616740C-B39B-035B-F262-678A7CA3BFD2}"/>
                </a:ext>
              </a:extLst>
            </p:cNvPr>
            <p:cNvSpPr/>
            <p:nvPr/>
          </p:nvSpPr>
          <p:spPr>
            <a:xfrm>
              <a:off x="0" y="0"/>
              <a:ext cx="2709333" cy="594525"/>
            </a:xfrm>
            <a:custGeom>
              <a:avLst/>
              <a:gdLst/>
              <a:ahLst/>
              <a:cxnLst/>
              <a:rect l="l" t="t" r="r" b="b"/>
              <a:pathLst>
                <a:path w="2709333" h="594525">
                  <a:moveTo>
                    <a:pt x="0" y="0"/>
                  </a:moveTo>
                  <a:lnTo>
                    <a:pt x="2709333" y="0"/>
                  </a:lnTo>
                  <a:lnTo>
                    <a:pt x="2709333" y="594525"/>
                  </a:lnTo>
                  <a:lnTo>
                    <a:pt x="0" y="594525"/>
                  </a:lnTo>
                  <a:close/>
                </a:path>
              </a:pathLst>
            </a:custGeom>
            <a:solidFill>
              <a:srgbClr val="0283FD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7C1BB77D-8624-A1E6-C6E2-40ADB36D434C}"/>
                </a:ext>
              </a:extLst>
            </p:cNvPr>
            <p:cNvSpPr txBox="1"/>
            <p:nvPr/>
          </p:nvSpPr>
          <p:spPr>
            <a:xfrm>
              <a:off x="0" y="-66675"/>
              <a:ext cx="2709333" cy="6612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3024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87E315C8-1AD9-0FF7-399F-AA8C826F8753}"/>
              </a:ext>
            </a:extLst>
          </p:cNvPr>
          <p:cNvGrpSpPr/>
          <p:nvPr/>
        </p:nvGrpSpPr>
        <p:grpSpPr>
          <a:xfrm>
            <a:off x="179467" y="6643814"/>
            <a:ext cx="8126333" cy="3488267"/>
            <a:chOff x="0" y="0"/>
            <a:chExt cx="844714" cy="36259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047B48E1-FE56-6DB6-F04A-7C6DD3C9ECFD}"/>
                </a:ext>
              </a:extLst>
            </p:cNvPr>
            <p:cNvSpPr/>
            <p:nvPr/>
          </p:nvSpPr>
          <p:spPr>
            <a:xfrm>
              <a:off x="0" y="0"/>
              <a:ext cx="844714" cy="362598"/>
            </a:xfrm>
            <a:custGeom>
              <a:avLst/>
              <a:gdLst/>
              <a:ahLst/>
              <a:cxnLst/>
              <a:rect l="l" t="t" r="r" b="b"/>
              <a:pathLst>
                <a:path w="844714" h="362598">
                  <a:moveTo>
                    <a:pt x="203200" y="0"/>
                  </a:moveTo>
                  <a:lnTo>
                    <a:pt x="844714" y="0"/>
                  </a:lnTo>
                  <a:lnTo>
                    <a:pt x="641514" y="362598"/>
                  </a:lnTo>
                  <a:lnTo>
                    <a:pt x="0" y="362598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283FD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6AD19ACA-3A0F-1163-0FEF-A7C5F4A3EE9D}"/>
                </a:ext>
              </a:extLst>
            </p:cNvPr>
            <p:cNvSpPr txBox="1"/>
            <p:nvPr/>
          </p:nvSpPr>
          <p:spPr>
            <a:xfrm>
              <a:off x="101600" y="-28575"/>
              <a:ext cx="641514" cy="391173"/>
            </a:xfrm>
            <a:prstGeom prst="rect">
              <a:avLst/>
            </a:prstGeom>
          </p:spPr>
          <p:txBody>
            <a:bodyPr lIns="47790" tIns="47790" rIns="47790" bIns="4779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1843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66D798D6-BE76-6EE6-72FE-F3D96147B471}"/>
              </a:ext>
            </a:extLst>
          </p:cNvPr>
          <p:cNvGrpSpPr/>
          <p:nvPr/>
        </p:nvGrpSpPr>
        <p:grpSpPr>
          <a:xfrm>
            <a:off x="-73552" y="7047924"/>
            <a:ext cx="16030661" cy="3336996"/>
            <a:chOff x="0" y="0"/>
            <a:chExt cx="6165409" cy="1271237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95F681EA-010B-75D4-EED2-67C6B2BF011E}"/>
                </a:ext>
              </a:extLst>
            </p:cNvPr>
            <p:cNvSpPr/>
            <p:nvPr/>
          </p:nvSpPr>
          <p:spPr>
            <a:xfrm>
              <a:off x="0" y="0"/>
              <a:ext cx="6165409" cy="1271237"/>
            </a:xfrm>
            <a:custGeom>
              <a:avLst/>
              <a:gdLst/>
              <a:ahLst/>
              <a:cxnLst/>
              <a:rect l="l" t="t" r="r" b="b"/>
              <a:pathLst>
                <a:path w="6165409" h="1271237">
                  <a:moveTo>
                    <a:pt x="0" y="0"/>
                  </a:moveTo>
                  <a:lnTo>
                    <a:pt x="6165409" y="0"/>
                  </a:lnTo>
                  <a:lnTo>
                    <a:pt x="6165409" y="1271237"/>
                  </a:lnTo>
                  <a:lnTo>
                    <a:pt x="0" y="127123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65C454DF-08F4-4ACD-F6C2-E0824B638006}"/>
                </a:ext>
              </a:extLst>
            </p:cNvPr>
            <p:cNvSpPr txBox="1"/>
            <p:nvPr/>
          </p:nvSpPr>
          <p:spPr>
            <a:xfrm>
              <a:off x="0" y="-28575"/>
              <a:ext cx="6165409" cy="1299812"/>
            </a:xfrm>
            <a:prstGeom prst="rect">
              <a:avLst/>
            </a:prstGeom>
          </p:spPr>
          <p:txBody>
            <a:bodyPr lIns="47790" tIns="47790" rIns="47790" bIns="4779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1843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sp>
        <p:nvSpPr>
          <p:cNvPr id="12" name="TextBox 12">
            <a:extLst>
              <a:ext uri="{FF2B5EF4-FFF2-40B4-BE49-F238E27FC236}">
                <a16:creationId xmlns:a16="http://schemas.microsoft.com/office/drawing/2014/main" id="{DDC91890-58C5-125B-23B7-9954111423DA}"/>
              </a:ext>
            </a:extLst>
          </p:cNvPr>
          <p:cNvSpPr txBox="1"/>
          <p:nvPr/>
        </p:nvSpPr>
        <p:spPr>
          <a:xfrm>
            <a:off x="1111666" y="3432993"/>
            <a:ext cx="14771892" cy="598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4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Day 5 – Block 3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82C7FE90-37CE-9CC9-3866-F94BA4955C3A}"/>
              </a:ext>
            </a:extLst>
          </p:cNvPr>
          <p:cNvSpPr txBox="1"/>
          <p:nvPr/>
        </p:nvSpPr>
        <p:spPr>
          <a:xfrm>
            <a:off x="1111666" y="9653992"/>
            <a:ext cx="12263263" cy="3619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0" i="0" u="none" strike="noStrike" kern="1200" cap="none" spc="0" normalizeH="0" baseline="0" noProof="0">
                <a:ln>
                  <a:noFill/>
                </a:ln>
                <a:solidFill>
                  <a:srgbClr val="252525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CALIFORNIA INSTITUTE OF APPLIED TECHNOLOGY</a:t>
            </a:r>
          </a:p>
        </p:txBody>
      </p:sp>
      <p:sp>
        <p:nvSpPr>
          <p:cNvPr id="15" name="AutoShape 15">
            <a:extLst>
              <a:ext uri="{FF2B5EF4-FFF2-40B4-BE49-F238E27FC236}">
                <a16:creationId xmlns:a16="http://schemas.microsoft.com/office/drawing/2014/main" id="{C567A87E-9FFD-3B42-B14B-D11B29FDD585}"/>
              </a:ext>
            </a:extLst>
          </p:cNvPr>
          <p:cNvSpPr/>
          <p:nvPr/>
        </p:nvSpPr>
        <p:spPr>
          <a:xfrm>
            <a:off x="8010568" y="9858838"/>
            <a:ext cx="7625672" cy="0"/>
          </a:xfrm>
          <a:prstGeom prst="line">
            <a:avLst/>
          </a:prstGeom>
          <a:ln w="19050" cap="flat">
            <a:solidFill>
              <a:srgbClr val="0283F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7" name="Freeform 5">
            <a:extLst>
              <a:ext uri="{FF2B5EF4-FFF2-40B4-BE49-F238E27FC236}">
                <a16:creationId xmlns:a16="http://schemas.microsoft.com/office/drawing/2014/main" id="{CAE9E990-D46B-A4AD-F465-E14455D2E1D3}"/>
              </a:ext>
            </a:extLst>
          </p:cNvPr>
          <p:cNvSpPr/>
          <p:nvPr/>
        </p:nvSpPr>
        <p:spPr>
          <a:xfrm>
            <a:off x="1111666" y="355081"/>
            <a:ext cx="4247850" cy="631936"/>
          </a:xfrm>
          <a:custGeom>
            <a:avLst/>
            <a:gdLst/>
            <a:ahLst/>
            <a:cxnLst/>
            <a:rect l="l" t="t" r="r" b="b"/>
            <a:pathLst>
              <a:path w="4247850" h="631936">
                <a:moveTo>
                  <a:pt x="0" y="0"/>
                </a:moveTo>
                <a:lnTo>
                  <a:pt x="4247850" y="0"/>
                </a:lnTo>
                <a:lnTo>
                  <a:pt x="4247850" y="631935"/>
                </a:lnTo>
                <a:lnTo>
                  <a:pt x="0" y="63193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5" r="-5"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AA42CE8-5F7F-894B-94C6-DC0BD0CA4460}"/>
              </a:ext>
            </a:extLst>
          </p:cNvPr>
          <p:cNvSpPr txBox="1"/>
          <p:nvPr/>
        </p:nvSpPr>
        <p:spPr>
          <a:xfrm>
            <a:off x="1111666" y="7106062"/>
            <a:ext cx="11918534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2400" dirty="0"/>
              <a:t>Privacy &amp; Data Protection</a:t>
            </a:r>
          </a:p>
          <a:p>
            <a:pPr lvl="1"/>
            <a:r>
              <a:rPr lang="en-US" altLang="en-US" dirty="0"/>
              <a:t>Data Classification</a:t>
            </a:r>
          </a:p>
          <a:p>
            <a:pPr lvl="1"/>
            <a:r>
              <a:rPr lang="en-US" altLang="en-US" dirty="0"/>
              <a:t>Data Loss Prevention</a:t>
            </a:r>
          </a:p>
          <a:p>
            <a:pPr lvl="1"/>
            <a:r>
              <a:rPr lang="en-US" altLang="en-US" dirty="0"/>
              <a:t>Privacy by Design</a:t>
            </a:r>
          </a:p>
        </p:txBody>
      </p:sp>
    </p:spTree>
    <p:extLst>
      <p:ext uri="{BB962C8B-B14F-4D97-AF65-F5344CB8AC3E}">
        <p14:creationId xmlns:p14="http://schemas.microsoft.com/office/powerpoint/2010/main" val="4088927014"/>
      </p:ext>
    </p:extLst>
  </p:cSld>
  <p:clrMapOvr>
    <a:masterClrMapping/>
  </p:clrMapOvr>
</p:sld>
</file>

<file path=ppt/slides/slide3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0F29D-EA4C-0463-4D6E-8FF74C2971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528518A-24D8-B127-43F0-6EB11C5242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Slide </a:t>
            </a:r>
            <a:fld id="{4CA2B2DB-B91D-4166-98BF-65A0DA7EEE6D}" type="slidenum">
              <a:rPr kumimoji="0" lang="en-US" sz="1800" b="0" i="1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383</a:t>
            </a:fld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26B200-F68D-0AF7-266D-D0078EC346D0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2536823"/>
            <a:ext cx="16192500" cy="6340477"/>
          </a:xfrm>
        </p:spPr>
        <p:txBody>
          <a:bodyPr/>
          <a:lstStyle/>
          <a:p>
            <a:pPr>
              <a:spcBef>
                <a:spcPts val="900"/>
              </a:spcBef>
            </a:pPr>
            <a:r>
              <a:rPr lang="en-US" altLang="en-US" sz="4000" b="1" dirty="0"/>
              <a:t>Regulated data</a:t>
            </a:r>
            <a:r>
              <a:rPr lang="en-US" altLang="en-US" sz="4000" dirty="0"/>
              <a:t>: Subject to laws and regulations due to sensitivity, such as medical records regulated by HIPAA</a:t>
            </a:r>
          </a:p>
          <a:p>
            <a:pPr>
              <a:spcBef>
                <a:spcPts val="900"/>
              </a:spcBef>
            </a:pPr>
            <a:r>
              <a:rPr lang="en-US" altLang="en-US" sz="4000" b="1" dirty="0"/>
              <a:t>Trade secret</a:t>
            </a:r>
            <a:r>
              <a:rPr lang="en-US" altLang="en-US" sz="4000" dirty="0"/>
              <a:t>: Confidential information providing a competitive advantage, like a proprietary algorithm</a:t>
            </a:r>
          </a:p>
          <a:p>
            <a:pPr>
              <a:spcBef>
                <a:spcPts val="900"/>
              </a:spcBef>
            </a:pPr>
            <a:r>
              <a:rPr lang="en-US" altLang="en-US" sz="4000" b="1" dirty="0"/>
              <a:t>Intellectual property (IP)</a:t>
            </a:r>
            <a:r>
              <a:rPr lang="en-US" altLang="en-US" sz="4000" dirty="0"/>
              <a:t>:</a:t>
            </a:r>
            <a:r>
              <a:rPr lang="en-US" altLang="en-US" sz="4000" b="1" dirty="0"/>
              <a:t> </a:t>
            </a:r>
            <a:r>
              <a:rPr lang="en-US" altLang="en-US" sz="4000" dirty="0"/>
              <a:t>Protected creative works, inventions, and designs, including copyrighted source code</a:t>
            </a:r>
          </a:p>
          <a:p>
            <a:pPr>
              <a:spcBef>
                <a:spcPts val="900"/>
              </a:spcBef>
            </a:pPr>
            <a:r>
              <a:rPr lang="en-US" altLang="en-US" sz="4000" b="1" dirty="0"/>
              <a:t>Legal information</a:t>
            </a:r>
            <a:r>
              <a:rPr lang="en-US" altLang="en-US" sz="4000" dirty="0"/>
              <a:t>: Data related to legal processes or obligations, such as signed contracts or employee agreements</a:t>
            </a:r>
          </a:p>
          <a:p>
            <a:pPr>
              <a:spcBef>
                <a:spcPts val="900"/>
              </a:spcBef>
            </a:pPr>
            <a:endParaRPr lang="en-US" alt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5D3FAC-71D5-E678-1DDB-AD268B652B3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B1F48E28-D5C0-2256-8D8D-A9072D771C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400" b="0" kern="0" dirty="0">
                <a:solidFill>
                  <a:srgbClr val="0B0506"/>
                </a:solidFill>
                <a:latin typeface="Arial"/>
              </a:rPr>
              <a:t>Data Types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4143624218"/>
      </p:ext>
    </p:extLst>
  </p:cSld>
  <p:clrMapOvr>
    <a:masterClrMapping/>
  </p:clrMapOvr>
</p:sld>
</file>

<file path=ppt/slides/slide3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E3A318-7A42-E5D3-E024-EA11DF4440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3A7E35A-6788-77F3-B097-57189FF36D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Slide </a:t>
            </a:r>
            <a:fld id="{4CA2B2DB-B91D-4166-98BF-65A0DA7EEE6D}" type="slidenum">
              <a:rPr kumimoji="0" lang="en-US" sz="1800" b="0" i="1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384</a:t>
            </a:fld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899A79-F3CF-9DFB-2F14-FD208CF39D34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2536823"/>
            <a:ext cx="16192500" cy="6340477"/>
          </a:xfrm>
        </p:spPr>
        <p:txBody>
          <a:bodyPr/>
          <a:lstStyle/>
          <a:p>
            <a:pPr>
              <a:spcBef>
                <a:spcPts val="900"/>
              </a:spcBef>
            </a:pPr>
            <a:r>
              <a:rPr lang="en-US" altLang="en-US" sz="4000" b="1" dirty="0"/>
              <a:t>Financial information:</a:t>
            </a:r>
            <a:r>
              <a:rPr lang="en-US" altLang="en-US" sz="4000" dirty="0"/>
              <a:t> Data concerning financial operations and performance, regulated by laws like SOX and GLBA, including balance sheets, income statements, and tax records</a:t>
            </a:r>
          </a:p>
          <a:p>
            <a:pPr>
              <a:spcBef>
                <a:spcPts val="900"/>
              </a:spcBef>
            </a:pPr>
            <a:r>
              <a:rPr lang="en-US" altLang="en-US" sz="4000" b="1" dirty="0"/>
              <a:t>Human- and non-human-readable data</a:t>
            </a:r>
            <a:r>
              <a:rPr lang="en-US" altLang="en-US" sz="4000" dirty="0"/>
              <a:t>: Human-readable data (e.g., text documents) and non-human-readable data (e.g., encrypted files)</a:t>
            </a:r>
          </a:p>
          <a:p>
            <a:pPr>
              <a:spcBef>
                <a:spcPts val="900"/>
              </a:spcBef>
            </a:pPr>
            <a:endParaRPr lang="en-US" alt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A9ABF70-3B2D-BAFE-ECF5-7DA4AAA7873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090A128-7E5B-4813-2678-09BD859005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400" b="0" kern="0" dirty="0">
                <a:solidFill>
                  <a:srgbClr val="0B0506"/>
                </a:solidFill>
                <a:latin typeface="Arial"/>
              </a:rPr>
              <a:t>Data Types (cont.)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3056297498"/>
      </p:ext>
    </p:extLst>
  </p:cSld>
  <p:clrMapOvr>
    <a:masterClrMapping/>
  </p:clrMapOvr>
</p:sld>
</file>

<file path=ppt/slides/slide3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3D228A-18FD-137B-9F1B-DAC6595F68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5DE865D-09A8-8AD0-383B-639A0408B7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Slide </a:t>
            </a:r>
            <a:fld id="{4CA2B2DB-B91D-4166-98BF-65A0DA7EEE6D}" type="slidenum">
              <a:rPr kumimoji="0" lang="en-US" sz="1800" b="0" i="1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385</a:t>
            </a:fld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8BF5A5-BFC3-3156-CF67-A9B80EF3993F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2536823"/>
            <a:ext cx="16192500" cy="6340477"/>
          </a:xfrm>
        </p:spPr>
        <p:txBody>
          <a:bodyPr/>
          <a:lstStyle/>
          <a:p>
            <a:pPr>
              <a:spcBef>
                <a:spcPts val="900"/>
              </a:spcBef>
            </a:pPr>
            <a:r>
              <a:rPr lang="en-US" altLang="en-US" sz="4000" b="1" dirty="0"/>
              <a:t>Confidential or proprietary</a:t>
            </a:r>
            <a:r>
              <a:rPr lang="en-US" altLang="en-US" sz="4000" dirty="0"/>
              <a:t>: Information or assets that could cause grave damage to an organization if accessed without authorization</a:t>
            </a:r>
          </a:p>
          <a:p>
            <a:pPr>
              <a:spcBef>
                <a:spcPts val="900"/>
              </a:spcBef>
            </a:pPr>
            <a:r>
              <a:rPr lang="en-US" altLang="en-US" sz="4000" b="1" dirty="0"/>
              <a:t>Sensitive</a:t>
            </a:r>
            <a:r>
              <a:rPr lang="en-US" altLang="en-US" sz="4000" dirty="0"/>
              <a:t>: Data that could cause some damage to an organization if accessed without authorization</a:t>
            </a:r>
          </a:p>
          <a:p>
            <a:pPr>
              <a:spcBef>
                <a:spcPts val="900"/>
              </a:spcBef>
            </a:pPr>
            <a:r>
              <a:rPr lang="en-US" altLang="en-US" sz="4000" b="1" dirty="0"/>
              <a:t>Public</a:t>
            </a:r>
            <a:r>
              <a:rPr lang="en-US" altLang="en-US" sz="4000" dirty="0"/>
              <a:t>: Information openly available without causing harm or presenting risks if exposed</a:t>
            </a:r>
          </a:p>
          <a:p>
            <a:pPr>
              <a:spcBef>
                <a:spcPts val="900"/>
              </a:spcBef>
            </a:pPr>
            <a:r>
              <a:rPr lang="en-US" altLang="en-US" sz="4000" b="1" dirty="0"/>
              <a:t>Private</a:t>
            </a:r>
            <a:r>
              <a:rPr lang="en-US" altLang="en-US" sz="4000" dirty="0"/>
              <a:t>: Information or assets that could cause severe damage to an organization if accessed without authorization (e.g., payroll data)</a:t>
            </a:r>
          </a:p>
          <a:p>
            <a:pPr>
              <a:spcBef>
                <a:spcPts val="900"/>
              </a:spcBef>
            </a:pPr>
            <a:endParaRPr lang="en-US" alt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D8CED72-A456-0172-671B-59C94F64CFA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A2B31C21-B26B-8909-ED16-5EAEEF1887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400" b="0" kern="0" dirty="0">
                <a:solidFill>
                  <a:srgbClr val="0B0506"/>
                </a:solidFill>
                <a:latin typeface="Arial"/>
              </a:rPr>
              <a:t>Data Classifications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1597824339"/>
      </p:ext>
    </p:extLst>
  </p:cSld>
  <p:clrMapOvr>
    <a:masterClrMapping/>
  </p:clrMapOvr>
</p:sld>
</file>

<file path=ppt/slides/slide3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2EF353-3F42-B53D-1A82-FC7207C0FB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AF5D7F0-D7B6-0808-437C-A105BBADEE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Slide </a:t>
            </a:r>
            <a:fld id="{4CA2B2DB-B91D-4166-98BF-65A0DA7EEE6D}" type="slidenum">
              <a:rPr kumimoji="0" lang="en-US" sz="1800" b="0" i="1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386</a:t>
            </a:fld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BF3F53-9C40-B425-E986-EAC511D4C18A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2536823"/>
            <a:ext cx="16192500" cy="6340477"/>
          </a:xfrm>
        </p:spPr>
        <p:txBody>
          <a:bodyPr/>
          <a:lstStyle/>
          <a:p>
            <a:pPr>
              <a:spcBef>
                <a:spcPts val="900"/>
              </a:spcBef>
            </a:pPr>
            <a:r>
              <a:rPr lang="en-US" altLang="en-US" sz="4000" b="1" dirty="0"/>
              <a:t>Restricted:</a:t>
            </a:r>
            <a:r>
              <a:rPr lang="en-US" altLang="en-US" sz="4000" dirty="0"/>
              <a:t> Data requiring the highest level of security measures due to its sensitive nature or stringent legal obligations</a:t>
            </a:r>
          </a:p>
          <a:p>
            <a:pPr>
              <a:spcBef>
                <a:spcPts val="900"/>
              </a:spcBef>
            </a:pPr>
            <a:r>
              <a:rPr lang="en-US" altLang="en-US" sz="4000" b="1" dirty="0"/>
              <a:t>Critical</a:t>
            </a:r>
            <a:r>
              <a:rPr lang="en-US" altLang="en-US" sz="4000" dirty="0"/>
              <a:t>: Data essential to the continued function of a business, the loss of which would result in significant monetary loss for the organization</a:t>
            </a:r>
          </a:p>
          <a:p>
            <a:pPr>
              <a:spcBef>
                <a:spcPts val="900"/>
              </a:spcBef>
            </a:pPr>
            <a:endParaRPr lang="en-US" alt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E9F2232-4B79-F24E-0ADE-E4487B70586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49D30900-1C27-F759-145D-F29FB5348F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400" b="0" kern="0" dirty="0">
                <a:solidFill>
                  <a:srgbClr val="0B0506"/>
                </a:solidFill>
                <a:latin typeface="Arial"/>
              </a:rPr>
              <a:t>Data Classifications (cont.)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2169220245"/>
      </p:ext>
    </p:extLst>
  </p:cSld>
  <p:clrMapOvr>
    <a:masterClrMapping/>
  </p:clrMapOvr>
</p:sld>
</file>

<file path=ppt/slides/slide3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9175E2-8316-AAB5-5A6A-D69E7A5E95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FF2D89A-208C-EF16-F885-C84B2D2D36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Slide </a:t>
            </a:r>
            <a:fld id="{4CA2B2DB-B91D-4166-98BF-65A0DA7EEE6D}" type="slidenum">
              <a:rPr kumimoji="0" lang="en-US" sz="1800" b="0" i="1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387</a:t>
            </a:fld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F810C8-5CD6-2456-0201-69648978E77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2536823"/>
            <a:ext cx="16192500" cy="6340477"/>
          </a:xfrm>
        </p:spPr>
        <p:txBody>
          <a:bodyPr/>
          <a:lstStyle/>
          <a:p>
            <a:pPr>
              <a:spcBef>
                <a:spcPts val="900"/>
              </a:spcBef>
            </a:pPr>
            <a:r>
              <a:rPr lang="en-US" altLang="en-US" sz="4000" b="1" dirty="0"/>
              <a:t>Data states</a:t>
            </a:r>
            <a:r>
              <a:rPr lang="en-US" altLang="en-US" sz="4000" dirty="0"/>
              <a:t>: The states in which data exists: at rest, in transit, and in use</a:t>
            </a:r>
          </a:p>
          <a:p>
            <a:pPr>
              <a:spcBef>
                <a:spcPts val="900"/>
              </a:spcBef>
            </a:pPr>
            <a:r>
              <a:rPr lang="en-US" altLang="en-US" sz="4000" b="1" dirty="0"/>
              <a:t>Handling procedures</a:t>
            </a:r>
            <a:r>
              <a:rPr lang="en-US" altLang="en-US" sz="4000" dirty="0"/>
              <a:t>: Establish clear procedures for handling data throughout its lifecycle, from creation and storage to sharing and disposal.</a:t>
            </a:r>
          </a:p>
          <a:p>
            <a:pPr>
              <a:spcBef>
                <a:spcPts val="900"/>
              </a:spcBef>
            </a:pPr>
            <a:r>
              <a:rPr lang="en-US" altLang="en-US" sz="4000" b="1" dirty="0"/>
              <a:t>Security measures</a:t>
            </a:r>
            <a:r>
              <a:rPr lang="en-US" altLang="en-US" sz="4000" dirty="0"/>
              <a:t>: Implement robust security measures, including encryption, access controls, monitoring, and incident response protocols to help safeguard data against unauthorized access, breaches, and other security threats.</a:t>
            </a:r>
          </a:p>
          <a:p>
            <a:pPr>
              <a:spcBef>
                <a:spcPts val="900"/>
              </a:spcBef>
            </a:pPr>
            <a:endParaRPr lang="en-US" alt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BC028E0-C0A9-8904-46A0-6A80BE8B702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2AC44E49-7840-42CD-FB9F-A7E16EAE29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400" b="0" kern="0" dirty="0">
                <a:solidFill>
                  <a:srgbClr val="0B0506"/>
                </a:solidFill>
                <a:latin typeface="Arial"/>
              </a:rPr>
              <a:t>General Data Considerations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2580821784"/>
      </p:ext>
    </p:extLst>
  </p:cSld>
  <p:clrMapOvr>
    <a:masterClrMapping/>
  </p:clrMapOvr>
</p:sld>
</file>

<file path=ppt/slides/slide3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713B00-E112-D13D-2ED8-975F5C014F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F58EFFE-49FE-7559-54FE-ADC091D7A7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Slide </a:t>
            </a:r>
            <a:fld id="{4CA2B2DB-B91D-4166-98BF-65A0DA7EEE6D}" type="slidenum">
              <a:rPr kumimoji="0" lang="en-US" sz="1800" b="0" i="1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388</a:t>
            </a:fld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4CF60FE-8A01-5E9F-99AA-7CE48A42306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9A4E640-6524-0896-8D2C-D0DDA6DE24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400" b="0" kern="0" dirty="0">
                <a:solidFill>
                  <a:srgbClr val="0B0506"/>
                </a:solidFill>
                <a:latin typeface="Arial"/>
              </a:rPr>
              <a:t>Data States</a:t>
            </a:r>
            <a:endParaRPr lang="en-US" i="1" dirty="0"/>
          </a:p>
        </p:txBody>
      </p:sp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C66BE328-EE20-B206-AA33-AD1E2F5F0A14}"/>
              </a:ext>
            </a:extLst>
          </p:cNvPr>
          <p:cNvPicPr>
            <a:picLocks noGrp="1" noChangeAspect="1"/>
          </p:cNvPicPr>
          <p:nvPr>
            <p:ph sz="quarter" idx="12"/>
          </p:nvPr>
        </p:nvPicPr>
        <p:blipFill>
          <a:blip r:embed="rId3"/>
          <a:stretch>
            <a:fillRect/>
          </a:stretch>
        </p:blipFill>
        <p:spPr>
          <a:xfrm>
            <a:off x="4006701" y="2502354"/>
            <a:ext cx="10274598" cy="6202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5686343"/>
      </p:ext>
    </p:extLst>
  </p:cSld>
  <p:clrMapOvr>
    <a:masterClrMapping/>
  </p:clrMapOvr>
</p:sld>
</file>

<file path=ppt/slides/slide3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962C9D-F93C-8E8B-EE36-5AF8057510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7237725-1DFE-8FCE-4CB5-EB0BA95886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Slide </a:t>
            </a:r>
            <a:fld id="{4CA2B2DB-B91D-4166-98BF-65A0DA7EEE6D}" type="slidenum">
              <a:rPr kumimoji="0" lang="en-US" sz="1800" b="0" i="1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389</a:t>
            </a:fld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CE10B4-7F68-B665-CECF-8C470FC0326C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2536823"/>
            <a:ext cx="16192500" cy="6340477"/>
          </a:xfrm>
        </p:spPr>
        <p:txBody>
          <a:bodyPr/>
          <a:lstStyle/>
          <a:p>
            <a:pPr marL="0" indent="0">
              <a:spcBef>
                <a:spcPts val="900"/>
              </a:spcBef>
              <a:buNone/>
            </a:pPr>
            <a:r>
              <a:rPr lang="en-US" altLang="en-US" sz="3600" b="1" dirty="0"/>
              <a:t>Data sovereignty</a:t>
            </a:r>
          </a:p>
          <a:p>
            <a:pPr>
              <a:spcBef>
                <a:spcPts val="900"/>
              </a:spcBef>
            </a:pPr>
            <a:r>
              <a:rPr lang="en-US" altLang="en-US" sz="3600" dirty="0"/>
              <a:t>Legal and regulatory requirements for data based on its collection or processing location</a:t>
            </a:r>
          </a:p>
          <a:p>
            <a:pPr>
              <a:spcBef>
                <a:spcPts val="900"/>
              </a:spcBef>
            </a:pPr>
            <a:r>
              <a:rPr lang="en-US" altLang="en-US" sz="3600" dirty="0"/>
              <a:t>Mandates often dictate that data must remain within a country's borders</a:t>
            </a:r>
          </a:p>
          <a:p>
            <a:pPr marL="0" indent="0">
              <a:spcBef>
                <a:spcPts val="900"/>
              </a:spcBef>
              <a:buNone/>
            </a:pPr>
            <a:r>
              <a:rPr lang="en-US" altLang="en-US" sz="3600" b="1" dirty="0"/>
              <a:t>Geolocation</a:t>
            </a:r>
          </a:p>
          <a:p>
            <a:pPr>
              <a:spcBef>
                <a:spcPts val="900"/>
              </a:spcBef>
            </a:pPr>
            <a:r>
              <a:rPr lang="en-US" altLang="en-US" sz="3600" dirty="0"/>
              <a:t>Identification or estimation of real-world geographic location based on digital information</a:t>
            </a:r>
          </a:p>
          <a:p>
            <a:pPr>
              <a:spcBef>
                <a:spcPts val="900"/>
              </a:spcBef>
            </a:pPr>
            <a:r>
              <a:rPr lang="en-US" altLang="en-US" sz="3600" dirty="0"/>
              <a:t>Uses technologies like GPS tagging, geofencing, and IP-based location services</a:t>
            </a:r>
          </a:p>
          <a:p>
            <a:pPr>
              <a:spcBef>
                <a:spcPts val="900"/>
              </a:spcBef>
            </a:pPr>
            <a:endParaRPr lang="en-US" alt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0BD04BF-2938-DB79-1C0F-D0331219AD9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2854233E-B818-5A73-6444-6A4191EBC7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400" b="0" kern="0" dirty="0">
                <a:solidFill>
                  <a:srgbClr val="0B0506"/>
                </a:solidFill>
                <a:latin typeface="Arial"/>
              </a:rPr>
              <a:t>Data Sovereignty &amp; Geolocation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2569688083"/>
      </p:ext>
    </p:extLst>
  </p:cSld>
  <p:clrMapOvr>
    <a:masterClrMapping/>
  </p:clrMapOvr>
</p:sld>
</file>

<file path=ppt/slides/slide3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3DB8E8-F95D-A5F8-CD7D-44B6406350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0BCB829-3159-9929-ACE6-E704E8EE8B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Slide </a:t>
            </a:r>
            <a:fld id="{4CA2B2DB-B91D-4166-98BF-65A0DA7EEE6D}" type="slidenum">
              <a:rPr kumimoji="0" lang="en-US" sz="1800" b="0" i="1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390</a:t>
            </a:fld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18AD87-FB79-2F33-88B8-C5BB8A9DA17B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2536823"/>
            <a:ext cx="16192500" cy="6340477"/>
          </a:xfrm>
        </p:spPr>
        <p:txBody>
          <a:bodyPr/>
          <a:lstStyle/>
          <a:p>
            <a:pPr>
              <a:spcBef>
                <a:spcPts val="900"/>
              </a:spcBef>
            </a:pPr>
            <a:r>
              <a:rPr lang="en-US" altLang="en-US" sz="3600" b="1" dirty="0"/>
              <a:t>Geographic Restriction</a:t>
            </a:r>
            <a:r>
              <a:rPr lang="en-US" altLang="en-US" sz="3600" dirty="0"/>
              <a:t>: Limits access to data based on user's geographic location</a:t>
            </a:r>
          </a:p>
          <a:p>
            <a:pPr>
              <a:spcBef>
                <a:spcPts val="900"/>
              </a:spcBef>
            </a:pPr>
            <a:r>
              <a:rPr lang="en-US" altLang="en-US" sz="3600" b="1" dirty="0"/>
              <a:t>Encryption</a:t>
            </a:r>
            <a:r>
              <a:rPr lang="en-US" altLang="en-US" sz="3600" dirty="0"/>
              <a:t>: Converts readable data to an encoded format</a:t>
            </a:r>
          </a:p>
          <a:p>
            <a:pPr>
              <a:spcBef>
                <a:spcPts val="900"/>
              </a:spcBef>
            </a:pPr>
            <a:r>
              <a:rPr lang="en-US" altLang="en-US" sz="3600" b="1" dirty="0"/>
              <a:t>Hashing</a:t>
            </a:r>
            <a:r>
              <a:rPr lang="en-US" altLang="en-US" sz="3600" dirty="0"/>
              <a:t>: Converts data to fixed-length strings for verifying integrity</a:t>
            </a:r>
          </a:p>
          <a:p>
            <a:pPr>
              <a:spcBef>
                <a:spcPts val="900"/>
              </a:spcBef>
            </a:pPr>
            <a:r>
              <a:rPr lang="en-US" altLang="en-US" sz="3600" b="1" dirty="0"/>
              <a:t>Masking</a:t>
            </a:r>
            <a:r>
              <a:rPr lang="en-US" altLang="en-US" sz="3600" dirty="0"/>
              <a:t>: Replaces specific data with fictitious but structurally similar data</a:t>
            </a:r>
          </a:p>
          <a:p>
            <a:pPr>
              <a:spcBef>
                <a:spcPts val="900"/>
              </a:spcBef>
            </a:pPr>
            <a:r>
              <a:rPr lang="en-US" altLang="en-US" sz="3600" b="1" dirty="0"/>
              <a:t>Tokenization: </a:t>
            </a:r>
            <a:r>
              <a:rPr lang="en-US" altLang="en-US" sz="3600" dirty="0"/>
              <a:t>Replaces sensitive information with a placeholder, reducing the risk of data breaches</a:t>
            </a:r>
          </a:p>
          <a:p>
            <a:pPr>
              <a:spcBef>
                <a:spcPts val="900"/>
              </a:spcBef>
            </a:pPr>
            <a:r>
              <a:rPr lang="en-US" altLang="en-US" sz="3600" b="1" dirty="0"/>
              <a:t>Obfuscation</a:t>
            </a:r>
            <a:r>
              <a:rPr lang="en-US" altLang="en-US" sz="3600" dirty="0"/>
              <a:t>: Makes data unintelligible without affecting functionality</a:t>
            </a:r>
          </a:p>
          <a:p>
            <a:pPr>
              <a:spcBef>
                <a:spcPts val="900"/>
              </a:spcBef>
            </a:pPr>
            <a:endParaRPr lang="en-US" alt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8A84592-C73A-2AA0-5B39-FDED4C2BCF6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AD944D41-A1C7-15A2-C336-AEF5CA5AF3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400" b="0" kern="0" dirty="0">
                <a:solidFill>
                  <a:srgbClr val="0B0506"/>
                </a:solidFill>
                <a:latin typeface="Arial"/>
              </a:rPr>
              <a:t>Methods to Secure Data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197807730"/>
      </p:ext>
    </p:extLst>
  </p:cSld>
  <p:clrMapOvr>
    <a:masterClrMapping/>
  </p:clrMapOvr>
</p:sld>
</file>

<file path=ppt/slides/slide3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75F2A3-D2D9-108E-0774-EE09241024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A726621-2148-2C05-4BA0-2C19E43DB2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Slide </a:t>
            </a:r>
            <a:fld id="{4CA2B2DB-B91D-4166-98BF-65A0DA7EEE6D}" type="slidenum">
              <a:rPr kumimoji="0" lang="en-US" sz="1800" b="0" i="1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391</a:t>
            </a:fld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6CEB8E-298A-2F9C-10C2-A221F019E49F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2536823"/>
            <a:ext cx="16192500" cy="6340477"/>
          </a:xfrm>
        </p:spPr>
        <p:txBody>
          <a:bodyPr/>
          <a:lstStyle/>
          <a:p>
            <a:pPr marL="0" indent="0">
              <a:spcBef>
                <a:spcPts val="900"/>
              </a:spcBef>
              <a:buNone/>
            </a:pPr>
            <a:r>
              <a:rPr lang="en-US" altLang="en-US" sz="3600" b="1" dirty="0"/>
              <a:t>Segmentation</a:t>
            </a:r>
            <a:r>
              <a:rPr lang="en-US" altLang="en-US" sz="3600" dirty="0"/>
              <a:t>: Divides a network into segments that isolate data</a:t>
            </a:r>
          </a:p>
          <a:p>
            <a:pPr>
              <a:spcBef>
                <a:spcPts val="900"/>
              </a:spcBef>
            </a:pPr>
            <a:r>
              <a:rPr lang="en-US" altLang="en-US" sz="3300" dirty="0"/>
              <a:t>Examples</a:t>
            </a:r>
          </a:p>
          <a:p>
            <a:pPr lvl="2">
              <a:spcBef>
                <a:spcPts val="900"/>
              </a:spcBef>
            </a:pPr>
            <a:r>
              <a:rPr lang="en-US" altLang="en-US" sz="2900" b="1" dirty="0"/>
              <a:t>Finance segment: </a:t>
            </a:r>
            <a:r>
              <a:rPr lang="en-US" altLang="en-US" sz="2900" dirty="0"/>
              <a:t>Highly secure area of the network for sensitive financial information</a:t>
            </a:r>
          </a:p>
          <a:p>
            <a:pPr lvl="2">
              <a:spcBef>
                <a:spcPts val="900"/>
              </a:spcBef>
            </a:pPr>
            <a:r>
              <a:rPr lang="en-US" altLang="en-US" sz="2900" b="1" dirty="0"/>
              <a:t>Firewall segment: </a:t>
            </a:r>
            <a:r>
              <a:rPr lang="en-US" altLang="en-US" sz="2900" dirty="0"/>
              <a:t>Also known as a screened subnet; a buffer zone between the external network (Internet) and internal network</a:t>
            </a:r>
          </a:p>
          <a:p>
            <a:pPr lvl="2">
              <a:spcBef>
                <a:spcPts val="900"/>
              </a:spcBef>
            </a:pPr>
            <a:r>
              <a:rPr lang="en-US" altLang="en-US" sz="2900" b="1" dirty="0"/>
              <a:t>Engineering segment: </a:t>
            </a:r>
            <a:r>
              <a:rPr lang="en-US" altLang="en-US" sz="2900" dirty="0"/>
              <a:t>Isolated environment for development and testing purposes</a:t>
            </a:r>
          </a:p>
          <a:p>
            <a:pPr lvl="2">
              <a:spcBef>
                <a:spcPts val="900"/>
              </a:spcBef>
            </a:pPr>
            <a:r>
              <a:rPr lang="en-US" altLang="en-US" sz="2900" b="1" dirty="0"/>
              <a:t>Sales segment: </a:t>
            </a:r>
            <a:r>
              <a:rPr lang="en-US" altLang="en-US" sz="2900" dirty="0"/>
              <a:t>For customer relationship management (CRM) systems, sales records, and customer-related data</a:t>
            </a:r>
          </a:p>
          <a:p>
            <a:pPr>
              <a:spcBef>
                <a:spcPts val="900"/>
              </a:spcBef>
            </a:pPr>
            <a:endParaRPr lang="en-US" alt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ED94E2-8364-1677-05BE-5A760A0D170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5721F11-1917-3CAA-29F8-66F7AD8030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400" b="0" kern="0" dirty="0">
                <a:solidFill>
                  <a:srgbClr val="0B0506"/>
                </a:solidFill>
                <a:latin typeface="Arial"/>
              </a:rPr>
              <a:t>Segmentation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1394223092"/>
      </p:ext>
    </p:extLst>
  </p:cSld>
  <p:clrMapOvr>
    <a:masterClrMapping/>
  </p:clrMapOvr>
</p:sld>
</file>

<file path=ppt/slides/slide3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AB7E15-6249-C5EE-B6F3-6021958C7C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0AB7BCA-8979-F309-0B99-F3A60F634A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Slide </a:t>
            </a:r>
            <a:fld id="{4CA2B2DB-B91D-4166-98BF-65A0DA7EEE6D}" type="slidenum">
              <a:rPr kumimoji="0" lang="en-US" sz="1800" b="0" i="1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392</a:t>
            </a:fld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FE0FC7-688B-E577-3367-60128574D40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2536823"/>
            <a:ext cx="16192500" cy="6340477"/>
          </a:xfrm>
        </p:spPr>
        <p:txBody>
          <a:bodyPr/>
          <a:lstStyle/>
          <a:p>
            <a:pPr marL="0" indent="0">
              <a:spcBef>
                <a:spcPts val="900"/>
              </a:spcBef>
              <a:buNone/>
            </a:pPr>
            <a:r>
              <a:rPr lang="en-US" altLang="en-US" sz="3600" b="1" dirty="0"/>
              <a:t>Permission restrictions</a:t>
            </a:r>
            <a:r>
              <a:rPr lang="en-US" altLang="en-US" sz="3600" dirty="0"/>
              <a:t> specify who can perform which actions within a system or network.</a:t>
            </a:r>
          </a:p>
          <a:p>
            <a:pPr>
              <a:spcBef>
                <a:spcPts val="900"/>
              </a:spcBef>
            </a:pPr>
            <a:r>
              <a:rPr lang="en-US" altLang="en-US" sz="3300" dirty="0"/>
              <a:t>Methods</a:t>
            </a:r>
          </a:p>
          <a:p>
            <a:pPr lvl="2">
              <a:spcBef>
                <a:spcPts val="900"/>
              </a:spcBef>
            </a:pPr>
            <a:r>
              <a:rPr lang="en-US" altLang="en-US" sz="2900" b="1" dirty="0"/>
              <a:t>Role-based access control (RBAC): </a:t>
            </a:r>
            <a:r>
              <a:rPr lang="en-US" altLang="en-US" sz="2900" dirty="0"/>
              <a:t>Access permissions are assigned to organizational roles.</a:t>
            </a:r>
          </a:p>
          <a:p>
            <a:pPr lvl="2">
              <a:spcBef>
                <a:spcPts val="900"/>
              </a:spcBef>
            </a:pPr>
            <a:r>
              <a:rPr lang="en-US" altLang="en-US" sz="2900" b="1" dirty="0"/>
              <a:t>Attribute-based access control (ABAC): </a:t>
            </a:r>
            <a:r>
              <a:rPr lang="en-US" altLang="en-US" sz="2900" dirty="0"/>
              <a:t>Access is granted based on attributes like location, time, or device type.</a:t>
            </a:r>
          </a:p>
          <a:p>
            <a:pPr lvl="2">
              <a:spcBef>
                <a:spcPts val="900"/>
              </a:spcBef>
            </a:pPr>
            <a:r>
              <a:rPr lang="en-US" altLang="en-US" sz="2900" b="1" dirty="0"/>
              <a:t>Principle of least privilege: </a:t>
            </a:r>
            <a:r>
              <a:rPr lang="en-US" altLang="en-US" sz="2900" dirty="0"/>
              <a:t>Ensures that users have only the minimum access necessary to perform their tasks</a:t>
            </a:r>
          </a:p>
          <a:p>
            <a:pPr>
              <a:spcBef>
                <a:spcPts val="900"/>
              </a:spcBef>
            </a:pPr>
            <a:endParaRPr lang="en-US" alt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6CB5124-4A78-D1B4-984C-F78FB05ABA7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34F88919-2E51-8EC8-38A4-3C8EC7DD09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400" b="0" kern="0" dirty="0">
                <a:solidFill>
                  <a:srgbClr val="0B0506"/>
                </a:solidFill>
                <a:latin typeface="Arial"/>
              </a:rPr>
              <a:t>Permission Restrictions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342532553"/>
      </p:ext>
    </p:extLst>
  </p:cSld>
  <p:clrMapOvr>
    <a:masterClrMapping/>
  </p:clrMapOvr>
</p:sld>
</file>

<file path=ppt/slides/slide3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ADCADA-88DE-BB14-81D9-D8C1190B68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F2366C5-26F5-F54E-8152-FCD73F81AD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Slide </a:t>
            </a:r>
            <a:fld id="{4CA2B2DB-B91D-4166-98BF-65A0DA7EEE6D}" type="slidenum">
              <a:rPr kumimoji="0" lang="en-US" sz="1800" b="0" i="1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393</a:t>
            </a:fld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483224-04FA-2C59-9FDC-1CB85147E712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2536823"/>
            <a:ext cx="16192500" cy="6340477"/>
          </a:xfrm>
        </p:spPr>
        <p:txBody>
          <a:bodyPr/>
          <a:lstStyle/>
          <a:p>
            <a:pPr marL="0" indent="0">
              <a:spcBef>
                <a:spcPts val="900"/>
              </a:spcBef>
              <a:buNone/>
            </a:pPr>
            <a:r>
              <a:rPr lang="en-US" altLang="en-US" sz="3900" b="1" dirty="0"/>
              <a:t>Privacy</a:t>
            </a:r>
            <a:r>
              <a:rPr lang="en-US" altLang="en-US" sz="3900" dirty="0"/>
              <a:t>: An ethical obligation and a legal mandate</a:t>
            </a:r>
          </a:p>
          <a:p>
            <a:pPr>
              <a:spcBef>
                <a:spcPts val="900"/>
              </a:spcBef>
            </a:pPr>
            <a:r>
              <a:rPr lang="en-US" altLang="en-US" sz="3600" dirty="0"/>
              <a:t>Involves safeguarding data against unauthorized access and ensuring data is used properly</a:t>
            </a:r>
          </a:p>
          <a:p>
            <a:pPr>
              <a:spcBef>
                <a:spcPts val="900"/>
              </a:spcBef>
            </a:pPr>
            <a:r>
              <a:rPr lang="en-US" altLang="en-US" sz="3600" dirty="0"/>
              <a:t>Legal frameworks govern cybersecurity privacy at various jurisdictional levels</a:t>
            </a:r>
          </a:p>
          <a:p>
            <a:pPr>
              <a:spcBef>
                <a:spcPts val="900"/>
              </a:spcBef>
            </a:pPr>
            <a:endParaRPr lang="en-US" alt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6FED6C3-928C-00D8-999B-4C893DD2328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2321E95-240E-0FD2-8DA5-D6F7ED7E55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400" b="0" kern="0" dirty="0">
                <a:solidFill>
                  <a:srgbClr val="0B0506"/>
                </a:solidFill>
                <a:latin typeface="Arial"/>
              </a:rPr>
              <a:t>Privacy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2690946081"/>
      </p:ext>
    </p:extLst>
  </p:cSld>
  <p:clrMapOvr>
    <a:masterClrMapping/>
  </p:clrMapOvr>
</p:sld>
</file>

<file path=ppt/slides/slide3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51AAF0-6C6E-8863-292E-86C65BD23D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74E8E18-EDF1-CF59-04C9-0E305F94C5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Slide </a:t>
            </a:r>
            <a:fld id="{4CA2B2DB-B91D-4166-98BF-65A0DA7EEE6D}" type="slidenum">
              <a:rPr kumimoji="0" lang="en-US" sz="1800" b="0" i="1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394</a:t>
            </a:fld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674B9B-04FC-B65A-C820-FEEEF257AC4F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2536823"/>
            <a:ext cx="16192500" cy="6340477"/>
          </a:xfrm>
        </p:spPr>
        <p:txBody>
          <a:bodyPr/>
          <a:lstStyle/>
          <a:p>
            <a:pPr marL="0" indent="0">
              <a:spcBef>
                <a:spcPts val="900"/>
              </a:spcBef>
              <a:buNone/>
            </a:pPr>
            <a:r>
              <a:rPr lang="en-US" altLang="en-US" sz="3900" b="1" dirty="0"/>
              <a:t>Legal implications</a:t>
            </a:r>
            <a:r>
              <a:rPr lang="en-US" altLang="en-US" sz="3900" dirty="0"/>
              <a:t>: An organization's responsibilities, liabilities, and potential penalties related to handling personal data. Vary by jurisdiction, data type, and data use.</a:t>
            </a:r>
          </a:p>
          <a:p>
            <a:pPr>
              <a:spcBef>
                <a:spcPts val="900"/>
              </a:spcBef>
            </a:pPr>
            <a:r>
              <a:rPr lang="en-US" altLang="en-US" sz="3600" dirty="0"/>
              <a:t>Local and regional examples</a:t>
            </a:r>
          </a:p>
          <a:p>
            <a:pPr lvl="2">
              <a:spcBef>
                <a:spcPts val="900"/>
              </a:spcBef>
            </a:pPr>
            <a:r>
              <a:rPr lang="en-US" altLang="en-US" sz="2900" b="1" dirty="0"/>
              <a:t>CCPA</a:t>
            </a:r>
            <a:r>
              <a:rPr lang="en-US" altLang="en-US" sz="2900" dirty="0"/>
              <a:t> (California)</a:t>
            </a:r>
          </a:p>
          <a:p>
            <a:pPr lvl="2">
              <a:spcBef>
                <a:spcPts val="900"/>
              </a:spcBef>
            </a:pPr>
            <a:r>
              <a:rPr lang="en-US" altLang="en-US" sz="2900" b="1" dirty="0"/>
              <a:t>SHIELD Act </a:t>
            </a:r>
            <a:r>
              <a:rPr lang="en-US" altLang="en-US" sz="2900" dirty="0"/>
              <a:t>(New York) </a:t>
            </a:r>
          </a:p>
          <a:p>
            <a:pPr lvl="2">
              <a:spcBef>
                <a:spcPts val="900"/>
              </a:spcBef>
            </a:pPr>
            <a:r>
              <a:rPr lang="en-US" altLang="en-US" sz="2900" b="1" dirty="0"/>
              <a:t>GDPR</a:t>
            </a:r>
            <a:r>
              <a:rPr lang="en-US" altLang="en-US" sz="2900" dirty="0"/>
              <a:t> (European Union)</a:t>
            </a:r>
            <a:endParaRPr lang="en-US" altLang="en-US" sz="3200" dirty="0"/>
          </a:p>
          <a:p>
            <a:pPr>
              <a:spcBef>
                <a:spcPts val="900"/>
              </a:spcBef>
            </a:pPr>
            <a:r>
              <a:rPr lang="en-US" altLang="en-US" sz="3600" dirty="0"/>
              <a:t>National examples</a:t>
            </a:r>
          </a:p>
          <a:p>
            <a:pPr lvl="2">
              <a:spcBef>
                <a:spcPts val="900"/>
              </a:spcBef>
            </a:pPr>
            <a:r>
              <a:rPr lang="en-US" altLang="en-US" sz="2900" b="1" dirty="0"/>
              <a:t>COPPA </a:t>
            </a:r>
            <a:r>
              <a:rPr lang="en-US" altLang="en-US" sz="2900" dirty="0"/>
              <a:t>(USA)</a:t>
            </a:r>
          </a:p>
          <a:p>
            <a:pPr lvl="2">
              <a:spcBef>
                <a:spcPts val="900"/>
              </a:spcBef>
            </a:pPr>
            <a:r>
              <a:rPr lang="en-US" altLang="en-US" sz="2900" b="1" dirty="0"/>
              <a:t>PIPEDA </a:t>
            </a:r>
            <a:r>
              <a:rPr lang="en-US" altLang="en-US" sz="2900" dirty="0"/>
              <a:t>(Canada)</a:t>
            </a:r>
          </a:p>
          <a:p>
            <a:pPr>
              <a:spcBef>
                <a:spcPts val="900"/>
              </a:spcBef>
            </a:pPr>
            <a:endParaRPr lang="en-US" alt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0146B46-E627-4340-EC67-ED8D2929B83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2875D2B-A42A-2A92-1698-0B61E6BFBC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400" b="0" kern="0" dirty="0">
                <a:solidFill>
                  <a:srgbClr val="0B0506"/>
                </a:solidFill>
                <a:latin typeface="Arial"/>
              </a:rPr>
              <a:t>Legal Implications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145809614"/>
      </p:ext>
    </p:extLst>
  </p:cSld>
  <p:clrMapOvr>
    <a:masterClrMapping/>
  </p:clrMapOvr>
</p:sld>
</file>

<file path=ppt/slides/slide3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7624E6-37E3-6FA8-17D5-2E563A36A1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EC89919-F786-FFD8-31E2-D207010301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Slide </a:t>
            </a:r>
            <a:fld id="{4CA2B2DB-B91D-4166-98BF-65A0DA7EEE6D}" type="slidenum">
              <a:rPr kumimoji="0" lang="en-US" sz="1800" b="0" i="1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395</a:t>
            </a:fld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AAD5A9-6506-5185-E63F-BDDC5BF77EE9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2536823"/>
            <a:ext cx="16192500" cy="6340477"/>
          </a:xfrm>
        </p:spPr>
        <p:txBody>
          <a:bodyPr/>
          <a:lstStyle/>
          <a:p>
            <a:pPr>
              <a:spcBef>
                <a:spcPts val="900"/>
              </a:spcBef>
            </a:pPr>
            <a:r>
              <a:rPr lang="en-US" altLang="en-US" sz="3900" b="1" dirty="0"/>
              <a:t>Data subject</a:t>
            </a:r>
            <a:r>
              <a:rPr lang="en-US" altLang="en-US" sz="3900" dirty="0"/>
              <a:t>: An individual whose personal data is being processed.</a:t>
            </a:r>
          </a:p>
          <a:p>
            <a:pPr>
              <a:spcBef>
                <a:spcPts val="900"/>
              </a:spcBef>
            </a:pPr>
            <a:endParaRPr lang="en-US" altLang="en-US" sz="600" dirty="0"/>
          </a:p>
          <a:p>
            <a:pPr>
              <a:spcBef>
                <a:spcPts val="900"/>
              </a:spcBef>
            </a:pPr>
            <a:r>
              <a:rPr lang="en-US" altLang="en-US" sz="3900" b="1" dirty="0"/>
              <a:t>Controller</a:t>
            </a:r>
            <a:r>
              <a:rPr lang="en-US" altLang="en-US" sz="3900" dirty="0"/>
              <a:t>: Decides how and why data will be processed</a:t>
            </a:r>
          </a:p>
          <a:p>
            <a:pPr>
              <a:spcBef>
                <a:spcPts val="900"/>
              </a:spcBef>
            </a:pPr>
            <a:endParaRPr lang="en-US" altLang="en-US" sz="600" dirty="0"/>
          </a:p>
          <a:p>
            <a:pPr>
              <a:spcBef>
                <a:spcPts val="900"/>
              </a:spcBef>
            </a:pPr>
            <a:r>
              <a:rPr lang="en-US" altLang="en-US" sz="3900" b="1" dirty="0"/>
              <a:t>Processor</a:t>
            </a:r>
            <a:r>
              <a:rPr lang="en-US" altLang="en-US" sz="3900" dirty="0"/>
              <a:t>: Processes personal data on behalf of the controller, complying with security measures </a:t>
            </a:r>
          </a:p>
          <a:p>
            <a:pPr>
              <a:spcBef>
                <a:spcPts val="900"/>
              </a:spcBef>
            </a:pPr>
            <a:endParaRPr lang="en-US" altLang="en-US" sz="600" dirty="0"/>
          </a:p>
          <a:p>
            <a:pPr>
              <a:spcBef>
                <a:spcPts val="900"/>
              </a:spcBef>
            </a:pPr>
            <a:r>
              <a:rPr lang="en-US" altLang="en-US" sz="3900" b="1" dirty="0"/>
              <a:t>Ownership</a:t>
            </a:r>
            <a:r>
              <a:rPr lang="en-US" altLang="en-US" sz="3900" dirty="0"/>
              <a:t>: Refers to who has legal rights and control over data (e.g., the power to set access levels and give auditing permissions)</a:t>
            </a:r>
          </a:p>
          <a:p>
            <a:pPr>
              <a:spcBef>
                <a:spcPts val="900"/>
              </a:spcBef>
            </a:pPr>
            <a:endParaRPr lang="en-US" alt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FFACAFC-6922-19BE-9614-C5290C2A771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38AD9A6F-56CA-8DBF-91C8-44E6204CA9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400" b="0" kern="0" dirty="0">
                <a:solidFill>
                  <a:srgbClr val="0B0506"/>
                </a:solidFill>
                <a:latin typeface="Arial"/>
              </a:rPr>
              <a:t>Data Roles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2134900434"/>
      </p:ext>
    </p:extLst>
  </p:cSld>
  <p:clrMapOvr>
    <a:masterClrMapping/>
  </p:clrMapOvr>
</p:sld>
</file>

<file path=ppt/slides/slide3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6F357A-BC17-1633-AB5A-09832B7C6B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C33F0DC-8F77-0329-DD67-6201115CD1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Slide </a:t>
            </a:r>
            <a:fld id="{4CA2B2DB-B91D-4166-98BF-65A0DA7EEE6D}" type="slidenum">
              <a:rPr kumimoji="0" lang="en-US" sz="1800" b="0" i="1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396</a:t>
            </a:fld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BE6A10-7B79-3B0B-185E-2EEF5852C4D0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2536823"/>
            <a:ext cx="16192500" cy="6340477"/>
          </a:xfrm>
        </p:spPr>
        <p:txBody>
          <a:bodyPr/>
          <a:lstStyle/>
          <a:p>
            <a:pPr>
              <a:spcBef>
                <a:spcPts val="900"/>
              </a:spcBef>
            </a:pPr>
            <a:r>
              <a:rPr lang="en-US" altLang="en-US" sz="3900" b="1" dirty="0"/>
              <a:t>Data inventory</a:t>
            </a:r>
            <a:r>
              <a:rPr lang="en-US" altLang="en-US" sz="3900" dirty="0"/>
              <a:t>: A catalog or map that identifies where different types of data are stored</a:t>
            </a:r>
          </a:p>
          <a:p>
            <a:pPr lvl="2">
              <a:spcBef>
                <a:spcPts val="900"/>
              </a:spcBef>
            </a:pPr>
            <a:r>
              <a:rPr lang="en-US" altLang="en-US" sz="2900" dirty="0"/>
              <a:t>Crucial for risk assessment and data protection strategies</a:t>
            </a:r>
          </a:p>
          <a:p>
            <a:pPr>
              <a:spcBef>
                <a:spcPts val="900"/>
              </a:spcBef>
            </a:pPr>
            <a:r>
              <a:rPr lang="en-US" altLang="en-US" sz="3900" b="1" dirty="0"/>
              <a:t>Data retention policies</a:t>
            </a:r>
            <a:r>
              <a:rPr lang="en-US" altLang="en-US" sz="3900" dirty="0"/>
              <a:t>: Dictate how long specific data types should be stored </a:t>
            </a:r>
          </a:p>
          <a:p>
            <a:pPr>
              <a:spcBef>
                <a:spcPts val="900"/>
              </a:spcBef>
            </a:pPr>
            <a:endParaRPr lang="en-US" alt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3E452C2-C401-CB01-114F-D8E6680AE4C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729497E7-006E-823C-DA2C-56EA91872A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400" b="0" kern="0" dirty="0">
                <a:solidFill>
                  <a:srgbClr val="0B0506"/>
                </a:solidFill>
                <a:latin typeface="Arial"/>
              </a:rPr>
              <a:t>Data Inventory and Retention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4293359084"/>
      </p:ext>
    </p:extLst>
  </p:cSld>
  <p:clrMapOvr>
    <a:masterClrMapping/>
  </p:clrMapOvr>
</p:sld>
</file>

<file path=ppt/slides/slide3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3BF8EC-E2A1-5BC1-F3BF-0584E7FFA6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63E919D-D5DE-3BF5-2378-4EEFAC0C25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Slide </a:t>
            </a:r>
            <a:fld id="{4CA2B2DB-B91D-4166-98BF-65A0DA7EEE6D}" type="slidenum">
              <a:rPr kumimoji="0" lang="en-US" sz="1800" b="0" i="1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397</a:t>
            </a:fld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8FE751-D391-8500-BD43-3C3F87BBC566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2536823"/>
            <a:ext cx="16192500" cy="6340477"/>
          </a:xfrm>
        </p:spPr>
        <p:txBody>
          <a:bodyPr/>
          <a:lstStyle/>
          <a:p>
            <a:pPr marL="0" indent="0">
              <a:spcBef>
                <a:spcPts val="900"/>
              </a:spcBef>
              <a:buNone/>
            </a:pPr>
            <a:r>
              <a:rPr lang="en-US" altLang="en-US" sz="3900" b="1" dirty="0"/>
              <a:t>The right to be forgotten</a:t>
            </a:r>
            <a:r>
              <a:rPr lang="en-US" altLang="en-US" sz="3900" dirty="0"/>
              <a:t> lets individuals request the deletion of their personal data. Security analysts follow up with data erasure in accordance with regulations. </a:t>
            </a:r>
          </a:p>
          <a:p>
            <a:pPr>
              <a:spcBef>
                <a:spcPts val="900"/>
              </a:spcBef>
            </a:pPr>
            <a:r>
              <a:rPr lang="en-US" altLang="en-US" sz="3900" dirty="0"/>
              <a:t>Locate and erase specified data from all systems, including backups.</a:t>
            </a:r>
          </a:p>
          <a:p>
            <a:pPr>
              <a:spcBef>
                <a:spcPts val="900"/>
              </a:spcBef>
            </a:pPr>
            <a:r>
              <a:rPr lang="en-US" altLang="en-US" sz="3900" dirty="0"/>
              <a:t>Run verification checks to confirm complete removal of data.  </a:t>
            </a:r>
          </a:p>
          <a:p>
            <a:pPr>
              <a:spcBef>
                <a:spcPts val="900"/>
              </a:spcBef>
            </a:pPr>
            <a:r>
              <a:rPr lang="en-US" altLang="en-US" sz="3900" dirty="0"/>
              <a:t>Keep detailed documentation of the entire process.</a:t>
            </a:r>
          </a:p>
          <a:p>
            <a:pPr>
              <a:spcBef>
                <a:spcPts val="900"/>
              </a:spcBef>
            </a:pPr>
            <a:endParaRPr lang="en-US" alt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96D0EBC-1309-5AB3-F420-A8DB3BE9F98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9DC7BFD-8AA6-1A4B-52B1-1BDEA7CEEA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400" b="0" kern="0" dirty="0">
                <a:solidFill>
                  <a:srgbClr val="0B0506"/>
                </a:solidFill>
                <a:latin typeface="Arial"/>
              </a:rPr>
              <a:t>Right to Be Forgotten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878881439"/>
      </p:ext>
    </p:extLst>
  </p:cSld>
  <p:clrMapOvr>
    <a:masterClrMapping/>
  </p:clrMapOvr>
</p:sld>
</file>

<file path=ppt/slides/slide39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15194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0F722B4-9FF3-3055-98AC-8D88B88F52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07A3DCE4-59CF-431D-8BB0-57C2D614A183}"/>
              </a:ext>
            </a:extLst>
          </p:cNvPr>
          <p:cNvGrpSpPr/>
          <p:nvPr/>
        </p:nvGrpSpPr>
        <p:grpSpPr>
          <a:xfrm rot="-5400000">
            <a:off x="12015831" y="4014831"/>
            <a:ext cx="10287000" cy="2257339"/>
            <a:chOff x="0" y="0"/>
            <a:chExt cx="2709333" cy="59452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FB155B3D-2AAE-36B8-4800-2DC40A399758}"/>
                </a:ext>
              </a:extLst>
            </p:cNvPr>
            <p:cNvSpPr/>
            <p:nvPr/>
          </p:nvSpPr>
          <p:spPr>
            <a:xfrm>
              <a:off x="0" y="0"/>
              <a:ext cx="2709333" cy="594525"/>
            </a:xfrm>
            <a:custGeom>
              <a:avLst/>
              <a:gdLst/>
              <a:ahLst/>
              <a:cxnLst/>
              <a:rect l="l" t="t" r="r" b="b"/>
              <a:pathLst>
                <a:path w="2709333" h="594525">
                  <a:moveTo>
                    <a:pt x="0" y="0"/>
                  </a:moveTo>
                  <a:lnTo>
                    <a:pt x="2709333" y="0"/>
                  </a:lnTo>
                  <a:lnTo>
                    <a:pt x="2709333" y="594525"/>
                  </a:lnTo>
                  <a:lnTo>
                    <a:pt x="0" y="594525"/>
                  </a:lnTo>
                  <a:close/>
                </a:path>
              </a:pathLst>
            </a:custGeom>
            <a:solidFill>
              <a:srgbClr val="0283FD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1EC4FA96-CBB5-2EFF-C7AA-091240517A10}"/>
                </a:ext>
              </a:extLst>
            </p:cNvPr>
            <p:cNvSpPr txBox="1"/>
            <p:nvPr/>
          </p:nvSpPr>
          <p:spPr>
            <a:xfrm>
              <a:off x="0" y="-66675"/>
              <a:ext cx="2709333" cy="6612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3024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A55FA132-2705-7200-CF9B-FF106BD6E257}"/>
              </a:ext>
            </a:extLst>
          </p:cNvPr>
          <p:cNvGrpSpPr/>
          <p:nvPr/>
        </p:nvGrpSpPr>
        <p:grpSpPr>
          <a:xfrm>
            <a:off x="179467" y="6643814"/>
            <a:ext cx="8126333" cy="3488267"/>
            <a:chOff x="0" y="0"/>
            <a:chExt cx="844714" cy="36259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AB733BB4-335A-5ACD-3F97-8964F9C9DA11}"/>
                </a:ext>
              </a:extLst>
            </p:cNvPr>
            <p:cNvSpPr/>
            <p:nvPr/>
          </p:nvSpPr>
          <p:spPr>
            <a:xfrm>
              <a:off x="0" y="0"/>
              <a:ext cx="844714" cy="362598"/>
            </a:xfrm>
            <a:custGeom>
              <a:avLst/>
              <a:gdLst/>
              <a:ahLst/>
              <a:cxnLst/>
              <a:rect l="l" t="t" r="r" b="b"/>
              <a:pathLst>
                <a:path w="844714" h="362598">
                  <a:moveTo>
                    <a:pt x="203200" y="0"/>
                  </a:moveTo>
                  <a:lnTo>
                    <a:pt x="844714" y="0"/>
                  </a:lnTo>
                  <a:lnTo>
                    <a:pt x="641514" y="362598"/>
                  </a:lnTo>
                  <a:lnTo>
                    <a:pt x="0" y="362598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283FD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E155C529-B18D-D353-7CB1-95037D957EF1}"/>
                </a:ext>
              </a:extLst>
            </p:cNvPr>
            <p:cNvSpPr txBox="1"/>
            <p:nvPr/>
          </p:nvSpPr>
          <p:spPr>
            <a:xfrm>
              <a:off x="101600" y="-28575"/>
              <a:ext cx="641514" cy="391173"/>
            </a:xfrm>
            <a:prstGeom prst="rect">
              <a:avLst/>
            </a:prstGeom>
          </p:spPr>
          <p:txBody>
            <a:bodyPr lIns="47790" tIns="47790" rIns="47790" bIns="4779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1843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B13A4680-F734-F7A8-987F-6375A42FE83F}"/>
              </a:ext>
            </a:extLst>
          </p:cNvPr>
          <p:cNvGrpSpPr/>
          <p:nvPr/>
        </p:nvGrpSpPr>
        <p:grpSpPr>
          <a:xfrm>
            <a:off x="-73552" y="7047924"/>
            <a:ext cx="16030661" cy="3336996"/>
            <a:chOff x="0" y="0"/>
            <a:chExt cx="6165409" cy="1271237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48C75748-DDD8-E31D-2D81-A1880596A069}"/>
                </a:ext>
              </a:extLst>
            </p:cNvPr>
            <p:cNvSpPr/>
            <p:nvPr/>
          </p:nvSpPr>
          <p:spPr>
            <a:xfrm>
              <a:off x="0" y="0"/>
              <a:ext cx="6165409" cy="1271237"/>
            </a:xfrm>
            <a:custGeom>
              <a:avLst/>
              <a:gdLst/>
              <a:ahLst/>
              <a:cxnLst/>
              <a:rect l="l" t="t" r="r" b="b"/>
              <a:pathLst>
                <a:path w="6165409" h="1271237">
                  <a:moveTo>
                    <a:pt x="0" y="0"/>
                  </a:moveTo>
                  <a:lnTo>
                    <a:pt x="6165409" y="0"/>
                  </a:lnTo>
                  <a:lnTo>
                    <a:pt x="6165409" y="1271237"/>
                  </a:lnTo>
                  <a:lnTo>
                    <a:pt x="0" y="127123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552AB228-B98F-5BE3-5976-FC8FE11004A2}"/>
                </a:ext>
              </a:extLst>
            </p:cNvPr>
            <p:cNvSpPr txBox="1"/>
            <p:nvPr/>
          </p:nvSpPr>
          <p:spPr>
            <a:xfrm>
              <a:off x="0" y="-28575"/>
              <a:ext cx="6165409" cy="1299812"/>
            </a:xfrm>
            <a:prstGeom prst="rect">
              <a:avLst/>
            </a:prstGeom>
          </p:spPr>
          <p:txBody>
            <a:bodyPr lIns="47790" tIns="47790" rIns="47790" bIns="4779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1843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sp>
        <p:nvSpPr>
          <p:cNvPr id="12" name="TextBox 12">
            <a:extLst>
              <a:ext uri="{FF2B5EF4-FFF2-40B4-BE49-F238E27FC236}">
                <a16:creationId xmlns:a16="http://schemas.microsoft.com/office/drawing/2014/main" id="{7E3C3F2B-335B-B0FA-C84A-F9435D6E81C1}"/>
              </a:ext>
            </a:extLst>
          </p:cNvPr>
          <p:cNvSpPr txBox="1"/>
          <p:nvPr/>
        </p:nvSpPr>
        <p:spPr>
          <a:xfrm>
            <a:off x="1111666" y="3432993"/>
            <a:ext cx="14771892" cy="598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4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Day 5 – Block 4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8A1F49D4-9E1C-5D5A-3144-5442525EFBEE}"/>
              </a:ext>
            </a:extLst>
          </p:cNvPr>
          <p:cNvSpPr txBox="1"/>
          <p:nvPr/>
        </p:nvSpPr>
        <p:spPr>
          <a:xfrm>
            <a:off x="1111666" y="9653992"/>
            <a:ext cx="12263263" cy="3619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0" i="0" u="none" strike="noStrike" kern="1200" cap="none" spc="0" normalizeH="0" baseline="0" noProof="0">
                <a:ln>
                  <a:noFill/>
                </a:ln>
                <a:solidFill>
                  <a:srgbClr val="252525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CALIFORNIA INSTITUTE OF APPLIED TECHNOLOGY</a:t>
            </a:r>
          </a:p>
        </p:txBody>
      </p:sp>
      <p:sp>
        <p:nvSpPr>
          <p:cNvPr id="15" name="AutoShape 15">
            <a:extLst>
              <a:ext uri="{FF2B5EF4-FFF2-40B4-BE49-F238E27FC236}">
                <a16:creationId xmlns:a16="http://schemas.microsoft.com/office/drawing/2014/main" id="{A2D6C00C-158C-B922-EFCF-37FEFC3166FB}"/>
              </a:ext>
            </a:extLst>
          </p:cNvPr>
          <p:cNvSpPr/>
          <p:nvPr/>
        </p:nvSpPr>
        <p:spPr>
          <a:xfrm>
            <a:off x="8010568" y="9858838"/>
            <a:ext cx="7625672" cy="0"/>
          </a:xfrm>
          <a:prstGeom prst="line">
            <a:avLst/>
          </a:prstGeom>
          <a:ln w="19050" cap="flat">
            <a:solidFill>
              <a:srgbClr val="0283F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7" name="Freeform 5">
            <a:extLst>
              <a:ext uri="{FF2B5EF4-FFF2-40B4-BE49-F238E27FC236}">
                <a16:creationId xmlns:a16="http://schemas.microsoft.com/office/drawing/2014/main" id="{6198A7F6-10FC-B709-6F22-F13124C7F10A}"/>
              </a:ext>
            </a:extLst>
          </p:cNvPr>
          <p:cNvSpPr/>
          <p:nvPr/>
        </p:nvSpPr>
        <p:spPr>
          <a:xfrm>
            <a:off x="1111666" y="355081"/>
            <a:ext cx="4247850" cy="631936"/>
          </a:xfrm>
          <a:custGeom>
            <a:avLst/>
            <a:gdLst/>
            <a:ahLst/>
            <a:cxnLst/>
            <a:rect l="l" t="t" r="r" b="b"/>
            <a:pathLst>
              <a:path w="4247850" h="631936">
                <a:moveTo>
                  <a:pt x="0" y="0"/>
                </a:moveTo>
                <a:lnTo>
                  <a:pt x="4247850" y="0"/>
                </a:lnTo>
                <a:lnTo>
                  <a:pt x="4247850" y="631935"/>
                </a:lnTo>
                <a:lnTo>
                  <a:pt x="0" y="63193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5" r="-5"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7B82BE8-0552-5FB6-E100-F2A1C8C6679A}"/>
              </a:ext>
            </a:extLst>
          </p:cNvPr>
          <p:cNvSpPr txBox="1"/>
          <p:nvPr/>
        </p:nvSpPr>
        <p:spPr>
          <a:xfrm>
            <a:off x="1111666" y="7106062"/>
            <a:ext cx="11918534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2400" dirty="0"/>
              <a:t>Security Awareness &amp; Training</a:t>
            </a:r>
          </a:p>
          <a:p>
            <a:pPr lvl="1"/>
            <a:r>
              <a:rPr lang="en-US" altLang="en-US" dirty="0"/>
              <a:t>Training Program Development</a:t>
            </a:r>
          </a:p>
          <a:p>
            <a:pPr lvl="1"/>
            <a:r>
              <a:rPr lang="en-US" altLang="en-US" dirty="0"/>
              <a:t>Security Culture</a:t>
            </a:r>
          </a:p>
          <a:p>
            <a:pPr lvl="1"/>
            <a:r>
              <a:rPr lang="en-US" altLang="en-US" dirty="0"/>
              <a:t>Metrics</a:t>
            </a:r>
          </a:p>
        </p:txBody>
      </p:sp>
    </p:spTree>
    <p:extLst>
      <p:ext uri="{BB962C8B-B14F-4D97-AF65-F5344CB8AC3E}">
        <p14:creationId xmlns:p14="http://schemas.microsoft.com/office/powerpoint/2010/main" val="3246963550"/>
      </p:ext>
    </p:extLst>
  </p:cSld>
  <p:clrMapOvr>
    <a:masterClrMapping/>
  </p:clrMapOvr>
</p:sld>
</file>

<file path=ppt/slides/slide3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322BC0-C2C3-D5C3-693C-3D6C08EBFD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852466B-D17D-5694-AE1F-A5A3545200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Slide </a:t>
            </a:r>
            <a:fld id="{4CA2B2DB-B91D-4166-98BF-65A0DA7EEE6D}" type="slidenum">
              <a:rPr kumimoji="0" lang="en-US" sz="1800" b="0" i="1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399</a:t>
            </a:fld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4A0E72-151A-612E-182C-EF032B35AA1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2536823"/>
            <a:ext cx="16192500" cy="6340477"/>
          </a:xfrm>
        </p:spPr>
        <p:txBody>
          <a:bodyPr/>
          <a:lstStyle/>
          <a:p>
            <a:pPr marL="0" indent="0">
              <a:spcBef>
                <a:spcPts val="900"/>
              </a:spcBef>
              <a:buNone/>
            </a:pPr>
            <a:r>
              <a:rPr lang="en-US" altLang="en-US" sz="4800" b="1" dirty="0"/>
              <a:t>Phishing</a:t>
            </a:r>
            <a:r>
              <a:rPr lang="en-US" altLang="en-US" sz="4800" dirty="0"/>
              <a:t>: Social engineering attack aimed at tricking individuals into sharing sensitive data</a:t>
            </a:r>
          </a:p>
          <a:p>
            <a:pPr>
              <a:spcBef>
                <a:spcPts val="900"/>
              </a:spcBef>
            </a:pPr>
            <a:r>
              <a:rPr lang="en-US" altLang="en-US" sz="4000" dirty="0"/>
              <a:t>Often conducted via email, messaging apps, and websites</a:t>
            </a:r>
          </a:p>
          <a:p>
            <a:pPr>
              <a:spcBef>
                <a:spcPts val="900"/>
              </a:spcBef>
            </a:pPr>
            <a:r>
              <a:rPr lang="en-US" altLang="en-US" sz="4000" dirty="0"/>
              <a:t>User education and awareness are vital to keeping systems secure</a:t>
            </a:r>
          </a:p>
          <a:p>
            <a:pPr>
              <a:spcBef>
                <a:spcPts val="900"/>
              </a:spcBef>
            </a:pPr>
            <a:endParaRPr lang="en-US" alt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842D329-874A-832A-CC2C-50BA2DD7343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49234866-82FB-C7F0-DF9B-23EA67906A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400" b="0" kern="0" dirty="0">
                <a:solidFill>
                  <a:srgbClr val="0B0506"/>
                </a:solidFill>
                <a:latin typeface="Arial"/>
              </a:rPr>
              <a:t>Phishing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2535244052"/>
      </p:ext>
    </p:extLst>
  </p:cSld>
  <p:clrMapOvr>
    <a:masterClrMapping/>
  </p:clrMapOvr>
</p:sld>
</file>

<file path=ppt/slides/slide4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E9695B-00BD-B94C-6448-FB269BE243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58EE464-2E64-CE98-B690-EE18CBF056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Slide </a:t>
            </a:r>
            <a:fld id="{4CA2B2DB-B91D-4166-98BF-65A0DA7EEE6D}" type="slidenum">
              <a:rPr kumimoji="0" lang="en-US" sz="1800" b="0" i="1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400</a:t>
            </a:fld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DCF58D-E181-FDF1-5466-EDE85C789E68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2536823"/>
            <a:ext cx="16192500" cy="6340477"/>
          </a:xfrm>
        </p:spPr>
        <p:txBody>
          <a:bodyPr/>
          <a:lstStyle/>
          <a:p>
            <a:pPr>
              <a:spcBef>
                <a:spcPts val="900"/>
              </a:spcBef>
            </a:pPr>
            <a:r>
              <a:rPr lang="en-US" altLang="en-US" sz="4800" b="1" dirty="0"/>
              <a:t>Mismatched URLs</a:t>
            </a:r>
            <a:r>
              <a:rPr lang="en-US" altLang="en-US" sz="4800" dirty="0"/>
              <a:t> </a:t>
            </a:r>
          </a:p>
          <a:p>
            <a:pPr>
              <a:spcBef>
                <a:spcPts val="900"/>
              </a:spcBef>
            </a:pPr>
            <a:r>
              <a:rPr lang="en-US" altLang="en-US" sz="4800" b="1" dirty="0"/>
              <a:t>Errors in grammar and spelling</a:t>
            </a:r>
            <a:endParaRPr lang="en-US" altLang="en-US" sz="4800" dirty="0"/>
          </a:p>
          <a:p>
            <a:pPr>
              <a:spcBef>
                <a:spcPts val="900"/>
              </a:spcBef>
            </a:pPr>
            <a:r>
              <a:rPr lang="en-US" altLang="en-US" sz="4800" b="1" dirty="0"/>
              <a:t>Requests for sensitive information</a:t>
            </a:r>
            <a:r>
              <a:rPr lang="en-US" altLang="en-US" sz="4800" dirty="0"/>
              <a:t> </a:t>
            </a:r>
          </a:p>
          <a:p>
            <a:pPr>
              <a:spcBef>
                <a:spcPts val="900"/>
              </a:spcBef>
            </a:pPr>
            <a:r>
              <a:rPr lang="en-US" altLang="en-US" sz="4800" b="1" dirty="0"/>
              <a:t>Unexpected attachments</a:t>
            </a:r>
            <a:r>
              <a:rPr lang="en-US" altLang="en-US" sz="4800" dirty="0"/>
              <a:t> </a:t>
            </a:r>
          </a:p>
          <a:p>
            <a:pPr>
              <a:spcBef>
                <a:spcPts val="900"/>
              </a:spcBef>
            </a:pPr>
            <a:r>
              <a:rPr lang="en-US" altLang="en-US" sz="4800" b="1" dirty="0"/>
              <a:t>“Too good</a:t>
            </a:r>
            <a:r>
              <a:rPr lang="en-US" altLang="en-US" sz="4800" dirty="0"/>
              <a:t> </a:t>
            </a:r>
            <a:r>
              <a:rPr lang="en-US" altLang="en-US" sz="4800" b="1" dirty="0"/>
              <a:t>to be true” offers</a:t>
            </a:r>
          </a:p>
          <a:p>
            <a:pPr>
              <a:spcBef>
                <a:spcPts val="900"/>
              </a:spcBef>
            </a:pPr>
            <a:endParaRPr lang="en-US" alt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071EB49-25CC-AE0E-2E6A-942173CE40A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3998DA1D-3BE6-0A1A-EBB8-6368577CC1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400" b="0" kern="0" dirty="0">
                <a:solidFill>
                  <a:srgbClr val="0B0506"/>
                </a:solidFill>
                <a:latin typeface="Arial"/>
              </a:rPr>
              <a:t>Signs of Phishing Attempts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2292609541"/>
      </p:ext>
    </p:extLst>
  </p:cSld>
  <p:clrMapOvr>
    <a:masterClrMapping/>
  </p:clrMapOvr>
</p:sld>
</file>

<file path=ppt/slides/slide4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03301D-8A3A-31ED-2D97-81CD52154D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731B0BB-2326-AF3A-E9D8-E3E0EA4296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Slide </a:t>
            </a:r>
            <a:fld id="{4CA2B2DB-B91D-4166-98BF-65A0DA7EEE6D}" type="slidenum">
              <a:rPr kumimoji="0" lang="en-US" sz="1800" b="0" i="1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401</a:t>
            </a:fld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FCA473-93F3-ED14-6D67-32845769BF1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2536823"/>
            <a:ext cx="16192500" cy="6340477"/>
          </a:xfrm>
        </p:spPr>
        <p:txBody>
          <a:bodyPr/>
          <a:lstStyle/>
          <a:p>
            <a:pPr marL="771525" indent="-771525">
              <a:spcBef>
                <a:spcPts val="900"/>
              </a:spcBef>
              <a:buFont typeface="+mj-lt"/>
              <a:buAutoNum type="arabicPeriod"/>
            </a:pPr>
            <a:r>
              <a:rPr lang="en-US" altLang="en-US" sz="4800" b="1" dirty="0"/>
              <a:t>Isolate the threat</a:t>
            </a:r>
            <a:r>
              <a:rPr lang="en-US" altLang="en-US" sz="4800" dirty="0"/>
              <a:t> </a:t>
            </a:r>
          </a:p>
          <a:p>
            <a:pPr marL="771525" indent="-771525">
              <a:spcBef>
                <a:spcPts val="900"/>
              </a:spcBef>
              <a:buFont typeface="+mj-lt"/>
              <a:buAutoNum type="arabicPeriod"/>
            </a:pPr>
            <a:r>
              <a:rPr lang="en-US" altLang="en-US" sz="4800" b="1" dirty="0"/>
              <a:t>Analyze the content</a:t>
            </a:r>
            <a:r>
              <a:rPr lang="en-US" altLang="en-US" sz="4800" dirty="0"/>
              <a:t> </a:t>
            </a:r>
          </a:p>
          <a:p>
            <a:pPr marL="771525" indent="-771525">
              <a:spcBef>
                <a:spcPts val="900"/>
              </a:spcBef>
              <a:buFont typeface="+mj-lt"/>
              <a:buAutoNum type="arabicPeriod"/>
            </a:pPr>
            <a:r>
              <a:rPr lang="en-US" altLang="en-US" sz="4800" b="1" dirty="0"/>
              <a:t>Notify security</a:t>
            </a:r>
            <a:r>
              <a:rPr lang="en-US" altLang="en-US" sz="4800" dirty="0"/>
              <a:t> </a:t>
            </a:r>
            <a:r>
              <a:rPr lang="en-US" altLang="en-US" sz="4800" b="1" dirty="0"/>
              <a:t>team</a:t>
            </a:r>
            <a:endParaRPr lang="en-US" altLang="en-US" sz="4800" dirty="0"/>
          </a:p>
          <a:p>
            <a:pPr marL="771525" indent="-771525">
              <a:spcBef>
                <a:spcPts val="900"/>
              </a:spcBef>
              <a:buFont typeface="+mj-lt"/>
              <a:buAutoNum type="arabicPeriod"/>
            </a:pPr>
            <a:r>
              <a:rPr lang="en-US" altLang="en-US" sz="4800" b="1" dirty="0"/>
              <a:t>Make users aware</a:t>
            </a:r>
            <a:r>
              <a:rPr lang="en-US" altLang="en-US" sz="4800" dirty="0"/>
              <a:t> </a:t>
            </a:r>
          </a:p>
          <a:p>
            <a:pPr marL="771525" indent="-771525">
              <a:spcBef>
                <a:spcPts val="900"/>
              </a:spcBef>
              <a:buFont typeface="+mj-lt"/>
              <a:buAutoNum type="arabicPeriod"/>
            </a:pPr>
            <a:r>
              <a:rPr lang="en-US" altLang="en-US" sz="4800" b="1" dirty="0"/>
              <a:t>Update security measures</a:t>
            </a:r>
            <a:r>
              <a:rPr lang="en-US" altLang="en-US" sz="4800" dirty="0"/>
              <a:t> </a:t>
            </a:r>
          </a:p>
          <a:p>
            <a:pPr>
              <a:spcBef>
                <a:spcPts val="900"/>
              </a:spcBef>
            </a:pPr>
            <a:endParaRPr lang="en-US" alt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AB4CB47-D728-CA90-4259-79695D92D7F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41438AE-C7FF-0BED-8C29-76C008AE83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400" b="0" kern="0" dirty="0">
                <a:solidFill>
                  <a:srgbClr val="0B0506"/>
                </a:solidFill>
                <a:latin typeface="Arial"/>
              </a:rPr>
              <a:t>Suspicious Message Protocol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3793842789"/>
      </p:ext>
    </p:extLst>
  </p:cSld>
  <p:clrMapOvr>
    <a:masterClrMapping/>
  </p:clrMapOvr>
</p:sld>
</file>

<file path=ppt/slides/slide4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B04332-BA2C-26D1-714E-EF3883684A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1115B60-8F9E-5713-6B0F-AED799D3B9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Slide </a:t>
            </a:r>
            <a:fld id="{4CA2B2DB-B91D-4166-98BF-65A0DA7EEE6D}" type="slidenum">
              <a:rPr kumimoji="0" lang="en-US" sz="1800" b="0" i="1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402</a:t>
            </a:fld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46E70A-DA46-7BE4-1FE0-CD08B8F0A25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2536823"/>
            <a:ext cx="16192500" cy="6340477"/>
          </a:xfrm>
        </p:spPr>
        <p:txBody>
          <a:bodyPr/>
          <a:lstStyle/>
          <a:p>
            <a:pPr marL="0" indent="0">
              <a:spcBef>
                <a:spcPts val="900"/>
              </a:spcBef>
              <a:buNone/>
            </a:pPr>
            <a:r>
              <a:rPr lang="en-US" altLang="en-US" sz="4400" b="1" dirty="0"/>
              <a:t>Anomalous behavior recognition</a:t>
            </a:r>
            <a:r>
              <a:rPr lang="en-US" altLang="en-US" sz="4400" dirty="0"/>
              <a:t>: Identifies actions or patterns deviating from established norms in a network or system</a:t>
            </a:r>
          </a:p>
          <a:p>
            <a:pPr>
              <a:spcBef>
                <a:spcPts val="900"/>
              </a:spcBef>
            </a:pPr>
            <a:r>
              <a:rPr lang="en-US" altLang="en-US" sz="4000" dirty="0"/>
              <a:t>May indicate malicious threats or unintentional (but still risky) behaviors</a:t>
            </a:r>
          </a:p>
          <a:p>
            <a:pPr>
              <a:spcBef>
                <a:spcPts val="900"/>
              </a:spcBef>
            </a:pPr>
            <a:r>
              <a:rPr lang="en-US" altLang="en-US" sz="4000" dirty="0"/>
              <a:t>Crucial for preemptive threat detection</a:t>
            </a:r>
          </a:p>
          <a:p>
            <a:pPr>
              <a:spcBef>
                <a:spcPts val="900"/>
              </a:spcBef>
            </a:pPr>
            <a:endParaRPr lang="en-US" alt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C48DE7-F74B-622F-E86B-434A21CD506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31884642-36EF-FB10-594C-C1A1BCEE5D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400" b="0" kern="0" dirty="0">
                <a:solidFill>
                  <a:srgbClr val="0B0506"/>
                </a:solidFill>
                <a:latin typeface="Arial"/>
              </a:rPr>
              <a:t>Anomalous Behavior Recognition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1884280626"/>
      </p:ext>
    </p:extLst>
  </p:cSld>
  <p:clrMapOvr>
    <a:masterClrMapping/>
  </p:clrMapOvr>
</p:sld>
</file>

<file path=ppt/slides/slide4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EC8AEA-776C-50C0-8B87-A7AD9C72CA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7F0E02D-DEC0-B326-56ED-E504338611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Slide </a:t>
            </a:r>
            <a:fld id="{4CA2B2DB-B91D-4166-98BF-65A0DA7EEE6D}" type="slidenum">
              <a:rPr kumimoji="0" lang="en-US" sz="1800" b="0" i="1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403</a:t>
            </a:fld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7FB50F-65F0-50AE-0F51-D26129D2C366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2536823"/>
            <a:ext cx="16192500" cy="6340477"/>
          </a:xfrm>
        </p:spPr>
        <p:txBody>
          <a:bodyPr/>
          <a:lstStyle/>
          <a:p>
            <a:pPr>
              <a:spcBef>
                <a:spcPts val="900"/>
              </a:spcBef>
            </a:pPr>
            <a:r>
              <a:rPr lang="en-US" altLang="en-US" sz="3900" b="1" dirty="0"/>
              <a:t>Unexpected behaviors</a:t>
            </a:r>
            <a:r>
              <a:rPr lang="en-US" altLang="en-US" sz="3900" dirty="0"/>
              <a:t>: Deviations from established norms or baseline behaviors </a:t>
            </a:r>
          </a:p>
          <a:p>
            <a:pPr lvl="1">
              <a:spcBef>
                <a:spcPts val="900"/>
              </a:spcBef>
            </a:pPr>
            <a:r>
              <a:rPr lang="en-US" altLang="en-US" sz="3300" dirty="0"/>
              <a:t>Unusual login times</a:t>
            </a:r>
          </a:p>
          <a:p>
            <a:pPr lvl="1">
              <a:spcBef>
                <a:spcPts val="900"/>
              </a:spcBef>
            </a:pPr>
            <a:r>
              <a:rPr lang="en-US" altLang="en-US" sz="3300" dirty="0"/>
              <a:t>High data transfer rates</a:t>
            </a:r>
          </a:p>
          <a:p>
            <a:pPr lvl="1">
              <a:spcBef>
                <a:spcPts val="900"/>
              </a:spcBef>
            </a:pPr>
            <a:r>
              <a:rPr lang="en-US" altLang="en-US" sz="3300" dirty="0"/>
              <a:t>Multiple failed login attempts</a:t>
            </a:r>
          </a:p>
          <a:p>
            <a:pPr lvl="1">
              <a:spcBef>
                <a:spcPts val="900"/>
              </a:spcBef>
            </a:pPr>
            <a:endParaRPr lang="en-US" altLang="en-US" sz="600" dirty="0"/>
          </a:p>
          <a:p>
            <a:pPr>
              <a:spcBef>
                <a:spcPts val="900"/>
              </a:spcBef>
            </a:pPr>
            <a:r>
              <a:rPr lang="en-US" altLang="en-US" sz="3900" b="1" dirty="0"/>
              <a:t>Risky behaviors</a:t>
            </a:r>
            <a:r>
              <a:rPr lang="en-US" altLang="en-US" sz="3900" dirty="0"/>
              <a:t>: Actions that expose an organization to vulnerabilities or threats; may be deliberate or have malicious intent</a:t>
            </a:r>
          </a:p>
          <a:p>
            <a:pPr>
              <a:spcBef>
                <a:spcPts val="900"/>
              </a:spcBef>
            </a:pPr>
            <a:endParaRPr lang="en-US" altLang="en-US" sz="600" dirty="0"/>
          </a:p>
          <a:p>
            <a:pPr>
              <a:spcBef>
                <a:spcPts val="900"/>
              </a:spcBef>
            </a:pPr>
            <a:r>
              <a:rPr lang="en-US" altLang="en-US" sz="3900" b="1" dirty="0"/>
              <a:t>Unintentional behaviors</a:t>
            </a:r>
            <a:r>
              <a:rPr lang="en-US" altLang="en-US" sz="3900" dirty="0"/>
              <a:t>: Actions that inadvertently jeopardize cybersecurity; usually involve lack of awareness  </a:t>
            </a:r>
          </a:p>
          <a:p>
            <a:pPr>
              <a:spcBef>
                <a:spcPts val="900"/>
              </a:spcBef>
            </a:pPr>
            <a:endParaRPr lang="en-US" alt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DC107ED-3A59-809A-8239-8A5CD73C03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411DC4CB-B021-48A7-BCB7-2906D1A7B7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400" b="0" kern="0" dirty="0">
                <a:solidFill>
                  <a:srgbClr val="0B0506"/>
                </a:solidFill>
                <a:latin typeface="Arial"/>
              </a:rPr>
              <a:t>Anomalous Behaviors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1104016198"/>
      </p:ext>
    </p:extLst>
  </p:cSld>
  <p:clrMapOvr>
    <a:masterClrMapping/>
  </p:clrMapOvr>
</p:sld>
</file>

<file path=ppt/slides/slide4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27573F-0E9E-A90D-9B7E-328B35E4FD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2DF7F82-1FA7-F3C8-E7C1-7F94C2EA9E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Slide </a:t>
            </a:r>
            <a:fld id="{4CA2B2DB-B91D-4166-98BF-65A0DA7EEE6D}" type="slidenum">
              <a:rPr kumimoji="0" lang="en-US" sz="1800" b="0" i="1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404</a:t>
            </a:fld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7DA615-C54D-C605-6800-80B9B77AB0AB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2536823"/>
            <a:ext cx="16192500" cy="6340477"/>
          </a:xfrm>
        </p:spPr>
        <p:txBody>
          <a:bodyPr/>
          <a:lstStyle/>
          <a:p>
            <a:pPr marL="0" indent="0">
              <a:spcBef>
                <a:spcPts val="900"/>
              </a:spcBef>
              <a:buNone/>
            </a:pPr>
            <a:r>
              <a:rPr lang="en-US" altLang="en-US" b="1" dirty="0"/>
              <a:t>User guidance</a:t>
            </a:r>
            <a:r>
              <a:rPr lang="en-US" altLang="en-US" dirty="0"/>
              <a:t>: Empowers employees with security knowledge and training to help protect the organization  </a:t>
            </a:r>
          </a:p>
          <a:p>
            <a:pPr>
              <a:spcBef>
                <a:spcPts val="900"/>
              </a:spcBef>
            </a:pPr>
            <a:r>
              <a:rPr lang="en-US" altLang="en-US" sz="2800" b="1" dirty="0"/>
              <a:t>Policy documents</a:t>
            </a:r>
            <a:r>
              <a:rPr lang="en-US" altLang="en-US" sz="2800" dirty="0"/>
              <a:t> </a:t>
            </a:r>
          </a:p>
          <a:p>
            <a:pPr lvl="2">
              <a:spcBef>
                <a:spcPts val="900"/>
              </a:spcBef>
            </a:pPr>
            <a:r>
              <a:rPr lang="en-US" altLang="en-US" sz="2800" dirty="0"/>
              <a:t>Acceptable use policy</a:t>
            </a:r>
          </a:p>
          <a:p>
            <a:pPr lvl="2">
              <a:spcBef>
                <a:spcPts val="900"/>
              </a:spcBef>
            </a:pPr>
            <a:r>
              <a:rPr lang="en-US" altLang="en-US" sz="2800" dirty="0"/>
              <a:t>Information security policy</a:t>
            </a:r>
          </a:p>
          <a:p>
            <a:pPr lvl="2">
              <a:spcBef>
                <a:spcPts val="900"/>
              </a:spcBef>
            </a:pPr>
            <a:r>
              <a:rPr lang="en-US" altLang="en-US" sz="2800" dirty="0"/>
              <a:t>Remote/hybrid work policies</a:t>
            </a:r>
          </a:p>
          <a:p>
            <a:pPr lvl="2">
              <a:spcBef>
                <a:spcPts val="900"/>
              </a:spcBef>
            </a:pPr>
            <a:r>
              <a:rPr lang="en-US" altLang="en-US" sz="2800" dirty="0"/>
              <a:t>Incident response handbook</a:t>
            </a:r>
          </a:p>
          <a:p>
            <a:pPr>
              <a:spcBef>
                <a:spcPts val="900"/>
              </a:spcBef>
            </a:pPr>
            <a:r>
              <a:rPr lang="en-US" altLang="en-US" sz="2800" b="1" dirty="0"/>
              <a:t>Training</a:t>
            </a:r>
          </a:p>
          <a:p>
            <a:pPr lvl="2">
              <a:spcBef>
                <a:spcPts val="900"/>
              </a:spcBef>
            </a:pPr>
            <a:r>
              <a:rPr lang="en-US" altLang="en-US" sz="2800" dirty="0"/>
              <a:t>Password management</a:t>
            </a:r>
          </a:p>
          <a:p>
            <a:pPr lvl="2">
              <a:spcBef>
                <a:spcPts val="900"/>
              </a:spcBef>
            </a:pPr>
            <a:r>
              <a:rPr lang="en-US" altLang="en-US" sz="2800" dirty="0"/>
              <a:t>Social engineering</a:t>
            </a:r>
          </a:p>
          <a:p>
            <a:pPr lvl="2">
              <a:spcBef>
                <a:spcPts val="900"/>
              </a:spcBef>
            </a:pPr>
            <a:r>
              <a:rPr lang="en-US" altLang="en-US" sz="2800" dirty="0"/>
              <a:t>Insider threats  </a:t>
            </a:r>
          </a:p>
          <a:p>
            <a:pPr lvl="2">
              <a:spcBef>
                <a:spcPts val="900"/>
              </a:spcBef>
            </a:pPr>
            <a:r>
              <a:rPr lang="en-US" altLang="en-US" sz="2800" dirty="0"/>
              <a:t>Operational security</a:t>
            </a:r>
          </a:p>
          <a:p>
            <a:pPr>
              <a:spcBef>
                <a:spcPts val="900"/>
              </a:spcBef>
            </a:pPr>
            <a:endParaRPr lang="en-US" alt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9F7B2D0-7DCF-5BFD-7EAB-92C7E992064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2644D1E-FDEB-E8A2-BA26-97836250A3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400" b="0" kern="0" dirty="0">
                <a:solidFill>
                  <a:srgbClr val="0B0506"/>
                </a:solidFill>
                <a:latin typeface="Arial"/>
              </a:rPr>
              <a:t>User Guidance and Training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1401636216"/>
      </p:ext>
    </p:extLst>
  </p:cSld>
  <p:clrMapOvr>
    <a:masterClrMapping/>
  </p:clrMapOvr>
</p:sld>
</file>

<file path=ppt/slides/slide4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A9CDBE-BF11-70B6-6109-357836524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84D5656-36E2-BD18-4929-41E89B6BEB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Slide </a:t>
            </a:r>
            <a:fld id="{4CA2B2DB-B91D-4166-98BF-65A0DA7EEE6D}" type="slidenum">
              <a:rPr kumimoji="0" lang="en-US" sz="1800" b="0" i="1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405</a:t>
            </a:fld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067710-D8AB-E664-9C28-B85E0D1F955D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2536823"/>
            <a:ext cx="16192500" cy="6340477"/>
          </a:xfrm>
        </p:spPr>
        <p:txBody>
          <a:bodyPr/>
          <a:lstStyle/>
          <a:p>
            <a:pPr marL="0" indent="0">
              <a:spcBef>
                <a:spcPts val="900"/>
              </a:spcBef>
              <a:buNone/>
            </a:pPr>
            <a:r>
              <a:rPr lang="en-US" altLang="en-US" sz="3600" b="1" dirty="0"/>
              <a:t>Reporting and monitoring</a:t>
            </a:r>
            <a:r>
              <a:rPr lang="en-US" altLang="en-US" sz="3600" dirty="0"/>
              <a:t> are both </a:t>
            </a:r>
            <a:r>
              <a:rPr lang="en-US" altLang="en-US" sz="3600" i="1" dirty="0"/>
              <a:t>initial</a:t>
            </a:r>
            <a:r>
              <a:rPr lang="en-US" altLang="en-US" sz="3600" b="1" dirty="0"/>
              <a:t> </a:t>
            </a:r>
            <a:r>
              <a:rPr lang="en-US" altLang="en-US" sz="3600" dirty="0"/>
              <a:t>and</a:t>
            </a:r>
            <a:r>
              <a:rPr lang="en-US" altLang="en-US" sz="3600" b="1" dirty="0"/>
              <a:t> </a:t>
            </a:r>
            <a:r>
              <a:rPr lang="en-US" altLang="en-US" sz="3600" i="1" dirty="0"/>
              <a:t>recurring</a:t>
            </a:r>
            <a:r>
              <a:rPr lang="en-US" altLang="en-US" sz="3600" b="1" dirty="0"/>
              <a:t>. </a:t>
            </a:r>
          </a:p>
          <a:p>
            <a:pPr>
              <a:spcBef>
                <a:spcPts val="900"/>
              </a:spcBef>
            </a:pPr>
            <a:r>
              <a:rPr lang="en-US" altLang="en-US" b="1" dirty="0"/>
              <a:t>Initial reporting</a:t>
            </a:r>
            <a:r>
              <a:rPr lang="en-US" altLang="en-US" dirty="0"/>
              <a:t>: Documenting and communicating details of security incidents or vulnerabilities as the first response</a:t>
            </a:r>
          </a:p>
          <a:p>
            <a:pPr>
              <a:spcBef>
                <a:spcPts val="900"/>
              </a:spcBef>
            </a:pPr>
            <a:endParaRPr lang="en-US" altLang="en-US" sz="500" dirty="0"/>
          </a:p>
          <a:p>
            <a:pPr>
              <a:spcBef>
                <a:spcPts val="900"/>
              </a:spcBef>
            </a:pPr>
            <a:r>
              <a:rPr lang="en-US" altLang="en-US" b="1" dirty="0"/>
              <a:t>Initial monitoring</a:t>
            </a:r>
            <a:r>
              <a:rPr lang="en-US" altLang="en-US" dirty="0"/>
              <a:t>: Working to contain a threat with help of real-time log data  </a:t>
            </a:r>
          </a:p>
          <a:p>
            <a:pPr>
              <a:spcBef>
                <a:spcPts val="900"/>
              </a:spcBef>
            </a:pPr>
            <a:endParaRPr lang="en-US" altLang="en-US" sz="500" dirty="0"/>
          </a:p>
          <a:p>
            <a:pPr>
              <a:spcBef>
                <a:spcPts val="900"/>
              </a:spcBef>
            </a:pPr>
            <a:r>
              <a:rPr lang="en-US" altLang="en-US" b="1" dirty="0"/>
              <a:t>Recurring reporting</a:t>
            </a:r>
            <a:r>
              <a:rPr lang="en-US" altLang="en-US" dirty="0"/>
              <a:t>: Periodically reviewing and auditing to assess security measures</a:t>
            </a:r>
          </a:p>
          <a:p>
            <a:pPr>
              <a:spcBef>
                <a:spcPts val="900"/>
              </a:spcBef>
            </a:pPr>
            <a:endParaRPr lang="en-US" altLang="en-US" sz="500" dirty="0"/>
          </a:p>
          <a:p>
            <a:pPr>
              <a:spcBef>
                <a:spcPts val="900"/>
              </a:spcBef>
            </a:pPr>
            <a:r>
              <a:rPr lang="en-US" altLang="en-US" b="1" dirty="0"/>
              <a:t>Recurring monitoring</a:t>
            </a:r>
            <a:r>
              <a:rPr lang="en-US" altLang="en-US" dirty="0"/>
              <a:t>: Continuously scanning networks and systems for new vulnerabilities and threats  </a:t>
            </a:r>
          </a:p>
          <a:p>
            <a:pPr>
              <a:spcBef>
                <a:spcPts val="900"/>
              </a:spcBef>
            </a:pPr>
            <a:endParaRPr lang="en-US" alt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658881D-F456-D657-6209-00F41FE0DA4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A240088-8D0C-D6A0-E605-1F9F390D2F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400" b="0" kern="0" dirty="0">
                <a:solidFill>
                  <a:srgbClr val="0B0506"/>
                </a:solidFill>
                <a:latin typeface="Arial"/>
              </a:rPr>
              <a:t>Reporting and Monitoring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3325097224"/>
      </p:ext>
    </p:extLst>
  </p:cSld>
  <p:clrMapOvr>
    <a:masterClrMapping/>
  </p:clrMapOvr>
</p:sld>
</file>

<file path=ppt/slides/slide4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61E687-2FC6-E4D6-182B-501CDDFF5F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9B0AA89-8807-B0F6-41F4-86BDEC9B9A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Slide </a:t>
            </a:r>
            <a:fld id="{4CA2B2DB-B91D-4166-98BF-65A0DA7EEE6D}" type="slidenum">
              <a:rPr kumimoji="0" lang="en-US" sz="1800" b="0" i="1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406</a:t>
            </a:fld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F624A5-2B78-73A9-B2B4-14D63570EEC0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2536823"/>
            <a:ext cx="16192500" cy="6340477"/>
          </a:xfrm>
        </p:spPr>
        <p:txBody>
          <a:bodyPr/>
          <a:lstStyle/>
          <a:p>
            <a:pPr marL="0" indent="0">
              <a:spcBef>
                <a:spcPts val="900"/>
              </a:spcBef>
              <a:buNone/>
            </a:pPr>
            <a:r>
              <a:rPr lang="en-US" altLang="en-US" sz="3900" b="1" dirty="0"/>
              <a:t>Development phase</a:t>
            </a:r>
            <a:r>
              <a:rPr lang="en-US" altLang="en-US" sz="3900" dirty="0"/>
              <a:t>: Lay the groundwork for a security awareness program by defining its objectives, scope, and measurable goals.</a:t>
            </a:r>
          </a:p>
          <a:p>
            <a:pPr>
              <a:spcBef>
                <a:spcPts val="900"/>
              </a:spcBef>
            </a:pPr>
            <a:r>
              <a:rPr lang="en-US" altLang="en-US" sz="3600" dirty="0"/>
              <a:t>Create a detailed project plan outlining a timeline, resources, and budget.</a:t>
            </a:r>
          </a:p>
          <a:p>
            <a:pPr>
              <a:spcBef>
                <a:spcPts val="900"/>
              </a:spcBef>
            </a:pPr>
            <a:r>
              <a:rPr lang="en-US" altLang="en-US" sz="3600" dirty="0"/>
              <a:t>Identify key stakeholders and define their roles </a:t>
            </a:r>
          </a:p>
          <a:p>
            <a:pPr>
              <a:spcBef>
                <a:spcPts val="900"/>
              </a:spcBef>
            </a:pPr>
            <a:r>
              <a:rPr lang="en-US" altLang="en-US" sz="3600" dirty="0"/>
              <a:t>Create training materials and assessments. </a:t>
            </a:r>
          </a:p>
          <a:p>
            <a:pPr>
              <a:spcBef>
                <a:spcPts val="900"/>
              </a:spcBef>
            </a:pPr>
            <a:endParaRPr lang="en-US" alt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1EC73F2-AAA1-F5C5-091A-4F702560AAC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36C57013-FC10-88E2-2D14-5545D80A8E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400" b="0" kern="0" dirty="0">
                <a:solidFill>
                  <a:srgbClr val="0B0506"/>
                </a:solidFill>
                <a:latin typeface="Arial"/>
              </a:rPr>
              <a:t>Development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1184167400"/>
      </p:ext>
    </p:extLst>
  </p:cSld>
  <p:clrMapOvr>
    <a:masterClrMapping/>
  </p:clrMapOvr>
</p:sld>
</file>

<file path=ppt/slides/slide4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00D73B-DBC0-1ABE-F002-BFB259BF10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1111C4C-AF37-5DE9-2465-2A9C1035D5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Slide </a:t>
            </a:r>
            <a:fld id="{4CA2B2DB-B91D-4166-98BF-65A0DA7EEE6D}" type="slidenum">
              <a:rPr kumimoji="0" lang="en-US" sz="1800" b="0" i="1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407</a:t>
            </a:fld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6E3FBA-F66D-B253-FF89-A0D40BE9912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2536823"/>
            <a:ext cx="16192500" cy="6340477"/>
          </a:xfrm>
        </p:spPr>
        <p:txBody>
          <a:bodyPr/>
          <a:lstStyle/>
          <a:p>
            <a:pPr marL="0" indent="0">
              <a:spcBef>
                <a:spcPts val="900"/>
              </a:spcBef>
              <a:buNone/>
            </a:pPr>
            <a:r>
              <a:rPr lang="en-US" altLang="en-US" sz="4400" b="1" dirty="0"/>
              <a:t>Execution phase</a:t>
            </a:r>
            <a:r>
              <a:rPr lang="en-US" altLang="en-US" sz="4400" dirty="0"/>
              <a:t>: Put the security awareness program into action.</a:t>
            </a:r>
          </a:p>
          <a:p>
            <a:pPr>
              <a:spcBef>
                <a:spcPts val="900"/>
              </a:spcBef>
            </a:pPr>
            <a:r>
              <a:rPr lang="en-US" altLang="en-US" sz="4000" dirty="0"/>
              <a:t>Use real-time monitoring to ensure the program is effective.</a:t>
            </a:r>
          </a:p>
          <a:p>
            <a:pPr>
              <a:spcBef>
                <a:spcPts val="900"/>
              </a:spcBef>
            </a:pPr>
            <a:r>
              <a:rPr lang="en-US" altLang="en-US" sz="4000" dirty="0"/>
              <a:t>Make program adjustments as needed.</a:t>
            </a:r>
          </a:p>
          <a:p>
            <a:pPr>
              <a:spcBef>
                <a:spcPts val="900"/>
              </a:spcBef>
            </a:pPr>
            <a:r>
              <a:rPr lang="en-US" altLang="en-US" sz="4000" dirty="0"/>
              <a:t>Periodically review the program to keep it relevant and effective.</a:t>
            </a:r>
          </a:p>
          <a:p>
            <a:pPr>
              <a:spcBef>
                <a:spcPts val="900"/>
              </a:spcBef>
            </a:pPr>
            <a:endParaRPr lang="en-US" alt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F51C4FE-CC39-4036-88ED-79E7F4031DA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16B4FBA7-2B38-DE07-11E3-FF2C393807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400" b="0" kern="0" dirty="0">
                <a:solidFill>
                  <a:srgbClr val="0B0506"/>
                </a:solidFill>
                <a:latin typeface="Arial"/>
              </a:rPr>
              <a:t>Execution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4018098534"/>
      </p:ext>
    </p:extLst>
  </p:cSld>
  <p:clrMapOvr>
    <a:masterClrMapping/>
  </p:clrMapOvr>
</p:sld>
</file>

<file path=ppt/slides/slide4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AE08EF-2C90-8EC7-834F-3608A41EA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B713F9D-5BA5-6FA2-EAD1-72B4A27AB4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Slide </a:t>
            </a:r>
            <a:fld id="{4CA2B2DB-B91D-4166-98BF-65A0DA7EEE6D}" type="slidenum">
              <a:rPr kumimoji="0" lang="en-US" sz="1800" b="0" i="1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408</a:t>
            </a:fld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91B0529-DB2C-DFF4-D2E5-53865805FFA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11999A96-2A43-8C52-F8DF-40F5306470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400" b="0" kern="0" dirty="0">
                <a:solidFill>
                  <a:srgbClr val="0B0506"/>
                </a:solidFill>
                <a:latin typeface="Arial"/>
              </a:rPr>
              <a:t>Lunch</a:t>
            </a:r>
            <a:endParaRPr lang="en-US" i="1" dirty="0"/>
          </a:p>
        </p:txBody>
      </p:sp>
      <p:pic>
        <p:nvPicPr>
          <p:cNvPr id="3" name="Picture 6" descr="Types of IT Risk Management Frameworks">
            <a:extLst>
              <a:ext uri="{FF2B5EF4-FFF2-40B4-BE49-F238E27FC236}">
                <a16:creationId xmlns:a16="http://schemas.microsoft.com/office/drawing/2014/main" id="{37BB2F4E-93F7-6D30-4D14-92DB9915B3BE}"/>
              </a:ext>
            </a:extLst>
          </p:cNvPr>
          <p:cNvPicPr>
            <a:picLocks noGrp="1" noChangeAspect="1" noChangeArrowheads="1"/>
          </p:cNvPicPr>
          <p:nvPr>
            <p:ph sz="quarter" idx="1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11559" y="2120064"/>
            <a:ext cx="12264882" cy="6046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59195709"/>
      </p:ext>
    </p:extLst>
  </p:cSld>
  <p:clrMapOvr>
    <a:masterClrMapping/>
  </p:clrMapOvr>
</p:sld>
</file>

<file path=ppt/slides/slide40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15194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F108561-961B-F31E-D8C0-EC89F990B8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DABDE794-07BA-3D65-76D7-E12319F75BA7}"/>
              </a:ext>
            </a:extLst>
          </p:cNvPr>
          <p:cNvGrpSpPr/>
          <p:nvPr/>
        </p:nvGrpSpPr>
        <p:grpSpPr>
          <a:xfrm rot="-5400000">
            <a:off x="12015831" y="4014831"/>
            <a:ext cx="10287000" cy="2257339"/>
            <a:chOff x="0" y="0"/>
            <a:chExt cx="2709333" cy="59452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05436FD9-CBB0-FCA5-C4E3-34AB20B52A6F}"/>
                </a:ext>
              </a:extLst>
            </p:cNvPr>
            <p:cNvSpPr/>
            <p:nvPr/>
          </p:nvSpPr>
          <p:spPr>
            <a:xfrm>
              <a:off x="0" y="0"/>
              <a:ext cx="2709333" cy="594525"/>
            </a:xfrm>
            <a:custGeom>
              <a:avLst/>
              <a:gdLst/>
              <a:ahLst/>
              <a:cxnLst/>
              <a:rect l="l" t="t" r="r" b="b"/>
              <a:pathLst>
                <a:path w="2709333" h="594525">
                  <a:moveTo>
                    <a:pt x="0" y="0"/>
                  </a:moveTo>
                  <a:lnTo>
                    <a:pt x="2709333" y="0"/>
                  </a:lnTo>
                  <a:lnTo>
                    <a:pt x="2709333" y="594525"/>
                  </a:lnTo>
                  <a:lnTo>
                    <a:pt x="0" y="594525"/>
                  </a:lnTo>
                  <a:close/>
                </a:path>
              </a:pathLst>
            </a:custGeom>
            <a:solidFill>
              <a:srgbClr val="0283FD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FAEB2CF9-0280-86B8-1193-08774098A580}"/>
                </a:ext>
              </a:extLst>
            </p:cNvPr>
            <p:cNvSpPr txBox="1"/>
            <p:nvPr/>
          </p:nvSpPr>
          <p:spPr>
            <a:xfrm>
              <a:off x="0" y="-66675"/>
              <a:ext cx="2709333" cy="6612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3024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1699E3F7-B24A-4044-42A3-F1A7E93E5815}"/>
              </a:ext>
            </a:extLst>
          </p:cNvPr>
          <p:cNvGrpSpPr/>
          <p:nvPr/>
        </p:nvGrpSpPr>
        <p:grpSpPr>
          <a:xfrm>
            <a:off x="179467" y="6643814"/>
            <a:ext cx="8126333" cy="3488267"/>
            <a:chOff x="0" y="0"/>
            <a:chExt cx="844714" cy="36259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55A87D8D-7CB0-73BA-1804-E64190FE0068}"/>
                </a:ext>
              </a:extLst>
            </p:cNvPr>
            <p:cNvSpPr/>
            <p:nvPr/>
          </p:nvSpPr>
          <p:spPr>
            <a:xfrm>
              <a:off x="0" y="0"/>
              <a:ext cx="844714" cy="362598"/>
            </a:xfrm>
            <a:custGeom>
              <a:avLst/>
              <a:gdLst/>
              <a:ahLst/>
              <a:cxnLst/>
              <a:rect l="l" t="t" r="r" b="b"/>
              <a:pathLst>
                <a:path w="844714" h="362598">
                  <a:moveTo>
                    <a:pt x="203200" y="0"/>
                  </a:moveTo>
                  <a:lnTo>
                    <a:pt x="844714" y="0"/>
                  </a:lnTo>
                  <a:lnTo>
                    <a:pt x="641514" y="362598"/>
                  </a:lnTo>
                  <a:lnTo>
                    <a:pt x="0" y="362598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283FD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3A4DF400-8DB0-4A59-D10F-C2CCC4CEE78C}"/>
                </a:ext>
              </a:extLst>
            </p:cNvPr>
            <p:cNvSpPr txBox="1"/>
            <p:nvPr/>
          </p:nvSpPr>
          <p:spPr>
            <a:xfrm>
              <a:off x="101600" y="-28575"/>
              <a:ext cx="641514" cy="391173"/>
            </a:xfrm>
            <a:prstGeom prst="rect">
              <a:avLst/>
            </a:prstGeom>
          </p:spPr>
          <p:txBody>
            <a:bodyPr lIns="47790" tIns="47790" rIns="47790" bIns="4779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1843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93B0BCFD-85A3-C01D-9EE1-9ED2BCB5B941}"/>
              </a:ext>
            </a:extLst>
          </p:cNvPr>
          <p:cNvGrpSpPr/>
          <p:nvPr/>
        </p:nvGrpSpPr>
        <p:grpSpPr>
          <a:xfrm>
            <a:off x="-73552" y="7047924"/>
            <a:ext cx="16030661" cy="3336996"/>
            <a:chOff x="0" y="0"/>
            <a:chExt cx="6165409" cy="1271237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01885DC5-65B0-2F8D-6CC8-BCE5395B1F76}"/>
                </a:ext>
              </a:extLst>
            </p:cNvPr>
            <p:cNvSpPr/>
            <p:nvPr/>
          </p:nvSpPr>
          <p:spPr>
            <a:xfrm>
              <a:off x="0" y="0"/>
              <a:ext cx="6165409" cy="1271237"/>
            </a:xfrm>
            <a:custGeom>
              <a:avLst/>
              <a:gdLst/>
              <a:ahLst/>
              <a:cxnLst/>
              <a:rect l="l" t="t" r="r" b="b"/>
              <a:pathLst>
                <a:path w="6165409" h="1271237">
                  <a:moveTo>
                    <a:pt x="0" y="0"/>
                  </a:moveTo>
                  <a:lnTo>
                    <a:pt x="6165409" y="0"/>
                  </a:lnTo>
                  <a:lnTo>
                    <a:pt x="6165409" y="1271237"/>
                  </a:lnTo>
                  <a:lnTo>
                    <a:pt x="0" y="127123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B94F83F5-35AD-7B64-F5F1-631E208CACC1}"/>
                </a:ext>
              </a:extLst>
            </p:cNvPr>
            <p:cNvSpPr txBox="1"/>
            <p:nvPr/>
          </p:nvSpPr>
          <p:spPr>
            <a:xfrm>
              <a:off x="0" y="-28575"/>
              <a:ext cx="6165409" cy="1299812"/>
            </a:xfrm>
            <a:prstGeom prst="rect">
              <a:avLst/>
            </a:prstGeom>
          </p:spPr>
          <p:txBody>
            <a:bodyPr lIns="47790" tIns="47790" rIns="47790" bIns="4779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1843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sp>
        <p:nvSpPr>
          <p:cNvPr id="12" name="TextBox 12">
            <a:extLst>
              <a:ext uri="{FF2B5EF4-FFF2-40B4-BE49-F238E27FC236}">
                <a16:creationId xmlns:a16="http://schemas.microsoft.com/office/drawing/2014/main" id="{C11BB28C-D647-D0BE-CAF2-6A2F3CD8EFB7}"/>
              </a:ext>
            </a:extLst>
          </p:cNvPr>
          <p:cNvSpPr txBox="1"/>
          <p:nvPr/>
        </p:nvSpPr>
        <p:spPr>
          <a:xfrm>
            <a:off x="1111666" y="3432993"/>
            <a:ext cx="14771892" cy="598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4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Day 5 – Block 5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A8E666C2-3CD7-5984-8BB4-B8934271C25B}"/>
              </a:ext>
            </a:extLst>
          </p:cNvPr>
          <p:cNvSpPr txBox="1"/>
          <p:nvPr/>
        </p:nvSpPr>
        <p:spPr>
          <a:xfrm>
            <a:off x="1111666" y="9653992"/>
            <a:ext cx="12263263" cy="3619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0" i="0" u="none" strike="noStrike" kern="1200" cap="none" spc="0" normalizeH="0" baseline="0" noProof="0">
                <a:ln>
                  <a:noFill/>
                </a:ln>
                <a:solidFill>
                  <a:srgbClr val="252525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CALIFORNIA INSTITUTE OF APPLIED TECHNOLOGY</a:t>
            </a:r>
          </a:p>
        </p:txBody>
      </p:sp>
      <p:sp>
        <p:nvSpPr>
          <p:cNvPr id="15" name="AutoShape 15">
            <a:extLst>
              <a:ext uri="{FF2B5EF4-FFF2-40B4-BE49-F238E27FC236}">
                <a16:creationId xmlns:a16="http://schemas.microsoft.com/office/drawing/2014/main" id="{5AB3DA78-F836-814A-FE55-0ED9943598E6}"/>
              </a:ext>
            </a:extLst>
          </p:cNvPr>
          <p:cNvSpPr/>
          <p:nvPr/>
        </p:nvSpPr>
        <p:spPr>
          <a:xfrm>
            <a:off x="8010568" y="9858838"/>
            <a:ext cx="7625672" cy="0"/>
          </a:xfrm>
          <a:prstGeom prst="line">
            <a:avLst/>
          </a:prstGeom>
          <a:ln w="19050" cap="flat">
            <a:solidFill>
              <a:srgbClr val="0283F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7" name="Freeform 5">
            <a:extLst>
              <a:ext uri="{FF2B5EF4-FFF2-40B4-BE49-F238E27FC236}">
                <a16:creationId xmlns:a16="http://schemas.microsoft.com/office/drawing/2014/main" id="{F52581F3-7140-CDE6-4D63-9D2F0564E834}"/>
              </a:ext>
            </a:extLst>
          </p:cNvPr>
          <p:cNvSpPr/>
          <p:nvPr/>
        </p:nvSpPr>
        <p:spPr>
          <a:xfrm>
            <a:off x="1111666" y="355081"/>
            <a:ext cx="4247850" cy="631936"/>
          </a:xfrm>
          <a:custGeom>
            <a:avLst/>
            <a:gdLst/>
            <a:ahLst/>
            <a:cxnLst/>
            <a:rect l="l" t="t" r="r" b="b"/>
            <a:pathLst>
              <a:path w="4247850" h="631936">
                <a:moveTo>
                  <a:pt x="0" y="0"/>
                </a:moveTo>
                <a:lnTo>
                  <a:pt x="4247850" y="0"/>
                </a:lnTo>
                <a:lnTo>
                  <a:pt x="4247850" y="631935"/>
                </a:lnTo>
                <a:lnTo>
                  <a:pt x="0" y="63193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5" r="-5"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732411A-0503-0D1E-E03A-546B8E028046}"/>
              </a:ext>
            </a:extLst>
          </p:cNvPr>
          <p:cNvSpPr txBox="1"/>
          <p:nvPr/>
        </p:nvSpPr>
        <p:spPr>
          <a:xfrm>
            <a:off x="1111666" y="7106062"/>
            <a:ext cx="1191853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2400" dirty="0"/>
              <a:t>Comprehensive Domain Review</a:t>
            </a:r>
          </a:p>
          <a:p>
            <a:pPr lvl="1"/>
            <a:r>
              <a:rPr lang="en-US" altLang="en-US" dirty="0"/>
              <a:t>Cross-Domain Integration</a:t>
            </a:r>
          </a:p>
          <a:p>
            <a:pPr lvl="1"/>
            <a:r>
              <a:rPr lang="en-US" altLang="en-US" dirty="0"/>
              <a:t>Weak Area Reinforcement</a:t>
            </a:r>
          </a:p>
        </p:txBody>
      </p:sp>
    </p:spTree>
    <p:extLst>
      <p:ext uri="{BB962C8B-B14F-4D97-AF65-F5344CB8AC3E}">
        <p14:creationId xmlns:p14="http://schemas.microsoft.com/office/powerpoint/2010/main" val="2081861580"/>
      </p:ext>
    </p:extLst>
  </p:cSld>
  <p:clrMapOvr>
    <a:masterClrMapping/>
  </p:clrMapOvr>
</p:sld>
</file>

<file path=ppt/slides/slide4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15194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A536FDD-9C94-C7A4-DFA2-68B4EC5EFA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A79F2497-C3AB-5CC9-E63B-8848A263FED7}"/>
              </a:ext>
            </a:extLst>
          </p:cNvPr>
          <p:cNvGrpSpPr/>
          <p:nvPr/>
        </p:nvGrpSpPr>
        <p:grpSpPr>
          <a:xfrm rot="-5400000">
            <a:off x="12015831" y="4014831"/>
            <a:ext cx="10287000" cy="2257339"/>
            <a:chOff x="0" y="0"/>
            <a:chExt cx="2709333" cy="59452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228AB161-8C12-83F0-1E22-A44F06CC72C3}"/>
                </a:ext>
              </a:extLst>
            </p:cNvPr>
            <p:cNvSpPr/>
            <p:nvPr/>
          </p:nvSpPr>
          <p:spPr>
            <a:xfrm>
              <a:off x="0" y="0"/>
              <a:ext cx="2709333" cy="594525"/>
            </a:xfrm>
            <a:custGeom>
              <a:avLst/>
              <a:gdLst/>
              <a:ahLst/>
              <a:cxnLst/>
              <a:rect l="l" t="t" r="r" b="b"/>
              <a:pathLst>
                <a:path w="2709333" h="594525">
                  <a:moveTo>
                    <a:pt x="0" y="0"/>
                  </a:moveTo>
                  <a:lnTo>
                    <a:pt x="2709333" y="0"/>
                  </a:lnTo>
                  <a:lnTo>
                    <a:pt x="2709333" y="594525"/>
                  </a:lnTo>
                  <a:lnTo>
                    <a:pt x="0" y="594525"/>
                  </a:lnTo>
                  <a:close/>
                </a:path>
              </a:pathLst>
            </a:custGeom>
            <a:solidFill>
              <a:srgbClr val="0283FD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FF0FBC99-68B4-1103-8C47-35C3EBC1B42B}"/>
                </a:ext>
              </a:extLst>
            </p:cNvPr>
            <p:cNvSpPr txBox="1"/>
            <p:nvPr/>
          </p:nvSpPr>
          <p:spPr>
            <a:xfrm>
              <a:off x="0" y="-66675"/>
              <a:ext cx="2709333" cy="6612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3024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B85428DD-4C0F-D321-19C2-F2F8264C3458}"/>
              </a:ext>
            </a:extLst>
          </p:cNvPr>
          <p:cNvGrpSpPr/>
          <p:nvPr/>
        </p:nvGrpSpPr>
        <p:grpSpPr>
          <a:xfrm>
            <a:off x="179467" y="6643814"/>
            <a:ext cx="8126333" cy="3488267"/>
            <a:chOff x="0" y="0"/>
            <a:chExt cx="844714" cy="36259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FB3BE08F-5018-4F45-09CA-0A88315D121B}"/>
                </a:ext>
              </a:extLst>
            </p:cNvPr>
            <p:cNvSpPr/>
            <p:nvPr/>
          </p:nvSpPr>
          <p:spPr>
            <a:xfrm>
              <a:off x="0" y="0"/>
              <a:ext cx="844714" cy="362598"/>
            </a:xfrm>
            <a:custGeom>
              <a:avLst/>
              <a:gdLst/>
              <a:ahLst/>
              <a:cxnLst/>
              <a:rect l="l" t="t" r="r" b="b"/>
              <a:pathLst>
                <a:path w="844714" h="362598">
                  <a:moveTo>
                    <a:pt x="203200" y="0"/>
                  </a:moveTo>
                  <a:lnTo>
                    <a:pt x="844714" y="0"/>
                  </a:lnTo>
                  <a:lnTo>
                    <a:pt x="641514" y="362598"/>
                  </a:lnTo>
                  <a:lnTo>
                    <a:pt x="0" y="362598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283FD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455D9BDD-1EA6-329B-7623-7056851E7C0E}"/>
                </a:ext>
              </a:extLst>
            </p:cNvPr>
            <p:cNvSpPr txBox="1"/>
            <p:nvPr/>
          </p:nvSpPr>
          <p:spPr>
            <a:xfrm>
              <a:off x="101600" y="-28575"/>
              <a:ext cx="641514" cy="391173"/>
            </a:xfrm>
            <a:prstGeom prst="rect">
              <a:avLst/>
            </a:prstGeom>
          </p:spPr>
          <p:txBody>
            <a:bodyPr lIns="47790" tIns="47790" rIns="47790" bIns="4779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1843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8DDFE5B5-8980-4BFC-5AD6-1F65F2B5EC0C}"/>
              </a:ext>
            </a:extLst>
          </p:cNvPr>
          <p:cNvGrpSpPr/>
          <p:nvPr/>
        </p:nvGrpSpPr>
        <p:grpSpPr>
          <a:xfrm>
            <a:off x="-73552" y="7047924"/>
            <a:ext cx="16030661" cy="3336996"/>
            <a:chOff x="0" y="0"/>
            <a:chExt cx="6165409" cy="1271237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025F4342-0FBD-FA95-9227-892C352715DA}"/>
                </a:ext>
              </a:extLst>
            </p:cNvPr>
            <p:cNvSpPr/>
            <p:nvPr/>
          </p:nvSpPr>
          <p:spPr>
            <a:xfrm>
              <a:off x="0" y="0"/>
              <a:ext cx="6165409" cy="1271237"/>
            </a:xfrm>
            <a:custGeom>
              <a:avLst/>
              <a:gdLst/>
              <a:ahLst/>
              <a:cxnLst/>
              <a:rect l="l" t="t" r="r" b="b"/>
              <a:pathLst>
                <a:path w="6165409" h="1271237">
                  <a:moveTo>
                    <a:pt x="0" y="0"/>
                  </a:moveTo>
                  <a:lnTo>
                    <a:pt x="6165409" y="0"/>
                  </a:lnTo>
                  <a:lnTo>
                    <a:pt x="6165409" y="1271237"/>
                  </a:lnTo>
                  <a:lnTo>
                    <a:pt x="0" y="127123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80CEA2A3-E5EB-42E2-5155-53FF1BB84F2C}"/>
                </a:ext>
              </a:extLst>
            </p:cNvPr>
            <p:cNvSpPr txBox="1"/>
            <p:nvPr/>
          </p:nvSpPr>
          <p:spPr>
            <a:xfrm>
              <a:off x="0" y="-28575"/>
              <a:ext cx="6165409" cy="1299812"/>
            </a:xfrm>
            <a:prstGeom prst="rect">
              <a:avLst/>
            </a:prstGeom>
          </p:spPr>
          <p:txBody>
            <a:bodyPr lIns="47790" tIns="47790" rIns="47790" bIns="4779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1843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sp>
        <p:nvSpPr>
          <p:cNvPr id="12" name="TextBox 12">
            <a:extLst>
              <a:ext uri="{FF2B5EF4-FFF2-40B4-BE49-F238E27FC236}">
                <a16:creationId xmlns:a16="http://schemas.microsoft.com/office/drawing/2014/main" id="{B0405AA4-2CCB-0B1A-AAF7-9FF63F1A4C09}"/>
              </a:ext>
            </a:extLst>
          </p:cNvPr>
          <p:cNvSpPr txBox="1"/>
          <p:nvPr/>
        </p:nvSpPr>
        <p:spPr>
          <a:xfrm>
            <a:off x="1111666" y="3432993"/>
            <a:ext cx="14771892" cy="598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4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Day 5 – Block 6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566F60DF-FA27-7C97-BCE8-1BA8BCFF5BC9}"/>
              </a:ext>
            </a:extLst>
          </p:cNvPr>
          <p:cNvSpPr txBox="1"/>
          <p:nvPr/>
        </p:nvSpPr>
        <p:spPr>
          <a:xfrm>
            <a:off x="1111666" y="9653992"/>
            <a:ext cx="12263263" cy="3619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0" i="0" u="none" strike="noStrike" kern="1200" cap="none" spc="0" normalizeH="0" baseline="0" noProof="0">
                <a:ln>
                  <a:noFill/>
                </a:ln>
                <a:solidFill>
                  <a:srgbClr val="252525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CALIFORNIA INSTITUTE OF APPLIED TECHNOLOGY</a:t>
            </a:r>
          </a:p>
        </p:txBody>
      </p:sp>
      <p:sp>
        <p:nvSpPr>
          <p:cNvPr id="15" name="AutoShape 15">
            <a:extLst>
              <a:ext uri="{FF2B5EF4-FFF2-40B4-BE49-F238E27FC236}">
                <a16:creationId xmlns:a16="http://schemas.microsoft.com/office/drawing/2014/main" id="{E94F7612-597C-E39A-3DCB-BB7F1250C40D}"/>
              </a:ext>
            </a:extLst>
          </p:cNvPr>
          <p:cNvSpPr/>
          <p:nvPr/>
        </p:nvSpPr>
        <p:spPr>
          <a:xfrm>
            <a:off x="8010568" y="9858838"/>
            <a:ext cx="7625672" cy="0"/>
          </a:xfrm>
          <a:prstGeom prst="line">
            <a:avLst/>
          </a:prstGeom>
          <a:ln w="19050" cap="flat">
            <a:solidFill>
              <a:srgbClr val="0283F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7" name="Freeform 5">
            <a:extLst>
              <a:ext uri="{FF2B5EF4-FFF2-40B4-BE49-F238E27FC236}">
                <a16:creationId xmlns:a16="http://schemas.microsoft.com/office/drawing/2014/main" id="{09DD5F46-FEE4-1C8A-3832-375F8E6E0D9A}"/>
              </a:ext>
            </a:extLst>
          </p:cNvPr>
          <p:cNvSpPr/>
          <p:nvPr/>
        </p:nvSpPr>
        <p:spPr>
          <a:xfrm>
            <a:off x="1111666" y="355081"/>
            <a:ext cx="4247850" cy="631936"/>
          </a:xfrm>
          <a:custGeom>
            <a:avLst/>
            <a:gdLst/>
            <a:ahLst/>
            <a:cxnLst/>
            <a:rect l="l" t="t" r="r" b="b"/>
            <a:pathLst>
              <a:path w="4247850" h="631936">
                <a:moveTo>
                  <a:pt x="0" y="0"/>
                </a:moveTo>
                <a:lnTo>
                  <a:pt x="4247850" y="0"/>
                </a:lnTo>
                <a:lnTo>
                  <a:pt x="4247850" y="631935"/>
                </a:lnTo>
                <a:lnTo>
                  <a:pt x="0" y="63193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5" r="-5"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427AD10-1708-A81A-8443-3429AED788EC}"/>
              </a:ext>
            </a:extLst>
          </p:cNvPr>
          <p:cNvSpPr txBox="1"/>
          <p:nvPr/>
        </p:nvSpPr>
        <p:spPr>
          <a:xfrm>
            <a:off x="1111666" y="7106062"/>
            <a:ext cx="1191853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2400" dirty="0"/>
              <a:t>Final PBQ Workshop</a:t>
            </a:r>
          </a:p>
          <a:p>
            <a:pPr lvl="1" indent="-487680"/>
            <a:r>
              <a:rPr lang="en-US" altLang="en-US" dirty="0"/>
              <a:t>Advanced Multi-Domain PBQs</a:t>
            </a:r>
            <a:endParaRPr lang="en-US" altLang="en-US" dirty="0">
              <a:cs typeface="Arial"/>
            </a:endParaRPr>
          </a:p>
          <a:p>
            <a:r>
              <a:rPr lang="en-US" altLang="en-US" sz="2400" dirty="0"/>
              <a:t>Crucial Exams</a:t>
            </a:r>
          </a:p>
          <a:p>
            <a:pPr lvl="1" indent="-487680"/>
            <a:r>
              <a:rPr lang="en-US" altLang="en-US" dirty="0"/>
              <a:t>Revisit Challenging PBQs: </a:t>
            </a:r>
          </a:p>
          <a:p>
            <a:pPr lvl="2" indent="-487680"/>
            <a:r>
              <a:rPr lang="en-US" altLang="en-US" sz="1200" dirty="0"/>
              <a:t>Cloud WAF Setup</a:t>
            </a:r>
          </a:p>
          <a:p>
            <a:pPr lvl="2" indent="-487680"/>
            <a:r>
              <a:rPr lang="en-US" altLang="en-US" sz="1200" dirty="0"/>
              <a:t>SIEM Alert Config PBQ</a:t>
            </a:r>
            <a:endParaRPr lang="en-US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375998492"/>
      </p:ext>
    </p:extLst>
  </p:cSld>
  <p:clrMapOvr>
    <a:masterClrMapping/>
  </p:clrMapOvr>
</p:sld>
</file>

<file path=ppt/slides/slide4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15194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4CB1FBF-3A5C-246E-1474-541B1004D1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E30B2998-7FBC-D392-D838-28B72C999EF7}"/>
              </a:ext>
            </a:extLst>
          </p:cNvPr>
          <p:cNvGrpSpPr/>
          <p:nvPr/>
        </p:nvGrpSpPr>
        <p:grpSpPr>
          <a:xfrm rot="-5400000">
            <a:off x="12015831" y="4014831"/>
            <a:ext cx="10287000" cy="2257339"/>
            <a:chOff x="0" y="0"/>
            <a:chExt cx="2709333" cy="59452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FE95C588-68C9-4902-503F-E65807F311E5}"/>
                </a:ext>
              </a:extLst>
            </p:cNvPr>
            <p:cNvSpPr/>
            <p:nvPr/>
          </p:nvSpPr>
          <p:spPr>
            <a:xfrm>
              <a:off x="0" y="0"/>
              <a:ext cx="2709333" cy="594525"/>
            </a:xfrm>
            <a:custGeom>
              <a:avLst/>
              <a:gdLst/>
              <a:ahLst/>
              <a:cxnLst/>
              <a:rect l="l" t="t" r="r" b="b"/>
              <a:pathLst>
                <a:path w="2709333" h="594525">
                  <a:moveTo>
                    <a:pt x="0" y="0"/>
                  </a:moveTo>
                  <a:lnTo>
                    <a:pt x="2709333" y="0"/>
                  </a:lnTo>
                  <a:lnTo>
                    <a:pt x="2709333" y="594525"/>
                  </a:lnTo>
                  <a:lnTo>
                    <a:pt x="0" y="594525"/>
                  </a:lnTo>
                  <a:close/>
                </a:path>
              </a:pathLst>
            </a:custGeom>
            <a:solidFill>
              <a:srgbClr val="0283FD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D8D37511-5181-E6A5-71C9-6F41A99D27E5}"/>
                </a:ext>
              </a:extLst>
            </p:cNvPr>
            <p:cNvSpPr txBox="1"/>
            <p:nvPr/>
          </p:nvSpPr>
          <p:spPr>
            <a:xfrm>
              <a:off x="0" y="-66675"/>
              <a:ext cx="2709333" cy="6612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3024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335C031D-BC37-9B10-0AB5-1D4CF0C81C4C}"/>
              </a:ext>
            </a:extLst>
          </p:cNvPr>
          <p:cNvGrpSpPr/>
          <p:nvPr/>
        </p:nvGrpSpPr>
        <p:grpSpPr>
          <a:xfrm>
            <a:off x="179467" y="6643814"/>
            <a:ext cx="8126333" cy="3488267"/>
            <a:chOff x="0" y="0"/>
            <a:chExt cx="844714" cy="36259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4727A487-2A49-D830-42E3-A373FC38408C}"/>
                </a:ext>
              </a:extLst>
            </p:cNvPr>
            <p:cNvSpPr/>
            <p:nvPr/>
          </p:nvSpPr>
          <p:spPr>
            <a:xfrm>
              <a:off x="0" y="0"/>
              <a:ext cx="844714" cy="362598"/>
            </a:xfrm>
            <a:custGeom>
              <a:avLst/>
              <a:gdLst/>
              <a:ahLst/>
              <a:cxnLst/>
              <a:rect l="l" t="t" r="r" b="b"/>
              <a:pathLst>
                <a:path w="844714" h="362598">
                  <a:moveTo>
                    <a:pt x="203200" y="0"/>
                  </a:moveTo>
                  <a:lnTo>
                    <a:pt x="844714" y="0"/>
                  </a:lnTo>
                  <a:lnTo>
                    <a:pt x="641514" y="362598"/>
                  </a:lnTo>
                  <a:lnTo>
                    <a:pt x="0" y="362598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283FD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8C02FE65-9F25-B277-4FC8-332A61253958}"/>
                </a:ext>
              </a:extLst>
            </p:cNvPr>
            <p:cNvSpPr txBox="1"/>
            <p:nvPr/>
          </p:nvSpPr>
          <p:spPr>
            <a:xfrm>
              <a:off x="101600" y="-28575"/>
              <a:ext cx="641514" cy="391173"/>
            </a:xfrm>
            <a:prstGeom prst="rect">
              <a:avLst/>
            </a:prstGeom>
          </p:spPr>
          <p:txBody>
            <a:bodyPr lIns="47790" tIns="47790" rIns="47790" bIns="4779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1843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1C8BC7F3-C30B-C13D-35D3-5E19F7D8CD10}"/>
              </a:ext>
            </a:extLst>
          </p:cNvPr>
          <p:cNvGrpSpPr/>
          <p:nvPr/>
        </p:nvGrpSpPr>
        <p:grpSpPr>
          <a:xfrm>
            <a:off x="-73552" y="7047924"/>
            <a:ext cx="16030661" cy="3336996"/>
            <a:chOff x="0" y="0"/>
            <a:chExt cx="6165409" cy="1271237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CC4613CB-22B7-769F-DB33-B692FC12858E}"/>
                </a:ext>
              </a:extLst>
            </p:cNvPr>
            <p:cNvSpPr/>
            <p:nvPr/>
          </p:nvSpPr>
          <p:spPr>
            <a:xfrm>
              <a:off x="0" y="0"/>
              <a:ext cx="6165409" cy="1271237"/>
            </a:xfrm>
            <a:custGeom>
              <a:avLst/>
              <a:gdLst/>
              <a:ahLst/>
              <a:cxnLst/>
              <a:rect l="l" t="t" r="r" b="b"/>
              <a:pathLst>
                <a:path w="6165409" h="1271237">
                  <a:moveTo>
                    <a:pt x="0" y="0"/>
                  </a:moveTo>
                  <a:lnTo>
                    <a:pt x="6165409" y="0"/>
                  </a:lnTo>
                  <a:lnTo>
                    <a:pt x="6165409" y="1271237"/>
                  </a:lnTo>
                  <a:lnTo>
                    <a:pt x="0" y="127123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3831615B-8296-8394-70EF-BFECF3A57210}"/>
                </a:ext>
              </a:extLst>
            </p:cNvPr>
            <p:cNvSpPr txBox="1"/>
            <p:nvPr/>
          </p:nvSpPr>
          <p:spPr>
            <a:xfrm>
              <a:off x="0" y="-28575"/>
              <a:ext cx="6165409" cy="1299812"/>
            </a:xfrm>
            <a:prstGeom prst="rect">
              <a:avLst/>
            </a:prstGeom>
          </p:spPr>
          <p:txBody>
            <a:bodyPr lIns="47790" tIns="47790" rIns="47790" bIns="4779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1843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sp>
        <p:nvSpPr>
          <p:cNvPr id="12" name="TextBox 12">
            <a:extLst>
              <a:ext uri="{FF2B5EF4-FFF2-40B4-BE49-F238E27FC236}">
                <a16:creationId xmlns:a16="http://schemas.microsoft.com/office/drawing/2014/main" id="{819B4367-1C30-D037-EB9B-FF37F033D1F5}"/>
              </a:ext>
            </a:extLst>
          </p:cNvPr>
          <p:cNvSpPr txBox="1"/>
          <p:nvPr/>
        </p:nvSpPr>
        <p:spPr>
          <a:xfrm>
            <a:off x="1111666" y="3432993"/>
            <a:ext cx="14771892" cy="598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4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Day 5 – Block 7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C86E9F86-C01D-0725-B5D4-B88274920B54}"/>
              </a:ext>
            </a:extLst>
          </p:cNvPr>
          <p:cNvSpPr txBox="1"/>
          <p:nvPr/>
        </p:nvSpPr>
        <p:spPr>
          <a:xfrm>
            <a:off x="1111666" y="9653992"/>
            <a:ext cx="12263263" cy="3619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0" i="0" u="none" strike="noStrike" kern="1200" cap="none" spc="0" normalizeH="0" baseline="0" noProof="0">
                <a:ln>
                  <a:noFill/>
                </a:ln>
                <a:solidFill>
                  <a:srgbClr val="252525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CALIFORNIA INSTITUTE OF APPLIED TECHNOLOGY</a:t>
            </a:r>
          </a:p>
        </p:txBody>
      </p:sp>
      <p:sp>
        <p:nvSpPr>
          <p:cNvPr id="15" name="AutoShape 15">
            <a:extLst>
              <a:ext uri="{FF2B5EF4-FFF2-40B4-BE49-F238E27FC236}">
                <a16:creationId xmlns:a16="http://schemas.microsoft.com/office/drawing/2014/main" id="{C57F33DB-354D-D559-111D-D0CA4CDA44C5}"/>
              </a:ext>
            </a:extLst>
          </p:cNvPr>
          <p:cNvSpPr/>
          <p:nvPr/>
        </p:nvSpPr>
        <p:spPr>
          <a:xfrm>
            <a:off x="8010568" y="9858838"/>
            <a:ext cx="7625672" cy="0"/>
          </a:xfrm>
          <a:prstGeom prst="line">
            <a:avLst/>
          </a:prstGeom>
          <a:ln w="19050" cap="flat">
            <a:solidFill>
              <a:srgbClr val="0283F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7" name="Freeform 5">
            <a:extLst>
              <a:ext uri="{FF2B5EF4-FFF2-40B4-BE49-F238E27FC236}">
                <a16:creationId xmlns:a16="http://schemas.microsoft.com/office/drawing/2014/main" id="{D2CA988B-641F-D64F-0C6F-1ABDE7824786}"/>
              </a:ext>
            </a:extLst>
          </p:cNvPr>
          <p:cNvSpPr/>
          <p:nvPr/>
        </p:nvSpPr>
        <p:spPr>
          <a:xfrm>
            <a:off x="1111666" y="355081"/>
            <a:ext cx="4247850" cy="631936"/>
          </a:xfrm>
          <a:custGeom>
            <a:avLst/>
            <a:gdLst/>
            <a:ahLst/>
            <a:cxnLst/>
            <a:rect l="l" t="t" r="r" b="b"/>
            <a:pathLst>
              <a:path w="4247850" h="631936">
                <a:moveTo>
                  <a:pt x="0" y="0"/>
                </a:moveTo>
                <a:lnTo>
                  <a:pt x="4247850" y="0"/>
                </a:lnTo>
                <a:lnTo>
                  <a:pt x="4247850" y="631935"/>
                </a:lnTo>
                <a:lnTo>
                  <a:pt x="0" y="63193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5" r="-5"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89AE952-717B-7BA5-2606-483CFA67B792}"/>
              </a:ext>
            </a:extLst>
          </p:cNvPr>
          <p:cNvSpPr txBox="1"/>
          <p:nvPr/>
        </p:nvSpPr>
        <p:spPr>
          <a:xfrm>
            <a:off x="1111666" y="7106062"/>
            <a:ext cx="11918534" cy="138499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400" dirty="0"/>
              <a:t>Day 5 Final Practice Exam &amp; Scheduling</a:t>
            </a:r>
            <a:endParaRPr lang="en-US" sz="2400" dirty="0">
              <a:cs typeface="Arial"/>
            </a:endParaRPr>
          </a:p>
          <a:p>
            <a:pPr lvl="1" indent="-487680"/>
            <a:r>
              <a:rPr lang="en-US" dirty="0">
                <a:hlinkClick r:id="rId4"/>
              </a:rPr>
              <a:t>Full 90-Question Practice Exam</a:t>
            </a:r>
            <a:endParaRPr lang="en-US">
              <a:cs typeface="Arial"/>
            </a:endParaRPr>
          </a:p>
          <a:p>
            <a:r>
              <a:rPr lang="en-US" sz="2400" dirty="0"/>
              <a:t>Crucial Exams</a:t>
            </a:r>
          </a:p>
          <a:p>
            <a:pPr lvl="1" indent="-487680"/>
            <a:r>
              <a:rPr lang="en-US" dirty="0"/>
              <a:t>Timed Practice Exam: 90 minutes</a:t>
            </a:r>
          </a:p>
        </p:txBody>
      </p:sp>
    </p:spTree>
    <p:extLst>
      <p:ext uri="{BB962C8B-B14F-4D97-AF65-F5344CB8AC3E}">
        <p14:creationId xmlns:p14="http://schemas.microsoft.com/office/powerpoint/2010/main" val="3941195305"/>
      </p:ext>
    </p:extLst>
  </p:cSld>
  <p:clrMapOvr>
    <a:masterClrMapping/>
  </p:clrMapOvr>
</p:sld>
</file>

<file path=ppt/slides/slide4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15194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FB39BA6-ECA4-AFD2-F77E-5A104F67A3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CEA58AE1-31FD-878D-81F2-A07298B33DC2}"/>
              </a:ext>
            </a:extLst>
          </p:cNvPr>
          <p:cNvGrpSpPr/>
          <p:nvPr/>
        </p:nvGrpSpPr>
        <p:grpSpPr>
          <a:xfrm rot="-5400000">
            <a:off x="12015831" y="4014831"/>
            <a:ext cx="10287000" cy="2257339"/>
            <a:chOff x="0" y="0"/>
            <a:chExt cx="2709333" cy="59452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2CD2C805-5F12-ABFD-6AEF-E90C091E9C16}"/>
                </a:ext>
              </a:extLst>
            </p:cNvPr>
            <p:cNvSpPr/>
            <p:nvPr/>
          </p:nvSpPr>
          <p:spPr>
            <a:xfrm>
              <a:off x="0" y="0"/>
              <a:ext cx="2709333" cy="594525"/>
            </a:xfrm>
            <a:custGeom>
              <a:avLst/>
              <a:gdLst/>
              <a:ahLst/>
              <a:cxnLst/>
              <a:rect l="l" t="t" r="r" b="b"/>
              <a:pathLst>
                <a:path w="2709333" h="594525">
                  <a:moveTo>
                    <a:pt x="0" y="0"/>
                  </a:moveTo>
                  <a:lnTo>
                    <a:pt x="2709333" y="0"/>
                  </a:lnTo>
                  <a:lnTo>
                    <a:pt x="2709333" y="594525"/>
                  </a:lnTo>
                  <a:lnTo>
                    <a:pt x="0" y="594525"/>
                  </a:lnTo>
                  <a:close/>
                </a:path>
              </a:pathLst>
            </a:custGeom>
            <a:solidFill>
              <a:srgbClr val="0283FD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E1708BA8-29DD-96B2-3A36-19216EBB0827}"/>
                </a:ext>
              </a:extLst>
            </p:cNvPr>
            <p:cNvSpPr txBox="1"/>
            <p:nvPr/>
          </p:nvSpPr>
          <p:spPr>
            <a:xfrm>
              <a:off x="0" y="-66675"/>
              <a:ext cx="2709333" cy="6612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3024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C2D2020D-B716-2751-2EC6-5188122DE841}"/>
              </a:ext>
            </a:extLst>
          </p:cNvPr>
          <p:cNvGrpSpPr/>
          <p:nvPr/>
        </p:nvGrpSpPr>
        <p:grpSpPr>
          <a:xfrm>
            <a:off x="179467" y="6643814"/>
            <a:ext cx="8126333" cy="3488267"/>
            <a:chOff x="0" y="0"/>
            <a:chExt cx="844714" cy="36259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380F9FFA-DECB-8FFF-F848-1A1B3B8D38BF}"/>
                </a:ext>
              </a:extLst>
            </p:cNvPr>
            <p:cNvSpPr/>
            <p:nvPr/>
          </p:nvSpPr>
          <p:spPr>
            <a:xfrm>
              <a:off x="0" y="0"/>
              <a:ext cx="844714" cy="362598"/>
            </a:xfrm>
            <a:custGeom>
              <a:avLst/>
              <a:gdLst/>
              <a:ahLst/>
              <a:cxnLst/>
              <a:rect l="l" t="t" r="r" b="b"/>
              <a:pathLst>
                <a:path w="844714" h="362598">
                  <a:moveTo>
                    <a:pt x="203200" y="0"/>
                  </a:moveTo>
                  <a:lnTo>
                    <a:pt x="844714" y="0"/>
                  </a:lnTo>
                  <a:lnTo>
                    <a:pt x="641514" y="362598"/>
                  </a:lnTo>
                  <a:lnTo>
                    <a:pt x="0" y="362598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283FD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109525DA-310B-F29D-8914-DDAFB6F5ECF6}"/>
                </a:ext>
              </a:extLst>
            </p:cNvPr>
            <p:cNvSpPr txBox="1"/>
            <p:nvPr/>
          </p:nvSpPr>
          <p:spPr>
            <a:xfrm>
              <a:off x="101600" y="-28575"/>
              <a:ext cx="641514" cy="391173"/>
            </a:xfrm>
            <a:prstGeom prst="rect">
              <a:avLst/>
            </a:prstGeom>
          </p:spPr>
          <p:txBody>
            <a:bodyPr lIns="47790" tIns="47790" rIns="47790" bIns="4779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1843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1DB6FF64-86C9-14EC-04A5-6714CCEB8F5C}"/>
              </a:ext>
            </a:extLst>
          </p:cNvPr>
          <p:cNvGrpSpPr/>
          <p:nvPr/>
        </p:nvGrpSpPr>
        <p:grpSpPr>
          <a:xfrm>
            <a:off x="-73552" y="7047924"/>
            <a:ext cx="16030661" cy="3336996"/>
            <a:chOff x="0" y="0"/>
            <a:chExt cx="6165409" cy="1271237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F193048C-12F7-6B06-8E67-2D6DCAC84472}"/>
                </a:ext>
              </a:extLst>
            </p:cNvPr>
            <p:cNvSpPr/>
            <p:nvPr/>
          </p:nvSpPr>
          <p:spPr>
            <a:xfrm>
              <a:off x="0" y="0"/>
              <a:ext cx="6165409" cy="1271237"/>
            </a:xfrm>
            <a:custGeom>
              <a:avLst/>
              <a:gdLst/>
              <a:ahLst/>
              <a:cxnLst/>
              <a:rect l="l" t="t" r="r" b="b"/>
              <a:pathLst>
                <a:path w="6165409" h="1271237">
                  <a:moveTo>
                    <a:pt x="0" y="0"/>
                  </a:moveTo>
                  <a:lnTo>
                    <a:pt x="6165409" y="0"/>
                  </a:lnTo>
                  <a:lnTo>
                    <a:pt x="6165409" y="1271237"/>
                  </a:lnTo>
                  <a:lnTo>
                    <a:pt x="0" y="127123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81170A6E-9C38-E940-D5B4-D75A0960D077}"/>
                </a:ext>
              </a:extLst>
            </p:cNvPr>
            <p:cNvSpPr txBox="1"/>
            <p:nvPr/>
          </p:nvSpPr>
          <p:spPr>
            <a:xfrm>
              <a:off x="0" y="-28575"/>
              <a:ext cx="6165409" cy="1299812"/>
            </a:xfrm>
            <a:prstGeom prst="rect">
              <a:avLst/>
            </a:prstGeom>
          </p:spPr>
          <p:txBody>
            <a:bodyPr lIns="47790" tIns="47790" rIns="47790" bIns="4779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1843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sp>
        <p:nvSpPr>
          <p:cNvPr id="12" name="TextBox 12">
            <a:extLst>
              <a:ext uri="{FF2B5EF4-FFF2-40B4-BE49-F238E27FC236}">
                <a16:creationId xmlns:a16="http://schemas.microsoft.com/office/drawing/2014/main" id="{9E0B4E84-7A9F-EAD6-ADAD-B7ADA7819BC8}"/>
              </a:ext>
            </a:extLst>
          </p:cNvPr>
          <p:cNvSpPr txBox="1"/>
          <p:nvPr/>
        </p:nvSpPr>
        <p:spPr>
          <a:xfrm>
            <a:off x="1111666" y="3432993"/>
            <a:ext cx="14771892" cy="598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4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Day 5 – Block 8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CED7E46A-F303-6C3A-E173-1AEC76384F92}"/>
              </a:ext>
            </a:extLst>
          </p:cNvPr>
          <p:cNvSpPr txBox="1"/>
          <p:nvPr/>
        </p:nvSpPr>
        <p:spPr>
          <a:xfrm>
            <a:off x="1111666" y="9653992"/>
            <a:ext cx="12263263" cy="3619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0" i="0" u="none" strike="noStrike" kern="1200" cap="none" spc="0" normalizeH="0" baseline="0" noProof="0">
                <a:ln>
                  <a:noFill/>
                </a:ln>
                <a:solidFill>
                  <a:srgbClr val="252525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CALIFORNIA INSTITUTE OF APPLIED TECHNOLOGY</a:t>
            </a:r>
          </a:p>
        </p:txBody>
      </p:sp>
      <p:sp>
        <p:nvSpPr>
          <p:cNvPr id="15" name="AutoShape 15">
            <a:extLst>
              <a:ext uri="{FF2B5EF4-FFF2-40B4-BE49-F238E27FC236}">
                <a16:creationId xmlns:a16="http://schemas.microsoft.com/office/drawing/2014/main" id="{D67938BD-566F-407F-AC87-FB139C7FD8FA}"/>
              </a:ext>
            </a:extLst>
          </p:cNvPr>
          <p:cNvSpPr/>
          <p:nvPr/>
        </p:nvSpPr>
        <p:spPr>
          <a:xfrm>
            <a:off x="8010568" y="9858838"/>
            <a:ext cx="7625672" cy="0"/>
          </a:xfrm>
          <a:prstGeom prst="line">
            <a:avLst/>
          </a:prstGeom>
          <a:ln w="19050" cap="flat">
            <a:solidFill>
              <a:srgbClr val="0283F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7" name="Freeform 5">
            <a:extLst>
              <a:ext uri="{FF2B5EF4-FFF2-40B4-BE49-F238E27FC236}">
                <a16:creationId xmlns:a16="http://schemas.microsoft.com/office/drawing/2014/main" id="{F5B77522-41C0-08D6-C693-BC86D0456773}"/>
              </a:ext>
            </a:extLst>
          </p:cNvPr>
          <p:cNvSpPr/>
          <p:nvPr/>
        </p:nvSpPr>
        <p:spPr>
          <a:xfrm>
            <a:off x="1111666" y="355081"/>
            <a:ext cx="4247850" cy="631936"/>
          </a:xfrm>
          <a:custGeom>
            <a:avLst/>
            <a:gdLst/>
            <a:ahLst/>
            <a:cxnLst/>
            <a:rect l="l" t="t" r="r" b="b"/>
            <a:pathLst>
              <a:path w="4247850" h="631936">
                <a:moveTo>
                  <a:pt x="0" y="0"/>
                </a:moveTo>
                <a:lnTo>
                  <a:pt x="4247850" y="0"/>
                </a:lnTo>
                <a:lnTo>
                  <a:pt x="4247850" y="631935"/>
                </a:lnTo>
                <a:lnTo>
                  <a:pt x="0" y="63193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5" r="-5"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2B37EBF-CDD1-D9ED-2EAB-B970631A0AFE}"/>
              </a:ext>
            </a:extLst>
          </p:cNvPr>
          <p:cNvSpPr txBox="1"/>
          <p:nvPr/>
        </p:nvSpPr>
        <p:spPr>
          <a:xfrm>
            <a:off x="1111666" y="7106062"/>
            <a:ext cx="14524574" cy="147732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endParaRPr lang="en-US" altLang="en-US" sz="2400" dirty="0">
              <a:cs typeface="Arial"/>
            </a:endParaRPr>
          </a:p>
          <a:p>
            <a:r>
              <a:rPr lang="en-US" altLang="en-US" sz="2400" dirty="0"/>
              <a:t>Finish Practice Test</a:t>
            </a:r>
            <a:endParaRPr lang="en-US" dirty="0"/>
          </a:p>
          <a:p>
            <a:r>
              <a:rPr lang="en-US" altLang="en-US" sz="2400" dirty="0">
                <a:cs typeface="Arial"/>
              </a:rPr>
              <a:t>Final Q&amp;A</a:t>
            </a:r>
          </a:p>
          <a:p>
            <a:pPr lvl="1" indent="-487680"/>
            <a:endParaRPr lang="en-US" altLang="en-US" dirty="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35549230"/>
      </p:ext>
    </p:extLst>
  </p:cSld>
  <p:clrMapOvr>
    <a:masterClrMapping/>
  </p:clrMapOvr>
</p:sld>
</file>

<file path=ppt/slides/slide4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A832F7-51F0-7A7F-53C1-B0D26ED83E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7F75681-6742-19AB-8FEF-0B0055EA5C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Slide </a:t>
            </a:r>
            <a:fld id="{4CA2B2DB-B91D-4166-98BF-65A0DA7EEE6D}" type="slidenum">
              <a:rPr lang="en-US" smtClean="0"/>
              <a:pPr/>
              <a:t>413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87E7EE-6B4A-11F2-CB38-698A12EF9A6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200" y="2541615"/>
            <a:ext cx="7194550" cy="495300"/>
          </a:xfrm>
        </p:spPr>
        <p:txBody>
          <a:bodyPr/>
          <a:lstStyle/>
          <a:p>
            <a:r>
              <a:rPr lang="en-US" dirty="0"/>
              <a:t>Exam-Critical Topics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406968-DEB7-DBD6-8F76-4DE79E7D3549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3162300"/>
            <a:ext cx="8305800" cy="5867400"/>
          </a:xfrm>
        </p:spPr>
        <p:txBody>
          <a:bodyPr/>
          <a:lstStyle/>
          <a:p>
            <a:r>
              <a:rPr lang="en-US" sz="2000" dirty="0"/>
              <a:t>Governance &amp; Risk Management — policies, standards, risk assessments, risk responses, frameworks, and oversight</a:t>
            </a:r>
          </a:p>
          <a:p>
            <a:r>
              <a:rPr lang="en-US" sz="2000" dirty="0"/>
              <a:t>Compliance &amp; Regulatory Requirements — legal obligations, industry mandates, data handling requirements, audit readiness</a:t>
            </a:r>
          </a:p>
          <a:p>
            <a:r>
              <a:rPr lang="en-US" sz="2000" dirty="0"/>
              <a:t>Privacy &amp; Data Protection — data classifications, retention, minimization, consent, privacy roles, and safeguarding sensitive information</a:t>
            </a:r>
          </a:p>
          <a:p>
            <a:r>
              <a:rPr lang="en-US" sz="2000" dirty="0"/>
              <a:t>Security Awareness &amp; Training — user education, role‑based training, reporting culture, and reducing human‑factor risk</a:t>
            </a:r>
          </a:p>
          <a:p>
            <a:r>
              <a:rPr lang="en-US" sz="2000" dirty="0"/>
              <a:t>Comprehensive Domain Review — cross‑domain integration, exam‑level reasoning, and concept reinforcement</a:t>
            </a:r>
          </a:p>
          <a:p>
            <a:r>
              <a:rPr lang="en-US" sz="2000" dirty="0"/>
              <a:t>Final Exam Strategies &amp; Tips — time management, question analysis, distractor identification, PBQ approach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EA4C664E-BAEB-4C76-2284-B86DFEADB9AD}"/>
              </a:ext>
            </a:extLst>
          </p:cNvPr>
          <p:cNvSpPr txBox="1">
            <a:spLocks/>
          </p:cNvSpPr>
          <p:nvPr/>
        </p:nvSpPr>
        <p:spPr>
          <a:xfrm>
            <a:off x="10255250" y="2541615"/>
            <a:ext cx="7194550" cy="495300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Foundational Reinforcements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823DE9E6-133F-BDF1-2B8F-2167B8035B32}"/>
              </a:ext>
            </a:extLst>
          </p:cNvPr>
          <p:cNvSpPr txBox="1">
            <a:spLocks/>
          </p:cNvSpPr>
          <p:nvPr/>
        </p:nvSpPr>
        <p:spPr>
          <a:xfrm>
            <a:off x="10255250" y="3162300"/>
            <a:ext cx="8032750" cy="3352800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/>
              <a:t>Governance structures: policies, procedures, guidelines</a:t>
            </a:r>
          </a:p>
          <a:p>
            <a:r>
              <a:rPr lang="en-US" sz="2000" dirty="0"/>
              <a:t>Risk concepts: likelihood, impact, qualitative vs. quantitative methods</a:t>
            </a:r>
          </a:p>
          <a:p>
            <a:r>
              <a:rPr lang="en-US" sz="2000" dirty="0"/>
              <a:t>Regulatory landscapes: sector‑specific requirements and global considerations</a:t>
            </a:r>
          </a:p>
          <a:p>
            <a:r>
              <a:rPr lang="en-US" sz="2000" dirty="0"/>
              <a:t>Training program development and continuous improvement</a:t>
            </a:r>
          </a:p>
          <a:p>
            <a:r>
              <a:rPr lang="en-US" sz="2000" dirty="0"/>
              <a:t>Exam mindset: pattern recognition, elimination strategies, confidence building</a:t>
            </a:r>
          </a:p>
        </p:txBody>
      </p:sp>
    </p:spTree>
    <p:extLst>
      <p:ext uri="{BB962C8B-B14F-4D97-AF65-F5344CB8AC3E}">
        <p14:creationId xmlns:p14="http://schemas.microsoft.com/office/powerpoint/2010/main" val="2785804825"/>
      </p:ext>
    </p:extLst>
  </p:cSld>
  <p:clrMapOvr>
    <a:masterClrMapping/>
  </p:clrMapOvr>
</p:sld>
</file>

<file path=ppt/slides/slide4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377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1D3766D-82DF-5D81-0662-6A196138C9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0">
            <a:extLst>
              <a:ext uri="{FF2B5EF4-FFF2-40B4-BE49-F238E27FC236}">
                <a16:creationId xmlns:a16="http://schemas.microsoft.com/office/drawing/2014/main" id="{EA8158EC-5244-1ADB-E56B-7149DD25EABE}"/>
              </a:ext>
            </a:extLst>
          </p:cNvPr>
          <p:cNvGrpSpPr/>
          <p:nvPr/>
        </p:nvGrpSpPr>
        <p:grpSpPr>
          <a:xfrm rot="-5400000">
            <a:off x="8462598" y="461598"/>
            <a:ext cx="1362805" cy="18287998"/>
            <a:chOff x="0" y="0"/>
            <a:chExt cx="358928" cy="4840325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55E31D4D-AD80-E962-9C0A-5893B4706105}"/>
                </a:ext>
              </a:extLst>
            </p:cNvPr>
            <p:cNvSpPr/>
            <p:nvPr/>
          </p:nvSpPr>
          <p:spPr>
            <a:xfrm>
              <a:off x="0" y="0"/>
              <a:ext cx="358928" cy="4840325"/>
            </a:xfrm>
            <a:custGeom>
              <a:avLst/>
              <a:gdLst/>
              <a:ahLst/>
              <a:cxnLst/>
              <a:rect l="l" t="t" r="r" b="b"/>
              <a:pathLst>
                <a:path w="358928" h="4840325">
                  <a:moveTo>
                    <a:pt x="0" y="0"/>
                  </a:moveTo>
                  <a:lnTo>
                    <a:pt x="358928" y="0"/>
                  </a:lnTo>
                  <a:lnTo>
                    <a:pt x="358928" y="4840325"/>
                  </a:lnTo>
                  <a:lnTo>
                    <a:pt x="0" y="4840325"/>
                  </a:lnTo>
                  <a:close/>
                </a:path>
              </a:pathLst>
            </a:custGeom>
            <a:solidFill>
              <a:srgbClr val="F5C46E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E56E1A73-A560-3D78-C536-E8DBA883AB5C}"/>
                </a:ext>
              </a:extLst>
            </p:cNvPr>
            <p:cNvSpPr txBox="1"/>
            <p:nvPr/>
          </p:nvSpPr>
          <p:spPr>
            <a:xfrm>
              <a:off x="0" y="-66675"/>
              <a:ext cx="358928" cy="49070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24"/>
                </a:lnSpc>
              </a:pPr>
              <a:endParaRPr/>
            </a:p>
          </p:txBody>
        </p:sp>
      </p:grpSp>
      <p:sp>
        <p:nvSpPr>
          <p:cNvPr id="13" name="TextBox 13">
            <a:extLst>
              <a:ext uri="{FF2B5EF4-FFF2-40B4-BE49-F238E27FC236}">
                <a16:creationId xmlns:a16="http://schemas.microsoft.com/office/drawing/2014/main" id="{1FE6050D-A322-16DE-39C8-E158C472B3D9}"/>
              </a:ext>
            </a:extLst>
          </p:cNvPr>
          <p:cNvSpPr txBox="1"/>
          <p:nvPr/>
        </p:nvSpPr>
        <p:spPr>
          <a:xfrm>
            <a:off x="3502264" y="4567400"/>
            <a:ext cx="11283472" cy="10855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394"/>
              </a:lnSpc>
            </a:pPr>
            <a:r>
              <a:rPr lang="en-US" sz="6721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1405580783"/>
      </p:ext>
    </p:extLst>
  </p:cSld>
  <p:clrMapOvr>
    <a:masterClrMapping/>
  </p:clrMapOvr>
</p:sld>
</file>

<file path=ppt/slides/slide4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377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F27E21C-D442-4703-2DA2-942D5813CE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0">
            <a:extLst>
              <a:ext uri="{FF2B5EF4-FFF2-40B4-BE49-F238E27FC236}">
                <a16:creationId xmlns:a16="http://schemas.microsoft.com/office/drawing/2014/main" id="{28797E55-1273-95F0-5CB2-9F06F6E4D89C}"/>
              </a:ext>
            </a:extLst>
          </p:cNvPr>
          <p:cNvGrpSpPr/>
          <p:nvPr/>
        </p:nvGrpSpPr>
        <p:grpSpPr>
          <a:xfrm rot="-5400000">
            <a:off x="8462598" y="461598"/>
            <a:ext cx="1362805" cy="18287998"/>
            <a:chOff x="0" y="0"/>
            <a:chExt cx="358928" cy="4840325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C5B7104C-71FB-28D1-D854-495CF7F28F30}"/>
                </a:ext>
              </a:extLst>
            </p:cNvPr>
            <p:cNvSpPr/>
            <p:nvPr/>
          </p:nvSpPr>
          <p:spPr>
            <a:xfrm>
              <a:off x="0" y="0"/>
              <a:ext cx="358928" cy="4840325"/>
            </a:xfrm>
            <a:custGeom>
              <a:avLst/>
              <a:gdLst/>
              <a:ahLst/>
              <a:cxnLst/>
              <a:rect l="l" t="t" r="r" b="b"/>
              <a:pathLst>
                <a:path w="358928" h="4840325">
                  <a:moveTo>
                    <a:pt x="0" y="0"/>
                  </a:moveTo>
                  <a:lnTo>
                    <a:pt x="358928" y="0"/>
                  </a:lnTo>
                  <a:lnTo>
                    <a:pt x="358928" y="4840325"/>
                  </a:lnTo>
                  <a:lnTo>
                    <a:pt x="0" y="4840325"/>
                  </a:lnTo>
                  <a:close/>
                </a:path>
              </a:pathLst>
            </a:custGeom>
            <a:solidFill>
              <a:srgbClr val="F5C46E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3B3306E9-1B28-BE74-E788-26B41DC8801A}"/>
                </a:ext>
              </a:extLst>
            </p:cNvPr>
            <p:cNvSpPr txBox="1"/>
            <p:nvPr/>
          </p:nvSpPr>
          <p:spPr>
            <a:xfrm>
              <a:off x="0" y="-66675"/>
              <a:ext cx="358928" cy="49070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24"/>
                </a:lnSpc>
              </a:pPr>
              <a:endParaRPr/>
            </a:p>
          </p:txBody>
        </p:sp>
      </p:grpSp>
      <p:sp>
        <p:nvSpPr>
          <p:cNvPr id="13" name="TextBox 13">
            <a:extLst>
              <a:ext uri="{FF2B5EF4-FFF2-40B4-BE49-F238E27FC236}">
                <a16:creationId xmlns:a16="http://schemas.microsoft.com/office/drawing/2014/main" id="{EF6D9F42-E7B9-578D-2DD1-4EAC02F4D16C}"/>
              </a:ext>
            </a:extLst>
          </p:cNvPr>
          <p:cNvSpPr txBox="1"/>
          <p:nvPr/>
        </p:nvSpPr>
        <p:spPr>
          <a:xfrm>
            <a:off x="2438400" y="4567401"/>
            <a:ext cx="12347336" cy="9489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394"/>
              </a:lnSpc>
            </a:pPr>
            <a:r>
              <a:rPr lang="en-US" sz="6721" b="1" dirty="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Appendix – Review Key Terms</a:t>
            </a:r>
          </a:p>
        </p:txBody>
      </p:sp>
    </p:spTree>
    <p:extLst>
      <p:ext uri="{BB962C8B-B14F-4D97-AF65-F5344CB8AC3E}">
        <p14:creationId xmlns:p14="http://schemas.microsoft.com/office/powerpoint/2010/main" val="3394493134"/>
      </p:ext>
    </p:extLst>
  </p:cSld>
  <p:clrMapOvr>
    <a:masterClrMapping/>
  </p:clrMapOvr>
</p:sld>
</file>

<file path=ppt/slides/slide4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BB3EC5-84D2-93EF-CC94-F9C545C1A6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6D1519A-1C17-5C37-E255-E9CF08427C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Slide </a:t>
            </a:r>
            <a:fld id="{4CA2B2DB-B91D-4166-98BF-65A0DA7EEE6D}" type="slidenum">
              <a:rPr kumimoji="0" lang="en-US" sz="1800" b="0" i="1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416</a:t>
            </a:fld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120976B-6262-E896-7D39-1CA76F5B72A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CB6D81D-EB59-86D2-5829-63D7C92B22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00" y="228924"/>
            <a:ext cx="13220700" cy="1127125"/>
          </a:xfrm>
        </p:spPr>
        <p:txBody>
          <a:bodyPr/>
          <a:lstStyle/>
          <a:p>
            <a:r>
              <a:rPr kumimoji="0" lang="en-US" sz="72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Review Key Terms</a:t>
            </a:r>
            <a:endParaRPr lang="en-US" i="1" dirty="0"/>
          </a:p>
        </p:txBody>
      </p:sp>
      <p:sp>
        <p:nvSpPr>
          <p:cNvPr id="3" name="Rectangle 1027">
            <a:extLst>
              <a:ext uri="{FF2B5EF4-FFF2-40B4-BE49-F238E27FC236}">
                <a16:creationId xmlns:a16="http://schemas.microsoft.com/office/drawing/2014/main" id="{0C23E159-003A-9E7F-EABA-88838AA14004}"/>
              </a:ext>
            </a:extLst>
          </p:cNvPr>
          <p:cNvSpPr>
            <a:spLocks noGrp="1" noChangeArrowheads="1"/>
          </p:cNvSpPr>
          <p:nvPr>
            <p:ph sz="quarter" idx="12"/>
          </p:nvPr>
        </p:nvSpPr>
        <p:spPr>
          <a:xfrm>
            <a:off x="1047750" y="1935162"/>
            <a:ext cx="16192500" cy="7094538"/>
          </a:xfrm>
        </p:spPr>
        <p:txBody>
          <a:bodyPr numCol="2"/>
          <a:lstStyle/>
          <a:p>
            <a:pPr>
              <a:defRPr/>
            </a:pPr>
            <a:r>
              <a:rPr lang="en-US" sz="3600" dirty="0"/>
              <a:t>confidentiality</a:t>
            </a:r>
          </a:p>
          <a:p>
            <a:pPr>
              <a:defRPr/>
            </a:pPr>
            <a:r>
              <a:rPr lang="en-US" sz="3600" dirty="0"/>
              <a:t>integrity</a:t>
            </a:r>
          </a:p>
          <a:p>
            <a:pPr>
              <a:defRPr/>
            </a:pPr>
            <a:r>
              <a:rPr lang="en-US" sz="3600" dirty="0"/>
              <a:t>availability</a:t>
            </a:r>
          </a:p>
          <a:p>
            <a:pPr>
              <a:defRPr/>
            </a:pPr>
            <a:r>
              <a:rPr lang="en-US" sz="3600" dirty="0"/>
              <a:t>non-repudiation</a:t>
            </a:r>
          </a:p>
          <a:p>
            <a:pPr>
              <a:defRPr/>
            </a:pPr>
            <a:r>
              <a:rPr lang="en-US" sz="3600" dirty="0"/>
              <a:t>authentication</a:t>
            </a:r>
          </a:p>
          <a:p>
            <a:pPr>
              <a:defRPr/>
            </a:pPr>
            <a:r>
              <a:rPr lang="en-US" sz="3600" dirty="0"/>
              <a:t>authorization</a:t>
            </a:r>
          </a:p>
          <a:p>
            <a:pPr>
              <a:defRPr/>
            </a:pPr>
            <a:r>
              <a:rPr lang="en-US" sz="3600" dirty="0"/>
              <a:t>accounting (AAA)</a:t>
            </a:r>
          </a:p>
          <a:p>
            <a:pPr>
              <a:defRPr/>
            </a:pPr>
            <a:r>
              <a:rPr lang="en-US" sz="3600" dirty="0"/>
              <a:t>authenticating people</a:t>
            </a:r>
          </a:p>
          <a:p>
            <a:pPr>
              <a:defRPr/>
            </a:pPr>
            <a:r>
              <a:rPr lang="en-US" sz="3600" dirty="0"/>
              <a:t>authenticating systems</a:t>
            </a:r>
          </a:p>
          <a:p>
            <a:pPr>
              <a:defRPr/>
            </a:pPr>
            <a:r>
              <a:rPr lang="en-US" sz="3600" dirty="0"/>
              <a:t>authorization model</a:t>
            </a:r>
          </a:p>
          <a:p>
            <a:pPr>
              <a:defRPr/>
            </a:pPr>
            <a:r>
              <a:rPr lang="en-US" sz="3600" dirty="0"/>
              <a:t>gap analysis</a:t>
            </a:r>
          </a:p>
          <a:p>
            <a:pPr>
              <a:defRPr/>
            </a:pPr>
            <a:r>
              <a:rPr lang="en-US" sz="3600" dirty="0"/>
              <a:t>Zero Trust</a:t>
            </a:r>
          </a:p>
          <a:p>
            <a:pPr>
              <a:defRPr/>
            </a:pPr>
            <a:r>
              <a:rPr lang="en-US" sz="3600" dirty="0"/>
              <a:t>control plane</a:t>
            </a:r>
          </a:p>
          <a:p>
            <a:pPr>
              <a:defRPr/>
            </a:pPr>
            <a:r>
              <a:rPr lang="en-US" sz="3600" dirty="0"/>
              <a:t>adaptive identity</a:t>
            </a:r>
          </a:p>
          <a:p>
            <a:pPr>
              <a:defRPr/>
            </a:pPr>
            <a:r>
              <a:rPr lang="en-US" sz="3600" dirty="0"/>
              <a:t>threat scope reduction</a:t>
            </a:r>
          </a:p>
          <a:p>
            <a:pPr>
              <a:defRPr/>
            </a:pPr>
            <a:r>
              <a:rPr lang="en-US" sz="3600" dirty="0"/>
              <a:t>policy-driven access control</a:t>
            </a:r>
          </a:p>
        </p:txBody>
      </p:sp>
    </p:spTree>
    <p:extLst>
      <p:ext uri="{BB962C8B-B14F-4D97-AF65-F5344CB8AC3E}">
        <p14:creationId xmlns:p14="http://schemas.microsoft.com/office/powerpoint/2010/main" val="3929415144"/>
      </p:ext>
    </p:extLst>
  </p:cSld>
  <p:clrMapOvr>
    <a:masterClrMapping/>
  </p:clrMapOvr>
</p:sld>
</file>

<file path=ppt/slides/slide4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321523-CB07-0F6E-5B1D-907CA7DFBF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ED055A1-FA08-56E2-9573-D6DEB7CFF5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Slide </a:t>
            </a:r>
            <a:fld id="{4CA2B2DB-B91D-4166-98BF-65A0DA7EEE6D}" type="slidenum">
              <a:rPr kumimoji="0" lang="en-US" sz="1800" b="0" i="1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417</a:t>
            </a:fld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E5F6FA0-B4E1-430E-E78C-51C52A3EA6D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20E84313-1315-8B8E-49B1-120DCEE3EA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00" y="228924"/>
            <a:ext cx="13220700" cy="1127125"/>
          </a:xfrm>
        </p:spPr>
        <p:txBody>
          <a:bodyPr/>
          <a:lstStyle/>
          <a:p>
            <a:r>
              <a:rPr kumimoji="0" lang="en-US" sz="72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Review Key Terms</a:t>
            </a:r>
            <a:endParaRPr lang="en-US" i="1" dirty="0"/>
          </a:p>
        </p:txBody>
      </p:sp>
      <p:sp>
        <p:nvSpPr>
          <p:cNvPr id="3" name="Rectangle 1027">
            <a:extLst>
              <a:ext uri="{FF2B5EF4-FFF2-40B4-BE49-F238E27FC236}">
                <a16:creationId xmlns:a16="http://schemas.microsoft.com/office/drawing/2014/main" id="{9A43DD5F-5AE6-B2D1-561E-29337ADB9346}"/>
              </a:ext>
            </a:extLst>
          </p:cNvPr>
          <p:cNvSpPr>
            <a:spLocks noGrp="1" noChangeArrowheads="1"/>
          </p:cNvSpPr>
          <p:nvPr>
            <p:ph sz="quarter" idx="12"/>
          </p:nvPr>
        </p:nvSpPr>
        <p:spPr>
          <a:xfrm>
            <a:off x="1047750" y="1935162"/>
            <a:ext cx="16192500" cy="7094538"/>
          </a:xfrm>
        </p:spPr>
        <p:txBody>
          <a:bodyPr numCol="2"/>
          <a:lstStyle/>
          <a:p>
            <a:pPr>
              <a:defRPr/>
            </a:pPr>
            <a:r>
              <a:rPr lang="en-US" sz="3600" dirty="0"/>
              <a:t>secured zone</a:t>
            </a:r>
          </a:p>
          <a:p>
            <a:pPr>
              <a:defRPr/>
            </a:pPr>
            <a:r>
              <a:rPr lang="en-US" sz="3600" dirty="0"/>
              <a:t>policy engine</a:t>
            </a:r>
          </a:p>
          <a:p>
            <a:pPr>
              <a:defRPr/>
            </a:pPr>
            <a:r>
              <a:rPr lang="en-US" sz="3600" dirty="0"/>
              <a:t>policy administrator</a:t>
            </a:r>
          </a:p>
          <a:p>
            <a:pPr>
              <a:defRPr/>
            </a:pPr>
            <a:r>
              <a:rPr lang="en-US" sz="3600" dirty="0"/>
              <a:t>data plane</a:t>
            </a:r>
          </a:p>
          <a:p>
            <a:pPr>
              <a:defRPr/>
            </a:pPr>
            <a:r>
              <a:rPr lang="en-US" sz="3600" dirty="0"/>
              <a:t>subject/system</a:t>
            </a:r>
          </a:p>
          <a:p>
            <a:pPr>
              <a:defRPr/>
            </a:pPr>
            <a:r>
              <a:rPr lang="en-US" sz="3600" dirty="0"/>
              <a:t>policy enforcement point (PEP)</a:t>
            </a:r>
          </a:p>
          <a:p>
            <a:pPr>
              <a:defRPr/>
            </a:pPr>
            <a:r>
              <a:rPr lang="en-US" sz="3600" dirty="0"/>
              <a:t>implicit trust zones</a:t>
            </a:r>
          </a:p>
          <a:p>
            <a:pPr>
              <a:defRPr/>
            </a:pPr>
            <a:r>
              <a:rPr lang="en-US" sz="3600" dirty="0"/>
              <a:t>bollard</a:t>
            </a:r>
          </a:p>
          <a:p>
            <a:pPr>
              <a:defRPr/>
            </a:pPr>
            <a:r>
              <a:rPr lang="en-US" sz="3600" dirty="0"/>
              <a:t>barricade</a:t>
            </a:r>
          </a:p>
          <a:p>
            <a:pPr>
              <a:defRPr/>
            </a:pPr>
            <a:r>
              <a:rPr lang="en-US" sz="3600" dirty="0"/>
              <a:t>access control vestibule</a:t>
            </a:r>
          </a:p>
          <a:p>
            <a:pPr>
              <a:defRPr/>
            </a:pPr>
            <a:r>
              <a:rPr lang="en-US" sz="3600" dirty="0"/>
              <a:t>closed-circuit television (CCTV)</a:t>
            </a:r>
          </a:p>
          <a:p>
            <a:pPr>
              <a:defRPr/>
            </a:pPr>
            <a:r>
              <a:rPr lang="en-US" sz="3600" dirty="0"/>
              <a:t>security guard</a:t>
            </a:r>
          </a:p>
          <a:p>
            <a:pPr>
              <a:defRPr/>
            </a:pPr>
            <a:r>
              <a:rPr lang="en-US" sz="3600" dirty="0"/>
              <a:t>honeypot</a:t>
            </a:r>
          </a:p>
          <a:p>
            <a:pPr>
              <a:defRPr/>
            </a:pPr>
            <a:r>
              <a:rPr lang="en-US" sz="3600" dirty="0"/>
              <a:t>honeynet</a:t>
            </a:r>
          </a:p>
          <a:p>
            <a:pPr>
              <a:defRPr/>
            </a:pPr>
            <a:r>
              <a:rPr lang="en-US" sz="3600" dirty="0" err="1"/>
              <a:t>honeyfile</a:t>
            </a:r>
            <a:endParaRPr lang="en-US" sz="3600" dirty="0"/>
          </a:p>
          <a:p>
            <a:pPr>
              <a:defRPr/>
            </a:pPr>
            <a:r>
              <a:rPr lang="en-US" sz="3600" dirty="0"/>
              <a:t>honeytoken</a:t>
            </a:r>
          </a:p>
        </p:txBody>
      </p:sp>
    </p:spTree>
    <p:extLst>
      <p:ext uri="{BB962C8B-B14F-4D97-AF65-F5344CB8AC3E}">
        <p14:creationId xmlns:p14="http://schemas.microsoft.com/office/powerpoint/2010/main" val="2830523885"/>
      </p:ext>
    </p:extLst>
  </p:cSld>
  <p:clrMapOvr>
    <a:masterClrMapping/>
  </p:clrMapOvr>
</p:sld>
</file>

<file path=ppt/slides/slide4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00A614-F625-DB4E-289B-D14C59E19E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52458C5-3F22-E6F0-CF38-C87B7DC7A9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Slide </a:t>
            </a:r>
            <a:fld id="{4CA2B2DB-B91D-4166-98BF-65A0DA7EEE6D}" type="slidenum">
              <a:rPr kumimoji="0" lang="en-US" sz="1800" b="0" i="1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418</a:t>
            </a:fld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2D4EC13-2148-3E95-2CAD-C2828D66EB3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DA2EB28-E115-1284-4692-A1CF8C2308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00" y="228924"/>
            <a:ext cx="13220700" cy="1127125"/>
          </a:xfrm>
        </p:spPr>
        <p:txBody>
          <a:bodyPr/>
          <a:lstStyle/>
          <a:p>
            <a:r>
              <a:rPr kumimoji="0" lang="en-US" sz="72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Review Key Terms</a:t>
            </a:r>
            <a:endParaRPr lang="en-US" i="1" dirty="0"/>
          </a:p>
        </p:txBody>
      </p:sp>
      <p:sp>
        <p:nvSpPr>
          <p:cNvPr id="3" name="Rectangle 1027">
            <a:extLst>
              <a:ext uri="{FF2B5EF4-FFF2-40B4-BE49-F238E27FC236}">
                <a16:creationId xmlns:a16="http://schemas.microsoft.com/office/drawing/2014/main" id="{9E93107C-3B59-0B5F-3064-4BEDC7EA6F89}"/>
              </a:ext>
            </a:extLst>
          </p:cNvPr>
          <p:cNvSpPr>
            <a:spLocks noGrp="1" noChangeArrowheads="1"/>
          </p:cNvSpPr>
          <p:nvPr>
            <p:ph sz="quarter" idx="12"/>
          </p:nvPr>
        </p:nvSpPr>
        <p:spPr>
          <a:xfrm>
            <a:off x="1047750" y="1935162"/>
            <a:ext cx="16192500" cy="7094538"/>
          </a:xfrm>
        </p:spPr>
        <p:txBody>
          <a:bodyPr numCol="2"/>
          <a:lstStyle/>
          <a:p>
            <a:pPr>
              <a:defRPr/>
            </a:pPr>
            <a:r>
              <a:rPr lang="en-US" sz="3600" dirty="0"/>
              <a:t>technical controls</a:t>
            </a:r>
          </a:p>
          <a:p>
            <a:pPr>
              <a:defRPr/>
            </a:pPr>
            <a:r>
              <a:rPr lang="en-US" sz="3600" dirty="0"/>
              <a:t>managerial controls</a:t>
            </a:r>
          </a:p>
          <a:p>
            <a:pPr>
              <a:defRPr/>
            </a:pPr>
            <a:r>
              <a:rPr lang="en-US" sz="3600" dirty="0"/>
              <a:t>operational controls</a:t>
            </a:r>
          </a:p>
          <a:p>
            <a:pPr>
              <a:defRPr/>
            </a:pPr>
            <a:r>
              <a:rPr lang="en-US" sz="3600" dirty="0"/>
              <a:t>physical controls</a:t>
            </a:r>
          </a:p>
          <a:p>
            <a:pPr>
              <a:defRPr/>
            </a:pPr>
            <a:r>
              <a:rPr lang="en-US" sz="3600" dirty="0"/>
              <a:t>deterrent controls</a:t>
            </a:r>
          </a:p>
          <a:p>
            <a:pPr>
              <a:defRPr/>
            </a:pPr>
            <a:r>
              <a:rPr lang="en-US" sz="3600" dirty="0"/>
              <a:t>detective controls</a:t>
            </a:r>
          </a:p>
          <a:p>
            <a:pPr>
              <a:defRPr/>
            </a:pPr>
            <a:r>
              <a:rPr lang="en-US" sz="3600" dirty="0"/>
              <a:t>corrective controls</a:t>
            </a:r>
          </a:p>
          <a:p>
            <a:pPr>
              <a:defRPr/>
            </a:pPr>
            <a:r>
              <a:rPr lang="en-US" sz="3600" dirty="0"/>
              <a:t>compensating controls</a:t>
            </a:r>
          </a:p>
          <a:p>
            <a:pPr>
              <a:defRPr/>
            </a:pPr>
            <a:r>
              <a:rPr lang="en-US" sz="3600" dirty="0"/>
              <a:t>directive controls</a:t>
            </a:r>
          </a:p>
        </p:txBody>
      </p:sp>
    </p:spTree>
    <p:extLst>
      <p:ext uri="{BB962C8B-B14F-4D97-AF65-F5344CB8AC3E}">
        <p14:creationId xmlns:p14="http://schemas.microsoft.com/office/powerpoint/2010/main" val="1643024788"/>
      </p:ext>
    </p:extLst>
  </p:cSld>
  <p:clrMapOvr>
    <a:masterClrMapping/>
  </p:clrMapOvr>
</p:sld>
</file>

<file path=ppt/slides/slide4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306781-4151-A754-9591-BF8CDFAFBE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FC808B5-F174-0DF1-4316-53AFCB34CC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Slide </a:t>
            </a:r>
            <a:fld id="{4CA2B2DB-B91D-4166-98BF-65A0DA7EEE6D}" type="slidenum">
              <a:rPr kumimoji="0" lang="en-US" sz="1800" b="0" i="1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419</a:t>
            </a:fld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9A86C4C-A0F0-FAC4-9F3E-5852541530A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B2043038-4C65-5AE5-1E0D-8D6D38ED7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00" y="228924"/>
            <a:ext cx="13220700" cy="1127125"/>
          </a:xfrm>
        </p:spPr>
        <p:txBody>
          <a:bodyPr/>
          <a:lstStyle/>
          <a:p>
            <a:r>
              <a:rPr kumimoji="0" lang="en-US" sz="72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Review Key Terms</a:t>
            </a:r>
            <a:endParaRPr lang="en-US" i="1" dirty="0"/>
          </a:p>
        </p:txBody>
      </p:sp>
      <p:sp>
        <p:nvSpPr>
          <p:cNvPr id="3" name="Rectangle 1027">
            <a:extLst>
              <a:ext uri="{FF2B5EF4-FFF2-40B4-BE49-F238E27FC236}">
                <a16:creationId xmlns:a16="http://schemas.microsoft.com/office/drawing/2014/main" id="{808D24ED-00AB-F2B1-4E2C-4F07FD3E3BD8}"/>
              </a:ext>
            </a:extLst>
          </p:cNvPr>
          <p:cNvSpPr>
            <a:spLocks noGrp="1" noChangeArrowheads="1"/>
          </p:cNvSpPr>
          <p:nvPr>
            <p:ph sz="quarter" idx="12"/>
          </p:nvPr>
        </p:nvSpPr>
        <p:spPr>
          <a:xfrm>
            <a:off x="1047750" y="1596231"/>
            <a:ext cx="16192500" cy="7094538"/>
          </a:xfrm>
        </p:spPr>
        <p:txBody>
          <a:bodyPr numCol="2"/>
          <a:lstStyle/>
          <a:p>
            <a:pPr>
              <a:spcBef>
                <a:spcPts val="600"/>
              </a:spcBef>
            </a:pPr>
            <a:r>
              <a:rPr lang="en-US" altLang="en-US" sz="3600" dirty="0"/>
              <a:t>business process</a:t>
            </a:r>
          </a:p>
          <a:p>
            <a:pPr>
              <a:spcBef>
                <a:spcPts val="600"/>
              </a:spcBef>
            </a:pPr>
            <a:r>
              <a:rPr lang="en-US" altLang="en-US" sz="3600" dirty="0"/>
              <a:t>approval process</a:t>
            </a:r>
          </a:p>
          <a:p>
            <a:pPr>
              <a:spcBef>
                <a:spcPts val="600"/>
              </a:spcBef>
            </a:pPr>
            <a:r>
              <a:rPr lang="en-US" altLang="en-US" sz="3600" dirty="0"/>
              <a:t>ownership</a:t>
            </a:r>
          </a:p>
          <a:p>
            <a:pPr>
              <a:spcBef>
                <a:spcPts val="600"/>
              </a:spcBef>
            </a:pPr>
            <a:r>
              <a:rPr lang="en-US" altLang="en-US" sz="3600" dirty="0"/>
              <a:t>stakeholder</a:t>
            </a:r>
          </a:p>
          <a:p>
            <a:pPr>
              <a:spcBef>
                <a:spcPts val="600"/>
              </a:spcBef>
            </a:pPr>
            <a:r>
              <a:rPr lang="en-US" altLang="en-US" sz="3600" dirty="0"/>
              <a:t>impact analysis</a:t>
            </a:r>
          </a:p>
          <a:p>
            <a:pPr>
              <a:spcBef>
                <a:spcPts val="600"/>
              </a:spcBef>
            </a:pPr>
            <a:r>
              <a:rPr lang="en-US" altLang="en-US" sz="3600" dirty="0"/>
              <a:t>test result</a:t>
            </a:r>
          </a:p>
          <a:p>
            <a:pPr>
              <a:spcBef>
                <a:spcPts val="600"/>
              </a:spcBef>
            </a:pPr>
            <a:r>
              <a:rPr lang="en-US" altLang="en-US" sz="3600" dirty="0"/>
              <a:t>backout plan</a:t>
            </a:r>
          </a:p>
          <a:p>
            <a:pPr>
              <a:spcBef>
                <a:spcPts val="600"/>
              </a:spcBef>
            </a:pPr>
            <a:r>
              <a:rPr lang="en-US" altLang="en-US" sz="3600" dirty="0"/>
              <a:t>maintenance window</a:t>
            </a:r>
          </a:p>
          <a:p>
            <a:pPr>
              <a:spcBef>
                <a:spcPts val="600"/>
              </a:spcBef>
            </a:pPr>
            <a:r>
              <a:rPr lang="en-US" altLang="en-US" sz="3600" dirty="0"/>
              <a:t>standard operating procedure (SOP)</a:t>
            </a:r>
          </a:p>
          <a:p>
            <a:pPr>
              <a:spcBef>
                <a:spcPts val="600"/>
              </a:spcBef>
            </a:pPr>
            <a:r>
              <a:rPr lang="en-US" altLang="en-US" sz="3600" dirty="0"/>
              <a:t>technical implications</a:t>
            </a:r>
          </a:p>
          <a:p>
            <a:pPr>
              <a:spcBef>
                <a:spcPts val="600"/>
              </a:spcBef>
            </a:pPr>
            <a:r>
              <a:rPr lang="en-US" altLang="en-US" sz="3600" dirty="0"/>
              <a:t>allow list</a:t>
            </a:r>
          </a:p>
          <a:p>
            <a:pPr>
              <a:spcBef>
                <a:spcPts val="600"/>
              </a:spcBef>
            </a:pPr>
            <a:r>
              <a:rPr lang="en-US" altLang="en-US" sz="3600" dirty="0"/>
              <a:t>deny list</a:t>
            </a:r>
          </a:p>
          <a:p>
            <a:pPr>
              <a:spcBef>
                <a:spcPts val="600"/>
              </a:spcBef>
            </a:pPr>
            <a:r>
              <a:rPr lang="en-US" altLang="en-US" sz="3600" dirty="0"/>
              <a:t>restricted activity</a:t>
            </a:r>
          </a:p>
          <a:p>
            <a:pPr>
              <a:spcBef>
                <a:spcPts val="600"/>
              </a:spcBef>
            </a:pPr>
            <a:r>
              <a:rPr lang="en-US" altLang="en-US" sz="3600" dirty="0"/>
              <a:t>downtime</a:t>
            </a:r>
          </a:p>
          <a:p>
            <a:pPr>
              <a:spcBef>
                <a:spcPts val="600"/>
              </a:spcBef>
            </a:pPr>
            <a:r>
              <a:rPr lang="en-US" altLang="en-US" sz="3600" dirty="0"/>
              <a:t>service restart</a:t>
            </a:r>
          </a:p>
          <a:p>
            <a:pPr>
              <a:spcBef>
                <a:spcPts val="600"/>
              </a:spcBef>
            </a:pPr>
            <a:r>
              <a:rPr lang="en-US" altLang="en-US" sz="3600" dirty="0"/>
              <a:t>application restart</a:t>
            </a:r>
          </a:p>
          <a:p>
            <a:pPr>
              <a:spcBef>
                <a:spcPts val="600"/>
              </a:spcBef>
            </a:pPr>
            <a:r>
              <a:rPr lang="en-US" altLang="en-US" sz="3600" dirty="0"/>
              <a:t>legacy application</a:t>
            </a:r>
          </a:p>
          <a:p>
            <a:pPr>
              <a:spcBef>
                <a:spcPts val="600"/>
              </a:spcBef>
            </a:pPr>
            <a:r>
              <a:rPr lang="en-US" altLang="en-US" sz="3600" dirty="0"/>
              <a:t>dependency</a:t>
            </a:r>
          </a:p>
          <a:p>
            <a:pPr>
              <a:spcBef>
                <a:spcPts val="600"/>
              </a:spcBef>
            </a:pPr>
            <a:r>
              <a:rPr lang="en-US" altLang="en-US" sz="3600" dirty="0"/>
              <a:t>documentation</a:t>
            </a:r>
          </a:p>
          <a:p>
            <a:pPr>
              <a:spcBef>
                <a:spcPts val="600"/>
              </a:spcBef>
            </a:pPr>
            <a:r>
              <a:rPr lang="en-US" altLang="en-US" sz="3600" dirty="0"/>
              <a:t>updating diagrams</a:t>
            </a:r>
          </a:p>
          <a:p>
            <a:pPr>
              <a:spcBef>
                <a:spcPts val="600"/>
              </a:spcBef>
            </a:pPr>
            <a:r>
              <a:rPr lang="en-US" altLang="en-US" sz="3600" dirty="0"/>
              <a:t>policy</a:t>
            </a:r>
          </a:p>
          <a:p>
            <a:pPr>
              <a:spcBef>
                <a:spcPts val="600"/>
              </a:spcBef>
            </a:pPr>
            <a:r>
              <a:rPr lang="en-US" altLang="en-US" sz="3600" dirty="0"/>
              <a:t>procedure</a:t>
            </a:r>
          </a:p>
          <a:p>
            <a:pPr>
              <a:spcBef>
                <a:spcPts val="600"/>
              </a:spcBef>
            </a:pPr>
            <a:r>
              <a:rPr lang="en-US" altLang="en-US" sz="3600" dirty="0"/>
              <a:t>version control</a:t>
            </a:r>
          </a:p>
        </p:txBody>
      </p:sp>
    </p:spTree>
    <p:extLst>
      <p:ext uri="{BB962C8B-B14F-4D97-AF65-F5344CB8AC3E}">
        <p14:creationId xmlns:p14="http://schemas.microsoft.com/office/powerpoint/2010/main" val="2650187477"/>
      </p:ext>
    </p:extLst>
  </p:cSld>
  <p:clrMapOvr>
    <a:masterClrMapping/>
  </p:clrMapOvr>
</p:sld>
</file>

<file path=ppt/slides/slide4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B48087-DE0F-E881-96F7-602DEA8AEE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B884640-6511-6EFC-3BD7-9C748657B9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Slide </a:t>
            </a:r>
            <a:fld id="{4CA2B2DB-B91D-4166-98BF-65A0DA7EEE6D}" type="slidenum">
              <a:rPr kumimoji="0" lang="en-US" sz="1800" b="0" i="1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420</a:t>
            </a:fld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9B9F9BC-AC19-B53D-171D-FA53A322E26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0DA6BF25-6080-C8E1-6B3A-64A5C5BD7E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00" y="228924"/>
            <a:ext cx="13220700" cy="1127125"/>
          </a:xfrm>
        </p:spPr>
        <p:txBody>
          <a:bodyPr/>
          <a:lstStyle/>
          <a:p>
            <a:r>
              <a:rPr kumimoji="0" lang="en-US" sz="72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Review Key Terms</a:t>
            </a:r>
            <a:endParaRPr lang="en-US" i="1" dirty="0"/>
          </a:p>
        </p:txBody>
      </p:sp>
      <p:sp>
        <p:nvSpPr>
          <p:cNvPr id="3" name="Rectangle 1027">
            <a:extLst>
              <a:ext uri="{FF2B5EF4-FFF2-40B4-BE49-F238E27FC236}">
                <a16:creationId xmlns:a16="http://schemas.microsoft.com/office/drawing/2014/main" id="{B20BC927-625D-0219-3383-E65A021355EF}"/>
              </a:ext>
            </a:extLst>
          </p:cNvPr>
          <p:cNvSpPr>
            <a:spLocks noGrp="1" noChangeArrowheads="1"/>
          </p:cNvSpPr>
          <p:nvPr>
            <p:ph sz="quarter" idx="12"/>
          </p:nvPr>
        </p:nvSpPr>
        <p:spPr>
          <a:xfrm>
            <a:off x="1047750" y="1935162"/>
            <a:ext cx="16192500" cy="7094538"/>
          </a:xfrm>
        </p:spPr>
        <p:txBody>
          <a:bodyPr numCol="2"/>
          <a:lstStyle/>
          <a:p>
            <a:pPr>
              <a:spcBef>
                <a:spcPts val="600"/>
              </a:spcBef>
            </a:pPr>
            <a:r>
              <a:rPr lang="en-US" altLang="en-US" sz="3600" dirty="0"/>
              <a:t>public key infrastructure (PKI)</a:t>
            </a:r>
          </a:p>
          <a:p>
            <a:pPr>
              <a:spcBef>
                <a:spcPts val="600"/>
              </a:spcBef>
            </a:pPr>
            <a:r>
              <a:rPr lang="en-US" altLang="en-US" sz="3600" dirty="0"/>
              <a:t>private key</a:t>
            </a:r>
          </a:p>
          <a:p>
            <a:pPr>
              <a:spcBef>
                <a:spcPts val="600"/>
              </a:spcBef>
            </a:pPr>
            <a:r>
              <a:rPr lang="en-US" altLang="en-US" sz="3600" dirty="0"/>
              <a:t>public key</a:t>
            </a:r>
          </a:p>
          <a:p>
            <a:pPr>
              <a:spcBef>
                <a:spcPts val="600"/>
              </a:spcBef>
            </a:pPr>
            <a:r>
              <a:rPr lang="en-US" altLang="en-US" sz="3600" dirty="0"/>
              <a:t>key escrow</a:t>
            </a:r>
          </a:p>
          <a:p>
            <a:pPr>
              <a:spcBef>
                <a:spcPts val="600"/>
              </a:spcBef>
            </a:pPr>
            <a:r>
              <a:rPr lang="en-US" altLang="en-US" sz="3600" dirty="0"/>
              <a:t>encryption</a:t>
            </a:r>
          </a:p>
          <a:p>
            <a:pPr>
              <a:spcBef>
                <a:spcPts val="600"/>
              </a:spcBef>
            </a:pPr>
            <a:r>
              <a:rPr lang="en-US" altLang="en-US" sz="3600" dirty="0"/>
              <a:t>level</a:t>
            </a:r>
          </a:p>
          <a:p>
            <a:pPr>
              <a:spcBef>
                <a:spcPts val="600"/>
              </a:spcBef>
            </a:pPr>
            <a:r>
              <a:rPr lang="en-US" altLang="en-US" sz="3600" dirty="0"/>
              <a:t>full-disk encryption</a:t>
            </a:r>
          </a:p>
          <a:p>
            <a:pPr>
              <a:spcBef>
                <a:spcPts val="600"/>
              </a:spcBef>
            </a:pPr>
            <a:r>
              <a:rPr lang="en-US" altLang="en-US" sz="3600" dirty="0"/>
              <a:t>partition</a:t>
            </a:r>
          </a:p>
          <a:p>
            <a:pPr>
              <a:spcBef>
                <a:spcPts val="600"/>
              </a:spcBef>
            </a:pPr>
            <a:r>
              <a:rPr lang="en-US" altLang="en-US" sz="3600" dirty="0"/>
              <a:t>file encryption</a:t>
            </a:r>
          </a:p>
          <a:p>
            <a:pPr>
              <a:spcBef>
                <a:spcPts val="600"/>
              </a:spcBef>
            </a:pPr>
            <a:r>
              <a:rPr lang="en-US" altLang="en-US" sz="3600" dirty="0"/>
              <a:t>volume encryption</a:t>
            </a:r>
          </a:p>
          <a:p>
            <a:pPr>
              <a:spcBef>
                <a:spcPts val="600"/>
              </a:spcBef>
            </a:pPr>
            <a:r>
              <a:rPr lang="en-US" altLang="en-US" sz="3600" dirty="0"/>
              <a:t>database encryption</a:t>
            </a:r>
          </a:p>
          <a:p>
            <a:pPr>
              <a:spcBef>
                <a:spcPts val="600"/>
              </a:spcBef>
            </a:pPr>
            <a:r>
              <a:rPr lang="en-US" altLang="en-US" sz="3600" dirty="0"/>
              <a:t>record-level encryption</a:t>
            </a:r>
          </a:p>
          <a:p>
            <a:pPr>
              <a:spcBef>
                <a:spcPts val="600"/>
              </a:spcBef>
            </a:pPr>
            <a:r>
              <a:rPr lang="en-US" altLang="en-US" sz="3600" dirty="0"/>
              <a:t>transport/communication</a:t>
            </a:r>
          </a:p>
          <a:p>
            <a:pPr>
              <a:spcBef>
                <a:spcPts val="600"/>
              </a:spcBef>
            </a:pPr>
            <a:r>
              <a:rPr lang="en-US" altLang="en-US" sz="3600" dirty="0"/>
              <a:t>symmetric encryption</a:t>
            </a:r>
          </a:p>
          <a:p>
            <a:pPr>
              <a:spcBef>
                <a:spcPts val="600"/>
              </a:spcBef>
            </a:pPr>
            <a:r>
              <a:rPr lang="en-US" altLang="en-US" sz="3600" dirty="0"/>
              <a:t>asymmetric encryption</a:t>
            </a:r>
          </a:p>
          <a:p>
            <a:pPr>
              <a:spcBef>
                <a:spcPts val="600"/>
              </a:spcBef>
            </a:pPr>
            <a:r>
              <a:rPr lang="en-US" altLang="en-US" sz="3600" dirty="0"/>
              <a:t>key exchange</a:t>
            </a:r>
          </a:p>
          <a:p>
            <a:pPr>
              <a:spcBef>
                <a:spcPts val="600"/>
              </a:spcBef>
            </a:pPr>
            <a:r>
              <a:rPr lang="en-US" altLang="en-US" sz="3600" dirty="0"/>
              <a:t>algorithm</a:t>
            </a:r>
          </a:p>
          <a:p>
            <a:pPr>
              <a:spcBef>
                <a:spcPts val="600"/>
              </a:spcBef>
            </a:pPr>
            <a:r>
              <a:rPr lang="en-US" altLang="en-US" sz="3600" dirty="0"/>
              <a:t>key length</a:t>
            </a:r>
          </a:p>
          <a:p>
            <a:pPr>
              <a:spcBef>
                <a:spcPts val="600"/>
              </a:spcBef>
            </a:pPr>
            <a:r>
              <a:rPr lang="en-US" altLang="en-US" sz="3600" dirty="0"/>
              <a:t>tools</a:t>
            </a:r>
          </a:p>
          <a:p>
            <a:pPr>
              <a:spcBef>
                <a:spcPts val="600"/>
              </a:spcBef>
            </a:pPr>
            <a:r>
              <a:rPr lang="en-US" altLang="en-US" sz="3600" dirty="0"/>
              <a:t>Trusted Platform Module (TPM)</a:t>
            </a:r>
          </a:p>
          <a:p>
            <a:pPr>
              <a:spcBef>
                <a:spcPts val="600"/>
              </a:spcBef>
            </a:pPr>
            <a:r>
              <a:rPr lang="en-US" altLang="en-US" sz="3600" dirty="0"/>
              <a:t>Hardware Security Module (HSM)</a:t>
            </a:r>
          </a:p>
        </p:txBody>
      </p:sp>
    </p:spTree>
    <p:extLst>
      <p:ext uri="{BB962C8B-B14F-4D97-AF65-F5344CB8AC3E}">
        <p14:creationId xmlns:p14="http://schemas.microsoft.com/office/powerpoint/2010/main" val="869769508"/>
      </p:ext>
    </p:extLst>
  </p:cSld>
  <p:clrMapOvr>
    <a:masterClrMapping/>
  </p:clrMapOvr>
</p:sld>
</file>

<file path=ppt/slides/slide4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F2DE68-90E5-86D5-3AB2-77C3FEC7EB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6D9B87B-B74F-0B0B-077D-23C0419E0B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Slide </a:t>
            </a:r>
            <a:fld id="{4CA2B2DB-B91D-4166-98BF-65A0DA7EEE6D}" type="slidenum">
              <a:rPr kumimoji="0" lang="en-US" sz="1800" b="0" i="1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421</a:t>
            </a:fld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E85756B-8C9C-446E-C056-822C6C2427D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D015EAF-47A8-D985-20A4-894E21ACD8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00" y="228924"/>
            <a:ext cx="13220700" cy="1127125"/>
          </a:xfrm>
        </p:spPr>
        <p:txBody>
          <a:bodyPr/>
          <a:lstStyle/>
          <a:p>
            <a:r>
              <a:rPr kumimoji="0" lang="en-US" sz="72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Review Key Terms</a:t>
            </a:r>
            <a:endParaRPr lang="en-US" i="1" dirty="0"/>
          </a:p>
        </p:txBody>
      </p:sp>
      <p:sp>
        <p:nvSpPr>
          <p:cNvPr id="3" name="Rectangle 1027">
            <a:extLst>
              <a:ext uri="{FF2B5EF4-FFF2-40B4-BE49-F238E27FC236}">
                <a16:creationId xmlns:a16="http://schemas.microsoft.com/office/drawing/2014/main" id="{FF67D94E-08EC-19AC-F225-C95EB121558D}"/>
              </a:ext>
            </a:extLst>
          </p:cNvPr>
          <p:cNvSpPr>
            <a:spLocks noGrp="1" noChangeArrowheads="1"/>
          </p:cNvSpPr>
          <p:nvPr>
            <p:ph sz="quarter" idx="12"/>
          </p:nvPr>
        </p:nvSpPr>
        <p:spPr>
          <a:xfrm>
            <a:off x="1047750" y="1935162"/>
            <a:ext cx="16192500" cy="7094538"/>
          </a:xfrm>
        </p:spPr>
        <p:txBody>
          <a:bodyPr numCol="2"/>
          <a:lstStyle/>
          <a:p>
            <a:pPr>
              <a:spcBef>
                <a:spcPts val="600"/>
              </a:spcBef>
            </a:pPr>
            <a:r>
              <a:rPr lang="en-US" altLang="en-US" sz="3600" dirty="0"/>
              <a:t>key management system (KMS)</a:t>
            </a:r>
          </a:p>
          <a:p>
            <a:pPr>
              <a:spcBef>
                <a:spcPts val="600"/>
              </a:spcBef>
            </a:pPr>
            <a:r>
              <a:rPr lang="en-US" altLang="en-US" sz="3600" dirty="0"/>
              <a:t>secure enclave</a:t>
            </a:r>
          </a:p>
          <a:p>
            <a:pPr>
              <a:spcBef>
                <a:spcPts val="600"/>
              </a:spcBef>
            </a:pPr>
            <a:r>
              <a:rPr lang="en-US" altLang="en-US" sz="3600" dirty="0"/>
              <a:t>obfuscation</a:t>
            </a:r>
          </a:p>
          <a:p>
            <a:pPr>
              <a:spcBef>
                <a:spcPts val="600"/>
              </a:spcBef>
            </a:pPr>
            <a:r>
              <a:rPr lang="en-US" altLang="en-US" sz="3600" dirty="0"/>
              <a:t>steganography</a:t>
            </a:r>
          </a:p>
          <a:p>
            <a:pPr>
              <a:spcBef>
                <a:spcPts val="600"/>
              </a:spcBef>
            </a:pPr>
            <a:r>
              <a:rPr lang="en-US" altLang="en-US" sz="3600" dirty="0"/>
              <a:t>tokenization</a:t>
            </a:r>
          </a:p>
          <a:p>
            <a:pPr>
              <a:spcBef>
                <a:spcPts val="600"/>
              </a:spcBef>
            </a:pPr>
            <a:r>
              <a:rPr lang="en-US" altLang="en-US" sz="3600" dirty="0"/>
              <a:t>data masking</a:t>
            </a:r>
          </a:p>
          <a:p>
            <a:pPr>
              <a:spcBef>
                <a:spcPts val="600"/>
              </a:spcBef>
            </a:pPr>
            <a:r>
              <a:rPr lang="en-US" altLang="en-US" sz="3600" dirty="0"/>
              <a:t>hashing</a:t>
            </a:r>
          </a:p>
          <a:p>
            <a:pPr>
              <a:spcBef>
                <a:spcPts val="600"/>
              </a:spcBef>
            </a:pPr>
            <a:r>
              <a:rPr lang="en-US" altLang="en-US" sz="3600" dirty="0"/>
              <a:t>salting</a:t>
            </a:r>
          </a:p>
          <a:p>
            <a:pPr>
              <a:spcBef>
                <a:spcPts val="600"/>
              </a:spcBef>
            </a:pPr>
            <a:r>
              <a:rPr lang="en-US" altLang="en-US" sz="3600" dirty="0"/>
              <a:t>digital signature</a:t>
            </a:r>
          </a:p>
          <a:p>
            <a:pPr>
              <a:spcBef>
                <a:spcPts val="600"/>
              </a:spcBef>
            </a:pPr>
            <a:r>
              <a:rPr lang="en-US" altLang="en-US" sz="3600" dirty="0"/>
              <a:t>key stretching</a:t>
            </a:r>
          </a:p>
          <a:p>
            <a:pPr>
              <a:spcBef>
                <a:spcPts val="600"/>
              </a:spcBef>
            </a:pPr>
            <a:r>
              <a:rPr lang="en-US" altLang="en-US" sz="3600" dirty="0"/>
              <a:t>blockchain</a:t>
            </a:r>
          </a:p>
          <a:p>
            <a:pPr>
              <a:spcBef>
                <a:spcPts val="600"/>
              </a:spcBef>
            </a:pPr>
            <a:endParaRPr lang="en-US" altLang="en-US" sz="3600" dirty="0"/>
          </a:p>
          <a:p>
            <a:pPr>
              <a:spcBef>
                <a:spcPts val="600"/>
              </a:spcBef>
            </a:pPr>
            <a:r>
              <a:rPr lang="en-US" altLang="en-US" sz="3600" dirty="0"/>
              <a:t>open public ledger</a:t>
            </a:r>
          </a:p>
          <a:p>
            <a:pPr>
              <a:spcBef>
                <a:spcPts val="600"/>
              </a:spcBef>
            </a:pPr>
            <a:r>
              <a:rPr lang="en-US" altLang="en-US" sz="3600" dirty="0"/>
              <a:t>certificate</a:t>
            </a:r>
          </a:p>
          <a:p>
            <a:pPr>
              <a:spcBef>
                <a:spcPts val="600"/>
              </a:spcBef>
            </a:pPr>
            <a:r>
              <a:rPr lang="en-US" altLang="en-US" sz="3600" dirty="0"/>
              <a:t>certificate authority (CA)</a:t>
            </a:r>
          </a:p>
          <a:p>
            <a:pPr>
              <a:spcBef>
                <a:spcPts val="600"/>
              </a:spcBef>
            </a:pPr>
            <a:r>
              <a:rPr lang="en-US" altLang="en-US" sz="3600" dirty="0"/>
              <a:t>certificate revocation list (CRL)</a:t>
            </a:r>
          </a:p>
          <a:p>
            <a:pPr>
              <a:spcBef>
                <a:spcPts val="600"/>
              </a:spcBef>
            </a:pPr>
            <a:r>
              <a:rPr lang="en-US" altLang="en-US" sz="3600" dirty="0"/>
              <a:t>Online Certificate Status Protocol (OCSP)</a:t>
            </a:r>
          </a:p>
          <a:p>
            <a:pPr>
              <a:spcBef>
                <a:spcPts val="600"/>
              </a:spcBef>
            </a:pPr>
            <a:r>
              <a:rPr lang="en-US" altLang="en-US" sz="3600" dirty="0"/>
              <a:t>self-signed certificate</a:t>
            </a:r>
          </a:p>
          <a:p>
            <a:pPr>
              <a:spcBef>
                <a:spcPts val="600"/>
              </a:spcBef>
            </a:pPr>
            <a:r>
              <a:rPr lang="en-US" altLang="en-US" sz="3600" dirty="0"/>
              <a:t>certificate-signing request (CSR)</a:t>
            </a:r>
          </a:p>
          <a:p>
            <a:pPr>
              <a:spcBef>
                <a:spcPts val="600"/>
              </a:spcBef>
            </a:pPr>
            <a:r>
              <a:rPr lang="en-US" altLang="en-US" sz="3600" dirty="0"/>
              <a:t>third-party certificate</a:t>
            </a:r>
          </a:p>
          <a:p>
            <a:pPr>
              <a:spcBef>
                <a:spcPts val="600"/>
              </a:spcBef>
            </a:pPr>
            <a:r>
              <a:rPr lang="en-US" altLang="en-US" sz="3600" dirty="0"/>
              <a:t>root of trust</a:t>
            </a:r>
          </a:p>
          <a:p>
            <a:pPr>
              <a:spcBef>
                <a:spcPts val="600"/>
              </a:spcBef>
            </a:pPr>
            <a:r>
              <a:rPr lang="en-US" altLang="en-US" sz="3600" dirty="0"/>
              <a:t>wildcard</a:t>
            </a:r>
          </a:p>
        </p:txBody>
      </p:sp>
    </p:spTree>
    <p:extLst>
      <p:ext uri="{BB962C8B-B14F-4D97-AF65-F5344CB8AC3E}">
        <p14:creationId xmlns:p14="http://schemas.microsoft.com/office/powerpoint/2010/main" val="1082081970"/>
      </p:ext>
    </p:extLst>
  </p:cSld>
  <p:clrMapOvr>
    <a:masterClrMapping/>
  </p:clrMapOvr>
</p:sld>
</file>

<file path=ppt/slides/slide4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F3EF64-6D6E-FD5A-5D68-3ABCC2C2D2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EF003E8-92D8-E369-F7D0-B44F113329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Slide </a:t>
            </a:r>
            <a:fld id="{4CA2B2DB-B91D-4166-98BF-65A0DA7EEE6D}" type="slidenum">
              <a:rPr kumimoji="0" lang="en-US" sz="1800" b="0" i="1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422</a:t>
            </a:fld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3CBE9DC-F496-8B94-D8A8-8C9E947E38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B91474E5-6AE6-4382-BEE5-FBE7F8E159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00" y="228924"/>
            <a:ext cx="13220700" cy="1127125"/>
          </a:xfrm>
        </p:spPr>
        <p:txBody>
          <a:bodyPr/>
          <a:lstStyle/>
          <a:p>
            <a:r>
              <a:rPr kumimoji="0" lang="en-US" sz="72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Review Key Terms</a:t>
            </a:r>
            <a:endParaRPr lang="en-US" i="1" dirty="0"/>
          </a:p>
        </p:txBody>
      </p:sp>
      <p:sp>
        <p:nvSpPr>
          <p:cNvPr id="3" name="Rectangle 1027">
            <a:extLst>
              <a:ext uri="{FF2B5EF4-FFF2-40B4-BE49-F238E27FC236}">
                <a16:creationId xmlns:a16="http://schemas.microsoft.com/office/drawing/2014/main" id="{330A3594-B1B9-4B2F-3C1C-7050BA208E39}"/>
              </a:ext>
            </a:extLst>
          </p:cNvPr>
          <p:cNvSpPr>
            <a:spLocks noGrp="1" noChangeArrowheads="1"/>
          </p:cNvSpPr>
          <p:nvPr>
            <p:ph sz="quarter" idx="12"/>
          </p:nvPr>
        </p:nvSpPr>
        <p:spPr>
          <a:xfrm>
            <a:off x="1047750" y="1935162"/>
            <a:ext cx="16192500" cy="7094538"/>
          </a:xfrm>
        </p:spPr>
        <p:txBody>
          <a:bodyPr numCol="2"/>
          <a:lstStyle/>
          <a:p>
            <a:pPr>
              <a:spcBef>
                <a:spcPts val="600"/>
              </a:spcBef>
            </a:pPr>
            <a:r>
              <a:rPr lang="en-US" altLang="en-US" sz="3600" dirty="0"/>
              <a:t>threat actor</a:t>
            </a:r>
          </a:p>
          <a:p>
            <a:pPr>
              <a:spcBef>
                <a:spcPts val="600"/>
              </a:spcBef>
            </a:pPr>
            <a:r>
              <a:rPr lang="en-US" altLang="en-US" sz="3600" dirty="0"/>
              <a:t>unskilled attacker</a:t>
            </a:r>
          </a:p>
          <a:p>
            <a:pPr>
              <a:spcBef>
                <a:spcPts val="600"/>
              </a:spcBef>
            </a:pPr>
            <a:r>
              <a:rPr lang="en-US" altLang="en-US" sz="3600" dirty="0"/>
              <a:t>hacktivist</a:t>
            </a:r>
          </a:p>
          <a:p>
            <a:pPr>
              <a:spcBef>
                <a:spcPts val="600"/>
              </a:spcBef>
            </a:pPr>
            <a:r>
              <a:rPr lang="en-US" altLang="en-US" sz="3600" dirty="0"/>
              <a:t>organized crime</a:t>
            </a:r>
          </a:p>
          <a:p>
            <a:pPr>
              <a:spcBef>
                <a:spcPts val="600"/>
              </a:spcBef>
            </a:pPr>
            <a:r>
              <a:rPr lang="en-US" altLang="en-US" sz="3600" dirty="0"/>
              <a:t>nation-state actor</a:t>
            </a:r>
          </a:p>
          <a:p>
            <a:pPr>
              <a:spcBef>
                <a:spcPts val="600"/>
              </a:spcBef>
            </a:pPr>
            <a:r>
              <a:rPr lang="en-US" altLang="en-US" sz="3600" dirty="0"/>
              <a:t>insider threat</a:t>
            </a:r>
          </a:p>
          <a:p>
            <a:pPr>
              <a:spcBef>
                <a:spcPts val="600"/>
              </a:spcBef>
            </a:pPr>
            <a:r>
              <a:rPr lang="en-US" altLang="en-US" sz="3600" dirty="0"/>
              <a:t>shadow IT</a:t>
            </a:r>
          </a:p>
          <a:p>
            <a:pPr>
              <a:spcBef>
                <a:spcPts val="600"/>
              </a:spcBef>
            </a:pPr>
            <a:r>
              <a:rPr lang="en-US" altLang="en-US" sz="3600" dirty="0"/>
              <a:t>resource</a:t>
            </a:r>
          </a:p>
          <a:p>
            <a:pPr>
              <a:spcBef>
                <a:spcPts val="600"/>
              </a:spcBef>
            </a:pPr>
            <a:r>
              <a:rPr lang="en-US" altLang="en-US" sz="3600" dirty="0"/>
              <a:t>funding</a:t>
            </a:r>
          </a:p>
          <a:p>
            <a:pPr>
              <a:spcBef>
                <a:spcPts val="600"/>
              </a:spcBef>
            </a:pPr>
            <a:r>
              <a:rPr lang="en-US" altLang="en-US" sz="3600" dirty="0"/>
              <a:t>motivation</a:t>
            </a:r>
          </a:p>
          <a:p>
            <a:pPr>
              <a:spcBef>
                <a:spcPts val="600"/>
              </a:spcBef>
            </a:pPr>
            <a:r>
              <a:rPr lang="en-US" altLang="en-US" sz="3600" dirty="0"/>
              <a:t>data exfiltration</a:t>
            </a:r>
          </a:p>
          <a:p>
            <a:pPr>
              <a:spcBef>
                <a:spcPts val="600"/>
              </a:spcBef>
            </a:pPr>
            <a:r>
              <a:rPr lang="en-US" altLang="en-US" sz="3600" dirty="0"/>
              <a:t>espionage</a:t>
            </a:r>
          </a:p>
          <a:p>
            <a:pPr>
              <a:spcBef>
                <a:spcPts val="600"/>
              </a:spcBef>
            </a:pPr>
            <a:r>
              <a:rPr lang="en-US" altLang="en-US" sz="3600" dirty="0"/>
              <a:t>service disruption</a:t>
            </a:r>
          </a:p>
          <a:p>
            <a:pPr>
              <a:spcBef>
                <a:spcPts val="600"/>
              </a:spcBef>
            </a:pPr>
            <a:r>
              <a:rPr lang="en-US" altLang="en-US" sz="3600" dirty="0"/>
              <a:t>blackmail</a:t>
            </a:r>
          </a:p>
          <a:p>
            <a:pPr>
              <a:spcBef>
                <a:spcPts val="600"/>
              </a:spcBef>
            </a:pPr>
            <a:r>
              <a:rPr lang="en-US" altLang="en-US" sz="3600" dirty="0"/>
              <a:t>financial gain</a:t>
            </a:r>
          </a:p>
          <a:p>
            <a:pPr>
              <a:spcBef>
                <a:spcPts val="600"/>
              </a:spcBef>
            </a:pPr>
            <a:r>
              <a:rPr lang="en-US" altLang="en-US" sz="3600" dirty="0"/>
              <a:t>philosophical/political beliefs</a:t>
            </a:r>
          </a:p>
          <a:p>
            <a:pPr>
              <a:spcBef>
                <a:spcPts val="600"/>
              </a:spcBef>
            </a:pPr>
            <a:r>
              <a:rPr lang="en-US" altLang="en-US" sz="3600" dirty="0"/>
              <a:t>ethical</a:t>
            </a:r>
          </a:p>
          <a:p>
            <a:pPr>
              <a:spcBef>
                <a:spcPts val="600"/>
              </a:spcBef>
            </a:pPr>
            <a:r>
              <a:rPr lang="en-US" altLang="en-US" sz="3600" dirty="0"/>
              <a:t>revenge</a:t>
            </a:r>
          </a:p>
          <a:p>
            <a:pPr>
              <a:spcBef>
                <a:spcPts val="600"/>
              </a:spcBef>
            </a:pPr>
            <a:r>
              <a:rPr lang="en-US" altLang="en-US" sz="3600" dirty="0"/>
              <a:t>disruption/chaos</a:t>
            </a:r>
          </a:p>
          <a:p>
            <a:pPr>
              <a:spcBef>
                <a:spcPts val="600"/>
              </a:spcBef>
            </a:pPr>
            <a:r>
              <a:rPr lang="en-US" altLang="en-US" sz="3600" dirty="0"/>
              <a:t>war</a:t>
            </a:r>
          </a:p>
        </p:txBody>
      </p:sp>
    </p:spTree>
    <p:extLst>
      <p:ext uri="{BB962C8B-B14F-4D97-AF65-F5344CB8AC3E}">
        <p14:creationId xmlns:p14="http://schemas.microsoft.com/office/powerpoint/2010/main" val="940765807"/>
      </p:ext>
    </p:extLst>
  </p:cSld>
  <p:clrMapOvr>
    <a:masterClrMapping/>
  </p:clrMapOvr>
</p:sld>
</file>

<file path=ppt/slides/slide4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43A48B-A5B3-5D31-26DB-6A89F0D74A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1CB7933-E32A-A9B5-ED56-DE866403FA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Slide </a:t>
            </a:r>
            <a:fld id="{4CA2B2DB-B91D-4166-98BF-65A0DA7EEE6D}" type="slidenum">
              <a:rPr kumimoji="0" lang="en-US" sz="1800" b="0" i="1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423</a:t>
            </a:fld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8AC20A-10A6-A83D-9A4F-CEFD6E2AA81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BCAF808A-8BBE-975D-7589-8A89F3BCA5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00" y="228924"/>
            <a:ext cx="13220700" cy="1127125"/>
          </a:xfrm>
        </p:spPr>
        <p:txBody>
          <a:bodyPr/>
          <a:lstStyle/>
          <a:p>
            <a:r>
              <a:rPr kumimoji="0" lang="en-US" sz="72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Review Key Terms</a:t>
            </a:r>
            <a:endParaRPr lang="en-US" i="1" dirty="0"/>
          </a:p>
        </p:txBody>
      </p:sp>
      <p:sp>
        <p:nvSpPr>
          <p:cNvPr id="3" name="Rectangle 1027">
            <a:extLst>
              <a:ext uri="{FF2B5EF4-FFF2-40B4-BE49-F238E27FC236}">
                <a16:creationId xmlns:a16="http://schemas.microsoft.com/office/drawing/2014/main" id="{0D1A91E6-2137-B8EE-3716-D1743314732E}"/>
              </a:ext>
            </a:extLst>
          </p:cNvPr>
          <p:cNvSpPr>
            <a:spLocks noGrp="1" noChangeArrowheads="1"/>
          </p:cNvSpPr>
          <p:nvPr>
            <p:ph sz="quarter" idx="12"/>
          </p:nvPr>
        </p:nvSpPr>
        <p:spPr>
          <a:xfrm>
            <a:off x="1047750" y="1935162"/>
            <a:ext cx="16192500" cy="6865938"/>
          </a:xfrm>
        </p:spPr>
        <p:txBody>
          <a:bodyPr numCol="2"/>
          <a:lstStyle/>
          <a:p>
            <a:pPr>
              <a:spcBef>
                <a:spcPts val="300"/>
              </a:spcBef>
            </a:pPr>
            <a:r>
              <a:rPr lang="en-US" altLang="en-US" dirty="0"/>
              <a:t>Short Message Service (SMS)</a:t>
            </a:r>
          </a:p>
          <a:p>
            <a:pPr>
              <a:spcBef>
                <a:spcPts val="300"/>
              </a:spcBef>
            </a:pPr>
            <a:r>
              <a:rPr lang="en-US" altLang="en-US" dirty="0"/>
              <a:t>spam</a:t>
            </a:r>
          </a:p>
          <a:p>
            <a:pPr>
              <a:spcBef>
                <a:spcPts val="300"/>
              </a:spcBef>
            </a:pPr>
            <a:r>
              <a:rPr lang="en-US" altLang="en-US" dirty="0"/>
              <a:t>image-based threats</a:t>
            </a:r>
          </a:p>
          <a:p>
            <a:pPr>
              <a:spcBef>
                <a:spcPts val="300"/>
              </a:spcBef>
            </a:pPr>
            <a:r>
              <a:rPr lang="en-US" altLang="en-US" dirty="0"/>
              <a:t>file-based threats</a:t>
            </a:r>
          </a:p>
          <a:p>
            <a:pPr>
              <a:spcBef>
                <a:spcPts val="300"/>
              </a:spcBef>
            </a:pPr>
            <a:r>
              <a:rPr lang="en-US" altLang="en-US" dirty="0"/>
              <a:t>voice call threats</a:t>
            </a:r>
          </a:p>
          <a:p>
            <a:pPr>
              <a:spcBef>
                <a:spcPts val="300"/>
              </a:spcBef>
            </a:pPr>
            <a:r>
              <a:rPr lang="en-US" altLang="en-US" dirty="0"/>
              <a:t>removable device threats</a:t>
            </a:r>
          </a:p>
          <a:p>
            <a:pPr>
              <a:spcBef>
                <a:spcPts val="300"/>
              </a:spcBef>
            </a:pPr>
            <a:r>
              <a:rPr lang="en-US" altLang="en-US" dirty="0"/>
              <a:t>vulnerable software</a:t>
            </a:r>
          </a:p>
          <a:p>
            <a:pPr>
              <a:spcBef>
                <a:spcPts val="300"/>
              </a:spcBef>
            </a:pPr>
            <a:r>
              <a:rPr lang="en-US" altLang="en-US" dirty="0"/>
              <a:t>client-based security</a:t>
            </a:r>
          </a:p>
          <a:p>
            <a:pPr>
              <a:spcBef>
                <a:spcPts val="300"/>
              </a:spcBef>
            </a:pPr>
            <a:r>
              <a:rPr lang="en-US" altLang="en-US" dirty="0"/>
              <a:t>agentless security</a:t>
            </a:r>
          </a:p>
          <a:p>
            <a:pPr>
              <a:spcBef>
                <a:spcPts val="300"/>
              </a:spcBef>
            </a:pPr>
            <a:r>
              <a:rPr lang="en-US" altLang="en-US" dirty="0"/>
              <a:t>unsupported systems and applications</a:t>
            </a:r>
          </a:p>
          <a:p>
            <a:pPr>
              <a:spcBef>
                <a:spcPts val="300"/>
              </a:spcBef>
            </a:pPr>
            <a:r>
              <a:rPr lang="en-US" altLang="en-US" dirty="0"/>
              <a:t>wireless network</a:t>
            </a:r>
          </a:p>
          <a:p>
            <a:pPr>
              <a:spcBef>
                <a:spcPts val="300"/>
              </a:spcBef>
            </a:pPr>
            <a:r>
              <a:rPr lang="en-US" altLang="en-US" dirty="0"/>
              <a:t>wired network</a:t>
            </a:r>
          </a:p>
          <a:p>
            <a:pPr>
              <a:spcBef>
                <a:spcPts val="300"/>
              </a:spcBef>
            </a:pPr>
            <a:r>
              <a:rPr lang="en-US" altLang="en-US" dirty="0"/>
              <a:t>Bluetooth network</a:t>
            </a:r>
          </a:p>
          <a:p>
            <a:pPr>
              <a:spcBef>
                <a:spcPts val="300"/>
              </a:spcBef>
            </a:pPr>
            <a:r>
              <a:rPr lang="en-US" altLang="en-US" dirty="0"/>
              <a:t>open service ports</a:t>
            </a:r>
          </a:p>
          <a:p>
            <a:pPr>
              <a:spcBef>
                <a:spcPts val="300"/>
              </a:spcBef>
            </a:pPr>
            <a:r>
              <a:rPr lang="en-US" altLang="en-US" dirty="0"/>
              <a:t>supply chain</a:t>
            </a:r>
          </a:p>
          <a:p>
            <a:pPr>
              <a:spcBef>
                <a:spcPts val="300"/>
              </a:spcBef>
            </a:pPr>
            <a:r>
              <a:rPr lang="en-US" altLang="en-US" dirty="0"/>
              <a:t>phishing</a:t>
            </a:r>
          </a:p>
          <a:p>
            <a:pPr>
              <a:spcBef>
                <a:spcPts val="300"/>
              </a:spcBef>
            </a:pPr>
            <a:r>
              <a:rPr lang="en-US" altLang="en-US" dirty="0"/>
              <a:t>vishing</a:t>
            </a:r>
          </a:p>
          <a:p>
            <a:pPr>
              <a:spcBef>
                <a:spcPts val="300"/>
              </a:spcBef>
            </a:pPr>
            <a:r>
              <a:rPr lang="en-US" altLang="en-US" dirty="0"/>
              <a:t>smishing</a:t>
            </a:r>
          </a:p>
          <a:p>
            <a:pPr>
              <a:spcBef>
                <a:spcPts val="300"/>
              </a:spcBef>
            </a:pPr>
            <a:r>
              <a:rPr lang="en-US" altLang="en-US" dirty="0"/>
              <a:t>misinformation</a:t>
            </a:r>
          </a:p>
          <a:p>
            <a:pPr>
              <a:spcBef>
                <a:spcPts val="300"/>
              </a:spcBef>
            </a:pPr>
            <a:r>
              <a:rPr lang="en-US" altLang="en-US" dirty="0"/>
              <a:t>disinformation</a:t>
            </a:r>
          </a:p>
          <a:p>
            <a:pPr>
              <a:spcBef>
                <a:spcPts val="300"/>
              </a:spcBef>
            </a:pPr>
            <a:r>
              <a:rPr lang="en-US" altLang="en-US" dirty="0"/>
              <a:t>pretexting</a:t>
            </a:r>
          </a:p>
          <a:p>
            <a:pPr>
              <a:spcBef>
                <a:spcPts val="300"/>
              </a:spcBef>
            </a:pPr>
            <a:r>
              <a:rPr lang="en-US" altLang="en-US" dirty="0"/>
              <a:t>watering hole attack</a:t>
            </a:r>
          </a:p>
          <a:p>
            <a:pPr>
              <a:spcBef>
                <a:spcPts val="300"/>
              </a:spcBef>
            </a:pPr>
            <a:r>
              <a:rPr lang="en-US" altLang="en-US" dirty="0"/>
              <a:t>brand impersonation</a:t>
            </a:r>
          </a:p>
          <a:p>
            <a:pPr>
              <a:spcBef>
                <a:spcPts val="300"/>
              </a:spcBef>
            </a:pPr>
            <a:r>
              <a:rPr lang="en-US" altLang="en-US" dirty="0" err="1"/>
              <a:t>typosquatting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603853154"/>
      </p:ext>
    </p:extLst>
  </p:cSld>
  <p:clrMapOvr>
    <a:masterClrMapping/>
  </p:clrMapOvr>
</p:sld>
</file>

<file path=ppt/slides/slide4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200904-B5B1-49CE-C2AE-06D4FEC460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3E28520-5982-4652-5199-6A7D6D3F18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Slide </a:t>
            </a:r>
            <a:fld id="{4CA2B2DB-B91D-4166-98BF-65A0DA7EEE6D}" type="slidenum">
              <a:rPr kumimoji="0" lang="en-US" sz="1800" b="0" i="1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424</a:t>
            </a:fld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CEE9688-6D30-5E76-F668-E4D5C3DF454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C29568F-96B7-B16F-3755-56571E3406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00" y="228924"/>
            <a:ext cx="13220700" cy="1127125"/>
          </a:xfrm>
        </p:spPr>
        <p:txBody>
          <a:bodyPr/>
          <a:lstStyle/>
          <a:p>
            <a:r>
              <a:rPr kumimoji="0" lang="en-US" sz="72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Review Key Terms</a:t>
            </a:r>
            <a:endParaRPr lang="en-US" i="1" dirty="0"/>
          </a:p>
        </p:txBody>
      </p:sp>
      <p:sp>
        <p:nvSpPr>
          <p:cNvPr id="3" name="Rectangle 1027">
            <a:extLst>
              <a:ext uri="{FF2B5EF4-FFF2-40B4-BE49-F238E27FC236}">
                <a16:creationId xmlns:a16="http://schemas.microsoft.com/office/drawing/2014/main" id="{C90AA331-1653-6EC4-2037-D653A0FAC10F}"/>
              </a:ext>
            </a:extLst>
          </p:cNvPr>
          <p:cNvSpPr>
            <a:spLocks noGrp="1" noChangeArrowheads="1"/>
          </p:cNvSpPr>
          <p:nvPr>
            <p:ph sz="quarter" idx="12"/>
          </p:nvPr>
        </p:nvSpPr>
        <p:spPr>
          <a:xfrm>
            <a:off x="1047750" y="1935162"/>
            <a:ext cx="16192500" cy="7094538"/>
          </a:xfrm>
        </p:spPr>
        <p:txBody>
          <a:bodyPr numCol="2"/>
          <a:lstStyle/>
          <a:p>
            <a:pPr>
              <a:spcBef>
                <a:spcPts val="300"/>
              </a:spcBef>
            </a:pPr>
            <a:r>
              <a:rPr lang="en-US" altLang="en-US" sz="3600" dirty="0"/>
              <a:t>memory injection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buffer overflow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race condition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malicious update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operating system-based vulnerability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Structured Query Language injection (SQLi) vulnerability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cross-site scripting (XSS) vulnerability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firmware vulnerability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end-of-life (EOL)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legacy platform or device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virtual machine (VM) escape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resource reuse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service provider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hardware provider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software provider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cryptographic vulnerability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misconfiguration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side loading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jailbreaking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zero-day vulnerability</a:t>
            </a:r>
          </a:p>
        </p:txBody>
      </p:sp>
    </p:spTree>
    <p:extLst>
      <p:ext uri="{BB962C8B-B14F-4D97-AF65-F5344CB8AC3E}">
        <p14:creationId xmlns:p14="http://schemas.microsoft.com/office/powerpoint/2010/main" val="913302513"/>
      </p:ext>
    </p:extLst>
  </p:cSld>
  <p:clrMapOvr>
    <a:masterClrMapping/>
  </p:clrMapOvr>
</p:sld>
</file>

<file path=ppt/slides/slide4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EAAC5D-ED1B-D435-67B9-FC227A7458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0F5BB99-AB85-B4B8-D6E0-742276C665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Slide </a:t>
            </a:r>
            <a:fld id="{4CA2B2DB-B91D-4166-98BF-65A0DA7EEE6D}" type="slidenum">
              <a:rPr kumimoji="0" lang="en-US" sz="1800" b="0" i="1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425</a:t>
            </a:fld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28C2C0F-27B3-0AE7-1A97-32DC3D3612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3A2321F1-1675-899E-240F-B44B1A8301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00" y="228924"/>
            <a:ext cx="13220700" cy="1127125"/>
          </a:xfrm>
        </p:spPr>
        <p:txBody>
          <a:bodyPr/>
          <a:lstStyle/>
          <a:p>
            <a:r>
              <a:rPr kumimoji="0" lang="en-US" sz="72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Review Key Terms</a:t>
            </a:r>
            <a:endParaRPr lang="en-US" i="1" dirty="0"/>
          </a:p>
        </p:txBody>
      </p:sp>
      <p:sp>
        <p:nvSpPr>
          <p:cNvPr id="3" name="Rectangle 1027">
            <a:extLst>
              <a:ext uri="{FF2B5EF4-FFF2-40B4-BE49-F238E27FC236}">
                <a16:creationId xmlns:a16="http://schemas.microsoft.com/office/drawing/2014/main" id="{A67A5E5C-911C-B8DA-55B0-AC84721E80B7}"/>
              </a:ext>
            </a:extLst>
          </p:cNvPr>
          <p:cNvSpPr>
            <a:spLocks noGrp="1" noChangeArrowheads="1"/>
          </p:cNvSpPr>
          <p:nvPr>
            <p:ph sz="quarter" idx="12"/>
          </p:nvPr>
        </p:nvSpPr>
        <p:spPr>
          <a:xfrm>
            <a:off x="1047750" y="1935162"/>
            <a:ext cx="16192500" cy="7094538"/>
          </a:xfrm>
        </p:spPr>
        <p:txBody>
          <a:bodyPr numCol="2"/>
          <a:lstStyle/>
          <a:p>
            <a:pPr>
              <a:spcBef>
                <a:spcPts val="300"/>
              </a:spcBef>
            </a:pPr>
            <a:r>
              <a:rPr lang="en-US" altLang="en-US" sz="3600" dirty="0"/>
              <a:t>malware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ransomware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Trojan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worm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spyware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bloatware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virus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keylogger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logic bomb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rootkit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brute-force attack</a:t>
            </a:r>
          </a:p>
          <a:p>
            <a:pPr>
              <a:spcBef>
                <a:spcPts val="300"/>
              </a:spcBef>
            </a:pPr>
            <a:endParaRPr lang="en-US" altLang="en-US" sz="3600" dirty="0"/>
          </a:p>
          <a:p>
            <a:pPr>
              <a:spcBef>
                <a:spcPts val="300"/>
              </a:spcBef>
            </a:pPr>
            <a:endParaRPr lang="en-US" altLang="en-US" sz="3600" dirty="0"/>
          </a:p>
          <a:p>
            <a:pPr>
              <a:spcBef>
                <a:spcPts val="300"/>
              </a:spcBef>
            </a:pPr>
            <a:r>
              <a:rPr lang="en-US" altLang="en-US" sz="3600" dirty="0"/>
              <a:t>radio frequency identification (RFID) cloning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environmental threat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network attack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distributed denial-of-service (DDoS) attack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amplified DDoS attack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reflected DDoS attack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Domain Name System (DNS) attack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wireless attack</a:t>
            </a:r>
          </a:p>
        </p:txBody>
      </p:sp>
    </p:spTree>
    <p:extLst>
      <p:ext uri="{BB962C8B-B14F-4D97-AF65-F5344CB8AC3E}">
        <p14:creationId xmlns:p14="http://schemas.microsoft.com/office/powerpoint/2010/main" val="1793643557"/>
      </p:ext>
    </p:extLst>
  </p:cSld>
  <p:clrMapOvr>
    <a:masterClrMapping/>
  </p:clrMapOvr>
</p:sld>
</file>

<file path=ppt/slides/slide4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F54F17-A9B6-112D-30D3-E5DDD487F9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C995B54-5326-3CCE-0DA1-2A5934B6E1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Slide </a:t>
            </a:r>
            <a:fld id="{4CA2B2DB-B91D-4166-98BF-65A0DA7EEE6D}" type="slidenum">
              <a:rPr kumimoji="0" lang="en-US" sz="1800" b="0" i="1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426</a:t>
            </a:fld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8DE6C71-44E6-47CF-A29E-E1D1F0A7799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A64457E4-E4C4-C85D-0CB2-20B561C4D3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00" y="228924"/>
            <a:ext cx="13220700" cy="1127125"/>
          </a:xfrm>
        </p:spPr>
        <p:txBody>
          <a:bodyPr/>
          <a:lstStyle/>
          <a:p>
            <a:r>
              <a:rPr kumimoji="0" lang="en-US" sz="72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Review Key Terms</a:t>
            </a:r>
            <a:endParaRPr lang="en-US" i="1" dirty="0"/>
          </a:p>
        </p:txBody>
      </p:sp>
      <p:sp>
        <p:nvSpPr>
          <p:cNvPr id="3" name="Rectangle 1027">
            <a:extLst>
              <a:ext uri="{FF2B5EF4-FFF2-40B4-BE49-F238E27FC236}">
                <a16:creationId xmlns:a16="http://schemas.microsoft.com/office/drawing/2014/main" id="{D2007B5C-F1ED-19D2-7A72-661D33BB5C7E}"/>
              </a:ext>
            </a:extLst>
          </p:cNvPr>
          <p:cNvSpPr>
            <a:spLocks noGrp="1" noChangeArrowheads="1"/>
          </p:cNvSpPr>
          <p:nvPr>
            <p:ph sz="quarter" idx="12"/>
          </p:nvPr>
        </p:nvSpPr>
        <p:spPr>
          <a:xfrm>
            <a:off x="1047750" y="1935162"/>
            <a:ext cx="16192500" cy="7094538"/>
          </a:xfrm>
        </p:spPr>
        <p:txBody>
          <a:bodyPr numCol="2"/>
          <a:lstStyle/>
          <a:p>
            <a:pPr>
              <a:spcBef>
                <a:spcPts val="300"/>
              </a:spcBef>
            </a:pPr>
            <a:r>
              <a:rPr lang="en-US" altLang="en-US" sz="3600" dirty="0"/>
              <a:t>on-path attack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credential replay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malicious code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application attack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injection attack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buffer overflow attack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replay attack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privilege escalation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forgery attack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directory traversal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cryptographic attack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downgrade attack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collision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birthday attack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password attack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indicator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account lockout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concurrent session usage</a:t>
            </a:r>
          </a:p>
        </p:txBody>
      </p:sp>
    </p:spTree>
    <p:extLst>
      <p:ext uri="{BB962C8B-B14F-4D97-AF65-F5344CB8AC3E}">
        <p14:creationId xmlns:p14="http://schemas.microsoft.com/office/powerpoint/2010/main" val="2740584606"/>
      </p:ext>
    </p:extLst>
  </p:cSld>
  <p:clrMapOvr>
    <a:masterClrMapping/>
  </p:clrMapOvr>
</p:sld>
</file>

<file path=ppt/slides/slide4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FE768F-11F0-5347-2074-03E7A5A435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8130E94-08D3-A768-541B-0A11DECADE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Slide </a:t>
            </a:r>
            <a:fld id="{4CA2B2DB-B91D-4166-98BF-65A0DA7EEE6D}" type="slidenum">
              <a:rPr kumimoji="0" lang="en-US" sz="1800" b="0" i="1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427</a:t>
            </a:fld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C3EF1F1-E6BC-407A-632E-62297C4C64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27FEF8D-D2AF-C2CD-FFC2-CE769BE489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00" y="228924"/>
            <a:ext cx="13220700" cy="1127125"/>
          </a:xfrm>
        </p:spPr>
        <p:txBody>
          <a:bodyPr/>
          <a:lstStyle/>
          <a:p>
            <a:r>
              <a:rPr kumimoji="0" lang="en-US" sz="72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Review Key Terms</a:t>
            </a:r>
            <a:endParaRPr lang="en-US" i="1" dirty="0"/>
          </a:p>
        </p:txBody>
      </p:sp>
      <p:sp>
        <p:nvSpPr>
          <p:cNvPr id="3" name="Rectangle 1027">
            <a:extLst>
              <a:ext uri="{FF2B5EF4-FFF2-40B4-BE49-F238E27FC236}">
                <a16:creationId xmlns:a16="http://schemas.microsoft.com/office/drawing/2014/main" id="{451C8EBE-5913-C219-9445-3BCF30053FE9}"/>
              </a:ext>
            </a:extLst>
          </p:cNvPr>
          <p:cNvSpPr>
            <a:spLocks noGrp="1" noChangeArrowheads="1"/>
          </p:cNvSpPr>
          <p:nvPr>
            <p:ph sz="quarter" idx="12"/>
          </p:nvPr>
        </p:nvSpPr>
        <p:spPr>
          <a:xfrm>
            <a:off x="1047750" y="1935162"/>
            <a:ext cx="16192500" cy="7094538"/>
          </a:xfrm>
        </p:spPr>
        <p:txBody>
          <a:bodyPr numCol="2"/>
          <a:lstStyle/>
          <a:p>
            <a:pPr>
              <a:spcBef>
                <a:spcPts val="300"/>
              </a:spcBef>
            </a:pPr>
            <a:r>
              <a:rPr lang="en-US" altLang="en-US" sz="3600" dirty="0"/>
              <a:t>segmentation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access control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access control list (ACL)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permissions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application allow list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isolation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patching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encryption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monitoring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principle of least privilege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configuration enforcement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decommissioning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hardening techniques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installation of endpoint protection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host-based firewall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host-based intrusion prevention system (HIPS)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disabling unused or unnecessary ports and protocols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default usernames and passwords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unnecessary software</a:t>
            </a:r>
          </a:p>
        </p:txBody>
      </p:sp>
    </p:spTree>
    <p:extLst>
      <p:ext uri="{BB962C8B-B14F-4D97-AF65-F5344CB8AC3E}">
        <p14:creationId xmlns:p14="http://schemas.microsoft.com/office/powerpoint/2010/main" val="674504749"/>
      </p:ext>
    </p:extLst>
  </p:cSld>
  <p:clrMapOvr>
    <a:masterClrMapping/>
  </p:clrMapOvr>
</p:sld>
</file>

<file path=ppt/slides/slide4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4CCDD9-2C76-F7D7-D53D-10CF0B4125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69A8662-C9F8-1D15-2358-FD42467042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Slide </a:t>
            </a:r>
            <a:fld id="{4CA2B2DB-B91D-4166-98BF-65A0DA7EEE6D}" type="slidenum">
              <a:rPr kumimoji="0" lang="en-US" sz="1800" b="0" i="1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428</a:t>
            </a:fld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7E50914-415F-F234-1DBA-979FCEBE05C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AA5CDF28-9E3E-2650-E7D7-0914E657D4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00" y="228924"/>
            <a:ext cx="13220700" cy="1127125"/>
          </a:xfrm>
        </p:spPr>
        <p:txBody>
          <a:bodyPr/>
          <a:lstStyle/>
          <a:p>
            <a:r>
              <a:rPr kumimoji="0" lang="en-US" sz="72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Review Key Terms</a:t>
            </a:r>
            <a:endParaRPr lang="en-US" i="1" dirty="0"/>
          </a:p>
        </p:txBody>
      </p:sp>
      <p:sp>
        <p:nvSpPr>
          <p:cNvPr id="3" name="Rectangle 1027">
            <a:extLst>
              <a:ext uri="{FF2B5EF4-FFF2-40B4-BE49-F238E27FC236}">
                <a16:creationId xmlns:a16="http://schemas.microsoft.com/office/drawing/2014/main" id="{293EF58E-88E4-740F-6ECD-9EA949AA8F75}"/>
              </a:ext>
            </a:extLst>
          </p:cNvPr>
          <p:cNvSpPr>
            <a:spLocks noGrp="1" noChangeArrowheads="1"/>
          </p:cNvSpPr>
          <p:nvPr>
            <p:ph sz="quarter" idx="12"/>
          </p:nvPr>
        </p:nvSpPr>
        <p:spPr>
          <a:xfrm>
            <a:off x="1047750" y="1935162"/>
            <a:ext cx="16192500" cy="7094538"/>
          </a:xfrm>
        </p:spPr>
        <p:txBody>
          <a:bodyPr numCol="2"/>
          <a:lstStyle/>
          <a:p>
            <a:pPr>
              <a:spcBef>
                <a:spcPts val="300"/>
              </a:spcBef>
            </a:pPr>
            <a:r>
              <a:rPr lang="en-US" altLang="en-US" sz="3600" dirty="0"/>
              <a:t>cloud computing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responsibility matrix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hybrid cloud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third-party vendor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infrastructure as code (</a:t>
            </a:r>
            <a:r>
              <a:rPr lang="en-US" altLang="en-US" sz="3600" dirty="0" err="1"/>
              <a:t>IaC</a:t>
            </a:r>
            <a:r>
              <a:rPr lang="en-US" altLang="en-US" sz="3600" dirty="0"/>
              <a:t>)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serverless architecture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microservices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network infrastructure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physical isolation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air gapping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logical segmentation</a:t>
            </a:r>
          </a:p>
          <a:p>
            <a:pPr>
              <a:spcBef>
                <a:spcPts val="300"/>
              </a:spcBef>
            </a:pPr>
            <a:endParaRPr lang="en-US" altLang="en-US" sz="3600" dirty="0"/>
          </a:p>
          <a:p>
            <a:pPr>
              <a:spcBef>
                <a:spcPts val="300"/>
              </a:spcBef>
            </a:pPr>
            <a:r>
              <a:rPr lang="en-US" altLang="en-US" sz="3600" dirty="0"/>
              <a:t>software-defined networking (SDN)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on-premises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centralized system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decentralized system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container image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virtualization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Internet of Things (IoT)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Supervisory Control and Data Acquisition (SCADA) systems and Industrial Control Systems (ICSs)</a:t>
            </a:r>
          </a:p>
        </p:txBody>
      </p:sp>
    </p:spTree>
    <p:extLst>
      <p:ext uri="{BB962C8B-B14F-4D97-AF65-F5344CB8AC3E}">
        <p14:creationId xmlns:p14="http://schemas.microsoft.com/office/powerpoint/2010/main" val="632515168"/>
      </p:ext>
    </p:extLst>
  </p:cSld>
  <p:clrMapOvr>
    <a:masterClrMapping/>
  </p:clrMapOvr>
</p:sld>
</file>

<file path=ppt/slides/slide4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757634-1D5B-95C5-A273-A203082D60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8534834-9AF5-5EE1-BDE3-55C54747C4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Slide </a:t>
            </a:r>
            <a:fld id="{4CA2B2DB-B91D-4166-98BF-65A0DA7EEE6D}" type="slidenum">
              <a:rPr kumimoji="0" lang="en-US" sz="1800" b="0" i="1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429</a:t>
            </a:fld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E6F4FB1-98DC-D56A-66A0-7767485E587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ABC0972B-7937-8B93-DD84-5E13A62622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00" y="228924"/>
            <a:ext cx="13220700" cy="1127125"/>
          </a:xfrm>
        </p:spPr>
        <p:txBody>
          <a:bodyPr/>
          <a:lstStyle/>
          <a:p>
            <a:r>
              <a:rPr kumimoji="0" lang="en-US" sz="72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Review Key Terms</a:t>
            </a:r>
            <a:endParaRPr lang="en-US" i="1" dirty="0"/>
          </a:p>
        </p:txBody>
      </p:sp>
      <p:sp>
        <p:nvSpPr>
          <p:cNvPr id="3" name="Rectangle 1027">
            <a:extLst>
              <a:ext uri="{FF2B5EF4-FFF2-40B4-BE49-F238E27FC236}">
                <a16:creationId xmlns:a16="http://schemas.microsoft.com/office/drawing/2014/main" id="{4FB1C62D-65D4-2666-C4B8-17D6EBDFC77B}"/>
              </a:ext>
            </a:extLst>
          </p:cNvPr>
          <p:cNvSpPr>
            <a:spLocks noGrp="1" noChangeArrowheads="1"/>
          </p:cNvSpPr>
          <p:nvPr>
            <p:ph sz="quarter" idx="12"/>
          </p:nvPr>
        </p:nvSpPr>
        <p:spPr>
          <a:xfrm>
            <a:off x="1047750" y="1935162"/>
            <a:ext cx="16192500" cy="7094538"/>
          </a:xfrm>
        </p:spPr>
        <p:txBody>
          <a:bodyPr numCol="2"/>
          <a:lstStyle/>
          <a:p>
            <a:pPr>
              <a:spcBef>
                <a:spcPts val="300"/>
              </a:spcBef>
            </a:pPr>
            <a:r>
              <a:rPr lang="en-US" altLang="en-US" sz="3600" dirty="0"/>
              <a:t>real-time operating system (RTOS)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embedded system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high availability (HA)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availability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resilience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cost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responsiveness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scalability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ease of deployment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risk transference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ease of recovery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patch availability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inability to patch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power consumption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compute resource</a:t>
            </a:r>
            <a:endParaRPr lang="en-US" altLang="en-US" sz="4000" dirty="0"/>
          </a:p>
        </p:txBody>
      </p:sp>
    </p:spTree>
    <p:extLst>
      <p:ext uri="{BB962C8B-B14F-4D97-AF65-F5344CB8AC3E}">
        <p14:creationId xmlns:p14="http://schemas.microsoft.com/office/powerpoint/2010/main" val="140257652"/>
      </p:ext>
    </p:extLst>
  </p:cSld>
  <p:clrMapOvr>
    <a:masterClrMapping/>
  </p:clrMapOvr>
</p:sld>
</file>

<file path=ppt/slides/slide4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28FF89-1D6A-2B96-9D04-AFE27FAB2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3D4EB5A-E402-7EB2-2F2C-CCB0576B49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Slide </a:t>
            </a:r>
            <a:fld id="{4CA2B2DB-B91D-4166-98BF-65A0DA7EEE6D}" type="slidenum">
              <a:rPr kumimoji="0" lang="en-US" sz="1800" b="0" i="1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430</a:t>
            </a:fld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C1DA1A9-1991-8E96-0C9D-9E1A234194D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212D10BD-B75D-ACD5-746C-F674B155DC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00" y="228924"/>
            <a:ext cx="13220700" cy="1127125"/>
          </a:xfrm>
        </p:spPr>
        <p:txBody>
          <a:bodyPr/>
          <a:lstStyle/>
          <a:p>
            <a:r>
              <a:rPr kumimoji="0" lang="en-US" sz="72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Review Key Terms</a:t>
            </a:r>
            <a:endParaRPr lang="en-US" i="1" dirty="0"/>
          </a:p>
        </p:txBody>
      </p:sp>
      <p:sp>
        <p:nvSpPr>
          <p:cNvPr id="3" name="Rectangle 1027">
            <a:extLst>
              <a:ext uri="{FF2B5EF4-FFF2-40B4-BE49-F238E27FC236}">
                <a16:creationId xmlns:a16="http://schemas.microsoft.com/office/drawing/2014/main" id="{8DF7F290-B10C-0CA2-A17B-3710036F60FA}"/>
              </a:ext>
            </a:extLst>
          </p:cNvPr>
          <p:cNvSpPr>
            <a:spLocks noGrp="1" noChangeArrowheads="1"/>
          </p:cNvSpPr>
          <p:nvPr>
            <p:ph sz="quarter" idx="12"/>
          </p:nvPr>
        </p:nvSpPr>
        <p:spPr>
          <a:xfrm>
            <a:off x="1047750" y="1935162"/>
            <a:ext cx="16192500" cy="7094538"/>
          </a:xfrm>
        </p:spPr>
        <p:txBody>
          <a:bodyPr numCol="2"/>
          <a:lstStyle/>
          <a:p>
            <a:pPr>
              <a:spcBef>
                <a:spcPts val="300"/>
              </a:spcBef>
            </a:pPr>
            <a:r>
              <a:rPr lang="en-US" altLang="en-US" sz="2400" dirty="0"/>
              <a:t>device placement</a:t>
            </a:r>
          </a:p>
          <a:p>
            <a:pPr>
              <a:spcBef>
                <a:spcPts val="300"/>
              </a:spcBef>
            </a:pPr>
            <a:r>
              <a:rPr lang="en-US" altLang="en-US" sz="2400" dirty="0"/>
              <a:t>security zones</a:t>
            </a:r>
          </a:p>
          <a:p>
            <a:pPr>
              <a:spcBef>
                <a:spcPts val="300"/>
              </a:spcBef>
            </a:pPr>
            <a:r>
              <a:rPr lang="en-US" altLang="en-US" sz="2400" dirty="0"/>
              <a:t>attack surface</a:t>
            </a:r>
          </a:p>
          <a:p>
            <a:pPr>
              <a:spcBef>
                <a:spcPts val="300"/>
              </a:spcBef>
            </a:pPr>
            <a:r>
              <a:rPr lang="en-US" altLang="en-US" sz="2400" dirty="0"/>
              <a:t>connectivity</a:t>
            </a:r>
          </a:p>
          <a:p>
            <a:pPr>
              <a:spcBef>
                <a:spcPts val="300"/>
              </a:spcBef>
            </a:pPr>
            <a:r>
              <a:rPr lang="en-US" altLang="en-US" sz="2400" dirty="0"/>
              <a:t>fail-open</a:t>
            </a:r>
          </a:p>
          <a:p>
            <a:pPr>
              <a:spcBef>
                <a:spcPts val="300"/>
              </a:spcBef>
            </a:pPr>
            <a:r>
              <a:rPr lang="en-US" altLang="en-US" sz="2400" dirty="0"/>
              <a:t>fail-closed</a:t>
            </a:r>
          </a:p>
          <a:p>
            <a:pPr>
              <a:spcBef>
                <a:spcPts val="300"/>
              </a:spcBef>
            </a:pPr>
            <a:r>
              <a:rPr lang="en-US" altLang="en-US" sz="2400" dirty="0"/>
              <a:t>device attributes</a:t>
            </a:r>
          </a:p>
          <a:p>
            <a:pPr>
              <a:spcBef>
                <a:spcPts val="300"/>
              </a:spcBef>
            </a:pPr>
            <a:r>
              <a:rPr lang="en-US" altLang="en-US" sz="2400" dirty="0"/>
              <a:t>active/active</a:t>
            </a:r>
          </a:p>
          <a:p>
            <a:pPr>
              <a:spcBef>
                <a:spcPts val="300"/>
              </a:spcBef>
            </a:pPr>
            <a:r>
              <a:rPr lang="en-US" altLang="en-US" sz="2400" dirty="0"/>
              <a:t>active/passive</a:t>
            </a:r>
          </a:p>
          <a:p>
            <a:pPr>
              <a:spcBef>
                <a:spcPts val="300"/>
              </a:spcBef>
            </a:pPr>
            <a:r>
              <a:rPr lang="en-US" altLang="en-US" sz="2400" dirty="0"/>
              <a:t>inline monitoring</a:t>
            </a:r>
          </a:p>
          <a:p>
            <a:pPr>
              <a:spcBef>
                <a:spcPts val="300"/>
              </a:spcBef>
            </a:pPr>
            <a:r>
              <a:rPr lang="en-US" altLang="en-US" sz="2400" dirty="0"/>
              <a:t>tap (or monitor) mode</a:t>
            </a:r>
          </a:p>
          <a:p>
            <a:pPr>
              <a:spcBef>
                <a:spcPts val="300"/>
              </a:spcBef>
            </a:pPr>
            <a:r>
              <a:rPr lang="en-US" altLang="en-US" sz="2400" dirty="0"/>
              <a:t>jump server</a:t>
            </a:r>
          </a:p>
          <a:p>
            <a:pPr>
              <a:spcBef>
                <a:spcPts val="300"/>
              </a:spcBef>
            </a:pPr>
            <a:r>
              <a:rPr lang="en-US" altLang="en-US" sz="2400" dirty="0"/>
              <a:t>proxy server</a:t>
            </a:r>
          </a:p>
          <a:p>
            <a:pPr>
              <a:spcBef>
                <a:spcPts val="300"/>
              </a:spcBef>
            </a:pPr>
            <a:r>
              <a:rPr lang="en-US" altLang="en-US" sz="2400" dirty="0"/>
              <a:t>Intrusion Detection System (IDS)</a:t>
            </a:r>
          </a:p>
          <a:p>
            <a:pPr>
              <a:spcBef>
                <a:spcPts val="300"/>
              </a:spcBef>
            </a:pPr>
            <a:r>
              <a:rPr lang="en-US" altLang="en-US" sz="2400" dirty="0"/>
              <a:t>Intrusion Prevention System (IPS)</a:t>
            </a:r>
          </a:p>
          <a:p>
            <a:pPr>
              <a:spcBef>
                <a:spcPts val="300"/>
              </a:spcBef>
            </a:pPr>
            <a:r>
              <a:rPr lang="en-US" altLang="en-US" sz="2400" dirty="0"/>
              <a:t>load balancing</a:t>
            </a:r>
          </a:p>
          <a:p>
            <a:pPr>
              <a:spcBef>
                <a:spcPts val="300"/>
              </a:spcBef>
            </a:pPr>
            <a:r>
              <a:rPr lang="en-US" altLang="en-US" sz="2400" dirty="0"/>
              <a:t>sensor</a:t>
            </a:r>
          </a:p>
          <a:p>
            <a:pPr>
              <a:spcBef>
                <a:spcPts val="300"/>
              </a:spcBef>
            </a:pPr>
            <a:r>
              <a:rPr lang="en-US" altLang="en-US" sz="2400" dirty="0"/>
              <a:t>port security</a:t>
            </a:r>
          </a:p>
          <a:p>
            <a:pPr>
              <a:spcBef>
                <a:spcPts val="300"/>
              </a:spcBef>
            </a:pPr>
            <a:r>
              <a:rPr lang="en-US" altLang="en-US" sz="2400" dirty="0"/>
              <a:t>802.1X</a:t>
            </a:r>
          </a:p>
          <a:p>
            <a:pPr>
              <a:spcBef>
                <a:spcPts val="300"/>
              </a:spcBef>
            </a:pPr>
            <a:r>
              <a:rPr lang="en-US" altLang="en-US" sz="2400" dirty="0"/>
              <a:t>Extensible Authentication Protocol (EAP)</a:t>
            </a:r>
          </a:p>
          <a:p>
            <a:pPr>
              <a:spcBef>
                <a:spcPts val="300"/>
              </a:spcBef>
            </a:pPr>
            <a:r>
              <a:rPr lang="en-US" altLang="en-US" sz="2400" dirty="0"/>
              <a:t>web application firewall (WAF)</a:t>
            </a:r>
          </a:p>
          <a:p>
            <a:pPr>
              <a:spcBef>
                <a:spcPts val="300"/>
              </a:spcBef>
            </a:pPr>
            <a:r>
              <a:rPr lang="en-US" altLang="en-US" sz="2400" dirty="0"/>
              <a:t>Unified Threat Management (UTM)</a:t>
            </a:r>
          </a:p>
          <a:p>
            <a:pPr>
              <a:spcBef>
                <a:spcPts val="300"/>
              </a:spcBef>
            </a:pPr>
            <a:r>
              <a:rPr lang="en-US" altLang="en-US" sz="2400" dirty="0"/>
              <a:t>Next-Generation Firewall (NGFW)</a:t>
            </a:r>
          </a:p>
          <a:p>
            <a:pPr>
              <a:spcBef>
                <a:spcPts val="300"/>
              </a:spcBef>
            </a:pPr>
            <a:r>
              <a:rPr lang="en-US" altLang="en-US" sz="2400" dirty="0"/>
              <a:t>Layer 4 firewall</a:t>
            </a:r>
          </a:p>
          <a:p>
            <a:pPr>
              <a:spcBef>
                <a:spcPts val="300"/>
              </a:spcBef>
            </a:pPr>
            <a:r>
              <a:rPr lang="en-US" altLang="en-US" sz="2400" dirty="0"/>
              <a:t>Layer 7 firewall</a:t>
            </a:r>
          </a:p>
          <a:p>
            <a:pPr>
              <a:spcBef>
                <a:spcPts val="300"/>
              </a:spcBef>
            </a:pPr>
            <a:r>
              <a:rPr lang="en-US" altLang="en-US" sz="2400" dirty="0"/>
              <a:t>virtual private network (VPN)</a:t>
            </a:r>
          </a:p>
          <a:p>
            <a:pPr>
              <a:spcBef>
                <a:spcPts val="300"/>
              </a:spcBef>
            </a:pPr>
            <a:r>
              <a:rPr lang="en-US" altLang="en-US" sz="2400" dirty="0"/>
              <a:t>remote access</a:t>
            </a:r>
          </a:p>
          <a:p>
            <a:pPr>
              <a:spcBef>
                <a:spcPts val="300"/>
              </a:spcBef>
            </a:pPr>
            <a:r>
              <a:rPr lang="en-US" altLang="en-US" sz="2400" dirty="0"/>
              <a:t>Transport Layer Security (TLS)</a:t>
            </a:r>
          </a:p>
          <a:p>
            <a:pPr>
              <a:spcBef>
                <a:spcPts val="300"/>
              </a:spcBef>
            </a:pPr>
            <a:r>
              <a:rPr lang="en-US" altLang="en-US" sz="2400" dirty="0"/>
              <a:t>Internet Protocol Security (IPsec)</a:t>
            </a:r>
          </a:p>
          <a:p>
            <a:pPr>
              <a:spcBef>
                <a:spcPts val="300"/>
              </a:spcBef>
            </a:pPr>
            <a:r>
              <a:rPr lang="en-US" altLang="en-US" sz="2400" dirty="0"/>
              <a:t>Software-Defined Wide Area Network (SD-WAN)</a:t>
            </a:r>
          </a:p>
          <a:p>
            <a:pPr>
              <a:spcBef>
                <a:spcPts val="300"/>
              </a:spcBef>
            </a:pPr>
            <a:r>
              <a:rPr lang="en-US" altLang="en-US" sz="2400" dirty="0"/>
              <a:t>Secure Access Service Edge (SASE)</a:t>
            </a:r>
          </a:p>
          <a:p>
            <a:pPr>
              <a:spcBef>
                <a:spcPts val="300"/>
              </a:spcBef>
            </a:pPr>
            <a:r>
              <a:rPr lang="en-US" altLang="en-US" sz="2400" dirty="0"/>
              <a:t>selecting effective controls</a:t>
            </a:r>
          </a:p>
        </p:txBody>
      </p:sp>
    </p:spTree>
    <p:extLst>
      <p:ext uri="{BB962C8B-B14F-4D97-AF65-F5344CB8AC3E}">
        <p14:creationId xmlns:p14="http://schemas.microsoft.com/office/powerpoint/2010/main" val="169152013"/>
      </p:ext>
    </p:extLst>
  </p:cSld>
  <p:clrMapOvr>
    <a:masterClrMapping/>
  </p:clrMapOvr>
</p:sld>
</file>

<file path=ppt/slides/slide4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0410E9-39ED-AED5-4819-1CBE7177DB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736E88F-E3FE-E67D-D2AC-E502CDAFD1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Slide </a:t>
            </a:r>
            <a:fld id="{4CA2B2DB-B91D-4166-98BF-65A0DA7EEE6D}" type="slidenum">
              <a:rPr kumimoji="0" lang="en-US" sz="1800" b="0" i="1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431</a:t>
            </a:fld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0AA7CD6-F08F-7874-D888-03771DD5220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E542A13-498B-A7B9-CAE1-0B008D4B92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00" y="228924"/>
            <a:ext cx="13220700" cy="1127125"/>
          </a:xfrm>
        </p:spPr>
        <p:txBody>
          <a:bodyPr/>
          <a:lstStyle/>
          <a:p>
            <a:r>
              <a:rPr kumimoji="0" lang="en-US" sz="72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Review Key Terms</a:t>
            </a:r>
            <a:endParaRPr lang="en-US" i="1" dirty="0"/>
          </a:p>
        </p:txBody>
      </p:sp>
      <p:sp>
        <p:nvSpPr>
          <p:cNvPr id="3" name="Rectangle 1027">
            <a:extLst>
              <a:ext uri="{FF2B5EF4-FFF2-40B4-BE49-F238E27FC236}">
                <a16:creationId xmlns:a16="http://schemas.microsoft.com/office/drawing/2014/main" id="{625D752E-D88C-A4BF-D859-74770E3242C3}"/>
              </a:ext>
            </a:extLst>
          </p:cNvPr>
          <p:cNvSpPr>
            <a:spLocks noGrp="1" noChangeArrowheads="1"/>
          </p:cNvSpPr>
          <p:nvPr>
            <p:ph sz="quarter" idx="12"/>
          </p:nvPr>
        </p:nvSpPr>
        <p:spPr>
          <a:xfrm>
            <a:off x="1047750" y="1935162"/>
            <a:ext cx="16192500" cy="7094538"/>
          </a:xfrm>
        </p:spPr>
        <p:txBody>
          <a:bodyPr numCol="2"/>
          <a:lstStyle/>
          <a:p>
            <a:pPr>
              <a:spcBef>
                <a:spcPts val="300"/>
              </a:spcBef>
            </a:pPr>
            <a:r>
              <a:rPr lang="en-US" altLang="en-US" dirty="0"/>
              <a:t>regulated data</a:t>
            </a:r>
          </a:p>
          <a:p>
            <a:pPr>
              <a:spcBef>
                <a:spcPts val="300"/>
              </a:spcBef>
            </a:pPr>
            <a:r>
              <a:rPr lang="en-US" altLang="en-US" dirty="0"/>
              <a:t>trade secret</a:t>
            </a:r>
          </a:p>
          <a:p>
            <a:pPr>
              <a:spcBef>
                <a:spcPts val="300"/>
              </a:spcBef>
            </a:pPr>
            <a:r>
              <a:rPr lang="en-US" altLang="en-US" dirty="0"/>
              <a:t>intellectual property (IP)</a:t>
            </a:r>
          </a:p>
          <a:p>
            <a:pPr>
              <a:spcBef>
                <a:spcPts val="300"/>
              </a:spcBef>
            </a:pPr>
            <a:r>
              <a:rPr lang="en-US" altLang="en-US" dirty="0"/>
              <a:t>legal information</a:t>
            </a:r>
          </a:p>
          <a:p>
            <a:pPr>
              <a:spcBef>
                <a:spcPts val="300"/>
              </a:spcBef>
            </a:pPr>
            <a:r>
              <a:rPr lang="en-US" altLang="en-US" dirty="0"/>
              <a:t>human-readable data</a:t>
            </a:r>
          </a:p>
          <a:p>
            <a:pPr>
              <a:spcBef>
                <a:spcPts val="300"/>
              </a:spcBef>
            </a:pPr>
            <a:r>
              <a:rPr lang="en-US" altLang="en-US" dirty="0"/>
              <a:t>non-human-readable data</a:t>
            </a:r>
          </a:p>
          <a:p>
            <a:pPr>
              <a:spcBef>
                <a:spcPts val="300"/>
              </a:spcBef>
            </a:pPr>
            <a:r>
              <a:rPr lang="en-US" altLang="en-US" dirty="0"/>
              <a:t>data classification</a:t>
            </a:r>
          </a:p>
          <a:p>
            <a:pPr>
              <a:spcBef>
                <a:spcPts val="300"/>
              </a:spcBef>
            </a:pPr>
            <a:r>
              <a:rPr lang="en-US" altLang="en-US" dirty="0"/>
              <a:t>unauthorized access</a:t>
            </a:r>
          </a:p>
          <a:p>
            <a:pPr>
              <a:spcBef>
                <a:spcPts val="300"/>
              </a:spcBef>
            </a:pPr>
            <a:r>
              <a:rPr lang="en-US" altLang="en-US" dirty="0"/>
              <a:t>sensitive data</a:t>
            </a:r>
          </a:p>
          <a:p>
            <a:pPr>
              <a:spcBef>
                <a:spcPts val="300"/>
              </a:spcBef>
            </a:pPr>
            <a:r>
              <a:rPr lang="en-US" altLang="en-US" dirty="0"/>
              <a:t>public data</a:t>
            </a:r>
          </a:p>
          <a:p>
            <a:pPr>
              <a:spcBef>
                <a:spcPts val="300"/>
              </a:spcBef>
            </a:pPr>
            <a:r>
              <a:rPr lang="en-US" altLang="en-US" dirty="0"/>
              <a:t>restricted data</a:t>
            </a:r>
          </a:p>
          <a:p>
            <a:pPr>
              <a:spcBef>
                <a:spcPts val="300"/>
              </a:spcBef>
            </a:pPr>
            <a:r>
              <a:rPr lang="en-US" altLang="en-US" dirty="0"/>
              <a:t>private data</a:t>
            </a:r>
          </a:p>
          <a:p>
            <a:pPr>
              <a:spcBef>
                <a:spcPts val="300"/>
              </a:spcBef>
            </a:pPr>
            <a:r>
              <a:rPr lang="en-US" altLang="en-US" dirty="0"/>
              <a:t>critical data</a:t>
            </a:r>
          </a:p>
          <a:p>
            <a:pPr>
              <a:spcBef>
                <a:spcPts val="300"/>
              </a:spcBef>
            </a:pPr>
            <a:r>
              <a:rPr lang="en-US" altLang="en-US" dirty="0"/>
              <a:t>data at rest</a:t>
            </a:r>
          </a:p>
          <a:p>
            <a:pPr>
              <a:spcBef>
                <a:spcPts val="300"/>
              </a:spcBef>
            </a:pPr>
            <a:r>
              <a:rPr lang="en-US" altLang="en-US" dirty="0"/>
              <a:t>data in transit</a:t>
            </a:r>
          </a:p>
          <a:p>
            <a:pPr>
              <a:spcBef>
                <a:spcPts val="300"/>
              </a:spcBef>
            </a:pPr>
            <a:r>
              <a:rPr lang="en-US" altLang="en-US" dirty="0"/>
              <a:t>data in use</a:t>
            </a:r>
          </a:p>
          <a:p>
            <a:pPr>
              <a:spcBef>
                <a:spcPts val="300"/>
              </a:spcBef>
            </a:pPr>
            <a:r>
              <a:rPr lang="en-US" altLang="en-US" dirty="0"/>
              <a:t>data sovereignty</a:t>
            </a:r>
          </a:p>
          <a:p>
            <a:pPr>
              <a:spcBef>
                <a:spcPts val="300"/>
              </a:spcBef>
            </a:pPr>
            <a:r>
              <a:rPr lang="en-US" altLang="en-US" dirty="0"/>
              <a:t>geolocation</a:t>
            </a:r>
          </a:p>
          <a:p>
            <a:pPr>
              <a:spcBef>
                <a:spcPts val="300"/>
              </a:spcBef>
            </a:pPr>
            <a:r>
              <a:rPr lang="en-US" altLang="en-US" dirty="0"/>
              <a:t>geographic restriction</a:t>
            </a:r>
          </a:p>
          <a:p>
            <a:pPr>
              <a:spcBef>
                <a:spcPts val="300"/>
              </a:spcBef>
            </a:pPr>
            <a:r>
              <a:rPr lang="en-US" altLang="en-US" dirty="0"/>
              <a:t>encryption</a:t>
            </a:r>
          </a:p>
          <a:p>
            <a:pPr>
              <a:spcBef>
                <a:spcPts val="300"/>
              </a:spcBef>
            </a:pPr>
            <a:r>
              <a:rPr lang="en-US" altLang="en-US" dirty="0"/>
              <a:t>hashing</a:t>
            </a:r>
          </a:p>
          <a:p>
            <a:pPr>
              <a:spcBef>
                <a:spcPts val="300"/>
              </a:spcBef>
            </a:pPr>
            <a:r>
              <a:rPr lang="en-US" altLang="en-US" dirty="0"/>
              <a:t>data masking</a:t>
            </a:r>
          </a:p>
          <a:p>
            <a:pPr>
              <a:spcBef>
                <a:spcPts val="300"/>
              </a:spcBef>
            </a:pPr>
            <a:r>
              <a:rPr lang="en-US" altLang="en-US" dirty="0"/>
              <a:t>tokenization</a:t>
            </a:r>
          </a:p>
          <a:p>
            <a:pPr>
              <a:spcBef>
                <a:spcPts val="300"/>
              </a:spcBef>
            </a:pPr>
            <a:r>
              <a:rPr lang="en-US" altLang="en-US" dirty="0"/>
              <a:t>obfuscation</a:t>
            </a:r>
          </a:p>
          <a:p>
            <a:pPr>
              <a:spcBef>
                <a:spcPts val="300"/>
              </a:spcBef>
            </a:pPr>
            <a:r>
              <a:rPr lang="en-US" altLang="en-US" dirty="0"/>
              <a:t>segmentation</a:t>
            </a:r>
          </a:p>
          <a:p>
            <a:pPr>
              <a:spcBef>
                <a:spcPts val="300"/>
              </a:spcBef>
            </a:pPr>
            <a:r>
              <a:rPr lang="en-US" altLang="en-US" dirty="0"/>
              <a:t>permission restrictions</a:t>
            </a:r>
          </a:p>
        </p:txBody>
      </p:sp>
    </p:spTree>
    <p:extLst>
      <p:ext uri="{BB962C8B-B14F-4D97-AF65-F5344CB8AC3E}">
        <p14:creationId xmlns:p14="http://schemas.microsoft.com/office/powerpoint/2010/main" val="390080297"/>
      </p:ext>
    </p:extLst>
  </p:cSld>
  <p:clrMapOvr>
    <a:masterClrMapping/>
  </p:clrMapOvr>
</p:sld>
</file>

<file path=ppt/slides/slide4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1CD0D3-D738-4911-D859-B73801C541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17F7142-9779-3094-BFD9-32838E306D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Slide </a:t>
            </a:r>
            <a:fld id="{4CA2B2DB-B91D-4166-98BF-65A0DA7EEE6D}" type="slidenum">
              <a:rPr kumimoji="0" lang="en-US" sz="1800" b="0" i="1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432</a:t>
            </a:fld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EDA143D-5541-A60F-5C50-44D8ABED2E8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76187773-DE49-29E7-9A7A-99CAB88E85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00" y="228924"/>
            <a:ext cx="13220700" cy="1127125"/>
          </a:xfrm>
        </p:spPr>
        <p:txBody>
          <a:bodyPr/>
          <a:lstStyle/>
          <a:p>
            <a:r>
              <a:rPr kumimoji="0" lang="en-US" sz="72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Review Key Terms</a:t>
            </a:r>
            <a:endParaRPr lang="en-US" i="1" dirty="0"/>
          </a:p>
        </p:txBody>
      </p:sp>
      <p:sp>
        <p:nvSpPr>
          <p:cNvPr id="3" name="Rectangle 1027">
            <a:extLst>
              <a:ext uri="{FF2B5EF4-FFF2-40B4-BE49-F238E27FC236}">
                <a16:creationId xmlns:a16="http://schemas.microsoft.com/office/drawing/2014/main" id="{7E5EA4F8-5663-921B-6935-4EF0DD3874D6}"/>
              </a:ext>
            </a:extLst>
          </p:cNvPr>
          <p:cNvSpPr>
            <a:spLocks noGrp="1" noChangeArrowheads="1"/>
          </p:cNvSpPr>
          <p:nvPr>
            <p:ph sz="quarter" idx="12"/>
          </p:nvPr>
        </p:nvSpPr>
        <p:spPr>
          <a:xfrm>
            <a:off x="1047750" y="1935162"/>
            <a:ext cx="16192500" cy="7094538"/>
          </a:xfrm>
        </p:spPr>
        <p:txBody>
          <a:bodyPr numCol="2"/>
          <a:lstStyle/>
          <a:p>
            <a:pPr>
              <a:spcBef>
                <a:spcPts val="300"/>
              </a:spcBef>
            </a:pPr>
            <a:r>
              <a:rPr lang="en-US" altLang="en-US" sz="2800" dirty="0"/>
              <a:t>high availability (HA)</a:t>
            </a:r>
          </a:p>
          <a:p>
            <a:pPr>
              <a:spcBef>
                <a:spcPts val="300"/>
              </a:spcBef>
            </a:pPr>
            <a:r>
              <a:rPr lang="en-US" altLang="en-US" sz="2800" dirty="0"/>
              <a:t>load balancing</a:t>
            </a:r>
          </a:p>
          <a:p>
            <a:pPr>
              <a:spcBef>
                <a:spcPts val="300"/>
              </a:spcBef>
            </a:pPr>
            <a:r>
              <a:rPr lang="en-US" altLang="en-US" sz="2800" dirty="0"/>
              <a:t>clustering</a:t>
            </a:r>
          </a:p>
          <a:p>
            <a:pPr>
              <a:spcBef>
                <a:spcPts val="300"/>
              </a:spcBef>
            </a:pPr>
            <a:r>
              <a:rPr lang="en-US" altLang="en-US" sz="2800" dirty="0"/>
              <a:t>hot site</a:t>
            </a:r>
          </a:p>
          <a:p>
            <a:pPr>
              <a:spcBef>
                <a:spcPts val="300"/>
              </a:spcBef>
            </a:pPr>
            <a:r>
              <a:rPr lang="en-US" altLang="en-US" sz="2800" dirty="0"/>
              <a:t>warm site</a:t>
            </a:r>
          </a:p>
          <a:p>
            <a:pPr>
              <a:spcBef>
                <a:spcPts val="300"/>
              </a:spcBef>
            </a:pPr>
            <a:r>
              <a:rPr lang="en-US" altLang="en-US" sz="2800" dirty="0"/>
              <a:t>cold site</a:t>
            </a:r>
          </a:p>
          <a:p>
            <a:pPr>
              <a:spcBef>
                <a:spcPts val="300"/>
              </a:spcBef>
            </a:pPr>
            <a:r>
              <a:rPr lang="en-US" altLang="en-US" sz="2800" dirty="0"/>
              <a:t>geographic dispersion</a:t>
            </a:r>
          </a:p>
          <a:p>
            <a:pPr>
              <a:spcBef>
                <a:spcPts val="300"/>
              </a:spcBef>
            </a:pPr>
            <a:r>
              <a:rPr lang="en-US" altLang="en-US" sz="2800" dirty="0"/>
              <a:t>platform diversity</a:t>
            </a:r>
          </a:p>
          <a:p>
            <a:pPr>
              <a:spcBef>
                <a:spcPts val="300"/>
              </a:spcBef>
            </a:pPr>
            <a:r>
              <a:rPr lang="en-US" altLang="en-US" sz="2800" dirty="0"/>
              <a:t>multi-cloud system</a:t>
            </a:r>
          </a:p>
          <a:p>
            <a:pPr>
              <a:spcBef>
                <a:spcPts val="300"/>
              </a:spcBef>
            </a:pPr>
            <a:r>
              <a:rPr lang="en-US" altLang="en-US" sz="2800" dirty="0"/>
              <a:t>continuity of operations planning (COOP)</a:t>
            </a:r>
          </a:p>
          <a:p>
            <a:pPr>
              <a:spcBef>
                <a:spcPts val="300"/>
              </a:spcBef>
            </a:pPr>
            <a:r>
              <a:rPr lang="en-US" altLang="en-US" sz="2800" dirty="0"/>
              <a:t>capacity planning</a:t>
            </a:r>
          </a:p>
          <a:p>
            <a:pPr>
              <a:spcBef>
                <a:spcPts val="300"/>
              </a:spcBef>
            </a:pPr>
            <a:r>
              <a:rPr lang="en-US" altLang="en-US" sz="2800" dirty="0"/>
              <a:t>technology capacity planning</a:t>
            </a:r>
          </a:p>
          <a:p>
            <a:pPr>
              <a:spcBef>
                <a:spcPts val="300"/>
              </a:spcBef>
            </a:pPr>
            <a:r>
              <a:rPr lang="en-US" altLang="en-US" sz="2800" dirty="0"/>
              <a:t>infrastructure</a:t>
            </a:r>
          </a:p>
          <a:p>
            <a:pPr>
              <a:spcBef>
                <a:spcPts val="300"/>
              </a:spcBef>
            </a:pPr>
            <a:r>
              <a:rPr lang="en-US" altLang="en-US" sz="2800" dirty="0"/>
              <a:t>testing</a:t>
            </a:r>
          </a:p>
          <a:p>
            <a:pPr>
              <a:spcBef>
                <a:spcPts val="300"/>
              </a:spcBef>
            </a:pPr>
            <a:r>
              <a:rPr lang="en-US" altLang="en-US" sz="2800" dirty="0"/>
              <a:t>tabletop exercise</a:t>
            </a:r>
          </a:p>
          <a:p>
            <a:pPr>
              <a:spcBef>
                <a:spcPts val="300"/>
              </a:spcBef>
            </a:pPr>
            <a:r>
              <a:rPr lang="en-US" altLang="en-US" sz="2800" dirty="0"/>
              <a:t>failover testing</a:t>
            </a:r>
          </a:p>
          <a:p>
            <a:pPr>
              <a:spcBef>
                <a:spcPts val="300"/>
              </a:spcBef>
            </a:pPr>
            <a:r>
              <a:rPr lang="en-US" altLang="en-US" sz="2800" dirty="0"/>
              <a:t>simulation</a:t>
            </a:r>
          </a:p>
          <a:p>
            <a:pPr>
              <a:spcBef>
                <a:spcPts val="300"/>
              </a:spcBef>
            </a:pPr>
            <a:r>
              <a:rPr lang="en-US" altLang="en-US" sz="2800" dirty="0"/>
              <a:t>parallel processing</a:t>
            </a:r>
          </a:p>
          <a:p>
            <a:pPr>
              <a:spcBef>
                <a:spcPts val="300"/>
              </a:spcBef>
            </a:pPr>
            <a:r>
              <a:rPr lang="en-US" altLang="en-US" sz="2800" dirty="0"/>
              <a:t>backup</a:t>
            </a:r>
          </a:p>
          <a:p>
            <a:pPr>
              <a:spcBef>
                <a:spcPts val="300"/>
              </a:spcBef>
            </a:pPr>
            <a:r>
              <a:rPr lang="en-US" altLang="en-US" sz="2800" dirty="0"/>
              <a:t>onsite backup</a:t>
            </a:r>
          </a:p>
          <a:p>
            <a:pPr>
              <a:spcBef>
                <a:spcPts val="300"/>
              </a:spcBef>
            </a:pPr>
            <a:r>
              <a:rPr lang="en-US" altLang="en-US" sz="2800" dirty="0"/>
              <a:t>offsite backup</a:t>
            </a:r>
          </a:p>
          <a:p>
            <a:pPr>
              <a:spcBef>
                <a:spcPts val="300"/>
              </a:spcBef>
            </a:pPr>
            <a:r>
              <a:rPr lang="en-US" altLang="en-US" sz="2800" dirty="0"/>
              <a:t>backup frequency</a:t>
            </a:r>
          </a:p>
          <a:p>
            <a:pPr>
              <a:spcBef>
                <a:spcPts val="300"/>
              </a:spcBef>
            </a:pPr>
            <a:r>
              <a:rPr lang="en-US" altLang="en-US" sz="2800" dirty="0"/>
              <a:t>encryption algorithm</a:t>
            </a:r>
          </a:p>
          <a:p>
            <a:pPr>
              <a:spcBef>
                <a:spcPts val="300"/>
              </a:spcBef>
            </a:pPr>
            <a:r>
              <a:rPr lang="en-US" altLang="en-US" sz="2800" dirty="0"/>
              <a:t>snapshot</a:t>
            </a:r>
          </a:p>
          <a:p>
            <a:pPr>
              <a:spcBef>
                <a:spcPts val="300"/>
              </a:spcBef>
            </a:pPr>
            <a:r>
              <a:rPr lang="en-US" altLang="en-US" sz="2800" dirty="0"/>
              <a:t>recovery</a:t>
            </a:r>
          </a:p>
          <a:p>
            <a:pPr>
              <a:spcBef>
                <a:spcPts val="300"/>
              </a:spcBef>
            </a:pPr>
            <a:r>
              <a:rPr lang="en-US" altLang="en-US" sz="2800" dirty="0"/>
              <a:t>replication</a:t>
            </a:r>
          </a:p>
          <a:p>
            <a:pPr>
              <a:spcBef>
                <a:spcPts val="300"/>
              </a:spcBef>
            </a:pPr>
            <a:r>
              <a:rPr lang="en-US" altLang="en-US" sz="2800" dirty="0"/>
              <a:t>journaling</a:t>
            </a:r>
          </a:p>
          <a:p>
            <a:pPr>
              <a:spcBef>
                <a:spcPts val="300"/>
              </a:spcBef>
            </a:pPr>
            <a:r>
              <a:rPr lang="en-US" altLang="en-US" sz="2800" dirty="0"/>
              <a:t>power management</a:t>
            </a:r>
          </a:p>
          <a:p>
            <a:pPr>
              <a:spcBef>
                <a:spcPts val="300"/>
              </a:spcBef>
            </a:pPr>
            <a:r>
              <a:rPr lang="en-US" altLang="en-US" sz="2800" dirty="0"/>
              <a:t>uninterruptible power supply (UPS)</a:t>
            </a:r>
          </a:p>
          <a:p>
            <a:pPr>
              <a:spcBef>
                <a:spcPts val="300"/>
              </a:spcBef>
            </a:pPr>
            <a:r>
              <a:rPr lang="en-US" altLang="en-US" sz="2800" dirty="0"/>
              <a:t>generator</a:t>
            </a:r>
          </a:p>
        </p:txBody>
      </p:sp>
    </p:spTree>
    <p:extLst>
      <p:ext uri="{BB962C8B-B14F-4D97-AF65-F5344CB8AC3E}">
        <p14:creationId xmlns:p14="http://schemas.microsoft.com/office/powerpoint/2010/main" val="3681360052"/>
      </p:ext>
    </p:extLst>
  </p:cSld>
  <p:clrMapOvr>
    <a:masterClrMapping/>
  </p:clrMapOvr>
</p:sld>
</file>

<file path=ppt/slides/slide4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8D3120-6D32-330F-ADB2-65BD66D927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43F6C6F-796C-5B14-9395-895C17D15A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Slide </a:t>
            </a:r>
            <a:fld id="{4CA2B2DB-B91D-4166-98BF-65A0DA7EEE6D}" type="slidenum">
              <a:rPr kumimoji="0" lang="en-US" sz="1800" b="0" i="1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433</a:t>
            </a:fld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538209-AD7E-185F-6A5E-62DED24A188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ED38AD7-44BD-CF7A-84DC-1B187E401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00" y="228924"/>
            <a:ext cx="13220700" cy="1127125"/>
          </a:xfrm>
        </p:spPr>
        <p:txBody>
          <a:bodyPr/>
          <a:lstStyle/>
          <a:p>
            <a:r>
              <a:rPr kumimoji="0" lang="en-US" sz="72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Review Key Terms</a:t>
            </a:r>
            <a:endParaRPr lang="en-US" i="1" dirty="0"/>
          </a:p>
        </p:txBody>
      </p:sp>
      <p:sp>
        <p:nvSpPr>
          <p:cNvPr id="3" name="Rectangle 1027">
            <a:extLst>
              <a:ext uri="{FF2B5EF4-FFF2-40B4-BE49-F238E27FC236}">
                <a16:creationId xmlns:a16="http://schemas.microsoft.com/office/drawing/2014/main" id="{0E09DE6A-0957-A58C-EB1F-F2C145062644}"/>
              </a:ext>
            </a:extLst>
          </p:cNvPr>
          <p:cNvSpPr>
            <a:spLocks noGrp="1" noChangeArrowheads="1"/>
          </p:cNvSpPr>
          <p:nvPr>
            <p:ph sz="quarter" idx="12"/>
          </p:nvPr>
        </p:nvSpPr>
        <p:spPr>
          <a:xfrm>
            <a:off x="1047750" y="1935162"/>
            <a:ext cx="16192500" cy="7094538"/>
          </a:xfrm>
        </p:spPr>
        <p:txBody>
          <a:bodyPr numCol="2"/>
          <a:lstStyle/>
          <a:p>
            <a:pPr>
              <a:spcBef>
                <a:spcPts val="300"/>
              </a:spcBef>
            </a:pPr>
            <a:r>
              <a:rPr lang="en-US" altLang="en-US" sz="2400" dirty="0"/>
              <a:t>secure baseline</a:t>
            </a:r>
          </a:p>
          <a:p>
            <a:pPr>
              <a:spcBef>
                <a:spcPts val="300"/>
              </a:spcBef>
            </a:pPr>
            <a:r>
              <a:rPr lang="en-US" altLang="en-US" sz="2400" dirty="0"/>
              <a:t>deployment</a:t>
            </a:r>
          </a:p>
          <a:p>
            <a:pPr>
              <a:spcBef>
                <a:spcPts val="300"/>
              </a:spcBef>
            </a:pPr>
            <a:r>
              <a:rPr lang="en-US" altLang="en-US" sz="2400" dirty="0"/>
              <a:t>hardening targets</a:t>
            </a:r>
          </a:p>
          <a:p>
            <a:pPr>
              <a:spcBef>
                <a:spcPts val="300"/>
              </a:spcBef>
            </a:pPr>
            <a:r>
              <a:rPr lang="en-US" altLang="en-US" sz="2400" dirty="0"/>
              <a:t>mobile device</a:t>
            </a:r>
          </a:p>
          <a:p>
            <a:pPr>
              <a:spcBef>
                <a:spcPts val="300"/>
              </a:spcBef>
            </a:pPr>
            <a:r>
              <a:rPr lang="en-US" altLang="en-US" sz="2400" dirty="0"/>
              <a:t>workstation</a:t>
            </a:r>
          </a:p>
          <a:p>
            <a:pPr>
              <a:spcBef>
                <a:spcPts val="300"/>
              </a:spcBef>
            </a:pPr>
            <a:r>
              <a:rPr lang="en-US" altLang="en-US" sz="2400" dirty="0"/>
              <a:t>switch</a:t>
            </a:r>
          </a:p>
          <a:p>
            <a:pPr>
              <a:spcBef>
                <a:spcPts val="300"/>
              </a:spcBef>
            </a:pPr>
            <a:r>
              <a:rPr lang="en-US" altLang="en-US" sz="2400" dirty="0"/>
              <a:t>router</a:t>
            </a:r>
          </a:p>
          <a:p>
            <a:pPr>
              <a:spcBef>
                <a:spcPts val="300"/>
              </a:spcBef>
            </a:pPr>
            <a:r>
              <a:rPr lang="en-US" altLang="en-US" sz="2400" dirty="0"/>
              <a:t>cloud infrastructure</a:t>
            </a:r>
          </a:p>
          <a:p>
            <a:pPr>
              <a:spcBef>
                <a:spcPts val="300"/>
              </a:spcBef>
            </a:pPr>
            <a:r>
              <a:rPr lang="en-US" altLang="en-US" sz="2400" dirty="0"/>
              <a:t>server</a:t>
            </a:r>
          </a:p>
          <a:p>
            <a:pPr>
              <a:spcBef>
                <a:spcPts val="300"/>
              </a:spcBef>
            </a:pPr>
            <a:r>
              <a:rPr lang="en-US" altLang="en-US" sz="2400" dirty="0"/>
              <a:t>Supervisory Control and Data Acquisition (SCADA) systems/ Industrial Control Systems (ICSs)</a:t>
            </a:r>
          </a:p>
          <a:p>
            <a:pPr>
              <a:spcBef>
                <a:spcPts val="300"/>
              </a:spcBef>
            </a:pPr>
            <a:r>
              <a:rPr lang="en-US" altLang="en-US" sz="2400" dirty="0"/>
              <a:t>embedded system</a:t>
            </a:r>
          </a:p>
          <a:p>
            <a:pPr>
              <a:spcBef>
                <a:spcPts val="300"/>
              </a:spcBef>
            </a:pPr>
            <a:r>
              <a:rPr lang="en-US" altLang="en-US" sz="2400" dirty="0"/>
              <a:t>real-time operating system (RTOS)</a:t>
            </a:r>
          </a:p>
          <a:p>
            <a:pPr>
              <a:spcBef>
                <a:spcPts val="300"/>
              </a:spcBef>
            </a:pPr>
            <a:r>
              <a:rPr lang="en-US" altLang="en-US" sz="2400" dirty="0"/>
              <a:t>Internet of Things (IoT) device</a:t>
            </a:r>
          </a:p>
          <a:p>
            <a:pPr>
              <a:spcBef>
                <a:spcPts val="300"/>
              </a:spcBef>
            </a:pPr>
            <a:r>
              <a:rPr lang="en-US" altLang="en-US" sz="2400" dirty="0"/>
              <a:t>site survey</a:t>
            </a:r>
          </a:p>
          <a:p>
            <a:pPr>
              <a:spcBef>
                <a:spcPts val="300"/>
              </a:spcBef>
            </a:pPr>
            <a:r>
              <a:rPr lang="en-US" altLang="en-US" sz="2400" dirty="0"/>
              <a:t>heat map</a:t>
            </a:r>
          </a:p>
          <a:p>
            <a:pPr>
              <a:spcBef>
                <a:spcPts val="300"/>
              </a:spcBef>
            </a:pPr>
            <a:r>
              <a:rPr lang="en-US" altLang="en-US" sz="2400" dirty="0"/>
              <a:t>bring your own device (BYOD)</a:t>
            </a:r>
          </a:p>
          <a:p>
            <a:pPr>
              <a:spcBef>
                <a:spcPts val="300"/>
              </a:spcBef>
            </a:pPr>
            <a:r>
              <a:rPr lang="en-US" altLang="en-US" sz="2400" dirty="0"/>
              <a:t>mobile device management (MDM)</a:t>
            </a:r>
          </a:p>
          <a:p>
            <a:pPr>
              <a:spcBef>
                <a:spcPts val="300"/>
              </a:spcBef>
            </a:pPr>
            <a:r>
              <a:rPr lang="en-US" altLang="en-US" sz="2400" dirty="0"/>
              <a:t>choose your own device (CYOD)</a:t>
            </a:r>
          </a:p>
          <a:p>
            <a:pPr>
              <a:spcBef>
                <a:spcPts val="300"/>
              </a:spcBef>
            </a:pPr>
            <a:r>
              <a:rPr lang="en-US" altLang="en-US" sz="2400" dirty="0"/>
              <a:t>corporate-owned, personally enabled (COPE)</a:t>
            </a:r>
          </a:p>
          <a:p>
            <a:pPr>
              <a:spcBef>
                <a:spcPts val="300"/>
              </a:spcBef>
            </a:pPr>
            <a:r>
              <a:rPr lang="en-US" altLang="en-US" sz="2400" dirty="0"/>
              <a:t>Bluetooth</a:t>
            </a:r>
          </a:p>
          <a:p>
            <a:pPr>
              <a:spcBef>
                <a:spcPts val="300"/>
              </a:spcBef>
            </a:pPr>
            <a:r>
              <a:rPr lang="en-US" altLang="en-US" sz="2400" dirty="0"/>
              <a:t>Wi-Fi</a:t>
            </a:r>
          </a:p>
          <a:p>
            <a:pPr>
              <a:spcBef>
                <a:spcPts val="300"/>
              </a:spcBef>
            </a:pPr>
            <a:r>
              <a:rPr lang="en-US" altLang="en-US" sz="2400" dirty="0"/>
              <a:t>cellular connection</a:t>
            </a:r>
          </a:p>
          <a:p>
            <a:pPr>
              <a:spcBef>
                <a:spcPts val="300"/>
              </a:spcBef>
            </a:pPr>
            <a:r>
              <a:rPr lang="en-US" altLang="en-US" sz="2400" dirty="0"/>
              <a:t>Wi-Fi Protected Access 3 (WPA3)</a:t>
            </a:r>
          </a:p>
          <a:p>
            <a:pPr>
              <a:spcBef>
                <a:spcPts val="300"/>
              </a:spcBef>
            </a:pPr>
            <a:r>
              <a:rPr lang="en-US" altLang="en-US" sz="2400" dirty="0"/>
              <a:t>authentication protocol</a:t>
            </a:r>
          </a:p>
          <a:p>
            <a:pPr>
              <a:spcBef>
                <a:spcPts val="300"/>
              </a:spcBef>
            </a:pPr>
            <a:r>
              <a:rPr lang="en-US" altLang="en-US" sz="2400" dirty="0"/>
              <a:t>application security</a:t>
            </a:r>
          </a:p>
          <a:p>
            <a:pPr>
              <a:spcBef>
                <a:spcPts val="300"/>
              </a:spcBef>
            </a:pPr>
            <a:r>
              <a:rPr lang="en-US" altLang="en-US" sz="2400" dirty="0"/>
              <a:t>input validation</a:t>
            </a:r>
          </a:p>
          <a:p>
            <a:pPr>
              <a:spcBef>
                <a:spcPts val="300"/>
              </a:spcBef>
            </a:pPr>
            <a:r>
              <a:rPr lang="en-US" altLang="en-US" sz="2400" dirty="0"/>
              <a:t>secure cookie</a:t>
            </a:r>
          </a:p>
          <a:p>
            <a:pPr>
              <a:spcBef>
                <a:spcPts val="300"/>
              </a:spcBef>
            </a:pPr>
            <a:r>
              <a:rPr lang="en-US" altLang="en-US" sz="2400" dirty="0"/>
              <a:t>static code analysis</a:t>
            </a:r>
          </a:p>
          <a:p>
            <a:pPr>
              <a:spcBef>
                <a:spcPts val="300"/>
              </a:spcBef>
            </a:pPr>
            <a:r>
              <a:rPr lang="en-US" altLang="en-US" sz="2400" dirty="0"/>
              <a:t>code signing</a:t>
            </a:r>
          </a:p>
          <a:p>
            <a:pPr>
              <a:spcBef>
                <a:spcPts val="300"/>
              </a:spcBef>
            </a:pPr>
            <a:r>
              <a:rPr lang="en-US" altLang="en-US" sz="2400" dirty="0"/>
              <a:t>sandboxing</a:t>
            </a:r>
          </a:p>
          <a:p>
            <a:pPr>
              <a:spcBef>
                <a:spcPts val="300"/>
              </a:spcBef>
            </a:pPr>
            <a:r>
              <a:rPr lang="en-US" altLang="en-US" sz="2400" dirty="0"/>
              <a:t>monitoring</a:t>
            </a:r>
          </a:p>
        </p:txBody>
      </p:sp>
    </p:spTree>
    <p:extLst>
      <p:ext uri="{BB962C8B-B14F-4D97-AF65-F5344CB8AC3E}">
        <p14:creationId xmlns:p14="http://schemas.microsoft.com/office/powerpoint/2010/main" val="1742966753"/>
      </p:ext>
    </p:extLst>
  </p:cSld>
  <p:clrMapOvr>
    <a:masterClrMapping/>
  </p:clrMapOvr>
</p:sld>
</file>

<file path=ppt/slides/slide4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749326-1431-B48D-6BFF-5D854039F8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BD3B42C-438D-2F04-535A-DAAD7277A2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Slide </a:t>
            </a:r>
            <a:fld id="{4CA2B2DB-B91D-4166-98BF-65A0DA7EEE6D}" type="slidenum">
              <a:rPr kumimoji="0" lang="en-US" sz="1800" b="0" i="1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434</a:t>
            </a:fld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906991A-F805-ABD5-DD56-DED04240885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AF132BA7-9237-C8C0-5B86-0E2173D7B3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00" y="228924"/>
            <a:ext cx="13220700" cy="1127125"/>
          </a:xfrm>
        </p:spPr>
        <p:txBody>
          <a:bodyPr/>
          <a:lstStyle/>
          <a:p>
            <a:r>
              <a:rPr kumimoji="0" lang="en-US" sz="72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Review Key Terms</a:t>
            </a:r>
            <a:endParaRPr lang="en-US" i="1" dirty="0"/>
          </a:p>
        </p:txBody>
      </p:sp>
      <p:sp>
        <p:nvSpPr>
          <p:cNvPr id="3" name="Rectangle 1027">
            <a:extLst>
              <a:ext uri="{FF2B5EF4-FFF2-40B4-BE49-F238E27FC236}">
                <a16:creationId xmlns:a16="http://schemas.microsoft.com/office/drawing/2014/main" id="{0312BEA8-7E24-B547-9B62-3BF955159586}"/>
              </a:ext>
            </a:extLst>
          </p:cNvPr>
          <p:cNvSpPr>
            <a:spLocks noGrp="1" noChangeArrowheads="1"/>
          </p:cNvSpPr>
          <p:nvPr>
            <p:ph sz="quarter" idx="12"/>
          </p:nvPr>
        </p:nvSpPr>
        <p:spPr>
          <a:xfrm>
            <a:off x="1047750" y="1935162"/>
            <a:ext cx="16192500" cy="7094538"/>
          </a:xfrm>
        </p:spPr>
        <p:txBody>
          <a:bodyPr numCol="2"/>
          <a:lstStyle/>
          <a:p>
            <a:pPr>
              <a:spcBef>
                <a:spcPts val="300"/>
              </a:spcBef>
            </a:pPr>
            <a:r>
              <a:rPr lang="en-US" altLang="en-US" sz="3600" dirty="0"/>
              <a:t>acquisition process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assignment and accounting process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ownership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monitoring and asset tracking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inventory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enumeration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decommission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sanitization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destruction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certification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data retention</a:t>
            </a:r>
          </a:p>
        </p:txBody>
      </p:sp>
    </p:spTree>
    <p:extLst>
      <p:ext uri="{BB962C8B-B14F-4D97-AF65-F5344CB8AC3E}">
        <p14:creationId xmlns:p14="http://schemas.microsoft.com/office/powerpoint/2010/main" val="1286531752"/>
      </p:ext>
    </p:extLst>
  </p:cSld>
  <p:clrMapOvr>
    <a:masterClrMapping/>
  </p:clrMapOvr>
</p:sld>
</file>

<file path=ppt/slides/slide4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67695E-0859-F551-F849-6BE1106011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C8955DC-1301-24F9-DD11-C6DD0D1CC7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Slide </a:t>
            </a:r>
            <a:fld id="{4CA2B2DB-B91D-4166-98BF-65A0DA7EEE6D}" type="slidenum">
              <a:rPr kumimoji="0" lang="en-US" sz="1800" b="0" i="1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435</a:t>
            </a:fld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2674720-A6AC-187D-28C1-7FED548B2C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4D778AD7-3236-27E9-AF77-584D2B8BB4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00" y="228924"/>
            <a:ext cx="13220700" cy="1127125"/>
          </a:xfrm>
        </p:spPr>
        <p:txBody>
          <a:bodyPr/>
          <a:lstStyle/>
          <a:p>
            <a:r>
              <a:rPr kumimoji="0" lang="en-US" sz="72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Review Key Terms</a:t>
            </a:r>
            <a:endParaRPr lang="en-US" i="1" dirty="0"/>
          </a:p>
        </p:txBody>
      </p:sp>
      <p:sp>
        <p:nvSpPr>
          <p:cNvPr id="3" name="Rectangle 1027">
            <a:extLst>
              <a:ext uri="{FF2B5EF4-FFF2-40B4-BE49-F238E27FC236}">
                <a16:creationId xmlns:a16="http://schemas.microsoft.com/office/drawing/2014/main" id="{5C45D143-BA56-2ADA-8AF0-C9B4E7B73653}"/>
              </a:ext>
            </a:extLst>
          </p:cNvPr>
          <p:cNvSpPr>
            <a:spLocks noGrp="1" noChangeArrowheads="1"/>
          </p:cNvSpPr>
          <p:nvPr>
            <p:ph sz="quarter" idx="12"/>
          </p:nvPr>
        </p:nvSpPr>
        <p:spPr>
          <a:xfrm>
            <a:off x="1047750" y="1935162"/>
            <a:ext cx="16192500" cy="7094538"/>
          </a:xfrm>
        </p:spPr>
        <p:txBody>
          <a:bodyPr numCol="2"/>
          <a:lstStyle/>
          <a:p>
            <a:pPr>
              <a:spcBef>
                <a:spcPts val="300"/>
              </a:spcBef>
            </a:pPr>
            <a:r>
              <a:rPr lang="en-US" altLang="en-US" sz="3600" dirty="0"/>
              <a:t>identification method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vulnerability scan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application security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static analysis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dynamic analysis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package monitoring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threat feed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open-source intelligence (OSINT)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proprietary threat teed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information-sharing organization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dark web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penetration testing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responsible disclosure program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bug bounty program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system or process audit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analysis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confirmation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false positive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false negative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prioritization</a:t>
            </a:r>
          </a:p>
        </p:txBody>
      </p:sp>
    </p:spTree>
    <p:extLst>
      <p:ext uri="{BB962C8B-B14F-4D97-AF65-F5344CB8AC3E}">
        <p14:creationId xmlns:p14="http://schemas.microsoft.com/office/powerpoint/2010/main" val="3232264864"/>
      </p:ext>
    </p:extLst>
  </p:cSld>
  <p:clrMapOvr>
    <a:masterClrMapping/>
  </p:clrMapOvr>
</p:sld>
</file>

<file path=ppt/slides/slide4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C342BA-23A9-3BBD-ABFD-1DD33F6683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3AE5EE2-0E11-BF5E-8EB9-7D47780244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Slide </a:t>
            </a:r>
            <a:fld id="{4CA2B2DB-B91D-4166-98BF-65A0DA7EEE6D}" type="slidenum">
              <a:rPr kumimoji="0" lang="en-US" sz="1800" b="0" i="1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436</a:t>
            </a:fld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E20E6B6-E773-25A7-49CE-94B09580681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0A138736-AF50-CC11-51DE-2A803DAB1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00" y="228924"/>
            <a:ext cx="13220700" cy="1127125"/>
          </a:xfrm>
        </p:spPr>
        <p:txBody>
          <a:bodyPr/>
          <a:lstStyle/>
          <a:p>
            <a:r>
              <a:rPr kumimoji="0" lang="en-US" sz="72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Review Key Terms</a:t>
            </a:r>
            <a:endParaRPr lang="en-US" i="1" dirty="0"/>
          </a:p>
        </p:txBody>
      </p:sp>
      <p:sp>
        <p:nvSpPr>
          <p:cNvPr id="3" name="Rectangle 1027">
            <a:extLst>
              <a:ext uri="{FF2B5EF4-FFF2-40B4-BE49-F238E27FC236}">
                <a16:creationId xmlns:a16="http://schemas.microsoft.com/office/drawing/2014/main" id="{36062F16-3325-6F97-A050-76224D044AC9}"/>
              </a:ext>
            </a:extLst>
          </p:cNvPr>
          <p:cNvSpPr>
            <a:spLocks noGrp="1" noChangeArrowheads="1"/>
          </p:cNvSpPr>
          <p:nvPr>
            <p:ph sz="quarter" idx="12"/>
          </p:nvPr>
        </p:nvSpPr>
        <p:spPr>
          <a:xfrm>
            <a:off x="1047750" y="1935162"/>
            <a:ext cx="16192500" cy="7094538"/>
          </a:xfrm>
        </p:spPr>
        <p:txBody>
          <a:bodyPr numCol="2"/>
          <a:lstStyle/>
          <a:p>
            <a:pPr>
              <a:spcBef>
                <a:spcPts val="300"/>
              </a:spcBef>
            </a:pPr>
            <a:r>
              <a:rPr lang="en-US" altLang="en-US" sz="3600" dirty="0"/>
              <a:t>Common Vulnerability Scoring System (CVSS)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Common Vulnerability Enumeration (CVE)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vulnerability classification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exposure factor (EF)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environmental variable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industry/organizational impact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risk tolerance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vulnerability response and remediation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patching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cybersecurity Insurance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segmentation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compensating control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exception or exemption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validation of remediation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rescanning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audit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verification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reporting</a:t>
            </a:r>
          </a:p>
        </p:txBody>
      </p:sp>
    </p:spTree>
    <p:extLst>
      <p:ext uri="{BB962C8B-B14F-4D97-AF65-F5344CB8AC3E}">
        <p14:creationId xmlns:p14="http://schemas.microsoft.com/office/powerpoint/2010/main" val="921003416"/>
      </p:ext>
    </p:extLst>
  </p:cSld>
  <p:clrMapOvr>
    <a:masterClrMapping/>
  </p:clrMapOvr>
</p:sld>
</file>

<file path=ppt/slides/slide4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B03649-B9B2-B9A4-A4EB-E65DBBBD5B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E36A457-28F3-29F7-DDD6-5F4AB40BC1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Slide </a:t>
            </a:r>
            <a:fld id="{4CA2B2DB-B91D-4166-98BF-65A0DA7EEE6D}" type="slidenum">
              <a:rPr kumimoji="0" lang="en-US" sz="1800" b="0" i="1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437</a:t>
            </a:fld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5BA7F1B-17BC-41E9-6124-72472462EAF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5063FFF-9976-4C6B-0060-6BB657790B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00" y="228924"/>
            <a:ext cx="13220700" cy="1127125"/>
          </a:xfrm>
        </p:spPr>
        <p:txBody>
          <a:bodyPr/>
          <a:lstStyle/>
          <a:p>
            <a:r>
              <a:rPr kumimoji="0" lang="en-US" sz="72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Review Key Terms</a:t>
            </a:r>
            <a:endParaRPr lang="en-US" i="1" dirty="0"/>
          </a:p>
        </p:txBody>
      </p:sp>
      <p:sp>
        <p:nvSpPr>
          <p:cNvPr id="3" name="Rectangle 1027">
            <a:extLst>
              <a:ext uri="{FF2B5EF4-FFF2-40B4-BE49-F238E27FC236}">
                <a16:creationId xmlns:a16="http://schemas.microsoft.com/office/drawing/2014/main" id="{F92C898A-ABA9-B2D9-7955-A680383CBA26}"/>
              </a:ext>
            </a:extLst>
          </p:cNvPr>
          <p:cNvSpPr>
            <a:spLocks noGrp="1" noChangeArrowheads="1"/>
          </p:cNvSpPr>
          <p:nvPr>
            <p:ph sz="quarter" idx="12"/>
          </p:nvPr>
        </p:nvSpPr>
        <p:spPr>
          <a:xfrm>
            <a:off x="1047750" y="1935162"/>
            <a:ext cx="16192500" cy="7018338"/>
          </a:xfrm>
        </p:spPr>
        <p:txBody>
          <a:bodyPr numCol="2"/>
          <a:lstStyle/>
          <a:p>
            <a:pPr>
              <a:spcBef>
                <a:spcPts val="300"/>
              </a:spcBef>
            </a:pPr>
            <a:r>
              <a:rPr lang="en-US" altLang="en-US" sz="2800" dirty="0"/>
              <a:t>monitoring computing resources</a:t>
            </a:r>
          </a:p>
          <a:p>
            <a:pPr>
              <a:spcBef>
                <a:spcPts val="300"/>
              </a:spcBef>
            </a:pPr>
            <a:r>
              <a:rPr lang="en-US" altLang="en-US" sz="2800" dirty="0"/>
              <a:t>monitoring systems</a:t>
            </a:r>
          </a:p>
          <a:p>
            <a:pPr>
              <a:spcBef>
                <a:spcPts val="300"/>
              </a:spcBef>
            </a:pPr>
            <a:r>
              <a:rPr lang="en-US" altLang="en-US" sz="2800" dirty="0"/>
              <a:t>application monitoring</a:t>
            </a:r>
          </a:p>
          <a:p>
            <a:pPr>
              <a:spcBef>
                <a:spcPts val="300"/>
              </a:spcBef>
            </a:pPr>
            <a:r>
              <a:rPr lang="en-US" altLang="en-US" sz="2800" dirty="0"/>
              <a:t>infrastructure monitoring</a:t>
            </a:r>
          </a:p>
          <a:p>
            <a:pPr>
              <a:spcBef>
                <a:spcPts val="300"/>
              </a:spcBef>
            </a:pPr>
            <a:r>
              <a:rPr lang="en-US" altLang="en-US" sz="2800" dirty="0"/>
              <a:t>cybersecurity activity</a:t>
            </a:r>
          </a:p>
          <a:p>
            <a:pPr>
              <a:spcBef>
                <a:spcPts val="300"/>
              </a:spcBef>
            </a:pPr>
            <a:r>
              <a:rPr lang="en-US" altLang="en-US" sz="2800" dirty="0"/>
              <a:t>log aggregation</a:t>
            </a:r>
          </a:p>
          <a:p>
            <a:pPr>
              <a:spcBef>
                <a:spcPts val="300"/>
              </a:spcBef>
            </a:pPr>
            <a:r>
              <a:rPr lang="en-US" altLang="en-US" sz="2800" dirty="0"/>
              <a:t>alerting</a:t>
            </a:r>
          </a:p>
          <a:p>
            <a:pPr>
              <a:spcBef>
                <a:spcPts val="300"/>
              </a:spcBef>
            </a:pPr>
            <a:r>
              <a:rPr lang="en-US" altLang="en-US" sz="2800" dirty="0"/>
              <a:t>scanning</a:t>
            </a:r>
          </a:p>
          <a:p>
            <a:pPr>
              <a:spcBef>
                <a:spcPts val="300"/>
              </a:spcBef>
            </a:pPr>
            <a:r>
              <a:rPr lang="en-US" altLang="en-US" sz="2800" dirty="0"/>
              <a:t>reporting</a:t>
            </a:r>
          </a:p>
          <a:p>
            <a:pPr>
              <a:spcBef>
                <a:spcPts val="300"/>
              </a:spcBef>
            </a:pPr>
            <a:r>
              <a:rPr lang="en-US" altLang="en-US" sz="2800" dirty="0"/>
              <a:t>archiving</a:t>
            </a:r>
          </a:p>
          <a:p>
            <a:pPr>
              <a:spcBef>
                <a:spcPts val="300"/>
              </a:spcBef>
            </a:pPr>
            <a:r>
              <a:rPr lang="en-US" altLang="en-US" sz="2800" dirty="0"/>
              <a:t>alert response process</a:t>
            </a:r>
          </a:p>
          <a:p>
            <a:pPr>
              <a:spcBef>
                <a:spcPts val="300"/>
              </a:spcBef>
            </a:pPr>
            <a:r>
              <a:rPr lang="en-US" altLang="en-US" sz="2800" dirty="0"/>
              <a:t>quarantining</a:t>
            </a:r>
          </a:p>
          <a:p>
            <a:pPr>
              <a:spcBef>
                <a:spcPts val="300"/>
              </a:spcBef>
            </a:pPr>
            <a:r>
              <a:rPr lang="en-US" altLang="en-US" sz="2800" dirty="0"/>
              <a:t>alert tuning</a:t>
            </a:r>
          </a:p>
          <a:p>
            <a:pPr>
              <a:spcBef>
                <a:spcPts val="300"/>
              </a:spcBef>
            </a:pPr>
            <a:r>
              <a:rPr lang="en-US" altLang="en-US" sz="2800" dirty="0"/>
              <a:t>cybersecurity tool</a:t>
            </a:r>
          </a:p>
          <a:p>
            <a:pPr>
              <a:spcBef>
                <a:spcPts val="300"/>
              </a:spcBef>
            </a:pPr>
            <a:r>
              <a:rPr lang="en-US" altLang="en-US" sz="2800" dirty="0"/>
              <a:t>Security Content Automation Protocol (SCAP)</a:t>
            </a:r>
          </a:p>
          <a:p>
            <a:pPr>
              <a:spcBef>
                <a:spcPts val="300"/>
              </a:spcBef>
            </a:pPr>
            <a:r>
              <a:rPr lang="en-US" altLang="en-US" sz="2800" dirty="0"/>
              <a:t>benchmark</a:t>
            </a:r>
          </a:p>
          <a:p>
            <a:pPr>
              <a:spcBef>
                <a:spcPts val="300"/>
              </a:spcBef>
            </a:pPr>
            <a:r>
              <a:rPr lang="en-US" altLang="en-US" sz="2800" dirty="0"/>
              <a:t>agent-based solution</a:t>
            </a:r>
          </a:p>
          <a:p>
            <a:pPr>
              <a:spcBef>
                <a:spcPts val="300"/>
              </a:spcBef>
            </a:pPr>
            <a:r>
              <a:rPr lang="en-US" altLang="en-US" sz="2800" dirty="0"/>
              <a:t>agentless solution</a:t>
            </a:r>
          </a:p>
          <a:p>
            <a:pPr>
              <a:spcBef>
                <a:spcPts val="300"/>
              </a:spcBef>
            </a:pPr>
            <a:r>
              <a:rPr lang="en-US" altLang="en-US" sz="2800" dirty="0"/>
              <a:t>security information and event management (SIEM) system</a:t>
            </a:r>
          </a:p>
          <a:p>
            <a:pPr>
              <a:spcBef>
                <a:spcPts val="300"/>
              </a:spcBef>
            </a:pPr>
            <a:r>
              <a:rPr lang="en-US" altLang="en-US" sz="2800" dirty="0"/>
              <a:t>NetFlow</a:t>
            </a:r>
          </a:p>
          <a:p>
            <a:pPr>
              <a:spcBef>
                <a:spcPts val="300"/>
              </a:spcBef>
            </a:pPr>
            <a:r>
              <a:rPr lang="en-US" altLang="en-US" sz="2800" dirty="0"/>
              <a:t>antivirus software</a:t>
            </a:r>
          </a:p>
          <a:p>
            <a:pPr>
              <a:spcBef>
                <a:spcPts val="300"/>
              </a:spcBef>
            </a:pPr>
            <a:r>
              <a:rPr lang="en-US" altLang="en-US" sz="2800" dirty="0"/>
              <a:t>Data Loss Prevention (DLP)</a:t>
            </a:r>
          </a:p>
          <a:p>
            <a:pPr>
              <a:spcBef>
                <a:spcPts val="300"/>
              </a:spcBef>
            </a:pPr>
            <a:r>
              <a:rPr lang="en-US" altLang="en-US" sz="2800" dirty="0"/>
              <a:t>Simple Network Management Protocol (SNMP) trap</a:t>
            </a:r>
          </a:p>
          <a:p>
            <a:pPr>
              <a:spcBef>
                <a:spcPts val="300"/>
              </a:spcBef>
            </a:pPr>
            <a:r>
              <a:rPr lang="en-US" altLang="en-US" sz="2800" dirty="0"/>
              <a:t>vulnerability scanner</a:t>
            </a:r>
          </a:p>
        </p:txBody>
      </p:sp>
    </p:spTree>
    <p:extLst>
      <p:ext uri="{BB962C8B-B14F-4D97-AF65-F5344CB8AC3E}">
        <p14:creationId xmlns:p14="http://schemas.microsoft.com/office/powerpoint/2010/main" val="4089814831"/>
      </p:ext>
    </p:extLst>
  </p:cSld>
  <p:clrMapOvr>
    <a:masterClrMapping/>
  </p:clrMapOvr>
</p:sld>
</file>

<file path=ppt/slides/slide4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00305C-1971-BEAE-2E85-E7CF9A47E9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11D3D76-20B7-7DFB-B3B2-03186ACCDA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Slide </a:t>
            </a:r>
            <a:fld id="{4CA2B2DB-B91D-4166-98BF-65A0DA7EEE6D}" type="slidenum">
              <a:rPr kumimoji="0" lang="en-US" sz="1800" b="0" i="1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438</a:t>
            </a:fld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B1AA239-BA78-7AC3-E028-6C0756CE47F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76CB6609-A929-5217-92CA-AC4C358F34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00" y="228924"/>
            <a:ext cx="13220700" cy="1127125"/>
          </a:xfrm>
        </p:spPr>
        <p:txBody>
          <a:bodyPr/>
          <a:lstStyle/>
          <a:p>
            <a:r>
              <a:rPr kumimoji="0" lang="en-US" sz="72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Review Key Terms</a:t>
            </a:r>
            <a:endParaRPr lang="en-US" i="1" dirty="0"/>
          </a:p>
        </p:txBody>
      </p:sp>
      <p:sp>
        <p:nvSpPr>
          <p:cNvPr id="3" name="Rectangle 1027">
            <a:extLst>
              <a:ext uri="{FF2B5EF4-FFF2-40B4-BE49-F238E27FC236}">
                <a16:creationId xmlns:a16="http://schemas.microsoft.com/office/drawing/2014/main" id="{6F1DDBDB-376A-9AC5-3E9A-AE9C29A1115D}"/>
              </a:ext>
            </a:extLst>
          </p:cNvPr>
          <p:cNvSpPr>
            <a:spLocks noGrp="1" noChangeArrowheads="1"/>
          </p:cNvSpPr>
          <p:nvPr>
            <p:ph sz="quarter" idx="12"/>
          </p:nvPr>
        </p:nvSpPr>
        <p:spPr>
          <a:xfrm>
            <a:off x="1047750" y="1935162"/>
            <a:ext cx="16192500" cy="7094538"/>
          </a:xfrm>
        </p:spPr>
        <p:txBody>
          <a:bodyPr numCol="2"/>
          <a:lstStyle/>
          <a:p>
            <a:pPr>
              <a:spcBef>
                <a:spcPts val="300"/>
              </a:spcBef>
            </a:pPr>
            <a:r>
              <a:rPr lang="en-US" altLang="en-US" sz="3600" dirty="0"/>
              <a:t>firewall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rule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access control list (ACL)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port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protocol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screened subnet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intrusion detection system (IDS)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intrusion prevention system (IPS)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trend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signature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web filtering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agent-based web filtering approach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centralized proxy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URL scanning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content categorization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block rule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reputation-based filtering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operating system security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group policy</a:t>
            </a:r>
          </a:p>
          <a:p>
            <a:pPr>
              <a:spcBef>
                <a:spcPts val="300"/>
              </a:spcBef>
            </a:pPr>
            <a:r>
              <a:rPr lang="en-US" altLang="en-US" sz="3600" dirty="0" err="1"/>
              <a:t>SELinux</a:t>
            </a:r>
            <a:endParaRPr lang="en-US" altLang="en-US" sz="3600" dirty="0"/>
          </a:p>
          <a:p>
            <a:pPr>
              <a:spcBef>
                <a:spcPts val="300"/>
              </a:spcBef>
            </a:pPr>
            <a:r>
              <a:rPr lang="en-US" altLang="en-US" sz="3600" dirty="0"/>
              <a:t>implementation of secure protocols</a:t>
            </a:r>
          </a:p>
        </p:txBody>
      </p:sp>
    </p:spTree>
    <p:extLst>
      <p:ext uri="{BB962C8B-B14F-4D97-AF65-F5344CB8AC3E}">
        <p14:creationId xmlns:p14="http://schemas.microsoft.com/office/powerpoint/2010/main" val="1459144908"/>
      </p:ext>
    </p:extLst>
  </p:cSld>
  <p:clrMapOvr>
    <a:masterClrMapping/>
  </p:clrMapOvr>
</p:sld>
</file>

<file path=ppt/slides/slide4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6156E9-9A71-DE2B-7EE1-D0B8232EE0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7B6D074-21B1-58C9-D614-A0B11729BD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Slide </a:t>
            </a:r>
            <a:fld id="{4CA2B2DB-B91D-4166-98BF-65A0DA7EEE6D}" type="slidenum">
              <a:rPr kumimoji="0" lang="en-US" sz="1800" b="0" i="1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439</a:t>
            </a:fld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D68456F-D906-8944-944D-D644B8349AA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2591BA4-9984-2284-C515-C26003C19E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00" y="228924"/>
            <a:ext cx="13220700" cy="1127125"/>
          </a:xfrm>
        </p:spPr>
        <p:txBody>
          <a:bodyPr/>
          <a:lstStyle/>
          <a:p>
            <a:r>
              <a:rPr kumimoji="0" lang="en-US" sz="72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Review Key Terms</a:t>
            </a:r>
            <a:endParaRPr lang="en-US" i="1" dirty="0"/>
          </a:p>
        </p:txBody>
      </p:sp>
      <p:sp>
        <p:nvSpPr>
          <p:cNvPr id="3" name="Rectangle 1027">
            <a:extLst>
              <a:ext uri="{FF2B5EF4-FFF2-40B4-BE49-F238E27FC236}">
                <a16:creationId xmlns:a16="http://schemas.microsoft.com/office/drawing/2014/main" id="{7225C3D8-8B94-2A82-AA7A-518C603DB22A}"/>
              </a:ext>
            </a:extLst>
          </p:cNvPr>
          <p:cNvSpPr>
            <a:spLocks noGrp="1" noChangeArrowheads="1"/>
          </p:cNvSpPr>
          <p:nvPr>
            <p:ph sz="quarter" idx="12"/>
          </p:nvPr>
        </p:nvSpPr>
        <p:spPr>
          <a:xfrm>
            <a:off x="1047750" y="1935162"/>
            <a:ext cx="16192500" cy="7094538"/>
          </a:xfrm>
        </p:spPr>
        <p:txBody>
          <a:bodyPr numCol="2"/>
          <a:lstStyle/>
          <a:p>
            <a:pPr>
              <a:spcBef>
                <a:spcPts val="300"/>
              </a:spcBef>
            </a:pPr>
            <a:r>
              <a:rPr lang="en-US" altLang="en-US" sz="3600" dirty="0"/>
              <a:t>protocol selection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port selection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transport method selection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DNS filtering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email security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Domain-Based Message Authentication Reporting and Conformance (DMARC)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DomainKeys Identified Mail (DKIM)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Sender Policy Framework (SPF)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gateway</a:t>
            </a:r>
          </a:p>
          <a:p>
            <a:pPr>
              <a:spcBef>
                <a:spcPts val="300"/>
              </a:spcBef>
            </a:pPr>
            <a:endParaRPr lang="en-US" altLang="en-US" sz="3600" dirty="0"/>
          </a:p>
          <a:p>
            <a:pPr>
              <a:spcBef>
                <a:spcPts val="300"/>
              </a:spcBef>
            </a:pPr>
            <a:r>
              <a:rPr lang="en-US" altLang="en-US" sz="3600" dirty="0"/>
              <a:t>file integrity monitoring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data loss prevention (DLP)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network access control (NAC)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endpoint detection and response (EDR)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extended detection and response (XDR)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user behavior analytics (UBA)</a:t>
            </a:r>
          </a:p>
        </p:txBody>
      </p:sp>
    </p:spTree>
    <p:extLst>
      <p:ext uri="{BB962C8B-B14F-4D97-AF65-F5344CB8AC3E}">
        <p14:creationId xmlns:p14="http://schemas.microsoft.com/office/powerpoint/2010/main" val="2185808216"/>
      </p:ext>
    </p:extLst>
  </p:cSld>
  <p:clrMapOvr>
    <a:masterClrMapping/>
  </p:clrMapOvr>
</p:sld>
</file>

<file path=ppt/slides/slide4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85AE2C-2D5F-F004-75FD-E374AD9DF3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868354B-0FCA-36FD-881B-DA6EBDF35A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Slide </a:t>
            </a:r>
            <a:fld id="{4CA2B2DB-B91D-4166-98BF-65A0DA7EEE6D}" type="slidenum">
              <a:rPr kumimoji="0" lang="en-US" sz="1800" b="0" i="1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440</a:t>
            </a:fld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F687E91-9DB6-7190-0351-3AEDD2184D5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480F70AA-CF02-1ED5-A5EB-7C5EAA9FE3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00" y="228924"/>
            <a:ext cx="13220700" cy="1127125"/>
          </a:xfrm>
        </p:spPr>
        <p:txBody>
          <a:bodyPr/>
          <a:lstStyle/>
          <a:p>
            <a:r>
              <a:rPr kumimoji="0" lang="en-US" sz="72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Review Key Terms</a:t>
            </a:r>
            <a:endParaRPr lang="en-US" i="1" dirty="0"/>
          </a:p>
        </p:txBody>
      </p:sp>
      <p:sp>
        <p:nvSpPr>
          <p:cNvPr id="3" name="Rectangle 1027">
            <a:extLst>
              <a:ext uri="{FF2B5EF4-FFF2-40B4-BE49-F238E27FC236}">
                <a16:creationId xmlns:a16="http://schemas.microsoft.com/office/drawing/2014/main" id="{37F553EF-6A30-D2E2-D8B5-E47D3A236A55}"/>
              </a:ext>
            </a:extLst>
          </p:cNvPr>
          <p:cNvSpPr>
            <a:spLocks noGrp="1" noChangeArrowheads="1"/>
          </p:cNvSpPr>
          <p:nvPr>
            <p:ph sz="quarter" idx="12"/>
          </p:nvPr>
        </p:nvSpPr>
        <p:spPr>
          <a:xfrm>
            <a:off x="1047750" y="1935162"/>
            <a:ext cx="16192500" cy="7094538"/>
          </a:xfrm>
        </p:spPr>
        <p:txBody>
          <a:bodyPr numCol="2"/>
          <a:lstStyle/>
          <a:p>
            <a:pPr>
              <a:spcBef>
                <a:spcPts val="300"/>
              </a:spcBef>
            </a:pPr>
            <a:r>
              <a:rPr lang="en-US" altLang="en-US" sz="3600" dirty="0"/>
              <a:t>provisioning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de-provisioning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permission assignment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identity proofing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federation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single sign-on (SSO)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Lightweight Directory Access Protocol (LDAP)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Open Authorization (OAuth)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Security Assertion Markup Language (SAML)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interoperability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attestation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access control model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role-based access control (RBAC)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rule-based access control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mandatory access control (MAC)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discretionary access control (DAC)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attribute-based access control (ABAC)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time-of-day restriction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least privilege</a:t>
            </a:r>
          </a:p>
        </p:txBody>
      </p:sp>
    </p:spTree>
    <p:extLst>
      <p:ext uri="{BB962C8B-B14F-4D97-AF65-F5344CB8AC3E}">
        <p14:creationId xmlns:p14="http://schemas.microsoft.com/office/powerpoint/2010/main" val="3456695942"/>
      </p:ext>
    </p:extLst>
  </p:cSld>
  <p:clrMapOvr>
    <a:masterClrMapping/>
  </p:clrMapOvr>
</p:sld>
</file>

<file path=ppt/slides/slide4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0B4BD2-BE67-F48A-F75E-8449DD4ED9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A889C0A-572B-8C17-ED47-375D36E3BD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Slide </a:t>
            </a:r>
            <a:fld id="{4CA2B2DB-B91D-4166-98BF-65A0DA7EEE6D}" type="slidenum">
              <a:rPr kumimoji="0" lang="en-US" sz="1800" b="0" i="1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441</a:t>
            </a:fld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071AD24-4C37-6ED3-2D37-F6CC7D51614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1C73434D-DF0E-BE81-2CEE-32CB6D0ABC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00" y="228924"/>
            <a:ext cx="13220700" cy="1127125"/>
          </a:xfrm>
        </p:spPr>
        <p:txBody>
          <a:bodyPr/>
          <a:lstStyle/>
          <a:p>
            <a:r>
              <a:rPr kumimoji="0" lang="en-US" sz="72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Review Key Terms</a:t>
            </a:r>
            <a:endParaRPr lang="en-US" i="1" dirty="0"/>
          </a:p>
        </p:txBody>
      </p:sp>
      <p:sp>
        <p:nvSpPr>
          <p:cNvPr id="3" name="Rectangle 1027">
            <a:extLst>
              <a:ext uri="{FF2B5EF4-FFF2-40B4-BE49-F238E27FC236}">
                <a16:creationId xmlns:a16="http://schemas.microsoft.com/office/drawing/2014/main" id="{186ABBD6-345D-F499-0C30-48DD866516C9}"/>
              </a:ext>
            </a:extLst>
          </p:cNvPr>
          <p:cNvSpPr>
            <a:spLocks noGrp="1" noChangeArrowheads="1"/>
          </p:cNvSpPr>
          <p:nvPr>
            <p:ph sz="quarter" idx="12"/>
          </p:nvPr>
        </p:nvSpPr>
        <p:spPr>
          <a:xfrm>
            <a:off x="1047750" y="1935162"/>
            <a:ext cx="16192500" cy="7094538"/>
          </a:xfrm>
        </p:spPr>
        <p:txBody>
          <a:bodyPr numCol="2"/>
          <a:lstStyle/>
          <a:p>
            <a:pPr>
              <a:spcBef>
                <a:spcPts val="300"/>
              </a:spcBef>
            </a:pPr>
            <a:r>
              <a:rPr lang="en-US" altLang="en-US" sz="3600" dirty="0"/>
              <a:t>multifactor authentication (MFA)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biometric identifier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factor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something you know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something you have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something you are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somewhere you are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password concepts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password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password best practices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password length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password complexity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password reuse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password expiration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password age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password manager</a:t>
            </a:r>
          </a:p>
          <a:p>
            <a:pPr>
              <a:spcBef>
                <a:spcPts val="300"/>
              </a:spcBef>
            </a:pPr>
            <a:r>
              <a:rPr lang="en-US" altLang="en-US" sz="3600" dirty="0" err="1"/>
              <a:t>passwordless</a:t>
            </a:r>
            <a:r>
              <a:rPr lang="en-US" altLang="en-US" sz="3600" dirty="0"/>
              <a:t> authentication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privileged access management (PAM)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just-in-time (JIT) permissions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password vaulting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ephemeral credentials</a:t>
            </a:r>
          </a:p>
        </p:txBody>
      </p:sp>
    </p:spTree>
    <p:extLst>
      <p:ext uri="{BB962C8B-B14F-4D97-AF65-F5344CB8AC3E}">
        <p14:creationId xmlns:p14="http://schemas.microsoft.com/office/powerpoint/2010/main" val="1745503993"/>
      </p:ext>
    </p:extLst>
  </p:cSld>
  <p:clrMapOvr>
    <a:masterClrMapping/>
  </p:clrMapOvr>
</p:sld>
</file>

<file path=ppt/slides/slide4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2D68CB-9BA9-D4D0-D6BE-ABE40EAC7A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66EBEEB-CD2E-BC07-1B49-4BF8E2A12C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Slide </a:t>
            </a:r>
            <a:fld id="{4CA2B2DB-B91D-4166-98BF-65A0DA7EEE6D}" type="slidenum">
              <a:rPr kumimoji="0" lang="en-US" sz="1800" b="0" i="1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442</a:t>
            </a:fld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ED3937B-62F6-5878-935E-3D903F09E00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0E2A6334-183E-AEE5-C74E-E1ABE7A1B5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00" y="228924"/>
            <a:ext cx="13220700" cy="1127125"/>
          </a:xfrm>
        </p:spPr>
        <p:txBody>
          <a:bodyPr/>
          <a:lstStyle/>
          <a:p>
            <a:r>
              <a:rPr kumimoji="0" lang="en-US" sz="72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Review Key Terms</a:t>
            </a:r>
            <a:endParaRPr lang="en-US" i="1" dirty="0"/>
          </a:p>
        </p:txBody>
      </p:sp>
      <p:sp>
        <p:nvSpPr>
          <p:cNvPr id="3" name="Rectangle 1027">
            <a:extLst>
              <a:ext uri="{FF2B5EF4-FFF2-40B4-BE49-F238E27FC236}">
                <a16:creationId xmlns:a16="http://schemas.microsoft.com/office/drawing/2014/main" id="{2DD6283C-94BF-202F-88F4-62F442901131}"/>
              </a:ext>
            </a:extLst>
          </p:cNvPr>
          <p:cNvSpPr>
            <a:spLocks noGrp="1" noChangeArrowheads="1"/>
          </p:cNvSpPr>
          <p:nvPr>
            <p:ph sz="quarter" idx="12"/>
          </p:nvPr>
        </p:nvSpPr>
        <p:spPr>
          <a:xfrm>
            <a:off x="1047750" y="1935162"/>
            <a:ext cx="16192500" cy="7094538"/>
          </a:xfrm>
        </p:spPr>
        <p:txBody>
          <a:bodyPr numCol="2"/>
          <a:lstStyle/>
          <a:p>
            <a:pPr>
              <a:spcBef>
                <a:spcPts val="300"/>
              </a:spcBef>
            </a:pPr>
            <a:r>
              <a:rPr lang="en-US" altLang="en-US" sz="3600" dirty="0"/>
              <a:t>user provisioning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resource provisioning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guard rails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security group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ticket creation system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escalate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enabling or disabling services and access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continuous integration and testing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integrations and application programming interfaces (APIs)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efficiency and time saving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enforcing baselines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standard infrastructure configurations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scaling in a secure manner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employee retention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improving reaction time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workforce multiplier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complexity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cost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single point of failure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technical debt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ongoing supportability</a:t>
            </a:r>
          </a:p>
        </p:txBody>
      </p:sp>
    </p:spTree>
    <p:extLst>
      <p:ext uri="{BB962C8B-B14F-4D97-AF65-F5344CB8AC3E}">
        <p14:creationId xmlns:p14="http://schemas.microsoft.com/office/powerpoint/2010/main" val="2244923673"/>
      </p:ext>
    </p:extLst>
  </p:cSld>
  <p:clrMapOvr>
    <a:masterClrMapping/>
  </p:clrMapOvr>
</p:sld>
</file>

<file path=ppt/slides/slide4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142022-318E-873D-41C7-B583D3A98E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BA5DAE6-3AF4-7CFA-CE5D-71D58FB700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Slide </a:t>
            </a:r>
            <a:fld id="{4CA2B2DB-B91D-4166-98BF-65A0DA7EEE6D}" type="slidenum">
              <a:rPr kumimoji="0" lang="en-US" sz="1800" b="0" i="1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443</a:t>
            </a:fld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C90BEC-E971-F67A-EAFB-4D71F9ECE35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9FEA33B-66B2-5E27-5FB8-21FA43F18F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00" y="228924"/>
            <a:ext cx="13220700" cy="1127125"/>
          </a:xfrm>
        </p:spPr>
        <p:txBody>
          <a:bodyPr/>
          <a:lstStyle/>
          <a:p>
            <a:r>
              <a:rPr kumimoji="0" lang="en-US" sz="72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Review Key Terms</a:t>
            </a:r>
            <a:endParaRPr lang="en-US" i="1" dirty="0"/>
          </a:p>
        </p:txBody>
      </p:sp>
      <p:sp>
        <p:nvSpPr>
          <p:cNvPr id="3" name="Rectangle 1027">
            <a:extLst>
              <a:ext uri="{FF2B5EF4-FFF2-40B4-BE49-F238E27FC236}">
                <a16:creationId xmlns:a16="http://schemas.microsoft.com/office/drawing/2014/main" id="{53AD3CFC-CD7C-A4E4-1F79-B6F229752644}"/>
              </a:ext>
            </a:extLst>
          </p:cNvPr>
          <p:cNvSpPr>
            <a:spLocks noGrp="1" noChangeArrowheads="1"/>
          </p:cNvSpPr>
          <p:nvPr>
            <p:ph sz="quarter" idx="12"/>
          </p:nvPr>
        </p:nvSpPr>
        <p:spPr>
          <a:xfrm>
            <a:off x="1047750" y="1935162"/>
            <a:ext cx="16192500" cy="7094538"/>
          </a:xfrm>
        </p:spPr>
        <p:txBody>
          <a:bodyPr numCol="2"/>
          <a:lstStyle/>
          <a:p>
            <a:pPr>
              <a:spcBef>
                <a:spcPts val="900"/>
              </a:spcBef>
            </a:pPr>
            <a:r>
              <a:rPr lang="en-US" altLang="en-US" sz="3600" dirty="0"/>
              <a:t>preparation</a:t>
            </a:r>
          </a:p>
          <a:p>
            <a:pPr>
              <a:spcBef>
                <a:spcPts val="900"/>
              </a:spcBef>
            </a:pPr>
            <a:r>
              <a:rPr lang="en-US" altLang="en-US" sz="3600" dirty="0"/>
              <a:t>detection</a:t>
            </a:r>
          </a:p>
          <a:p>
            <a:pPr>
              <a:spcBef>
                <a:spcPts val="900"/>
              </a:spcBef>
            </a:pPr>
            <a:r>
              <a:rPr lang="en-US" altLang="en-US" sz="3600" dirty="0"/>
              <a:t>analysis</a:t>
            </a:r>
          </a:p>
          <a:p>
            <a:pPr>
              <a:spcBef>
                <a:spcPts val="900"/>
              </a:spcBef>
            </a:pPr>
            <a:r>
              <a:rPr lang="en-US" altLang="en-US" sz="3600" dirty="0"/>
              <a:t>containment</a:t>
            </a:r>
          </a:p>
          <a:p>
            <a:pPr>
              <a:spcBef>
                <a:spcPts val="900"/>
              </a:spcBef>
            </a:pPr>
            <a:r>
              <a:rPr lang="en-US" altLang="en-US" sz="3600" dirty="0"/>
              <a:t>eradication</a:t>
            </a:r>
          </a:p>
          <a:p>
            <a:pPr>
              <a:spcBef>
                <a:spcPts val="900"/>
              </a:spcBef>
            </a:pPr>
            <a:r>
              <a:rPr lang="en-US" altLang="en-US" sz="3600" dirty="0"/>
              <a:t>recovery</a:t>
            </a:r>
          </a:p>
          <a:p>
            <a:pPr>
              <a:spcBef>
                <a:spcPts val="900"/>
              </a:spcBef>
            </a:pPr>
            <a:r>
              <a:rPr lang="en-US" altLang="en-US" sz="3600" dirty="0"/>
              <a:t>lessons learned</a:t>
            </a:r>
          </a:p>
          <a:p>
            <a:pPr>
              <a:spcBef>
                <a:spcPts val="900"/>
              </a:spcBef>
            </a:pPr>
            <a:r>
              <a:rPr lang="en-US" altLang="en-US" sz="3600" dirty="0"/>
              <a:t>training</a:t>
            </a:r>
          </a:p>
          <a:p>
            <a:pPr>
              <a:spcBef>
                <a:spcPts val="900"/>
              </a:spcBef>
            </a:pPr>
            <a:r>
              <a:rPr lang="en-US" altLang="en-US" sz="3600" dirty="0"/>
              <a:t>testing</a:t>
            </a:r>
          </a:p>
          <a:p>
            <a:pPr>
              <a:spcBef>
                <a:spcPts val="900"/>
              </a:spcBef>
            </a:pPr>
            <a:r>
              <a:rPr lang="en-US" altLang="en-US" sz="3600" dirty="0"/>
              <a:t>tabletop exercise</a:t>
            </a:r>
          </a:p>
          <a:p>
            <a:pPr>
              <a:spcBef>
                <a:spcPts val="900"/>
              </a:spcBef>
            </a:pPr>
            <a:r>
              <a:rPr lang="en-US" altLang="en-US" sz="3600" dirty="0"/>
              <a:t>simulation</a:t>
            </a:r>
          </a:p>
          <a:p>
            <a:pPr>
              <a:spcBef>
                <a:spcPts val="900"/>
              </a:spcBef>
            </a:pPr>
            <a:r>
              <a:rPr lang="en-US" altLang="en-US" sz="3600" dirty="0"/>
              <a:t>root cause analysis</a:t>
            </a:r>
          </a:p>
          <a:p>
            <a:pPr>
              <a:spcBef>
                <a:spcPts val="900"/>
              </a:spcBef>
            </a:pPr>
            <a:r>
              <a:rPr lang="en-US" altLang="en-US" sz="3600" dirty="0"/>
              <a:t>threat hunting</a:t>
            </a:r>
          </a:p>
          <a:p>
            <a:pPr>
              <a:spcBef>
                <a:spcPts val="900"/>
              </a:spcBef>
            </a:pPr>
            <a:r>
              <a:rPr lang="en-US" altLang="en-US" sz="3600" dirty="0"/>
              <a:t>digital forensics</a:t>
            </a:r>
          </a:p>
          <a:p>
            <a:pPr>
              <a:spcBef>
                <a:spcPts val="900"/>
              </a:spcBef>
            </a:pPr>
            <a:r>
              <a:rPr lang="en-US" altLang="en-US" sz="3600" dirty="0"/>
              <a:t>legal hold</a:t>
            </a:r>
          </a:p>
          <a:p>
            <a:pPr>
              <a:spcBef>
                <a:spcPts val="900"/>
              </a:spcBef>
            </a:pPr>
            <a:r>
              <a:rPr lang="en-US" altLang="en-US" sz="3600" dirty="0"/>
              <a:t>chain of custody</a:t>
            </a:r>
          </a:p>
          <a:p>
            <a:pPr>
              <a:spcBef>
                <a:spcPts val="900"/>
              </a:spcBef>
            </a:pPr>
            <a:r>
              <a:rPr lang="en-US" altLang="en-US" sz="3600" dirty="0"/>
              <a:t>acquisition</a:t>
            </a:r>
          </a:p>
          <a:p>
            <a:pPr>
              <a:spcBef>
                <a:spcPts val="900"/>
              </a:spcBef>
            </a:pPr>
            <a:r>
              <a:rPr lang="en-US" altLang="en-US" sz="3600" dirty="0"/>
              <a:t>reporting</a:t>
            </a:r>
          </a:p>
          <a:p>
            <a:pPr>
              <a:spcBef>
                <a:spcPts val="900"/>
              </a:spcBef>
            </a:pPr>
            <a:r>
              <a:rPr lang="en-US" altLang="en-US" sz="3600" dirty="0"/>
              <a:t>preservation</a:t>
            </a:r>
          </a:p>
          <a:p>
            <a:pPr>
              <a:spcBef>
                <a:spcPts val="900"/>
              </a:spcBef>
            </a:pPr>
            <a:r>
              <a:rPr lang="en-US" altLang="en-US" sz="3600" dirty="0"/>
              <a:t>e-discovery</a:t>
            </a:r>
          </a:p>
        </p:txBody>
      </p:sp>
    </p:spTree>
    <p:extLst>
      <p:ext uri="{BB962C8B-B14F-4D97-AF65-F5344CB8AC3E}">
        <p14:creationId xmlns:p14="http://schemas.microsoft.com/office/powerpoint/2010/main" val="600206128"/>
      </p:ext>
    </p:extLst>
  </p:cSld>
  <p:clrMapOvr>
    <a:masterClrMapping/>
  </p:clrMapOvr>
</p:sld>
</file>

<file path=ppt/slides/slide4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19D3DA-2195-4994-9E05-FD97B6A382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FD3A855-7FE9-3B6B-9491-173AD83828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Slide </a:t>
            </a:r>
            <a:fld id="{4CA2B2DB-B91D-4166-98BF-65A0DA7EEE6D}" type="slidenum">
              <a:rPr kumimoji="0" lang="en-US" sz="1800" b="0" i="1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444</a:t>
            </a:fld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C1C5419-5CDF-386B-891F-9ED223DDF3C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A9E532A-4DDD-3815-D508-A145F1E462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00" y="228924"/>
            <a:ext cx="13220700" cy="1127125"/>
          </a:xfrm>
        </p:spPr>
        <p:txBody>
          <a:bodyPr/>
          <a:lstStyle/>
          <a:p>
            <a:r>
              <a:rPr kumimoji="0" lang="en-US" sz="72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Review Key Terms</a:t>
            </a:r>
            <a:endParaRPr lang="en-US" i="1" dirty="0"/>
          </a:p>
        </p:txBody>
      </p:sp>
      <p:sp>
        <p:nvSpPr>
          <p:cNvPr id="3" name="Rectangle 1027">
            <a:extLst>
              <a:ext uri="{FF2B5EF4-FFF2-40B4-BE49-F238E27FC236}">
                <a16:creationId xmlns:a16="http://schemas.microsoft.com/office/drawing/2014/main" id="{4D7A6CCE-25D4-F6E3-35E0-1B02D3BBFF30}"/>
              </a:ext>
            </a:extLst>
          </p:cNvPr>
          <p:cNvSpPr>
            <a:spLocks noGrp="1" noChangeArrowheads="1"/>
          </p:cNvSpPr>
          <p:nvPr>
            <p:ph sz="quarter" idx="12"/>
          </p:nvPr>
        </p:nvSpPr>
        <p:spPr>
          <a:xfrm>
            <a:off x="1047750" y="1935162"/>
            <a:ext cx="16192500" cy="7094538"/>
          </a:xfrm>
        </p:spPr>
        <p:txBody>
          <a:bodyPr numCol="2"/>
          <a:lstStyle/>
          <a:p>
            <a:pPr>
              <a:spcBef>
                <a:spcPts val="300"/>
              </a:spcBef>
            </a:pPr>
            <a:r>
              <a:rPr lang="en-US" altLang="en-US" sz="3600" dirty="0"/>
              <a:t>log data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firewall log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application log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endpoint log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operating system (OS)-specific security log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intrusion prevention system (IPS) and intrusion detection system (IDS) logs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network log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metadata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data source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vulnerability scan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automated report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dashboard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packet capture</a:t>
            </a:r>
          </a:p>
        </p:txBody>
      </p:sp>
    </p:spTree>
    <p:extLst>
      <p:ext uri="{BB962C8B-B14F-4D97-AF65-F5344CB8AC3E}">
        <p14:creationId xmlns:p14="http://schemas.microsoft.com/office/powerpoint/2010/main" val="2115250780"/>
      </p:ext>
    </p:extLst>
  </p:cSld>
  <p:clrMapOvr>
    <a:masterClrMapping/>
  </p:clrMapOvr>
</p:sld>
</file>

<file path=ppt/slides/slide4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4BF36B-2F2A-E2FD-68CA-5C103C79EA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B743221-4D5D-7D31-21CE-CB73982E46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Slide </a:t>
            </a:r>
            <a:fld id="{4CA2B2DB-B91D-4166-98BF-65A0DA7EEE6D}" type="slidenum">
              <a:rPr kumimoji="0" lang="en-US" sz="1800" b="0" i="1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445</a:t>
            </a:fld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82EF8AF-918A-2399-3488-299AB7EF22C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1B70C5A3-30A5-4A83-0B18-B07F094EAC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00" y="228924"/>
            <a:ext cx="13220700" cy="1127125"/>
          </a:xfrm>
        </p:spPr>
        <p:txBody>
          <a:bodyPr/>
          <a:lstStyle/>
          <a:p>
            <a:r>
              <a:rPr kumimoji="0" lang="en-US" sz="72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Review Key Terms</a:t>
            </a:r>
            <a:endParaRPr lang="en-US" i="1" dirty="0"/>
          </a:p>
        </p:txBody>
      </p:sp>
      <p:sp>
        <p:nvSpPr>
          <p:cNvPr id="3" name="Rectangle 1027">
            <a:extLst>
              <a:ext uri="{FF2B5EF4-FFF2-40B4-BE49-F238E27FC236}">
                <a16:creationId xmlns:a16="http://schemas.microsoft.com/office/drawing/2014/main" id="{895877CB-D0A3-BF46-5644-6D9E065B56A3}"/>
              </a:ext>
            </a:extLst>
          </p:cNvPr>
          <p:cNvSpPr>
            <a:spLocks noGrp="1" noChangeArrowheads="1"/>
          </p:cNvSpPr>
          <p:nvPr>
            <p:ph sz="quarter" idx="12"/>
          </p:nvPr>
        </p:nvSpPr>
        <p:spPr>
          <a:xfrm>
            <a:off x="1047750" y="1935162"/>
            <a:ext cx="16192500" cy="7094538"/>
          </a:xfrm>
        </p:spPr>
        <p:txBody>
          <a:bodyPr numCol="2"/>
          <a:lstStyle/>
          <a:p>
            <a:pPr>
              <a:spcBef>
                <a:spcPts val="300"/>
              </a:spcBef>
            </a:pPr>
            <a:r>
              <a:rPr lang="en-US" altLang="en-US" sz="2800" dirty="0"/>
              <a:t>guideline</a:t>
            </a:r>
          </a:p>
          <a:p>
            <a:pPr>
              <a:spcBef>
                <a:spcPts val="300"/>
              </a:spcBef>
            </a:pPr>
            <a:r>
              <a:rPr lang="en-US" altLang="en-US" sz="2800" dirty="0"/>
              <a:t>policy</a:t>
            </a:r>
          </a:p>
          <a:p>
            <a:pPr>
              <a:spcBef>
                <a:spcPts val="300"/>
              </a:spcBef>
            </a:pPr>
            <a:r>
              <a:rPr lang="en-US" altLang="en-US" sz="2800" dirty="0"/>
              <a:t>acceptable use policy (AUP)</a:t>
            </a:r>
          </a:p>
          <a:p>
            <a:pPr>
              <a:spcBef>
                <a:spcPts val="300"/>
              </a:spcBef>
            </a:pPr>
            <a:r>
              <a:rPr lang="en-US" altLang="en-US" sz="2800" dirty="0"/>
              <a:t>Information security policy</a:t>
            </a:r>
          </a:p>
          <a:p>
            <a:pPr>
              <a:spcBef>
                <a:spcPts val="300"/>
              </a:spcBef>
            </a:pPr>
            <a:r>
              <a:rPr lang="en-US" altLang="en-US" sz="2800" dirty="0"/>
              <a:t>business continuity policy</a:t>
            </a:r>
          </a:p>
          <a:p>
            <a:pPr>
              <a:spcBef>
                <a:spcPts val="300"/>
              </a:spcBef>
            </a:pPr>
            <a:r>
              <a:rPr lang="en-US" altLang="en-US" sz="2800" dirty="0"/>
              <a:t>disaster recovery policy</a:t>
            </a:r>
          </a:p>
          <a:p>
            <a:pPr>
              <a:spcBef>
                <a:spcPts val="300"/>
              </a:spcBef>
            </a:pPr>
            <a:r>
              <a:rPr lang="en-US" altLang="en-US" sz="2800" dirty="0"/>
              <a:t>incident response policy</a:t>
            </a:r>
          </a:p>
          <a:p>
            <a:pPr>
              <a:spcBef>
                <a:spcPts val="300"/>
              </a:spcBef>
            </a:pPr>
            <a:r>
              <a:rPr lang="en-US" altLang="en-US" sz="2800" dirty="0"/>
              <a:t>software development lifecycle (SDLC) policy</a:t>
            </a:r>
          </a:p>
          <a:p>
            <a:pPr>
              <a:spcBef>
                <a:spcPts val="300"/>
              </a:spcBef>
            </a:pPr>
            <a:r>
              <a:rPr lang="en-US" altLang="en-US" sz="2800" dirty="0"/>
              <a:t>standards</a:t>
            </a:r>
          </a:p>
          <a:p>
            <a:pPr>
              <a:spcBef>
                <a:spcPts val="300"/>
              </a:spcBef>
            </a:pPr>
            <a:r>
              <a:rPr lang="en-US" altLang="en-US" sz="2800" dirty="0"/>
              <a:t>password standards</a:t>
            </a:r>
          </a:p>
          <a:p>
            <a:pPr>
              <a:spcBef>
                <a:spcPts val="300"/>
              </a:spcBef>
            </a:pPr>
            <a:r>
              <a:rPr lang="en-US" altLang="en-US" sz="2800" dirty="0"/>
              <a:t>access control standards</a:t>
            </a:r>
          </a:p>
          <a:p>
            <a:pPr>
              <a:spcBef>
                <a:spcPts val="300"/>
              </a:spcBef>
            </a:pPr>
            <a:r>
              <a:rPr lang="en-US" altLang="en-US" sz="2800" dirty="0"/>
              <a:t>physical security standards</a:t>
            </a:r>
          </a:p>
          <a:p>
            <a:pPr>
              <a:spcBef>
                <a:spcPts val="300"/>
              </a:spcBef>
            </a:pPr>
            <a:r>
              <a:rPr lang="en-US" altLang="en-US" sz="2800" dirty="0"/>
              <a:t>encryption standards</a:t>
            </a:r>
          </a:p>
          <a:p>
            <a:pPr>
              <a:spcBef>
                <a:spcPts val="300"/>
              </a:spcBef>
            </a:pPr>
            <a:r>
              <a:rPr lang="en-US" altLang="en-US" sz="2800" dirty="0"/>
              <a:t>procedures</a:t>
            </a:r>
          </a:p>
          <a:p>
            <a:pPr>
              <a:spcBef>
                <a:spcPts val="300"/>
              </a:spcBef>
            </a:pPr>
            <a:r>
              <a:rPr lang="en-US" altLang="en-US" sz="2800" dirty="0"/>
              <a:t>change management</a:t>
            </a:r>
          </a:p>
          <a:p>
            <a:pPr>
              <a:spcBef>
                <a:spcPts val="300"/>
              </a:spcBef>
            </a:pPr>
            <a:r>
              <a:rPr lang="en-US" altLang="en-US" sz="2800" dirty="0"/>
              <a:t>onboarding</a:t>
            </a:r>
          </a:p>
          <a:p>
            <a:pPr>
              <a:spcBef>
                <a:spcPts val="300"/>
              </a:spcBef>
            </a:pPr>
            <a:r>
              <a:rPr lang="en-US" altLang="en-US" sz="2800" dirty="0"/>
              <a:t>offboarding</a:t>
            </a:r>
          </a:p>
          <a:p>
            <a:pPr>
              <a:spcBef>
                <a:spcPts val="300"/>
              </a:spcBef>
            </a:pPr>
            <a:r>
              <a:rPr lang="en-US" altLang="en-US" sz="2800" dirty="0"/>
              <a:t>playbook</a:t>
            </a:r>
          </a:p>
          <a:p>
            <a:pPr>
              <a:spcBef>
                <a:spcPts val="300"/>
              </a:spcBef>
            </a:pPr>
            <a:r>
              <a:rPr lang="en-US" altLang="en-US" sz="2800" dirty="0"/>
              <a:t>external considerations</a:t>
            </a:r>
          </a:p>
          <a:p>
            <a:pPr>
              <a:spcBef>
                <a:spcPts val="300"/>
              </a:spcBef>
            </a:pPr>
            <a:r>
              <a:rPr lang="en-US" altLang="en-US" sz="2800" dirty="0"/>
              <a:t>regulatory rules</a:t>
            </a:r>
          </a:p>
          <a:p>
            <a:pPr>
              <a:spcBef>
                <a:spcPts val="300"/>
              </a:spcBef>
            </a:pPr>
            <a:r>
              <a:rPr lang="en-US" altLang="en-US" sz="2800" dirty="0"/>
              <a:t>board</a:t>
            </a:r>
          </a:p>
          <a:p>
            <a:pPr>
              <a:spcBef>
                <a:spcPts val="300"/>
              </a:spcBef>
            </a:pPr>
            <a:r>
              <a:rPr lang="en-US" altLang="en-US" sz="2800" dirty="0"/>
              <a:t>committee</a:t>
            </a:r>
          </a:p>
          <a:p>
            <a:pPr>
              <a:spcBef>
                <a:spcPts val="300"/>
              </a:spcBef>
            </a:pPr>
            <a:r>
              <a:rPr lang="en-US" altLang="en-US" sz="2800" dirty="0"/>
              <a:t>centralized governance structure</a:t>
            </a:r>
          </a:p>
          <a:p>
            <a:pPr>
              <a:spcBef>
                <a:spcPts val="300"/>
              </a:spcBef>
            </a:pPr>
            <a:r>
              <a:rPr lang="en-US" altLang="en-US" sz="2800" dirty="0"/>
              <a:t>decentralized governance structure</a:t>
            </a:r>
          </a:p>
          <a:p>
            <a:pPr>
              <a:spcBef>
                <a:spcPts val="300"/>
              </a:spcBef>
            </a:pPr>
            <a:r>
              <a:rPr lang="en-US" altLang="en-US" sz="2800" dirty="0"/>
              <a:t>owner</a:t>
            </a:r>
          </a:p>
          <a:p>
            <a:pPr>
              <a:spcBef>
                <a:spcPts val="300"/>
              </a:spcBef>
            </a:pPr>
            <a:r>
              <a:rPr lang="en-US" altLang="en-US" sz="2800" dirty="0"/>
              <a:t>controller</a:t>
            </a:r>
          </a:p>
          <a:p>
            <a:pPr>
              <a:spcBef>
                <a:spcPts val="300"/>
              </a:spcBef>
            </a:pPr>
            <a:r>
              <a:rPr lang="en-US" altLang="en-US" sz="2800" dirty="0"/>
              <a:t>custodian (or steward)</a:t>
            </a:r>
          </a:p>
        </p:txBody>
      </p:sp>
    </p:spTree>
    <p:extLst>
      <p:ext uri="{BB962C8B-B14F-4D97-AF65-F5344CB8AC3E}">
        <p14:creationId xmlns:p14="http://schemas.microsoft.com/office/powerpoint/2010/main" val="3374936038"/>
      </p:ext>
    </p:extLst>
  </p:cSld>
  <p:clrMapOvr>
    <a:masterClrMapping/>
  </p:clrMapOvr>
</p:sld>
</file>

<file path=ppt/slides/slide4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F5A725-416C-1032-04B0-6942CFC4C2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2539381-654A-DEB7-4581-7B92B2D01C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Slide </a:t>
            </a:r>
            <a:fld id="{4CA2B2DB-B91D-4166-98BF-65A0DA7EEE6D}" type="slidenum">
              <a:rPr kumimoji="0" lang="en-US" sz="1800" b="0" i="1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446</a:t>
            </a:fld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2E991E9-877B-406C-C093-166CDDC062C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76DDE13-435C-6547-CFF3-B867570323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00" y="228924"/>
            <a:ext cx="13220700" cy="1127125"/>
          </a:xfrm>
        </p:spPr>
        <p:txBody>
          <a:bodyPr/>
          <a:lstStyle/>
          <a:p>
            <a:r>
              <a:rPr kumimoji="0" lang="en-US" sz="72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Review Key Terms</a:t>
            </a:r>
            <a:endParaRPr lang="en-US" i="1" dirty="0"/>
          </a:p>
        </p:txBody>
      </p:sp>
      <p:sp>
        <p:nvSpPr>
          <p:cNvPr id="3" name="Rectangle 1027">
            <a:extLst>
              <a:ext uri="{FF2B5EF4-FFF2-40B4-BE49-F238E27FC236}">
                <a16:creationId xmlns:a16="http://schemas.microsoft.com/office/drawing/2014/main" id="{92696B3F-FC36-49D3-798C-4BFB0D6CEAE8}"/>
              </a:ext>
            </a:extLst>
          </p:cNvPr>
          <p:cNvSpPr>
            <a:spLocks noGrp="1" noChangeArrowheads="1"/>
          </p:cNvSpPr>
          <p:nvPr>
            <p:ph sz="quarter" idx="12"/>
          </p:nvPr>
        </p:nvSpPr>
        <p:spPr>
          <a:xfrm>
            <a:off x="1047750" y="1935162"/>
            <a:ext cx="16192500" cy="7094538"/>
          </a:xfrm>
        </p:spPr>
        <p:txBody>
          <a:bodyPr numCol="2"/>
          <a:lstStyle/>
          <a:p>
            <a:pPr>
              <a:spcBef>
                <a:spcPts val="300"/>
              </a:spcBef>
            </a:pPr>
            <a:r>
              <a:rPr lang="en-US" altLang="en-US" sz="3600" dirty="0"/>
              <a:t>risk identification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risk assessment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ad hoc risk assessment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recurring risk assessment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one-time risk assessment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continuous risk assessment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risk analysis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qualitative risk assessment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quantitative risk assessment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single loss expectancy (SLE)</a:t>
            </a:r>
          </a:p>
          <a:p>
            <a:pPr>
              <a:spcBef>
                <a:spcPts val="300"/>
              </a:spcBef>
            </a:pPr>
            <a:endParaRPr lang="en-US" altLang="en-US" sz="3600" dirty="0"/>
          </a:p>
          <a:p>
            <a:pPr>
              <a:spcBef>
                <a:spcPts val="300"/>
              </a:spcBef>
            </a:pPr>
            <a:endParaRPr lang="en-US" altLang="en-US" sz="3600" dirty="0"/>
          </a:p>
          <a:p>
            <a:pPr>
              <a:spcBef>
                <a:spcPts val="300"/>
              </a:spcBef>
            </a:pPr>
            <a:r>
              <a:rPr lang="en-US" altLang="en-US" sz="3600" dirty="0"/>
              <a:t>annualized rate of occurrence (ARO)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annualized loss expectancy (ALE)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probability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likelihood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exposure factor (EF)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impact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risk register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key risk indicators (KRIs)</a:t>
            </a:r>
          </a:p>
        </p:txBody>
      </p:sp>
    </p:spTree>
    <p:extLst>
      <p:ext uri="{BB962C8B-B14F-4D97-AF65-F5344CB8AC3E}">
        <p14:creationId xmlns:p14="http://schemas.microsoft.com/office/powerpoint/2010/main" val="3490021930"/>
      </p:ext>
    </p:extLst>
  </p:cSld>
  <p:clrMapOvr>
    <a:masterClrMapping/>
  </p:clrMapOvr>
</p:sld>
</file>

<file path=ppt/slides/slide4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466754-66AB-758D-D166-DF5883E079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4100245-6D9F-6915-C43B-1CB867FFD4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Slide </a:t>
            </a:r>
            <a:fld id="{4CA2B2DB-B91D-4166-98BF-65A0DA7EEE6D}" type="slidenum">
              <a:rPr kumimoji="0" lang="en-US" sz="1800" b="0" i="1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447</a:t>
            </a:fld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505F8D3-62BB-85E1-AF4A-144248E258B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1922ECA0-FF48-21A4-1C37-60A2FFA2F0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00" y="228924"/>
            <a:ext cx="13220700" cy="1127125"/>
          </a:xfrm>
        </p:spPr>
        <p:txBody>
          <a:bodyPr/>
          <a:lstStyle/>
          <a:p>
            <a:r>
              <a:rPr kumimoji="0" lang="en-US" sz="72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Review Key Terms</a:t>
            </a:r>
            <a:endParaRPr lang="en-US" i="1" dirty="0"/>
          </a:p>
        </p:txBody>
      </p:sp>
      <p:sp>
        <p:nvSpPr>
          <p:cNvPr id="3" name="Rectangle 1027">
            <a:extLst>
              <a:ext uri="{FF2B5EF4-FFF2-40B4-BE49-F238E27FC236}">
                <a16:creationId xmlns:a16="http://schemas.microsoft.com/office/drawing/2014/main" id="{FF1D6A3D-B929-F54F-A033-0DF66EF9EBDA}"/>
              </a:ext>
            </a:extLst>
          </p:cNvPr>
          <p:cNvSpPr>
            <a:spLocks noGrp="1" noChangeArrowheads="1"/>
          </p:cNvSpPr>
          <p:nvPr>
            <p:ph sz="quarter" idx="12"/>
          </p:nvPr>
        </p:nvSpPr>
        <p:spPr>
          <a:xfrm>
            <a:off x="1047750" y="1935162"/>
            <a:ext cx="16192500" cy="7094538"/>
          </a:xfrm>
        </p:spPr>
        <p:txBody>
          <a:bodyPr numCol="2"/>
          <a:lstStyle/>
          <a:p>
            <a:pPr>
              <a:spcBef>
                <a:spcPts val="300"/>
              </a:spcBef>
            </a:pPr>
            <a:r>
              <a:rPr lang="en-US" altLang="en-US" sz="3600" dirty="0"/>
              <a:t>risk owner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risk threshold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risk tolerance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risk appetite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expansionary risk appetite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conservative risk appetite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neutral risk appetite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risk management strategy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risk transference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risk acceptance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risk exemption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risk exception</a:t>
            </a:r>
          </a:p>
          <a:p>
            <a:pPr>
              <a:spcBef>
                <a:spcPts val="300"/>
              </a:spcBef>
            </a:pPr>
            <a:endParaRPr lang="en-US" altLang="en-US" sz="3600" dirty="0"/>
          </a:p>
          <a:p>
            <a:pPr>
              <a:spcBef>
                <a:spcPts val="300"/>
              </a:spcBef>
            </a:pPr>
            <a:r>
              <a:rPr lang="en-US" altLang="en-US" sz="3600" dirty="0"/>
              <a:t>risk avoidance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risk mitigation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risk reporting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business impact analysis (BIA)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recovery time objective (RTO)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recovery point objective (RPO)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mean time to repair (MTTR)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mean time between failures (MTBF)</a:t>
            </a:r>
          </a:p>
        </p:txBody>
      </p:sp>
    </p:spTree>
    <p:extLst>
      <p:ext uri="{BB962C8B-B14F-4D97-AF65-F5344CB8AC3E}">
        <p14:creationId xmlns:p14="http://schemas.microsoft.com/office/powerpoint/2010/main" val="3077990836"/>
      </p:ext>
    </p:extLst>
  </p:cSld>
  <p:clrMapOvr>
    <a:masterClrMapping/>
  </p:clrMapOvr>
</p:sld>
</file>

<file path=ppt/slides/slide4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D83153-20B7-EC44-859A-564F9BAC05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60F861B-FBCD-42A4-9E37-CB1BABA86A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Slide </a:t>
            </a:r>
            <a:fld id="{4CA2B2DB-B91D-4166-98BF-65A0DA7EEE6D}" type="slidenum">
              <a:rPr kumimoji="0" lang="en-US" sz="1800" b="0" i="1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448</a:t>
            </a:fld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E854108-01D6-97CB-3B5D-7A2A6B44512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B1B81CF-853F-063E-61E7-386CC03E97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00" y="228924"/>
            <a:ext cx="13220700" cy="1127125"/>
          </a:xfrm>
        </p:spPr>
        <p:txBody>
          <a:bodyPr/>
          <a:lstStyle/>
          <a:p>
            <a:r>
              <a:rPr kumimoji="0" lang="en-US" sz="72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Review Key Terms</a:t>
            </a:r>
            <a:endParaRPr lang="en-US" i="1" dirty="0"/>
          </a:p>
        </p:txBody>
      </p:sp>
      <p:sp>
        <p:nvSpPr>
          <p:cNvPr id="3" name="Rectangle 1027">
            <a:extLst>
              <a:ext uri="{FF2B5EF4-FFF2-40B4-BE49-F238E27FC236}">
                <a16:creationId xmlns:a16="http://schemas.microsoft.com/office/drawing/2014/main" id="{CE89A384-F08B-E43E-3FF6-8CFBEE693B6E}"/>
              </a:ext>
            </a:extLst>
          </p:cNvPr>
          <p:cNvSpPr>
            <a:spLocks noGrp="1" noChangeArrowheads="1"/>
          </p:cNvSpPr>
          <p:nvPr>
            <p:ph sz="quarter" idx="12"/>
          </p:nvPr>
        </p:nvSpPr>
        <p:spPr>
          <a:xfrm>
            <a:off x="1047750" y="1935162"/>
            <a:ext cx="16192500" cy="7780338"/>
          </a:xfrm>
        </p:spPr>
        <p:txBody>
          <a:bodyPr numCol="2"/>
          <a:lstStyle/>
          <a:p>
            <a:pPr>
              <a:spcBef>
                <a:spcPts val="300"/>
              </a:spcBef>
            </a:pPr>
            <a:r>
              <a:rPr lang="en-US" altLang="en-US" sz="3600" dirty="0"/>
              <a:t>penetration testing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right-to-audit clause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evidence of internal audits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independent assessment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supply chain analysis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vendor selection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due diligence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conflict of interest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service-level agreement (SLA)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memorandum of agreement (MOA)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memorandum of understanding (MOU)</a:t>
            </a:r>
          </a:p>
          <a:p>
            <a:pPr>
              <a:spcBef>
                <a:spcPts val="300"/>
              </a:spcBef>
            </a:pPr>
            <a:endParaRPr lang="en-US" altLang="en-US" sz="3600" dirty="0"/>
          </a:p>
          <a:p>
            <a:pPr>
              <a:spcBef>
                <a:spcPts val="300"/>
              </a:spcBef>
            </a:pPr>
            <a:r>
              <a:rPr lang="en-US" altLang="en-US" sz="3600" dirty="0"/>
              <a:t>master service agreement (MSA)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work order (WO)/Statement of work (SOW)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non-disclosure agreement (NDA)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business partners agreement (BPA)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vendor monitoring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questionnaire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rules of engagement</a:t>
            </a:r>
          </a:p>
        </p:txBody>
      </p:sp>
    </p:spTree>
    <p:extLst>
      <p:ext uri="{BB962C8B-B14F-4D97-AF65-F5344CB8AC3E}">
        <p14:creationId xmlns:p14="http://schemas.microsoft.com/office/powerpoint/2010/main" val="317309133"/>
      </p:ext>
    </p:extLst>
  </p:cSld>
  <p:clrMapOvr>
    <a:masterClrMapping/>
  </p:clrMapOvr>
</p:sld>
</file>

<file path=ppt/slides/slide4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5508BE-C54C-961F-360A-6F9E8A1DD6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BC9A749-8B72-6DFB-C617-5EB5788CD4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Slide </a:t>
            </a:r>
            <a:fld id="{4CA2B2DB-B91D-4166-98BF-65A0DA7EEE6D}" type="slidenum">
              <a:rPr kumimoji="0" lang="en-US" sz="1800" b="0" i="1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449</a:t>
            </a:fld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DDF5D54-8637-E4AE-1F62-2AB495B1D3C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79D5F37C-0FAA-7645-F6F0-818D3321D6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00" y="228924"/>
            <a:ext cx="13220700" cy="1127125"/>
          </a:xfrm>
        </p:spPr>
        <p:txBody>
          <a:bodyPr/>
          <a:lstStyle/>
          <a:p>
            <a:r>
              <a:rPr kumimoji="0" lang="en-US" sz="72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Review Key Terms</a:t>
            </a:r>
            <a:endParaRPr lang="en-US" i="1" dirty="0"/>
          </a:p>
        </p:txBody>
      </p:sp>
      <p:sp>
        <p:nvSpPr>
          <p:cNvPr id="3" name="Rectangle 1027">
            <a:extLst>
              <a:ext uri="{FF2B5EF4-FFF2-40B4-BE49-F238E27FC236}">
                <a16:creationId xmlns:a16="http://schemas.microsoft.com/office/drawing/2014/main" id="{6061893E-DC36-4267-3160-3AB8797959AD}"/>
              </a:ext>
            </a:extLst>
          </p:cNvPr>
          <p:cNvSpPr>
            <a:spLocks noGrp="1" noChangeArrowheads="1"/>
          </p:cNvSpPr>
          <p:nvPr>
            <p:ph sz="quarter" idx="12"/>
          </p:nvPr>
        </p:nvSpPr>
        <p:spPr>
          <a:xfrm>
            <a:off x="1047750" y="1520031"/>
            <a:ext cx="16192500" cy="7246938"/>
          </a:xfrm>
        </p:spPr>
        <p:txBody>
          <a:bodyPr numCol="2"/>
          <a:lstStyle/>
          <a:p>
            <a:pPr>
              <a:spcBef>
                <a:spcPts val="300"/>
              </a:spcBef>
            </a:pPr>
            <a:r>
              <a:rPr lang="en-US" altLang="en-US" sz="3600" dirty="0"/>
              <a:t>compliance reporting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internal compliance reporting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external compliance reporting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fine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sanction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reputational damage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losing a license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contractual impact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due diligence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due care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attestation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acknowledgment</a:t>
            </a:r>
          </a:p>
          <a:p>
            <a:pPr>
              <a:spcBef>
                <a:spcPts val="300"/>
              </a:spcBef>
            </a:pPr>
            <a:endParaRPr lang="en-US" altLang="en-US" sz="3600" dirty="0"/>
          </a:p>
          <a:p>
            <a:pPr>
              <a:spcBef>
                <a:spcPts val="300"/>
              </a:spcBef>
            </a:pPr>
            <a:r>
              <a:rPr lang="en-US" altLang="en-US" sz="3600" dirty="0"/>
              <a:t>internal compliance monitoring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external compliance monitoring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automation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legal implications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national privacy laws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data subject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controller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processor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ownership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data inventory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data retention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right to be forgotten</a:t>
            </a:r>
          </a:p>
        </p:txBody>
      </p:sp>
    </p:spTree>
    <p:extLst>
      <p:ext uri="{BB962C8B-B14F-4D97-AF65-F5344CB8AC3E}">
        <p14:creationId xmlns:p14="http://schemas.microsoft.com/office/powerpoint/2010/main" val="502378488"/>
      </p:ext>
    </p:extLst>
  </p:cSld>
  <p:clrMapOvr>
    <a:masterClrMapping/>
  </p:clrMapOvr>
</p:sld>
</file>

<file path=ppt/slides/slide4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C44221-0F62-09D4-2C25-0AF6A904D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9F2CE26-2336-7084-8C1C-592BB7BB65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Slide </a:t>
            </a:r>
            <a:fld id="{4CA2B2DB-B91D-4166-98BF-65A0DA7EEE6D}" type="slidenum">
              <a:rPr kumimoji="0" lang="en-US" sz="1800" b="0" i="1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450</a:t>
            </a:fld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D503112-E671-3595-4BB5-F96DB284CA3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476B0D36-7855-1678-F776-A5837C4767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00" y="228924"/>
            <a:ext cx="13220700" cy="1127125"/>
          </a:xfrm>
        </p:spPr>
        <p:txBody>
          <a:bodyPr/>
          <a:lstStyle/>
          <a:p>
            <a:r>
              <a:rPr kumimoji="0" lang="en-US" sz="72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Review Key Terms</a:t>
            </a:r>
            <a:endParaRPr lang="en-US" i="1" dirty="0"/>
          </a:p>
        </p:txBody>
      </p:sp>
      <p:sp>
        <p:nvSpPr>
          <p:cNvPr id="3" name="Rectangle 1027">
            <a:extLst>
              <a:ext uri="{FF2B5EF4-FFF2-40B4-BE49-F238E27FC236}">
                <a16:creationId xmlns:a16="http://schemas.microsoft.com/office/drawing/2014/main" id="{55ECEE10-1C33-161B-E34F-91BDD79BE54C}"/>
              </a:ext>
            </a:extLst>
          </p:cNvPr>
          <p:cNvSpPr>
            <a:spLocks noGrp="1" noChangeArrowheads="1"/>
          </p:cNvSpPr>
          <p:nvPr>
            <p:ph sz="quarter" idx="12"/>
          </p:nvPr>
        </p:nvSpPr>
        <p:spPr>
          <a:xfrm>
            <a:off x="1047750" y="1788286"/>
            <a:ext cx="16192500" cy="7089014"/>
          </a:xfrm>
        </p:spPr>
        <p:txBody>
          <a:bodyPr numCol="2"/>
          <a:lstStyle/>
          <a:p>
            <a:pPr>
              <a:spcBef>
                <a:spcPts val="300"/>
              </a:spcBef>
            </a:pPr>
            <a:r>
              <a:rPr lang="en-US" altLang="en-US" sz="3600" dirty="0"/>
              <a:t>attestation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internal audit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compliance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audit committee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self-assessment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external audit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regulatory audit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examination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assessment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independent third-party audit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physical penetration testing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offensive penetration testing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defensive penetration testing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integrated penetration testing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known environment penetration testing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partially known environment penetration testing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unknown environment penetration testing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reconnaissance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passive reconnaissance</a:t>
            </a:r>
          </a:p>
          <a:p>
            <a:pPr>
              <a:spcBef>
                <a:spcPts val="300"/>
              </a:spcBef>
            </a:pPr>
            <a:r>
              <a:rPr lang="en-US" altLang="en-US" sz="3600" dirty="0"/>
              <a:t>active reconnaissance</a:t>
            </a:r>
          </a:p>
        </p:txBody>
      </p:sp>
    </p:spTree>
    <p:extLst>
      <p:ext uri="{BB962C8B-B14F-4D97-AF65-F5344CB8AC3E}">
        <p14:creationId xmlns:p14="http://schemas.microsoft.com/office/powerpoint/2010/main" val="3117533129"/>
      </p:ext>
    </p:extLst>
  </p:cSld>
  <p:clrMapOvr>
    <a:masterClrMapping/>
  </p:clrMapOvr>
</p:sld>
</file>

<file path=ppt/slides/slide4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FB95B2-42FF-0BB2-0C0B-0A8891DCD6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F8E604F-47E5-DC3A-BC37-CACBFEBA90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Slide </a:t>
            </a:r>
            <a:fld id="{4CA2B2DB-B91D-4166-98BF-65A0DA7EEE6D}" type="slidenum">
              <a:rPr kumimoji="0" lang="en-US" sz="1800" b="0" i="1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451</a:t>
            </a:fld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5DFA1D4-55B3-E586-D1BD-71E3BE65950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66CC"/>
                </a:solidFill>
              </a:rPr>
              <a:t>© 2024 by Pearson Education, Inc.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1D07B9BF-1B18-DC67-4382-AB091EA3CF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00" y="228924"/>
            <a:ext cx="13220700" cy="1127125"/>
          </a:xfrm>
        </p:spPr>
        <p:txBody>
          <a:bodyPr/>
          <a:lstStyle/>
          <a:p>
            <a:r>
              <a:rPr kumimoji="0" lang="en-US" sz="7200" b="0" i="0" u="none" strike="noStrike" kern="0" cap="none" spc="0" normalizeH="0" baseline="0" noProof="0" dirty="0">
                <a:ln>
                  <a:noFill/>
                </a:ln>
                <a:solidFill>
                  <a:srgbClr val="0B050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Review Key Terms</a:t>
            </a:r>
            <a:endParaRPr lang="en-US" i="1" dirty="0"/>
          </a:p>
        </p:txBody>
      </p:sp>
      <p:sp>
        <p:nvSpPr>
          <p:cNvPr id="3" name="Rectangle 1027">
            <a:extLst>
              <a:ext uri="{FF2B5EF4-FFF2-40B4-BE49-F238E27FC236}">
                <a16:creationId xmlns:a16="http://schemas.microsoft.com/office/drawing/2014/main" id="{E069D3BF-92BA-7503-E77E-8628E39C739E}"/>
              </a:ext>
            </a:extLst>
          </p:cNvPr>
          <p:cNvSpPr>
            <a:spLocks noGrp="1" noChangeArrowheads="1"/>
          </p:cNvSpPr>
          <p:nvPr>
            <p:ph sz="quarter" idx="12"/>
          </p:nvPr>
        </p:nvSpPr>
        <p:spPr>
          <a:xfrm>
            <a:off x="1047750" y="1935162"/>
            <a:ext cx="16192500" cy="6416675"/>
          </a:xfrm>
        </p:spPr>
        <p:txBody>
          <a:bodyPr numCol="2"/>
          <a:lstStyle/>
          <a:p>
            <a:pPr eaLnBrk="1" hangingPunct="1">
              <a:spcBef>
                <a:spcPts val="300"/>
              </a:spcBef>
            </a:pPr>
            <a:r>
              <a:rPr lang="en-US" altLang="en-US" sz="3900" dirty="0"/>
              <a:t>campaign</a:t>
            </a:r>
          </a:p>
          <a:p>
            <a:pPr eaLnBrk="1" hangingPunct="1">
              <a:spcBef>
                <a:spcPts val="300"/>
              </a:spcBef>
            </a:pPr>
            <a:r>
              <a:rPr lang="en-US" altLang="en-US" sz="3900" dirty="0"/>
              <a:t>anomalous behavior recognition</a:t>
            </a:r>
          </a:p>
          <a:p>
            <a:pPr eaLnBrk="1" hangingPunct="1">
              <a:spcBef>
                <a:spcPts val="300"/>
              </a:spcBef>
            </a:pPr>
            <a:r>
              <a:rPr lang="en-US" altLang="en-US" sz="3900" dirty="0"/>
              <a:t>risky behavior</a:t>
            </a:r>
          </a:p>
          <a:p>
            <a:pPr eaLnBrk="1" hangingPunct="1">
              <a:spcBef>
                <a:spcPts val="300"/>
              </a:spcBef>
            </a:pPr>
            <a:r>
              <a:rPr lang="en-US" altLang="en-US" sz="3900" dirty="0"/>
              <a:t>unexpected behavior</a:t>
            </a:r>
          </a:p>
          <a:p>
            <a:pPr eaLnBrk="1" hangingPunct="1">
              <a:spcBef>
                <a:spcPts val="300"/>
              </a:spcBef>
            </a:pPr>
            <a:r>
              <a:rPr lang="en-US" altLang="en-US" sz="3900" dirty="0"/>
              <a:t>unintentional behavior</a:t>
            </a:r>
          </a:p>
          <a:p>
            <a:pPr eaLnBrk="1" hangingPunct="1">
              <a:spcBef>
                <a:spcPts val="300"/>
              </a:spcBef>
            </a:pPr>
            <a:r>
              <a:rPr lang="en-US" altLang="en-US" sz="3900" dirty="0"/>
              <a:t>policies and handbooks</a:t>
            </a:r>
          </a:p>
          <a:p>
            <a:pPr eaLnBrk="1" hangingPunct="1">
              <a:spcBef>
                <a:spcPts val="300"/>
              </a:spcBef>
            </a:pPr>
            <a:r>
              <a:rPr lang="en-US" altLang="en-US" sz="3900" dirty="0"/>
              <a:t>situational awareness</a:t>
            </a:r>
          </a:p>
          <a:p>
            <a:pPr eaLnBrk="1" hangingPunct="1">
              <a:spcBef>
                <a:spcPts val="300"/>
              </a:spcBef>
            </a:pPr>
            <a:r>
              <a:rPr lang="en-US" altLang="en-US" sz="3900" dirty="0"/>
              <a:t>insider threat</a:t>
            </a:r>
          </a:p>
          <a:p>
            <a:pPr eaLnBrk="1" hangingPunct="1">
              <a:spcBef>
                <a:spcPts val="300"/>
              </a:spcBef>
            </a:pPr>
            <a:r>
              <a:rPr lang="en-US" altLang="en-US" sz="3900" dirty="0"/>
              <a:t>password management</a:t>
            </a:r>
          </a:p>
          <a:p>
            <a:pPr eaLnBrk="1" hangingPunct="1">
              <a:spcBef>
                <a:spcPts val="300"/>
              </a:spcBef>
            </a:pPr>
            <a:r>
              <a:rPr lang="en-US" altLang="en-US" sz="3900" dirty="0"/>
              <a:t>social engineering</a:t>
            </a:r>
          </a:p>
          <a:p>
            <a:pPr eaLnBrk="1" hangingPunct="1">
              <a:spcBef>
                <a:spcPts val="300"/>
              </a:spcBef>
            </a:pPr>
            <a:r>
              <a:rPr lang="en-US" altLang="en-US" sz="3900" dirty="0"/>
              <a:t>operational security (</a:t>
            </a:r>
            <a:r>
              <a:rPr lang="en-US" altLang="en-US" sz="3900" dirty="0" err="1"/>
              <a:t>OpSec</a:t>
            </a:r>
            <a:r>
              <a:rPr lang="en-US" altLang="en-US" sz="3900" dirty="0"/>
              <a:t>)</a:t>
            </a:r>
          </a:p>
          <a:p>
            <a:pPr eaLnBrk="1" hangingPunct="1">
              <a:spcBef>
                <a:spcPts val="300"/>
              </a:spcBef>
            </a:pPr>
            <a:r>
              <a:rPr lang="en-US" altLang="en-US" sz="3900" dirty="0"/>
              <a:t>hybrid and remote work environments</a:t>
            </a:r>
          </a:p>
          <a:p>
            <a:pPr eaLnBrk="1" hangingPunct="1">
              <a:spcBef>
                <a:spcPts val="300"/>
              </a:spcBef>
            </a:pPr>
            <a:r>
              <a:rPr lang="en-US" altLang="en-US" sz="3900" dirty="0"/>
              <a:t>initial reporting</a:t>
            </a:r>
          </a:p>
          <a:p>
            <a:pPr eaLnBrk="1" hangingPunct="1">
              <a:spcBef>
                <a:spcPts val="300"/>
              </a:spcBef>
            </a:pPr>
            <a:r>
              <a:rPr lang="en-US" altLang="en-US" sz="3900" dirty="0"/>
              <a:t>recurring reporting</a:t>
            </a:r>
          </a:p>
          <a:p>
            <a:pPr eaLnBrk="1" hangingPunct="1">
              <a:spcBef>
                <a:spcPts val="300"/>
              </a:spcBef>
            </a:pPr>
            <a:r>
              <a:rPr lang="en-US" altLang="en-US" sz="3900" dirty="0"/>
              <a:t>development</a:t>
            </a:r>
          </a:p>
          <a:p>
            <a:pPr eaLnBrk="1" hangingPunct="1">
              <a:spcBef>
                <a:spcPts val="300"/>
              </a:spcBef>
            </a:pPr>
            <a:r>
              <a:rPr lang="en-US" altLang="en-US" sz="3900" dirty="0"/>
              <a:t>execution</a:t>
            </a:r>
          </a:p>
        </p:txBody>
      </p:sp>
    </p:spTree>
    <p:extLst>
      <p:ext uri="{BB962C8B-B14F-4D97-AF65-F5344CB8AC3E}">
        <p14:creationId xmlns:p14="http://schemas.microsoft.com/office/powerpoint/2010/main" val="10227859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AT Presentation Template - New Logo.pptx" id="{0BAA6269-D1BA-4D2F-A762-3E4DB69B8C10}" vid="{2C52AB87-1BCA-4DD2-A198-669F70121CC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89588212-cc5a-4ce6-8a0e-11481d182d53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436CB58E93DF04DAC292E3E5C48AA7D" ma:contentTypeVersion="16" ma:contentTypeDescription="Create a new document." ma:contentTypeScope="" ma:versionID="17b6a43a02a46cf37766101fab3df1df">
  <xsd:schema xmlns:xsd="http://www.w3.org/2001/XMLSchema" xmlns:xs="http://www.w3.org/2001/XMLSchema" xmlns:p="http://schemas.microsoft.com/office/2006/metadata/properties" xmlns:ns3="89588212-cc5a-4ce6-8a0e-11481d182d53" xmlns:ns4="6bdb9947-f822-4c39-b630-a826a31bbe82" targetNamespace="http://schemas.microsoft.com/office/2006/metadata/properties" ma:root="true" ma:fieldsID="4cda37306b3abd311766a4af6f538a95" ns3:_="" ns4:_="">
    <xsd:import namespace="89588212-cc5a-4ce6-8a0e-11481d182d53"/>
    <xsd:import namespace="6bdb9947-f822-4c39-b630-a826a31bbe82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DateTaken" minOccurs="0"/>
                <xsd:element ref="ns3:MediaLengthInSeconds" minOccurs="0"/>
                <xsd:element ref="ns3:MediaServiceSystemTags" minOccurs="0"/>
                <xsd:element ref="ns3:MediaServiceLocation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9588212-cc5a-4ce6-8a0e-11481d182d5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_activity" ma:index="15" nillable="true" ma:displayName="_activity" ma:hidden="true" ma:internalName="_activity">
      <xsd:simpleType>
        <xsd:restriction base="dms:Note"/>
      </xsd:simple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ystemTags" ma:index="21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bdb9947-f822-4c39-b630-a826a31bbe82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8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7B7F872-668A-4BC1-A154-3C98A5DCE665}">
  <ds:schemaRefs>
    <ds:schemaRef ds:uri="http://schemas.microsoft.com/office/2006/metadata/properties"/>
    <ds:schemaRef ds:uri="http://purl.org/dc/terms/"/>
    <ds:schemaRef ds:uri="http://schemas.microsoft.com/office/infopath/2007/PartnerControls"/>
    <ds:schemaRef ds:uri="http://schemas.microsoft.com/office/2006/documentManagement/types"/>
    <ds:schemaRef ds:uri="6bdb9947-f822-4c39-b630-a826a31bbe82"/>
    <ds:schemaRef ds:uri="http://purl.org/dc/elements/1.1/"/>
    <ds:schemaRef ds:uri="89588212-cc5a-4ce6-8a0e-11481d182d53"/>
    <ds:schemaRef ds:uri="http://schemas.openxmlformats.org/package/2006/metadata/core-propertie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01FBA386-E2EE-4BB4-8C7D-2E0276ECB8A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D51C417-0EF4-4661-86BD-98914791075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9588212-cc5a-4ce6-8a0e-11481d182d53"/>
    <ds:schemaRef ds:uri="6bdb9947-f822-4c39-b630-a826a31bbe8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CIAT Presentation Template - New Logo</Template>
  <TotalTime>3008</TotalTime>
  <Words>40754</Words>
  <Application>Microsoft Office PowerPoint</Application>
  <PresentationFormat>Custom</PresentationFormat>
  <Paragraphs>5364</Paragraphs>
  <Slides>451</Slides>
  <Notes>426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451</vt:i4>
      </vt:variant>
    </vt:vector>
  </HeadingPairs>
  <TitlesOfParts>
    <vt:vector size="452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Confidentiality, Integrity, and Availability (CIA)</vt:lpstr>
      <vt:lpstr>Non-Repudiation</vt:lpstr>
      <vt:lpstr>Authentication, Authorization, and Accounting </vt:lpstr>
      <vt:lpstr>Gap Analysis </vt:lpstr>
      <vt:lpstr>Control Categories </vt:lpstr>
      <vt:lpstr>Technical Controls </vt:lpstr>
      <vt:lpstr>Managerial Controls </vt:lpstr>
      <vt:lpstr>Operational Controls </vt:lpstr>
      <vt:lpstr>Physical Controls </vt:lpstr>
      <vt:lpstr>Control Types </vt:lpstr>
      <vt:lpstr>Preventive Controls </vt:lpstr>
      <vt:lpstr>Deterrent Controls </vt:lpstr>
      <vt:lpstr>Detective Controls </vt:lpstr>
      <vt:lpstr>Corrective Controls </vt:lpstr>
      <vt:lpstr>Compensating Controls </vt:lpstr>
      <vt:lpstr>Directive Controls </vt:lpstr>
      <vt:lpstr>PowerPoint Presentation</vt:lpstr>
      <vt:lpstr>Provisioning/De-provisioning User Accounts </vt:lpstr>
      <vt:lpstr>Permission Assignments and Implications </vt:lpstr>
      <vt:lpstr>Identity Proofing </vt:lpstr>
      <vt:lpstr>Federation </vt:lpstr>
      <vt:lpstr>Centralized versus Decentralized </vt:lpstr>
      <vt:lpstr>Single Sign-on (SSO) </vt:lpstr>
      <vt:lpstr>Interoperability</vt:lpstr>
      <vt:lpstr>Attestation</vt:lpstr>
      <vt:lpstr>Access Controls</vt:lpstr>
      <vt:lpstr>Multifactor Authentication (MFA) </vt:lpstr>
      <vt:lpstr>Password Concepts</vt:lpstr>
      <vt:lpstr>Privileged Access Management (PAM) Tools </vt:lpstr>
      <vt:lpstr>Permissions</vt:lpstr>
      <vt:lpstr>Least Privilege</vt:lpstr>
      <vt:lpstr>PowerPoint Presentation</vt:lpstr>
      <vt:lpstr>Encryption</vt:lpstr>
      <vt:lpstr>Transport/Communication</vt:lpstr>
      <vt:lpstr>Algorithms, Key Length, and Tools</vt:lpstr>
      <vt:lpstr>Trusted Platform Module &amp; Hardware Security Module</vt:lpstr>
      <vt:lpstr>Symmetric versus Asymmetric Encryption</vt:lpstr>
      <vt:lpstr>Hashing &amp; Salting</vt:lpstr>
      <vt:lpstr>Digital Signatures</vt:lpstr>
      <vt:lpstr>Public Key Infrastructure (PKI) </vt:lpstr>
      <vt:lpstr>Key Exchange</vt:lpstr>
      <vt:lpstr>Key Management System</vt:lpstr>
      <vt:lpstr>Secure Enclave</vt:lpstr>
      <vt:lpstr>Obfuscation &amp; Steganography</vt:lpstr>
      <vt:lpstr>Key Stretching</vt:lpstr>
      <vt:lpstr>Blockchain &amp; Open Public Ledger</vt:lpstr>
      <vt:lpstr>Certificates</vt:lpstr>
      <vt:lpstr>PowerPoint Presentation</vt:lpstr>
      <vt:lpstr>Network Infrastructure</vt:lpstr>
      <vt:lpstr>Security Zones</vt:lpstr>
      <vt:lpstr>Attack Surface</vt:lpstr>
      <vt:lpstr>Connectivity</vt:lpstr>
      <vt:lpstr>Failure Modes</vt:lpstr>
      <vt:lpstr>Device Attribute</vt:lpstr>
      <vt:lpstr>Network Appliances</vt:lpstr>
      <vt:lpstr>Port Security</vt:lpstr>
      <vt:lpstr>Firewall Types</vt:lpstr>
      <vt:lpstr>Firewall</vt:lpstr>
      <vt:lpstr>IDS/IPS</vt:lpstr>
      <vt:lpstr>Lunch</vt:lpstr>
      <vt:lpstr>PowerPoint Presentation</vt:lpstr>
      <vt:lpstr>Cloud</vt:lpstr>
      <vt:lpstr>Virtualization</vt:lpstr>
      <vt:lpstr>Cloud Specific</vt:lpstr>
      <vt:lpstr>Cloud Specific</vt:lpstr>
      <vt:lpstr>Cloud Environments</vt:lpstr>
      <vt:lpstr>Multi-Cloud System</vt:lpstr>
      <vt:lpstr>Multi-Cloud System</vt:lpstr>
      <vt:lpstr>Cloud Specific</vt:lpstr>
      <vt:lpstr>Cloud Specific</vt:lpstr>
      <vt:lpstr>Other Cloud Concerns</vt:lpstr>
      <vt:lpstr>Infrastructure as Code (IaC) </vt:lpstr>
      <vt:lpstr>Serverless</vt:lpstr>
      <vt:lpstr>PowerPoint Presentation</vt:lpstr>
      <vt:lpstr>Physical Controls</vt:lpstr>
      <vt:lpstr>Physical Controls</vt:lpstr>
      <vt:lpstr>Physical Attacks</vt:lpstr>
      <vt:lpstr>On-Premises</vt:lpstr>
      <vt:lpstr>Power</vt:lpstr>
      <vt:lpstr>Physical Security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Threat Actors</vt:lpstr>
      <vt:lpstr>Types of Threat Actors</vt:lpstr>
      <vt:lpstr>Types of Threat Actors (cont.)</vt:lpstr>
      <vt:lpstr>Attributes of Actors</vt:lpstr>
      <vt:lpstr>Attributes of Actors</vt:lpstr>
      <vt:lpstr>Motivations</vt:lpstr>
      <vt:lpstr>Threat Actor Motivations</vt:lpstr>
      <vt:lpstr>Threat Actor Motivations</vt:lpstr>
      <vt:lpstr>Threat Actor Motivations</vt:lpstr>
      <vt:lpstr>War</vt:lpstr>
      <vt:lpstr>PowerPoint Presentation</vt:lpstr>
      <vt:lpstr>Types of Social Engineering Attacks</vt:lpstr>
      <vt:lpstr>Types of Social Engineering Attacks</vt:lpstr>
      <vt:lpstr>Phishing</vt:lpstr>
      <vt:lpstr>Anatomy of a Phishing Email</vt:lpstr>
      <vt:lpstr>Types of Social Engineering Attacks</vt:lpstr>
      <vt:lpstr>Types of Social Engineering Attacks</vt:lpstr>
      <vt:lpstr>Human Vectors/Social Engineering</vt:lpstr>
      <vt:lpstr>PowerPoint Presentation</vt:lpstr>
      <vt:lpstr>Malware Attacks</vt:lpstr>
      <vt:lpstr>What is Malware</vt:lpstr>
      <vt:lpstr>Types of Malware Attacks</vt:lpstr>
      <vt:lpstr>Types of Malware Attacks (cont.)</vt:lpstr>
      <vt:lpstr>Antivirus Software</vt:lpstr>
      <vt:lpstr>Zero Day</vt:lpstr>
      <vt:lpstr>Fileless</vt:lpstr>
      <vt:lpstr>PowerPoint Presentation</vt:lpstr>
      <vt:lpstr>Web-Based</vt:lpstr>
      <vt:lpstr>Intrusion Prevention System / Intrusion Detection System Logs </vt:lpstr>
      <vt:lpstr>IPS - IDS – Firewall – WAF Network Layout</vt:lpstr>
      <vt:lpstr>Application Security</vt:lpstr>
      <vt:lpstr>Application Attacks</vt:lpstr>
      <vt:lpstr>Application Attacks (cont.)</vt:lpstr>
      <vt:lpstr>Application</vt:lpstr>
      <vt:lpstr>MITRE ATT&amp;CK Framework</vt:lpstr>
      <vt:lpstr>OWASP Top 10</vt:lpstr>
      <vt:lpstr>Lunch</vt:lpstr>
      <vt:lpstr>PowerPoint Presentation</vt:lpstr>
      <vt:lpstr>Identification Methods</vt:lpstr>
      <vt:lpstr>Vulnerability Scan Tools</vt:lpstr>
      <vt:lpstr>Application Security</vt:lpstr>
      <vt:lpstr>Threat Feeds and Databases</vt:lpstr>
      <vt:lpstr>Penetration Testing</vt:lpstr>
      <vt:lpstr>Penetration Testing</vt:lpstr>
      <vt:lpstr>Penetration Testing Lifecycle</vt:lpstr>
      <vt:lpstr>Types of Penetration Tests</vt:lpstr>
      <vt:lpstr>Types of Penetration Tests (cont.)</vt:lpstr>
      <vt:lpstr>Responsible Disclosure Program</vt:lpstr>
      <vt:lpstr>Bug Bounty Program</vt:lpstr>
      <vt:lpstr>System/Process Audit</vt:lpstr>
      <vt:lpstr>Analysis</vt:lpstr>
      <vt:lpstr>Analysis (cont.)</vt:lpstr>
      <vt:lpstr>Message-Based</vt:lpstr>
      <vt:lpstr>Image-Based</vt:lpstr>
      <vt:lpstr>File-Based</vt:lpstr>
      <vt:lpstr>Voice Call</vt:lpstr>
      <vt:lpstr>Removable Device</vt:lpstr>
      <vt:lpstr>Vulnerable Software</vt:lpstr>
      <vt:lpstr>Unsupported Systems and Applications</vt:lpstr>
      <vt:lpstr>Unsecure Networks</vt:lpstr>
      <vt:lpstr>Open Service Ports</vt:lpstr>
      <vt:lpstr>Default Credentials</vt:lpstr>
      <vt:lpstr>Supply Chain</vt:lpstr>
      <vt:lpstr>Analysis</vt:lpstr>
      <vt:lpstr>Zero-Day Vulnerabilities</vt:lpstr>
      <vt:lpstr>PowerPoint Presentation</vt:lpstr>
      <vt:lpstr>Wireless Devices</vt:lpstr>
      <vt:lpstr>Wireless Heat Map</vt:lpstr>
      <vt:lpstr>Mobile Solutions</vt:lpstr>
      <vt:lpstr>Connection Methods</vt:lpstr>
      <vt:lpstr>Unsecure Networks</vt:lpstr>
      <vt:lpstr>Wireless Security Settings</vt:lpstr>
      <vt:lpstr>Mobile Device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Zero Trust</vt:lpstr>
      <vt:lpstr>Zero Trust</vt:lpstr>
      <vt:lpstr>Zero Trust – Control Plane</vt:lpstr>
      <vt:lpstr>Zero Trust – Data Plane</vt:lpstr>
      <vt:lpstr>Cloud</vt:lpstr>
      <vt:lpstr>Infrastructure as Code (IaC)</vt:lpstr>
      <vt:lpstr>Serverless</vt:lpstr>
      <vt:lpstr>Network Infrastructure</vt:lpstr>
      <vt:lpstr>On-Premises</vt:lpstr>
      <vt:lpstr>Centralized versus Decentralized</vt:lpstr>
      <vt:lpstr>Containerization and Virtualization</vt:lpstr>
      <vt:lpstr>Internet of Things IoT</vt:lpstr>
      <vt:lpstr>Industrial Control Systems ICS/Supervisory Control and Data Acquisition SCADA</vt:lpstr>
      <vt:lpstr>Real-Time Operating System RTOS</vt:lpstr>
      <vt:lpstr>Embedded Systems</vt:lpstr>
      <vt:lpstr>High Availability HA</vt:lpstr>
      <vt:lpstr>Considerations</vt:lpstr>
      <vt:lpstr>Considerations (cont.)</vt:lpstr>
      <vt:lpstr>SASE (Secure Access Service Edge)</vt:lpstr>
      <vt:lpstr>PowerPoint Presentation</vt:lpstr>
      <vt:lpstr>Virtual Private Network VPN</vt:lpstr>
      <vt:lpstr>Types of Virtual Private Networks (VPN)</vt:lpstr>
      <vt:lpstr>Remote Access</vt:lpstr>
      <vt:lpstr>Tunneling</vt:lpstr>
      <vt:lpstr>Network Access Control NAC</vt:lpstr>
      <vt:lpstr>Micro-segmentation</vt:lpstr>
      <vt:lpstr>Secure Network Design Case Study</vt:lpstr>
      <vt:lpstr>PowerPoint Presentation</vt:lpstr>
      <vt:lpstr>Interoperability</vt:lpstr>
      <vt:lpstr>Single Sign-On SSO</vt:lpstr>
      <vt:lpstr>Federation</vt:lpstr>
      <vt:lpstr>Types of Standards</vt:lpstr>
      <vt:lpstr>Centralized versus Decentralized</vt:lpstr>
      <vt:lpstr>Centralized versus Decentralized</vt:lpstr>
      <vt:lpstr>PowerPoint Presentation</vt:lpstr>
      <vt:lpstr>Data Loss Prevention</vt:lpstr>
      <vt:lpstr>Network Access Control NAC</vt:lpstr>
      <vt:lpstr>Endpoint Detection and Response EDR/Extended Detection and Response XDR</vt:lpstr>
      <vt:lpstr>User Behavior Analytics</vt:lpstr>
      <vt:lpstr>Secure Baselines</vt:lpstr>
      <vt:lpstr>Secure Baselines (cont.)</vt:lpstr>
      <vt:lpstr>Secure Baselines (cont.)</vt:lpstr>
      <vt:lpstr>Hardening Targets</vt:lpstr>
      <vt:lpstr>Containerization and Virtualization</vt:lpstr>
      <vt:lpstr>Containerization and Virtualization</vt:lpstr>
      <vt:lpstr>Lunch</vt:lpstr>
      <vt:lpstr>PowerPoint Presentation</vt:lpstr>
      <vt:lpstr>Virtual Private Network VPN</vt:lpstr>
      <vt:lpstr>Remote Access</vt:lpstr>
      <vt:lpstr>Tunneling</vt:lpstr>
      <vt:lpstr>Software-Defined Wide Area Network SD-WAN</vt:lpstr>
      <vt:lpstr>MPLS vs SD-WAN</vt:lpstr>
      <vt:lpstr>Secure Access Service Edge SASE</vt:lpstr>
      <vt:lpstr>Implementation of Secure Protocols</vt:lpstr>
      <vt:lpstr>Transport/Communication</vt:lpstr>
      <vt:lpstr>Email Security</vt:lpstr>
      <vt:lpstr>PowerPoint Presentation</vt:lpstr>
      <vt:lpstr>Application Security</vt:lpstr>
      <vt:lpstr>Vulnerability Scan Tools</vt:lpstr>
      <vt:lpstr>Application Security</vt:lpstr>
      <vt:lpstr>Application Security (cont.)</vt:lpstr>
      <vt:lpstr>Sandboxing</vt:lpstr>
      <vt:lpstr>Application</vt:lpstr>
      <vt:lpstr>Integrations and Application Programming Interfaces APIs</vt:lpstr>
      <vt:lpstr>Web-Based</vt:lpstr>
      <vt:lpstr>Secure SDLC &amp; DevSecOps</vt:lpstr>
      <vt:lpstr>Secure SDLC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Monitoring and Computing Resources</vt:lpstr>
      <vt:lpstr>Log Aggregation</vt:lpstr>
      <vt:lpstr>Alerting</vt:lpstr>
      <vt:lpstr>Security Information and Event Management SIEM</vt:lpstr>
      <vt:lpstr>NetFlow</vt:lpstr>
      <vt:lpstr>Antivirus Software</vt:lpstr>
      <vt:lpstr>Data Loss Prevention DLP </vt:lpstr>
      <vt:lpstr>Simple Network Management Protocol SNMP Traps</vt:lpstr>
      <vt:lpstr>Vulnerability Scanners</vt:lpstr>
      <vt:lpstr>Deception and Disruption Technology</vt:lpstr>
      <vt:lpstr>Honeyfile</vt:lpstr>
      <vt:lpstr>Honeypot</vt:lpstr>
      <vt:lpstr>Honeynet</vt:lpstr>
      <vt:lpstr>Honeytoken</vt:lpstr>
      <vt:lpstr>PowerPoint Presentation</vt:lpstr>
      <vt:lpstr>Incident Response Process</vt:lpstr>
      <vt:lpstr>Preparation</vt:lpstr>
      <vt:lpstr>Detection and Analysis</vt:lpstr>
      <vt:lpstr>Containment, Eradication, and Recovery</vt:lpstr>
      <vt:lpstr>Post-Incident Activity</vt:lpstr>
      <vt:lpstr>Training</vt:lpstr>
      <vt:lpstr>Testing</vt:lpstr>
      <vt:lpstr>Tabletop Exercises</vt:lpstr>
      <vt:lpstr>Simulation Exercises</vt:lpstr>
      <vt:lpstr>Root Cause Analysis</vt:lpstr>
      <vt:lpstr>Threat Hunting</vt:lpstr>
      <vt:lpstr>PowerPoint Presentation</vt:lpstr>
      <vt:lpstr>Digital Forensics</vt:lpstr>
      <vt:lpstr>Legal Hold and Chain of Custody</vt:lpstr>
      <vt:lpstr>Acquisition</vt:lpstr>
      <vt:lpstr>Reporting</vt:lpstr>
      <vt:lpstr>Preservation</vt:lpstr>
      <vt:lpstr>E-Discovery</vt:lpstr>
      <vt:lpstr>Log Data</vt:lpstr>
      <vt:lpstr>Firewall Logs</vt:lpstr>
      <vt:lpstr>Application Logs</vt:lpstr>
      <vt:lpstr>Endpoint Logs</vt:lpstr>
      <vt:lpstr>OS-Specific Security Logs</vt:lpstr>
      <vt:lpstr>Intrusion Prevention System (IPS) Intrusion Detection System (IDS) Logs</vt:lpstr>
      <vt:lpstr>Network Logs</vt:lpstr>
      <vt:lpstr>Metadata</vt:lpstr>
      <vt:lpstr>Packet Captures</vt:lpstr>
      <vt:lpstr>PowerPoint Presentation</vt:lpstr>
      <vt:lpstr>High Availability</vt:lpstr>
      <vt:lpstr>Cloud Environments</vt:lpstr>
      <vt:lpstr>Site Considerations</vt:lpstr>
      <vt:lpstr>Platform Diversity</vt:lpstr>
      <vt:lpstr>Multi-Cloud System</vt:lpstr>
      <vt:lpstr>Continuity of Operations</vt:lpstr>
      <vt:lpstr>Capacity Planning</vt:lpstr>
      <vt:lpstr>Testing</vt:lpstr>
      <vt:lpstr>Testing (cont.)</vt:lpstr>
      <vt:lpstr>Backups</vt:lpstr>
      <vt:lpstr>Power</vt:lpstr>
      <vt:lpstr>Lunch</vt:lpstr>
      <vt:lpstr>PowerPoint Presentation</vt:lpstr>
      <vt:lpstr>Use Cases of Automation and Scripting</vt:lpstr>
      <vt:lpstr>User Provisioning</vt:lpstr>
      <vt:lpstr>Resource Provisioning</vt:lpstr>
      <vt:lpstr>Guard Rails</vt:lpstr>
      <vt:lpstr>Security Groups</vt:lpstr>
      <vt:lpstr>Ticket Creation and Escalation</vt:lpstr>
      <vt:lpstr>Continuous Integration and Testing (CI/CT)</vt:lpstr>
      <vt:lpstr>Integrations and Application Programming Interfaces (APIs)</vt:lpstr>
      <vt:lpstr>Benefits of Automation</vt:lpstr>
      <vt:lpstr>Other Considerations About Automation</vt:lpstr>
      <vt:lpstr>PowerPoint Presentation</vt:lpstr>
      <vt:lpstr>Vulnerability Response and Remediation</vt:lpstr>
      <vt:lpstr>Validation of Remediation</vt:lpstr>
      <vt:lpstr>Reporting </vt:lpstr>
      <vt:lpstr>Patching</vt:lpstr>
      <vt:lpstr>Configuration Enforcement</vt:lpstr>
      <vt:lpstr>Backout Plan, Maintenance Window, &amp; Standard Operating Procedure (SOP)</vt:lpstr>
      <vt:lpstr>Updating Policies / Procedures</vt:lpstr>
      <vt:lpstr>Version Control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Risk Identification</vt:lpstr>
      <vt:lpstr>Risk Assessment</vt:lpstr>
      <vt:lpstr>Risk Analysis</vt:lpstr>
      <vt:lpstr>Risk Matrix / Heat Map</vt:lpstr>
      <vt:lpstr>Qualitative Risk Analysis vs Quantitative Risk Analysis</vt:lpstr>
      <vt:lpstr>Quantitative Risk Calculations</vt:lpstr>
      <vt:lpstr>Exposure Factor (EF)</vt:lpstr>
      <vt:lpstr>Probability vs Likelihood</vt:lpstr>
      <vt:lpstr>Risk Register</vt:lpstr>
      <vt:lpstr>Risk Tolerance</vt:lpstr>
      <vt:lpstr>Risk Appetite</vt:lpstr>
      <vt:lpstr>Risk Management Strategies</vt:lpstr>
      <vt:lpstr>Risk Reporting</vt:lpstr>
      <vt:lpstr>Business Impact Analysis</vt:lpstr>
      <vt:lpstr>Guidelines</vt:lpstr>
      <vt:lpstr>Policies</vt:lpstr>
      <vt:lpstr>Types of Policies</vt:lpstr>
      <vt:lpstr>Types of Policies (cont.)</vt:lpstr>
      <vt:lpstr>Types of Policies (cont.)</vt:lpstr>
      <vt:lpstr>Standards</vt:lpstr>
      <vt:lpstr>Types of Standards</vt:lpstr>
      <vt:lpstr>Types of Standards (cont.)</vt:lpstr>
      <vt:lpstr>Procedures</vt:lpstr>
      <vt:lpstr>Procedures (cont.)</vt:lpstr>
      <vt:lpstr>Types of Governance Structures</vt:lpstr>
      <vt:lpstr>Types of Governance Structures (cont.)</vt:lpstr>
      <vt:lpstr>PowerPoint Presentation</vt:lpstr>
      <vt:lpstr>Compliance Reporting</vt:lpstr>
      <vt:lpstr>Compliance Reporting Examples</vt:lpstr>
      <vt:lpstr>Consequences of Non-Compliance</vt:lpstr>
      <vt:lpstr>Compliance Monitoring</vt:lpstr>
      <vt:lpstr>Due Diligence / Care</vt:lpstr>
      <vt:lpstr>Attestation</vt:lpstr>
      <vt:lpstr>Attestation and Acknowledgement</vt:lpstr>
      <vt:lpstr>Attestation Process</vt:lpstr>
      <vt:lpstr>Automation in Compliance Monitoring</vt:lpstr>
      <vt:lpstr>Internal</vt:lpstr>
      <vt:lpstr>External</vt:lpstr>
      <vt:lpstr>Reconnaissance</vt:lpstr>
      <vt:lpstr>Vendor Assessment</vt:lpstr>
      <vt:lpstr>Right-to-Audit Clause</vt:lpstr>
      <vt:lpstr>Evidence of Internal Audits</vt:lpstr>
      <vt:lpstr>Independent Assessments</vt:lpstr>
      <vt:lpstr>Supply Chain Analysis</vt:lpstr>
      <vt:lpstr>Vendor Selection</vt:lpstr>
      <vt:lpstr>Agreement Types</vt:lpstr>
      <vt:lpstr>Agreement Types (cont.)</vt:lpstr>
      <vt:lpstr>Vendor Monitoring</vt:lpstr>
      <vt:lpstr>Questionnaires </vt:lpstr>
      <vt:lpstr>Rules of Engagement</vt:lpstr>
      <vt:lpstr>PowerPoint Presentation</vt:lpstr>
      <vt:lpstr>Data Types</vt:lpstr>
      <vt:lpstr>Data Types (cont.)</vt:lpstr>
      <vt:lpstr>Data Classifications</vt:lpstr>
      <vt:lpstr>Data Classifications (cont.)</vt:lpstr>
      <vt:lpstr>General Data Considerations</vt:lpstr>
      <vt:lpstr>Data States</vt:lpstr>
      <vt:lpstr>Data Sovereignty &amp; Geolocation</vt:lpstr>
      <vt:lpstr>Methods to Secure Data</vt:lpstr>
      <vt:lpstr>Segmentation</vt:lpstr>
      <vt:lpstr>Permission Restrictions</vt:lpstr>
      <vt:lpstr>Privacy</vt:lpstr>
      <vt:lpstr>Legal Implications</vt:lpstr>
      <vt:lpstr>Data Roles</vt:lpstr>
      <vt:lpstr>Data Inventory and Retention</vt:lpstr>
      <vt:lpstr>Right to Be Forgotten</vt:lpstr>
      <vt:lpstr>PowerPoint Presentation</vt:lpstr>
      <vt:lpstr>Phishing</vt:lpstr>
      <vt:lpstr>Signs of Phishing Attempts</vt:lpstr>
      <vt:lpstr>Suspicious Message Protocol</vt:lpstr>
      <vt:lpstr>Anomalous Behavior Recognition</vt:lpstr>
      <vt:lpstr>Anomalous Behaviors</vt:lpstr>
      <vt:lpstr>User Guidance and Training</vt:lpstr>
      <vt:lpstr>Reporting and Monitoring</vt:lpstr>
      <vt:lpstr>Development</vt:lpstr>
      <vt:lpstr>Execution</vt:lpstr>
      <vt:lpstr>Lunch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Review Key Terms</vt:lpstr>
      <vt:lpstr>Review Key Terms</vt:lpstr>
      <vt:lpstr>Review Key Terms</vt:lpstr>
      <vt:lpstr>Review Key Terms</vt:lpstr>
      <vt:lpstr>Review Key Terms</vt:lpstr>
      <vt:lpstr>Review Key Terms</vt:lpstr>
      <vt:lpstr>Review Key Terms</vt:lpstr>
      <vt:lpstr>Review Key Terms</vt:lpstr>
      <vt:lpstr>Review Key Terms</vt:lpstr>
      <vt:lpstr>Review Key Terms</vt:lpstr>
      <vt:lpstr>Review Key Terms</vt:lpstr>
      <vt:lpstr>Review Key Terms</vt:lpstr>
      <vt:lpstr>Review Key Terms</vt:lpstr>
      <vt:lpstr>Review Key Terms</vt:lpstr>
      <vt:lpstr>Review Key Terms</vt:lpstr>
      <vt:lpstr>Review Key Terms</vt:lpstr>
      <vt:lpstr>Review Key Terms</vt:lpstr>
      <vt:lpstr>Review Key Terms</vt:lpstr>
      <vt:lpstr>Review Key Terms</vt:lpstr>
      <vt:lpstr>Review Key Terms</vt:lpstr>
      <vt:lpstr>Review Key Terms</vt:lpstr>
      <vt:lpstr>Review Key Terms</vt:lpstr>
      <vt:lpstr>Review Key Terms</vt:lpstr>
      <vt:lpstr>Review Key Terms</vt:lpstr>
      <vt:lpstr>Review Key Terms</vt:lpstr>
      <vt:lpstr>Review Key Terms</vt:lpstr>
      <vt:lpstr>Review Key Terms</vt:lpstr>
      <vt:lpstr>Review Key Terms</vt:lpstr>
      <vt:lpstr>Review Key Terms</vt:lpstr>
      <vt:lpstr>Review Key Terms</vt:lpstr>
      <vt:lpstr>Review Key Terms</vt:lpstr>
      <vt:lpstr>Review Key Terms</vt:lpstr>
      <vt:lpstr>Review Key Terms</vt:lpstr>
      <vt:lpstr>Review Key Terms</vt:lpstr>
      <vt:lpstr>Review Key Terms</vt:lpstr>
      <vt:lpstr>Review Key Terms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William "BO" Rothwell</dc:creator>
  <cp:lastModifiedBy>Eric Burnett</cp:lastModifiedBy>
  <cp:revision>316</cp:revision>
  <dcterms:created xsi:type="dcterms:W3CDTF">2025-05-28T04:05:01Z</dcterms:created>
  <dcterms:modified xsi:type="dcterms:W3CDTF">2026-02-23T04:04:23Z</dcterms:modified>
  <dc:identifier>DAGdzDgcQZI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0x010100C436CB58E93DF04DAC292E3E5C48AA7D</vt:lpwstr>
  </property>
</Properties>
</file>